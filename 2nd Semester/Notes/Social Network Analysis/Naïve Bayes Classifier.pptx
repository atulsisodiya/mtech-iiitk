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emf" ContentType="image/x-emf"/>
  <Default Extension="xls" ContentType="application/vnd.ms-excel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32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1A640C-7EE8-4477-9DEF-F928E3F8FD8F}" type="datetimeFigureOut">
              <a:rPr lang="en-US" smtClean="0"/>
              <a:pPr/>
              <a:t>1/6/2025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0EEC33-3C2F-4A22-BBB4-34185D4F371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6180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6249705-2E36-45D3-A88A-0B2A5E4F520E}" type="slidenum">
              <a:rPr lang="en-US" smtClean="0"/>
              <a:pPr/>
              <a:t>2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4597821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47445C3-6EE9-4084-A9A9-D30301F95D89}" type="slidenum">
              <a:rPr lang="en-US" smtClean="0"/>
              <a:pPr/>
              <a:t>3</a:t>
            </a:fld>
            <a:endParaRPr lang="en-US" smtClean="0"/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9677858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5298063-91E0-4E15-A763-EB48D8467464}" type="slidenum">
              <a:rPr lang="en-US" smtClean="0"/>
              <a:pPr/>
              <a:t>4</a:t>
            </a:fld>
            <a:endParaRPr lang="en-US" smtClean="0"/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1493744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E40E5EB-95A9-4275-85A3-F595D0BCD30E}" type="slidenum">
              <a:rPr lang="en-US" smtClean="0"/>
              <a:pPr/>
              <a:t>5</a:t>
            </a:fld>
            <a:endParaRPr lang="en-US" smtClean="0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039511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C7BE879-98B9-4404-BD77-D63CE18070CA}" type="slidenum">
              <a:rPr lang="en-US" smtClean="0"/>
              <a:pPr/>
              <a:t>6</a:t>
            </a:fld>
            <a:endParaRPr lang="en-US" smtClean="0"/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6893923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4FE5A53-DE78-48FF-82F8-80B997E212A4}" type="slidenum">
              <a:rPr lang="en-US" smtClean="0"/>
              <a:pPr/>
              <a:t>7</a:t>
            </a:fld>
            <a:endParaRPr lang="en-US" smtClean="0"/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1347450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C6F55A6-F6AA-4F5F-8E47-42313F0DA146}" type="slidenum">
              <a:rPr lang="en-US" smtClean="0"/>
              <a:pPr/>
              <a:t>9</a:t>
            </a:fld>
            <a:endParaRPr lang="en-US" smtClean="0"/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122140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6B25152-6A6F-4625-9FA5-091CA17275BE}" type="slidenum">
              <a:rPr lang="en-US" smtClean="0"/>
              <a:pPr/>
              <a:t>10</a:t>
            </a:fld>
            <a:endParaRPr lang="en-US" smtClean="0"/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4881134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626F2E2-86CD-4DC7-BFB2-99B66D4EA965}" type="slidenum">
              <a:rPr lang="en-US" smtClean="0"/>
              <a:pPr/>
              <a:t>11</a:t>
            </a:fld>
            <a:endParaRPr lang="en-US" smtClean="0"/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9126047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0966A-6DBC-46CD-9C44-1A5C2D8558C9}" type="datetimeFigureOut">
              <a:rPr lang="en-US" smtClean="0"/>
              <a:pPr/>
              <a:t>1/6/2025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825F4-3FB9-468D-97AE-65722766A461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0966A-6DBC-46CD-9C44-1A5C2D8558C9}" type="datetimeFigureOut">
              <a:rPr lang="en-US" smtClean="0"/>
              <a:pPr/>
              <a:t>1/6/2025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825F4-3FB9-468D-97AE-65722766A461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0966A-6DBC-46CD-9C44-1A5C2D8558C9}" type="datetimeFigureOut">
              <a:rPr lang="en-US" smtClean="0"/>
              <a:pPr/>
              <a:t>1/6/2025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825F4-3FB9-468D-97AE-65722766A461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0966A-6DBC-46CD-9C44-1A5C2D8558C9}" type="datetimeFigureOut">
              <a:rPr lang="en-US" smtClean="0"/>
              <a:pPr/>
              <a:t>1/6/2025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825F4-3FB9-468D-97AE-65722766A461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0966A-6DBC-46CD-9C44-1A5C2D8558C9}" type="datetimeFigureOut">
              <a:rPr lang="en-US" smtClean="0"/>
              <a:pPr/>
              <a:t>1/6/2025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825F4-3FB9-468D-97AE-65722766A461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0966A-6DBC-46CD-9C44-1A5C2D8558C9}" type="datetimeFigureOut">
              <a:rPr lang="en-US" smtClean="0"/>
              <a:pPr/>
              <a:t>1/6/2025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825F4-3FB9-468D-97AE-65722766A461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0966A-6DBC-46CD-9C44-1A5C2D8558C9}" type="datetimeFigureOut">
              <a:rPr lang="en-US" smtClean="0"/>
              <a:pPr/>
              <a:t>1/6/2025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825F4-3FB9-468D-97AE-65722766A461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0966A-6DBC-46CD-9C44-1A5C2D8558C9}" type="datetimeFigureOut">
              <a:rPr lang="en-US" smtClean="0"/>
              <a:pPr/>
              <a:t>1/6/2025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825F4-3FB9-468D-97AE-65722766A461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0966A-6DBC-46CD-9C44-1A5C2D8558C9}" type="datetimeFigureOut">
              <a:rPr lang="en-US" smtClean="0"/>
              <a:pPr/>
              <a:t>1/6/2025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825F4-3FB9-468D-97AE-65722766A461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0966A-6DBC-46CD-9C44-1A5C2D8558C9}" type="datetimeFigureOut">
              <a:rPr lang="en-US" smtClean="0"/>
              <a:pPr/>
              <a:t>1/6/2025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825F4-3FB9-468D-97AE-65722766A461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0966A-6DBC-46CD-9C44-1A5C2D8558C9}" type="datetimeFigureOut">
              <a:rPr lang="en-US" smtClean="0"/>
              <a:pPr/>
              <a:t>1/6/2025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825F4-3FB9-468D-97AE-65722766A461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81000"/>
            <a:ext cx="8402638" cy="609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1371600"/>
            <a:ext cx="4152900" cy="5105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10100" y="1371600"/>
            <a:ext cx="4152900" cy="24765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10100" y="4000500"/>
            <a:ext cx="4152900" cy="24765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206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FD1059-E591-4BBB-A20E-462E0AC8D8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zo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81000"/>
            <a:ext cx="8402638" cy="609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1371600"/>
            <a:ext cx="4152900" cy="5105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371600"/>
            <a:ext cx="4152900" cy="5105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206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11A9C3-F4CC-40FE-A415-A0953D8D7C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C0966A-6DBC-46CD-9C44-1A5C2D8558C9}" type="datetimeFigureOut">
              <a:rPr lang="en-US" smtClean="0"/>
              <a:pPr/>
              <a:t>1/6/2025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8825F4-3FB9-468D-97AE-65722766A461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w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.wmf"/><Relationship Id="rId4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3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2.wmf"/><Relationship Id="rId4" Type="http://schemas.openxmlformats.org/officeDocument/2006/relationships/oleObject" Target="../embeddings/oleObject3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5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5.emf"/><Relationship Id="rId4" Type="http://schemas.openxmlformats.org/officeDocument/2006/relationships/oleObject" Target="../embeddings/Microsoft_Excel_97-2003_Worksheet1.xls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5.emf"/><Relationship Id="rId4" Type="http://schemas.openxmlformats.org/officeDocument/2006/relationships/oleObject" Target="../embeddings/Microsoft_Excel_97-2003_Worksheet2.xls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6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Naïve </a:t>
            </a:r>
            <a:r>
              <a:rPr lang="en-US" dirty="0" err="1" smtClean="0"/>
              <a:t>Bayes</a:t>
            </a:r>
            <a:r>
              <a:rPr lang="en-US" dirty="0" smtClean="0"/>
              <a:t> Classifier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24A66D8-9309-40A3-BCCA-AC4271A23F55}" type="slidenum">
              <a:rPr lang="en-US" smtClean="0"/>
              <a:pPr/>
              <a:t>2</a:t>
            </a:fld>
            <a:endParaRPr lang="en-US" smtClean="0"/>
          </a:p>
        </p:txBody>
      </p:sp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696200" cy="685800"/>
          </a:xfrm>
          <a:noFill/>
        </p:spPr>
        <p:txBody>
          <a:bodyPr lIns="92075" tIns="46038" rIns="92075" bIns="46038" anchor="ctr">
            <a:normAutofit fontScale="90000"/>
          </a:bodyPr>
          <a:lstStyle/>
          <a:p>
            <a:pPr eaLnBrk="1" hangingPunct="1"/>
            <a:r>
              <a:rPr lang="en-US" smtClean="0"/>
              <a:t>Bayesian Classification: Why?</a:t>
            </a:r>
            <a:endParaRPr lang="en-US" sz="2400" smtClean="0"/>
          </a:p>
        </p:txBody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8458200" cy="5257800"/>
          </a:xfrm>
          <a:noFill/>
        </p:spPr>
        <p:txBody>
          <a:bodyPr lIns="92075" tIns="46038" rIns="92075" bIns="46038"/>
          <a:lstStyle/>
          <a:p>
            <a:pPr algn="just" eaLnBrk="1" hangingPunct="1">
              <a:lnSpc>
                <a:spcPct val="110000"/>
              </a:lnSpc>
            </a:pPr>
            <a:r>
              <a:rPr lang="en-US" sz="2400" u="sng" smtClean="0"/>
              <a:t>A statistical classifier</a:t>
            </a:r>
            <a:r>
              <a:rPr lang="en-US" sz="2400" smtClean="0"/>
              <a:t>: performs </a:t>
            </a:r>
            <a:r>
              <a:rPr lang="en-US" sz="2400" i="1" smtClean="0"/>
              <a:t>probabilistic prediction, i.e.,</a:t>
            </a:r>
            <a:r>
              <a:rPr lang="en-US" sz="2400" smtClean="0"/>
              <a:t> predicts class membership probabilities</a:t>
            </a:r>
          </a:p>
          <a:p>
            <a:pPr algn="just" eaLnBrk="1" hangingPunct="1">
              <a:lnSpc>
                <a:spcPct val="110000"/>
              </a:lnSpc>
            </a:pPr>
            <a:r>
              <a:rPr lang="en-US" sz="2400" u="sng" smtClean="0"/>
              <a:t>Foundation:</a:t>
            </a:r>
            <a:r>
              <a:rPr lang="en-US" sz="2400" smtClean="0"/>
              <a:t> Based on Bayes’ Theorem. </a:t>
            </a:r>
          </a:p>
          <a:p>
            <a:pPr algn="just" eaLnBrk="1" hangingPunct="1">
              <a:lnSpc>
                <a:spcPct val="110000"/>
              </a:lnSpc>
            </a:pPr>
            <a:r>
              <a:rPr lang="en-US" sz="2400" u="sng" smtClean="0"/>
              <a:t>Performance:</a:t>
            </a:r>
            <a:r>
              <a:rPr lang="en-US" sz="2400" smtClean="0"/>
              <a:t> A simple Bayesian classifier, </a:t>
            </a:r>
            <a:r>
              <a:rPr lang="en-US" sz="2400" i="1" smtClean="0"/>
              <a:t>naïve Bayesian classifier</a:t>
            </a:r>
            <a:r>
              <a:rPr lang="en-US" sz="2400" smtClean="0"/>
              <a:t>, has comparable performance with decision tree and selected neural network classifiers</a:t>
            </a:r>
          </a:p>
          <a:p>
            <a:pPr algn="just" eaLnBrk="1" hangingPunct="1">
              <a:lnSpc>
                <a:spcPct val="110000"/>
              </a:lnSpc>
            </a:pPr>
            <a:r>
              <a:rPr lang="en-US" sz="2400" u="sng" smtClean="0"/>
              <a:t>Incremental</a:t>
            </a:r>
            <a:r>
              <a:rPr lang="en-US" sz="2400" smtClean="0"/>
              <a:t>: Each training example can incrementally increase/decrease the probability that a hypothesis is correct — prior knowledge can be combined with observed data</a:t>
            </a:r>
          </a:p>
          <a:p>
            <a:pPr algn="just" eaLnBrk="1" hangingPunct="1">
              <a:lnSpc>
                <a:spcPct val="110000"/>
              </a:lnSpc>
            </a:pPr>
            <a:r>
              <a:rPr lang="en-US" sz="2400" u="sng" smtClean="0"/>
              <a:t>Standard</a:t>
            </a:r>
            <a:r>
              <a:rPr lang="en-US" sz="2400" smtClean="0"/>
              <a:t>: Even when Bayesian methods are computationally intractable, they can provide a standard of optimal decision making against which other methods can be measured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A4A26BD0-3E39-4209-AE4A-682516F36611}" type="slidenum">
              <a:rPr lang="en-US" smtClean="0"/>
              <a:pPr/>
              <a:t>3</a:t>
            </a:fld>
            <a:endParaRPr lang="en-US" smtClean="0"/>
          </a:p>
        </p:txBody>
      </p:sp>
      <p:sp>
        <p:nvSpPr>
          <p:cNvPr id="1024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7848600" cy="762000"/>
          </a:xfrm>
        </p:spPr>
        <p:txBody>
          <a:bodyPr/>
          <a:lstStyle/>
          <a:p>
            <a:pPr eaLnBrk="1" hangingPunct="1"/>
            <a:r>
              <a:rPr lang="en-US" smtClean="0"/>
              <a:t>Bayes’ Theorem: Basics</a:t>
            </a:r>
          </a:p>
        </p:txBody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19200"/>
            <a:ext cx="8610600" cy="5410200"/>
          </a:xfrm>
        </p:spPr>
        <p:txBody>
          <a:bodyPr/>
          <a:lstStyle/>
          <a:p>
            <a:pPr eaLnBrk="1" hangingPunct="1"/>
            <a:endParaRPr lang="en-US" sz="2000" dirty="0" smtClean="0"/>
          </a:p>
          <a:p>
            <a:pPr eaLnBrk="1" hangingPunct="1"/>
            <a:r>
              <a:rPr lang="en-US" sz="2000" dirty="0" err="1" smtClean="0"/>
              <a:t>Bayes</a:t>
            </a:r>
            <a:r>
              <a:rPr lang="en-US" sz="2000" dirty="0" smtClean="0"/>
              <a:t>’ Theorem:</a:t>
            </a:r>
          </a:p>
          <a:p>
            <a:pPr eaLnBrk="1" hangingPunct="1"/>
            <a:endParaRPr lang="en-US" sz="2000" dirty="0" smtClean="0"/>
          </a:p>
          <a:p>
            <a:pPr lvl="1" eaLnBrk="1" hangingPunct="1"/>
            <a:endParaRPr lang="en-US" sz="2000" dirty="0" smtClean="0"/>
          </a:p>
          <a:p>
            <a:pPr lvl="1" eaLnBrk="1" hangingPunct="1"/>
            <a:r>
              <a:rPr lang="en-US" sz="2000" dirty="0" smtClean="0"/>
              <a:t>Let </a:t>
            </a:r>
            <a:r>
              <a:rPr lang="en-US" sz="2000" b="1" dirty="0" smtClean="0"/>
              <a:t>X</a:t>
            </a:r>
            <a:r>
              <a:rPr lang="en-US" sz="2000" dirty="0" smtClean="0"/>
              <a:t> be a data sample (“</a:t>
            </a:r>
            <a:r>
              <a:rPr lang="en-US" sz="2000" i="1" dirty="0" smtClean="0"/>
              <a:t>evidence</a:t>
            </a:r>
            <a:r>
              <a:rPr lang="en-US" sz="2000" dirty="0" smtClean="0"/>
              <a:t>”): class label is unknown</a:t>
            </a:r>
          </a:p>
          <a:p>
            <a:pPr lvl="1" eaLnBrk="1" hangingPunct="1"/>
            <a:r>
              <a:rPr lang="en-US" sz="2000" dirty="0" smtClean="0"/>
              <a:t>Let H be a </a:t>
            </a:r>
            <a:r>
              <a:rPr lang="en-US" sz="2000" i="1" dirty="0" smtClean="0"/>
              <a:t>hypothesis</a:t>
            </a:r>
            <a:r>
              <a:rPr lang="en-US" sz="2000" dirty="0" smtClean="0"/>
              <a:t> that X belongs to class C </a:t>
            </a:r>
          </a:p>
          <a:p>
            <a:pPr lvl="1" eaLnBrk="1" hangingPunct="1"/>
            <a:r>
              <a:rPr lang="en-US" sz="2000" dirty="0" smtClean="0"/>
              <a:t>Classification is to determine P(H|</a:t>
            </a:r>
            <a:r>
              <a:rPr lang="en-US" sz="2000" b="1" dirty="0" smtClean="0"/>
              <a:t>X</a:t>
            </a:r>
            <a:r>
              <a:rPr lang="en-US" sz="2000" dirty="0" smtClean="0"/>
              <a:t>), (i.e., </a:t>
            </a:r>
            <a:r>
              <a:rPr lang="en-US" sz="2000" i="1" dirty="0" smtClean="0"/>
              <a:t>posteriori probability): </a:t>
            </a:r>
            <a:r>
              <a:rPr lang="en-US" sz="2000" dirty="0" smtClean="0"/>
              <a:t> the probability that the hypothesis holds given the observed data sample </a:t>
            </a:r>
            <a:r>
              <a:rPr lang="en-US" sz="2000" b="1" dirty="0" smtClean="0"/>
              <a:t>X</a:t>
            </a:r>
          </a:p>
          <a:p>
            <a:pPr lvl="1" eaLnBrk="1" hangingPunct="1"/>
            <a:r>
              <a:rPr lang="en-US" sz="2000" dirty="0" smtClean="0"/>
              <a:t>P(H) (</a:t>
            </a:r>
            <a:r>
              <a:rPr lang="en-US" sz="2000" i="1" dirty="0" smtClean="0"/>
              <a:t>prior probability</a:t>
            </a:r>
            <a:r>
              <a:rPr lang="en-US" sz="2000" dirty="0" smtClean="0"/>
              <a:t>): the initial probability</a:t>
            </a:r>
          </a:p>
          <a:p>
            <a:pPr lvl="2" eaLnBrk="1" hangingPunct="1"/>
            <a:r>
              <a:rPr lang="en-US" sz="2000" dirty="0" smtClean="0"/>
              <a:t>E.g.,</a:t>
            </a:r>
            <a:r>
              <a:rPr lang="en-US" sz="2000" b="1" dirty="0" smtClean="0"/>
              <a:t> X</a:t>
            </a:r>
            <a:r>
              <a:rPr lang="en-US" sz="2000" dirty="0" smtClean="0"/>
              <a:t> will buy computer, regardless of age, income, …</a:t>
            </a:r>
          </a:p>
          <a:p>
            <a:pPr lvl="1" eaLnBrk="1" hangingPunct="1"/>
            <a:r>
              <a:rPr lang="en-US" sz="2000" dirty="0" smtClean="0"/>
              <a:t>P(</a:t>
            </a:r>
            <a:r>
              <a:rPr lang="en-US" sz="2000" b="1" dirty="0" smtClean="0"/>
              <a:t>X</a:t>
            </a:r>
            <a:r>
              <a:rPr lang="en-US" sz="2000" dirty="0" smtClean="0"/>
              <a:t>): probability that sample data is observed</a:t>
            </a:r>
          </a:p>
          <a:p>
            <a:pPr lvl="1" eaLnBrk="1" hangingPunct="1"/>
            <a:r>
              <a:rPr lang="en-US" sz="2000" dirty="0" smtClean="0"/>
              <a:t>P(</a:t>
            </a:r>
            <a:r>
              <a:rPr lang="en-US" sz="2000" b="1" dirty="0" smtClean="0"/>
              <a:t>X</a:t>
            </a:r>
            <a:r>
              <a:rPr lang="en-US" sz="2000" dirty="0" smtClean="0"/>
              <a:t>|H) (likelihood): the probability of observing the sample </a:t>
            </a:r>
            <a:r>
              <a:rPr lang="en-US" sz="2000" b="1" dirty="0" smtClean="0"/>
              <a:t>X</a:t>
            </a:r>
            <a:r>
              <a:rPr lang="en-US" sz="2000" dirty="0" smtClean="0"/>
              <a:t>, given that the hypothesis holds</a:t>
            </a:r>
          </a:p>
          <a:p>
            <a:pPr lvl="2" eaLnBrk="1" hangingPunct="1"/>
            <a:r>
              <a:rPr lang="en-US" sz="2000" dirty="0" smtClean="0"/>
              <a:t>E.g.,</a:t>
            </a:r>
            <a:r>
              <a:rPr lang="en-US" sz="2000" b="1" dirty="0" smtClean="0"/>
              <a:t> </a:t>
            </a:r>
            <a:r>
              <a:rPr lang="en-US" sz="2000" dirty="0" smtClean="0"/>
              <a:t>Given that</a:t>
            </a:r>
            <a:r>
              <a:rPr lang="en-US" sz="2000" b="1" dirty="0" smtClean="0"/>
              <a:t> X</a:t>
            </a:r>
            <a:r>
              <a:rPr lang="en-US" sz="2000" dirty="0" smtClean="0"/>
              <a:t> will buy computer, the prob. that X is 31..40, medium income</a:t>
            </a:r>
          </a:p>
        </p:txBody>
      </p:sp>
      <p:graphicFrame>
        <p:nvGraphicFramePr>
          <p:cNvPr id="10243" name="Object 6"/>
          <p:cNvGraphicFramePr>
            <a:graphicFrameLocks noChangeAspect="1"/>
          </p:cNvGraphicFramePr>
          <p:nvPr/>
        </p:nvGraphicFramePr>
        <p:xfrm>
          <a:off x="2667000" y="1981200"/>
          <a:ext cx="6080125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Equation" r:id="rId4" imgW="4813300" imgH="558800" progId="Equation.3">
                  <p:embed/>
                </p:oleObj>
              </mc:Choice>
              <mc:Fallback>
                <p:oleObj name="Equation" r:id="rId4" imgW="4813300" imgH="558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1981200"/>
                        <a:ext cx="6080125" cy="615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76CCA87D-55FA-4601-8908-30AF80664243}" type="slidenum">
              <a:rPr lang="en-US" smtClean="0"/>
              <a:pPr/>
              <a:t>4</a:t>
            </a:fld>
            <a:endParaRPr lang="en-US" smtClean="0"/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Prediction Based on Bayes’ Theorem</a:t>
            </a:r>
          </a:p>
        </p:txBody>
      </p:sp>
      <p:sp>
        <p:nvSpPr>
          <p:cNvPr id="112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458200" cy="50292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sz="2400" smtClean="0"/>
              <a:t>Given training data</a:t>
            </a:r>
            <a:r>
              <a:rPr lang="en-US" sz="2400" i="1" smtClean="0"/>
              <a:t> </a:t>
            </a:r>
            <a:r>
              <a:rPr lang="en-US" sz="2400" b="1" smtClean="0"/>
              <a:t>X</a:t>
            </a:r>
            <a:r>
              <a:rPr lang="en-US" sz="2400" i="1" smtClean="0"/>
              <a:t>, posteriori probability of a hypothesis </a:t>
            </a:r>
            <a:r>
              <a:rPr lang="en-US" sz="2400" smtClean="0"/>
              <a:t>H</a:t>
            </a:r>
            <a:r>
              <a:rPr lang="en-US" sz="2400" i="1" smtClean="0"/>
              <a:t>, </a:t>
            </a:r>
            <a:r>
              <a:rPr lang="en-US" sz="2400" smtClean="0"/>
              <a:t>P(H|</a:t>
            </a:r>
            <a:r>
              <a:rPr lang="en-US" sz="2400" b="1" smtClean="0"/>
              <a:t>X</a:t>
            </a:r>
            <a:r>
              <a:rPr lang="en-US" sz="2400" smtClean="0"/>
              <a:t>)</a:t>
            </a:r>
            <a:r>
              <a:rPr lang="en-US" sz="2400" i="1" smtClean="0"/>
              <a:t>, </a:t>
            </a:r>
            <a:r>
              <a:rPr lang="en-US" sz="2400" smtClean="0"/>
              <a:t>follows the Bayes’ theorem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sz="2400" smtClean="0"/>
              <a:t>			</a:t>
            </a:r>
          </a:p>
          <a:p>
            <a:pPr eaLnBrk="1" hangingPunct="1">
              <a:lnSpc>
                <a:spcPct val="120000"/>
              </a:lnSpc>
            </a:pPr>
            <a:endParaRPr lang="en-US" sz="2400" smtClean="0"/>
          </a:p>
          <a:p>
            <a:pPr eaLnBrk="1" hangingPunct="1">
              <a:lnSpc>
                <a:spcPct val="120000"/>
              </a:lnSpc>
            </a:pPr>
            <a:r>
              <a:rPr lang="en-US" sz="2400" smtClean="0"/>
              <a:t>Informally, this can be viewed as </a:t>
            </a:r>
          </a:p>
          <a:p>
            <a:pPr lvl="1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sz="2400" smtClean="0"/>
              <a:t>		posteriori = likelihood x prior/evidence</a:t>
            </a:r>
          </a:p>
          <a:p>
            <a:pPr eaLnBrk="1" hangingPunct="1">
              <a:lnSpc>
                <a:spcPct val="120000"/>
              </a:lnSpc>
            </a:pPr>
            <a:r>
              <a:rPr lang="en-US" sz="2400" smtClean="0"/>
              <a:t>Predicts </a:t>
            </a:r>
            <a:r>
              <a:rPr lang="en-US" sz="2400" b="1" smtClean="0"/>
              <a:t>X</a:t>
            </a:r>
            <a:r>
              <a:rPr lang="en-US" sz="2400" smtClean="0"/>
              <a:t> belongs to C</a:t>
            </a:r>
            <a:r>
              <a:rPr lang="en-US" sz="2400" baseline="-25000" smtClean="0"/>
              <a:t>i</a:t>
            </a:r>
            <a:r>
              <a:rPr lang="en-US" sz="2400" smtClean="0"/>
              <a:t> iff the probability P(C</a:t>
            </a:r>
            <a:r>
              <a:rPr lang="en-US" sz="2400" baseline="-25000" smtClean="0"/>
              <a:t>i</a:t>
            </a:r>
            <a:r>
              <a:rPr lang="en-US" sz="2400" smtClean="0"/>
              <a:t>|</a:t>
            </a:r>
            <a:r>
              <a:rPr lang="en-US" sz="2400" b="1" smtClean="0"/>
              <a:t>X</a:t>
            </a:r>
            <a:r>
              <a:rPr lang="en-US" sz="2400" smtClean="0"/>
              <a:t>) is the highest among all the P(C</a:t>
            </a:r>
            <a:r>
              <a:rPr lang="en-US" sz="2400" baseline="-25000" smtClean="0"/>
              <a:t>k</a:t>
            </a:r>
            <a:r>
              <a:rPr lang="en-US" sz="2400" smtClean="0"/>
              <a:t>|X) for all the </a:t>
            </a:r>
            <a:r>
              <a:rPr lang="en-US" sz="2400" i="1" smtClean="0"/>
              <a:t>k</a:t>
            </a:r>
            <a:r>
              <a:rPr lang="en-US" sz="2400" smtClean="0"/>
              <a:t> classes</a:t>
            </a:r>
          </a:p>
          <a:p>
            <a:pPr eaLnBrk="1" hangingPunct="1">
              <a:lnSpc>
                <a:spcPct val="120000"/>
              </a:lnSpc>
            </a:pPr>
            <a:r>
              <a:rPr lang="en-US" sz="2400" smtClean="0"/>
              <a:t>Practical difficulty:  It requires initial knowledge of many probabilities, involving significant computational cost</a:t>
            </a:r>
          </a:p>
        </p:txBody>
      </p:sp>
      <p:graphicFrame>
        <p:nvGraphicFramePr>
          <p:cNvPr id="11266" name="Object 4"/>
          <p:cNvGraphicFramePr>
            <a:graphicFrameLocks noChangeAspect="1"/>
          </p:cNvGraphicFramePr>
          <p:nvPr/>
        </p:nvGraphicFramePr>
        <p:xfrm>
          <a:off x="990600" y="2438400"/>
          <a:ext cx="7585075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Equation" r:id="rId4" imgW="4813300" imgH="558800" progId="Equation.3">
                  <p:embed/>
                </p:oleObj>
              </mc:Choice>
              <mc:Fallback>
                <p:oleObj name="Equation" r:id="rId4" imgW="4813300" imgH="558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438400"/>
                        <a:ext cx="7585075" cy="768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Slide Number Placeholder 7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EE93AF2E-A76B-4FD5-B2F7-554F2A458DA3}" type="slidenum">
              <a:rPr lang="en-US" smtClean="0"/>
              <a:pPr/>
              <a:t>5</a:t>
            </a:fld>
            <a:endParaRPr lang="en-US" smtClean="0"/>
          </a:p>
        </p:txBody>
      </p:sp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>
          <a:xfrm>
            <a:off x="-228600" y="304800"/>
            <a:ext cx="9601200" cy="609600"/>
          </a:xfrm>
        </p:spPr>
        <p:txBody>
          <a:bodyPr/>
          <a:lstStyle/>
          <a:p>
            <a:pPr eaLnBrk="1" hangingPunct="1"/>
            <a:r>
              <a:rPr lang="en-US" sz="3200" smtClean="0"/>
              <a:t>Classification Is to Derive the Maximum Posteriori</a:t>
            </a:r>
          </a:p>
        </p:txBody>
      </p:sp>
      <p:sp>
        <p:nvSpPr>
          <p:cNvPr id="1229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219200"/>
            <a:ext cx="8458200" cy="5181600"/>
          </a:xfrm>
        </p:spPr>
        <p:txBody>
          <a:bodyPr/>
          <a:lstStyle/>
          <a:p>
            <a:pPr eaLnBrk="1" hangingPunct="1"/>
            <a:r>
              <a:rPr lang="en-US" sz="2400" smtClean="0"/>
              <a:t>Let D be a training set of tuples and their associated class labels, and each tuple is represented by an n-D attribute vector </a:t>
            </a:r>
            <a:r>
              <a:rPr lang="en-US" sz="2400" b="1" smtClean="0"/>
              <a:t>X</a:t>
            </a:r>
            <a:r>
              <a:rPr lang="en-US" sz="2400" smtClean="0"/>
              <a:t> = (x</a:t>
            </a:r>
            <a:r>
              <a:rPr lang="en-US" sz="2400" baseline="-25000" smtClean="0"/>
              <a:t>1</a:t>
            </a:r>
            <a:r>
              <a:rPr lang="en-US" sz="2400" smtClean="0"/>
              <a:t>, x</a:t>
            </a:r>
            <a:r>
              <a:rPr lang="en-US" sz="2400" baseline="-25000" smtClean="0"/>
              <a:t>2</a:t>
            </a:r>
            <a:r>
              <a:rPr lang="en-US" sz="2400" smtClean="0"/>
              <a:t>, …, x</a:t>
            </a:r>
            <a:r>
              <a:rPr lang="en-US" sz="2400" baseline="-25000" smtClean="0"/>
              <a:t>n</a:t>
            </a:r>
            <a:r>
              <a:rPr lang="en-US" sz="2400" smtClean="0"/>
              <a:t>)</a:t>
            </a:r>
          </a:p>
          <a:p>
            <a:pPr eaLnBrk="1" hangingPunct="1"/>
            <a:r>
              <a:rPr lang="en-US" sz="2400" smtClean="0"/>
              <a:t>Suppose there are </a:t>
            </a:r>
            <a:r>
              <a:rPr lang="en-US" sz="2400" i="1" smtClean="0"/>
              <a:t>m</a:t>
            </a:r>
            <a:r>
              <a:rPr lang="en-US" sz="2400" smtClean="0"/>
              <a:t> classes C</a:t>
            </a:r>
            <a:r>
              <a:rPr lang="en-US" sz="2400" baseline="-25000" smtClean="0"/>
              <a:t>1</a:t>
            </a:r>
            <a:r>
              <a:rPr lang="en-US" sz="2400" smtClean="0"/>
              <a:t>, C</a:t>
            </a:r>
            <a:r>
              <a:rPr lang="en-US" sz="2400" baseline="-25000" smtClean="0"/>
              <a:t>2</a:t>
            </a:r>
            <a:r>
              <a:rPr lang="en-US" sz="2400" smtClean="0"/>
              <a:t>, …, C</a:t>
            </a:r>
            <a:r>
              <a:rPr lang="en-US" sz="2400" baseline="-25000" smtClean="0"/>
              <a:t>m</a:t>
            </a:r>
            <a:r>
              <a:rPr lang="en-US" sz="2400" smtClean="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Classification is to derive the maximum posteriori, i.e., the maximal P(C</a:t>
            </a:r>
            <a:r>
              <a:rPr lang="en-US" sz="2400" baseline="-25000" smtClean="0"/>
              <a:t>i</a:t>
            </a:r>
            <a:r>
              <a:rPr lang="en-US" sz="2400" smtClean="0"/>
              <a:t>|</a:t>
            </a:r>
            <a:r>
              <a:rPr lang="en-US" sz="2400" b="1" smtClean="0"/>
              <a:t>X</a:t>
            </a:r>
            <a:r>
              <a:rPr lang="en-US" sz="2400" smtClean="0"/>
              <a:t>)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This can be derived from Bayes’ theorem</a:t>
            </a:r>
          </a:p>
          <a:p>
            <a:pPr eaLnBrk="1" hangingPunct="1">
              <a:lnSpc>
                <a:spcPct val="90000"/>
              </a:lnSpc>
            </a:pPr>
            <a:endParaRPr lang="en-US" sz="2400" smtClean="0"/>
          </a:p>
          <a:p>
            <a:pPr eaLnBrk="1" hangingPunct="1">
              <a:lnSpc>
                <a:spcPct val="90000"/>
              </a:lnSpc>
            </a:pPr>
            <a:endParaRPr lang="en-US" sz="2400" smtClean="0"/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Since P(X) is constant for all classes, only                                        </a:t>
            </a:r>
          </a:p>
          <a:p>
            <a:pPr eaLnBrk="1" hangingPunct="1">
              <a:lnSpc>
                <a:spcPct val="90000"/>
              </a:lnSpc>
            </a:pPr>
            <a:endParaRPr lang="en-US" sz="2400" smtClean="0"/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smtClean="0"/>
              <a:t>needs to be maximized</a:t>
            </a:r>
          </a:p>
        </p:txBody>
      </p:sp>
      <p:graphicFrame>
        <p:nvGraphicFramePr>
          <p:cNvPr id="12290" name="Object 5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4648200" y="3962400"/>
          <a:ext cx="2743200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Equation" r:id="rId4" imgW="2501900" imgH="647700" progId="Equation.3">
                  <p:embed/>
                </p:oleObj>
              </mc:Choice>
              <mc:Fallback>
                <p:oleObj name="Equation" r:id="rId4" imgW="2501900" imgH="6477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3962400"/>
                        <a:ext cx="2743200" cy="709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1" name="Object 7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4191000" y="5181600"/>
          <a:ext cx="2895600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Equation" r:id="rId6" imgW="2476500" imgH="381000" progId="Equation.3">
                  <p:embed/>
                </p:oleObj>
              </mc:Choice>
              <mc:Fallback>
                <p:oleObj name="Equation" r:id="rId6" imgW="2476500" imgH="3810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5181600"/>
                        <a:ext cx="2895600" cy="446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7" name="Slide Number Placeholder 7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C3C8E8BA-0B1F-4E0C-9E5B-D05137A683AF}" type="slidenum">
              <a:rPr lang="en-US" smtClean="0"/>
              <a:pPr/>
              <a:t>6</a:t>
            </a:fld>
            <a:endParaRPr lang="en-US" smtClean="0"/>
          </a:p>
        </p:txBody>
      </p:sp>
      <p:sp>
        <p:nvSpPr>
          <p:cNvPr id="1331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81000"/>
            <a:ext cx="8402638" cy="5334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 smtClean="0"/>
              <a:t>Naïve </a:t>
            </a:r>
            <a:r>
              <a:rPr lang="en-US" dirty="0" err="1" smtClean="0"/>
              <a:t>Bayes</a:t>
            </a:r>
            <a:r>
              <a:rPr lang="en-US" dirty="0" smtClean="0"/>
              <a:t> Classifier </a:t>
            </a:r>
          </a:p>
        </p:txBody>
      </p:sp>
      <p:sp>
        <p:nvSpPr>
          <p:cNvPr id="133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295400"/>
            <a:ext cx="8458200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 smtClean="0"/>
              <a:t>A simplified assumption: attributes are conditionally independent (i.e., no dependence relation between attributes):</a:t>
            </a:r>
          </a:p>
          <a:p>
            <a:pPr eaLnBrk="1" hangingPunct="1">
              <a:lnSpc>
                <a:spcPct val="90000"/>
              </a:lnSpc>
            </a:pPr>
            <a:endParaRPr lang="en-US" sz="2400" dirty="0" smtClean="0"/>
          </a:p>
          <a:p>
            <a:pPr eaLnBrk="1" hangingPunct="1">
              <a:lnSpc>
                <a:spcPct val="90000"/>
              </a:lnSpc>
            </a:pPr>
            <a:endParaRPr lang="en-US" sz="2400" dirty="0" smtClean="0"/>
          </a:p>
          <a:p>
            <a:pPr eaLnBrk="1" hangingPunct="1">
              <a:lnSpc>
                <a:spcPct val="90000"/>
              </a:lnSpc>
            </a:pPr>
            <a:endParaRPr lang="en-US" sz="2400" dirty="0" smtClean="0"/>
          </a:p>
          <a:p>
            <a:pPr eaLnBrk="1" hangingPunct="1">
              <a:lnSpc>
                <a:spcPct val="90000"/>
              </a:lnSpc>
              <a:buNone/>
            </a:pPr>
            <a:endParaRPr lang="en-US" sz="2400" dirty="0" smtClean="0"/>
          </a:p>
          <a:p>
            <a:pPr eaLnBrk="1" hangingPunct="1">
              <a:lnSpc>
                <a:spcPct val="90000"/>
              </a:lnSpc>
            </a:pPr>
            <a:r>
              <a:rPr lang="en-US" sz="2400" dirty="0" smtClean="0"/>
              <a:t>This greatly reduces the computation cost: Only counts the class distribution</a:t>
            </a:r>
          </a:p>
        </p:txBody>
      </p:sp>
      <p:graphicFrame>
        <p:nvGraphicFramePr>
          <p:cNvPr id="13314" name="Object 10"/>
          <p:cNvGraphicFramePr>
            <a:graphicFrameLocks noGrp="1"/>
          </p:cNvGraphicFramePr>
          <p:nvPr>
            <p:ph sz="quarter" idx="2"/>
          </p:nvPr>
        </p:nvGraphicFramePr>
        <p:xfrm>
          <a:off x="2438400" y="1905000"/>
          <a:ext cx="6172200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" name="Equation" r:id="rId4" imgW="4089400" imgH="508000" progId="Equation.3">
                  <p:embed/>
                </p:oleObj>
              </mc:Choice>
              <mc:Fallback>
                <p:oleObj name="Equation" r:id="rId4" imgW="4089400" imgH="508000" progId="Equation.3">
                  <p:embed/>
                  <p:pic>
                    <p:nvPicPr>
                      <p:cNvPr id="0" name="Object 10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905000"/>
                        <a:ext cx="6172200" cy="89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Content Placeholder 7"/>
          <p:cNvSpPr>
            <a:spLocks noGrp="1"/>
          </p:cNvSpPr>
          <p:nvPr>
            <p:ph sz="quarter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E7D2DAC9-C875-4049-AD20-14E3BD3D77AA}" type="slidenum">
              <a:rPr lang="en-US" smtClean="0"/>
              <a:pPr/>
              <a:t>7</a:t>
            </a:fld>
            <a:endParaRPr lang="en-US" smtClean="0"/>
          </a:p>
        </p:txBody>
      </p:sp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Naïve Bayes Classifier: Training Dataset</a:t>
            </a:r>
          </a:p>
        </p:txBody>
      </p:sp>
      <p:sp>
        <p:nvSpPr>
          <p:cNvPr id="14341" name="Text Box 4"/>
          <p:cNvSpPr txBox="1">
            <a:spLocks noChangeArrowheads="1"/>
          </p:cNvSpPr>
          <p:nvPr/>
        </p:nvSpPr>
        <p:spPr bwMode="auto">
          <a:xfrm>
            <a:off x="152400" y="1828800"/>
            <a:ext cx="3429000" cy="3748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sz="2400" dirty="0">
                <a:latin typeface="Calibri" pitchFamily="34" charset="0"/>
              </a:rPr>
              <a:t>Class: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Calibri" pitchFamily="34" charset="0"/>
              </a:rPr>
              <a:t>C1:buys_computer = ‘yes’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Calibri" pitchFamily="34" charset="0"/>
              </a:rPr>
              <a:t>C2:buys_computer = ‘no’</a:t>
            </a:r>
          </a:p>
          <a:p>
            <a:pPr>
              <a:lnSpc>
                <a:spcPct val="110000"/>
              </a:lnSpc>
            </a:pPr>
            <a:endParaRPr lang="en-US" sz="2400" dirty="0">
              <a:latin typeface="Calibri" pitchFamily="34" charset="0"/>
            </a:endParaRPr>
          </a:p>
          <a:p>
            <a:pPr>
              <a:lnSpc>
                <a:spcPct val="110000"/>
              </a:lnSpc>
            </a:pPr>
            <a:r>
              <a:rPr lang="en-US" sz="2400" dirty="0">
                <a:latin typeface="Calibri" pitchFamily="34" charset="0"/>
              </a:rPr>
              <a:t>Data to be classified: 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Calibri" pitchFamily="34" charset="0"/>
              </a:rPr>
              <a:t>X = (age &lt;=30, 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Calibri" pitchFamily="34" charset="0"/>
              </a:rPr>
              <a:t>Income = medium,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Calibri" pitchFamily="34" charset="0"/>
              </a:rPr>
              <a:t>Student = yes</a:t>
            </a:r>
          </a:p>
          <a:p>
            <a:pPr>
              <a:lnSpc>
                <a:spcPct val="110000"/>
              </a:lnSpc>
            </a:pPr>
            <a:r>
              <a:rPr lang="en-US" sz="2400" dirty="0" err="1">
                <a:latin typeface="Calibri" pitchFamily="34" charset="0"/>
              </a:rPr>
              <a:t>Credit_rating</a:t>
            </a:r>
            <a:r>
              <a:rPr lang="en-US" sz="2400" dirty="0">
                <a:latin typeface="Calibri" pitchFamily="34" charset="0"/>
              </a:rPr>
              <a:t> = Fair)</a:t>
            </a:r>
          </a:p>
        </p:txBody>
      </p:sp>
      <p:graphicFrame>
        <p:nvGraphicFramePr>
          <p:cNvPr id="14338" name="Object 5"/>
          <p:cNvGraphicFramePr>
            <a:graphicFrameLocks noGrp="1"/>
          </p:cNvGraphicFramePr>
          <p:nvPr>
            <p:ph idx="1"/>
          </p:nvPr>
        </p:nvGraphicFramePr>
        <p:xfrm>
          <a:off x="3810000" y="1295400"/>
          <a:ext cx="5110163" cy="525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name="Worksheet" r:id="rId4" imgW="4324438" imgH="4457652" progId="Excel.Sheet.8">
                  <p:embed/>
                </p:oleObj>
              </mc:Choice>
              <mc:Fallback>
                <p:oleObj name="Worksheet" r:id="rId4" imgW="4324438" imgH="4457652" progId="Excel.Sheet.8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1295400"/>
                        <a:ext cx="5110163" cy="525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2782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1C7FF446-83D4-4E1F-900C-3E192F3F3CA7}" type="slidenum">
              <a:rPr lang="en-US" smtClean="0"/>
              <a:pPr/>
              <a:t>9</a:t>
            </a:fld>
            <a:endParaRPr lang="en-US" smtClean="0"/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0678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Naïve Bayes Classifier: An Example</a:t>
            </a:r>
          </a:p>
        </p:txBody>
      </p:sp>
      <p:sp>
        <p:nvSpPr>
          <p:cNvPr id="1536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152525"/>
            <a:ext cx="8686800" cy="57150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000" dirty="0" smtClean="0"/>
              <a:t>P(</a:t>
            </a:r>
            <a:r>
              <a:rPr lang="en-US" sz="2000" dirty="0" err="1" smtClean="0"/>
              <a:t>C</a:t>
            </a:r>
            <a:r>
              <a:rPr lang="en-US" sz="2000" baseline="-25000" dirty="0" err="1" smtClean="0"/>
              <a:t>i</a:t>
            </a:r>
            <a:r>
              <a:rPr lang="en-US" sz="2000" dirty="0" smtClean="0"/>
              <a:t>):    P(</a:t>
            </a:r>
            <a:r>
              <a:rPr lang="en-US" sz="2000" dirty="0" err="1" smtClean="0"/>
              <a:t>buys_computer</a:t>
            </a:r>
            <a:r>
              <a:rPr lang="en-US" sz="2000" dirty="0" smtClean="0"/>
              <a:t> = “yes”)  = 9/14 = 0.643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/>
              <a:t>                   P(</a:t>
            </a:r>
            <a:r>
              <a:rPr lang="en-US" sz="2000" dirty="0" err="1" smtClean="0"/>
              <a:t>buys_computer</a:t>
            </a:r>
            <a:r>
              <a:rPr lang="en-US" sz="2000" dirty="0" smtClean="0"/>
              <a:t> = “no”) = 5/14= 0.357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 smtClean="0"/>
              <a:t>Compute P(</a:t>
            </a:r>
            <a:r>
              <a:rPr lang="en-US" sz="2000" dirty="0" err="1" smtClean="0"/>
              <a:t>X|C</a:t>
            </a:r>
            <a:r>
              <a:rPr lang="en-US" sz="2000" baseline="-25000" dirty="0" err="1" smtClean="0"/>
              <a:t>i</a:t>
            </a:r>
            <a:r>
              <a:rPr lang="en-US" sz="2000" dirty="0" smtClean="0"/>
              <a:t>) for each class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/>
              <a:t>     P(age = “&lt;=30” | </a:t>
            </a:r>
            <a:r>
              <a:rPr lang="en-US" sz="2000" dirty="0" err="1" smtClean="0"/>
              <a:t>buys_computer</a:t>
            </a:r>
            <a:r>
              <a:rPr lang="en-US" sz="2000" dirty="0" smtClean="0"/>
              <a:t> = “yes”)  = 2/9 = 0.222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/>
              <a:t>     P(age = “&lt;= 30” | </a:t>
            </a:r>
            <a:r>
              <a:rPr lang="en-US" sz="2000" dirty="0" err="1" smtClean="0"/>
              <a:t>buys_computer</a:t>
            </a:r>
            <a:r>
              <a:rPr lang="en-US" sz="2000" dirty="0" smtClean="0"/>
              <a:t> = “no”) = 3/5 = 0.6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/>
              <a:t>     P(income = “medium” | </a:t>
            </a:r>
            <a:r>
              <a:rPr lang="en-US" sz="2000" dirty="0" err="1" smtClean="0"/>
              <a:t>buys_computer</a:t>
            </a:r>
            <a:r>
              <a:rPr lang="en-US" sz="2000" dirty="0" smtClean="0"/>
              <a:t> = “yes”) = 4/9 = 0.444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/>
              <a:t>     P(income = “medium” | </a:t>
            </a:r>
            <a:r>
              <a:rPr lang="en-US" sz="2000" dirty="0" err="1" smtClean="0"/>
              <a:t>buys_computer</a:t>
            </a:r>
            <a:r>
              <a:rPr lang="en-US" sz="2000" dirty="0" smtClean="0"/>
              <a:t> = “no”) = 2/5 = 0.4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/>
              <a:t>     P(student = “yes” | </a:t>
            </a:r>
            <a:r>
              <a:rPr lang="en-US" sz="2000" dirty="0" err="1" smtClean="0"/>
              <a:t>buys_computer</a:t>
            </a:r>
            <a:r>
              <a:rPr lang="en-US" sz="2000" dirty="0" smtClean="0"/>
              <a:t> = “yes) = 6/9 = 0.667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/>
              <a:t>     P(student = “yes” | </a:t>
            </a:r>
            <a:r>
              <a:rPr lang="en-US" sz="2000" dirty="0" err="1" smtClean="0"/>
              <a:t>buys_computer</a:t>
            </a:r>
            <a:r>
              <a:rPr lang="en-US" sz="2000" dirty="0" smtClean="0"/>
              <a:t> = “no”) = 1/5 = 0.2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/>
              <a:t>     P(</a:t>
            </a:r>
            <a:r>
              <a:rPr lang="en-US" sz="2000" dirty="0" err="1" smtClean="0"/>
              <a:t>credit_rating</a:t>
            </a:r>
            <a:r>
              <a:rPr lang="en-US" sz="2000" dirty="0" smtClean="0"/>
              <a:t> = “fair” | </a:t>
            </a:r>
            <a:r>
              <a:rPr lang="en-US" sz="2000" dirty="0" err="1" smtClean="0"/>
              <a:t>buys_computer</a:t>
            </a:r>
            <a:r>
              <a:rPr lang="en-US" sz="2000" dirty="0" smtClean="0"/>
              <a:t> = “yes”) = 6/9 = 0.667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/>
              <a:t>     P(</a:t>
            </a:r>
            <a:r>
              <a:rPr lang="en-US" sz="2000" dirty="0" err="1" smtClean="0"/>
              <a:t>credit_rating</a:t>
            </a:r>
            <a:r>
              <a:rPr lang="en-US" sz="2000" dirty="0" smtClean="0"/>
              <a:t> = “fair” | </a:t>
            </a:r>
            <a:r>
              <a:rPr lang="en-US" sz="2000" dirty="0" err="1" smtClean="0"/>
              <a:t>buys_computer</a:t>
            </a:r>
            <a:r>
              <a:rPr lang="en-US" sz="2000" dirty="0" smtClean="0"/>
              <a:t> = “no”) = 2/5 = 0.4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b="1" dirty="0" smtClean="0"/>
              <a:t> X = (age &lt;= 30 , income = medium, student = yes, </a:t>
            </a:r>
            <a:r>
              <a:rPr lang="en-US" sz="2000" b="1" dirty="0" err="1" smtClean="0"/>
              <a:t>credit_rating</a:t>
            </a:r>
            <a:r>
              <a:rPr lang="en-US" sz="2000" b="1" dirty="0" smtClean="0"/>
              <a:t> = fair)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/>
              <a:t> </a:t>
            </a:r>
            <a:r>
              <a:rPr lang="en-US" sz="2000" b="1" dirty="0" smtClean="0"/>
              <a:t>P(</a:t>
            </a:r>
            <a:r>
              <a:rPr lang="en-US" sz="2000" b="1" dirty="0" err="1" smtClean="0"/>
              <a:t>X|C</a:t>
            </a:r>
            <a:r>
              <a:rPr lang="en-US" sz="2000" b="1" baseline="-25000" dirty="0" err="1" smtClean="0"/>
              <a:t>i</a:t>
            </a:r>
            <a:r>
              <a:rPr lang="en-US" sz="2000" b="1" dirty="0" smtClean="0"/>
              <a:t>) :</a:t>
            </a:r>
            <a:r>
              <a:rPr lang="en-US" sz="2000" dirty="0" smtClean="0"/>
              <a:t> P(</a:t>
            </a:r>
            <a:r>
              <a:rPr lang="en-US" sz="2000" dirty="0" err="1" smtClean="0"/>
              <a:t>X|buys_computer</a:t>
            </a:r>
            <a:r>
              <a:rPr lang="en-US" sz="2000" dirty="0" smtClean="0"/>
              <a:t> = “yes”) = 0.222 x 0.444 x 0.667 x 0.667 = 0.044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/>
              <a:t>                P(</a:t>
            </a:r>
            <a:r>
              <a:rPr lang="en-US" sz="2000" dirty="0" err="1" smtClean="0"/>
              <a:t>X|buys_computer</a:t>
            </a:r>
            <a:r>
              <a:rPr lang="en-US" sz="2000" dirty="0" smtClean="0"/>
              <a:t> = “no”) = 0.6 x 0.4 x 0.2 x 0.4 = 0.019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b="1" dirty="0" smtClean="0"/>
              <a:t>P(</a:t>
            </a:r>
            <a:r>
              <a:rPr lang="en-US" sz="2000" b="1" dirty="0" err="1" smtClean="0"/>
              <a:t>X|C</a:t>
            </a:r>
            <a:r>
              <a:rPr lang="en-US" sz="2000" b="1" baseline="-25000" dirty="0" err="1" smtClean="0"/>
              <a:t>i</a:t>
            </a:r>
            <a:r>
              <a:rPr lang="en-US" sz="2000" b="1" dirty="0" smtClean="0"/>
              <a:t>)*P(</a:t>
            </a:r>
            <a:r>
              <a:rPr lang="en-US" sz="2000" b="1" dirty="0" err="1" smtClean="0"/>
              <a:t>C</a:t>
            </a:r>
            <a:r>
              <a:rPr lang="en-US" sz="2000" b="1" baseline="-25000" dirty="0" err="1" smtClean="0"/>
              <a:t>i</a:t>
            </a:r>
            <a:r>
              <a:rPr lang="en-US" sz="2000" b="1" dirty="0" smtClean="0"/>
              <a:t>) : </a:t>
            </a:r>
            <a:r>
              <a:rPr lang="en-US" sz="2000" dirty="0" smtClean="0"/>
              <a:t>P(</a:t>
            </a:r>
            <a:r>
              <a:rPr lang="en-US" sz="2000" dirty="0" err="1" smtClean="0"/>
              <a:t>X|buys_computer</a:t>
            </a:r>
            <a:r>
              <a:rPr lang="en-US" sz="2000" dirty="0" smtClean="0"/>
              <a:t> = “yes”) * P(</a:t>
            </a:r>
            <a:r>
              <a:rPr lang="en-US" sz="2000" dirty="0" err="1" smtClean="0"/>
              <a:t>buys_computer</a:t>
            </a:r>
            <a:r>
              <a:rPr lang="en-US" sz="2000" dirty="0" smtClean="0"/>
              <a:t> = “yes”) = 0.028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b="1" dirty="0" smtClean="0"/>
              <a:t>		             </a:t>
            </a:r>
            <a:r>
              <a:rPr lang="en-US" sz="2000" dirty="0" smtClean="0"/>
              <a:t>P(</a:t>
            </a:r>
            <a:r>
              <a:rPr lang="en-US" sz="2000" dirty="0" err="1" smtClean="0"/>
              <a:t>X|buys_computer</a:t>
            </a:r>
            <a:r>
              <a:rPr lang="en-US" sz="2000" dirty="0" smtClean="0"/>
              <a:t> = “no”) * P(</a:t>
            </a:r>
            <a:r>
              <a:rPr lang="en-US" sz="2000" dirty="0" err="1" smtClean="0"/>
              <a:t>buys_computer</a:t>
            </a:r>
            <a:r>
              <a:rPr lang="en-US" sz="2000" dirty="0" smtClean="0"/>
              <a:t> = “no”) = 0.007</a:t>
            </a:r>
            <a:endParaRPr lang="en-US" sz="2000" b="1" dirty="0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b="1" dirty="0" smtClean="0"/>
              <a:t>Therefore,  X belongs to class (“</a:t>
            </a:r>
            <a:r>
              <a:rPr lang="en-US" sz="2000" b="1" dirty="0" err="1" smtClean="0"/>
              <a:t>buys_computer</a:t>
            </a:r>
            <a:r>
              <a:rPr lang="en-US" sz="2000" b="1" dirty="0" smtClean="0"/>
              <a:t> = yes”)	</a:t>
            </a:r>
            <a:r>
              <a:rPr lang="en-US" sz="1800" b="1" dirty="0" smtClean="0"/>
              <a:t>	</a:t>
            </a:r>
          </a:p>
        </p:txBody>
      </p:sp>
      <p:graphicFrame>
        <p:nvGraphicFramePr>
          <p:cNvPr id="15362" name="Object 1"/>
          <p:cNvGraphicFramePr>
            <a:graphicFrameLocks/>
          </p:cNvGraphicFramePr>
          <p:nvPr/>
        </p:nvGraphicFramePr>
        <p:xfrm>
          <a:off x="7062788" y="762000"/>
          <a:ext cx="2062162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9" name="Worksheet" r:id="rId4" imgW="4324438" imgH="4457652" progId="Excel.Sheet.8">
                  <p:embed/>
                </p:oleObj>
              </mc:Choice>
              <mc:Fallback>
                <p:oleObj name="Worksheet" r:id="rId4" imgW="4324438" imgH="4457652" progId="Excel.Sheet.8">
                  <p:embed/>
                  <p:pic>
                    <p:nvPicPr>
                      <p:cNvPr id="0" name="Object 1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2788" y="762000"/>
                        <a:ext cx="2062162" cy="175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Slide Number Placeholder 6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5506804F-853D-491E-9669-6E94D055D2FC}" type="slidenum">
              <a:rPr lang="en-US" smtClean="0"/>
              <a:pPr/>
              <a:t>10</a:t>
            </a:fld>
            <a:endParaRPr lang="en-US" smtClean="0"/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402638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Avoiding the Zero-Probability Problem</a:t>
            </a:r>
          </a:p>
        </p:txBody>
      </p:sp>
      <p:sp>
        <p:nvSpPr>
          <p:cNvPr id="1638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219200"/>
            <a:ext cx="8382000" cy="5486400"/>
          </a:xfrm>
        </p:spPr>
        <p:txBody>
          <a:bodyPr>
            <a:normAutofit lnSpcReduction="10000"/>
          </a:bodyPr>
          <a:lstStyle/>
          <a:p>
            <a:pPr algn="just" eaLnBrk="1" hangingPunct="1"/>
            <a:r>
              <a:rPr lang="en-US" sz="2400" smtClean="0"/>
              <a:t>Naïve Bayesian prediction requires each conditional prob. be </a:t>
            </a:r>
            <a:r>
              <a:rPr lang="en-US" sz="2400" b="1" smtClean="0"/>
              <a:t>non-zero</a:t>
            </a:r>
            <a:r>
              <a:rPr lang="en-US" sz="2400" smtClean="0"/>
              <a:t>.  Otherwise, the predicted prob. will be zero</a:t>
            </a:r>
          </a:p>
          <a:p>
            <a:pPr algn="just" eaLnBrk="1" hangingPunct="1"/>
            <a:endParaRPr lang="en-US" sz="2400" smtClean="0"/>
          </a:p>
          <a:p>
            <a:pPr algn="just" eaLnBrk="1" hangingPunct="1">
              <a:buFont typeface="Wingdings" pitchFamily="2" charset="2"/>
              <a:buNone/>
            </a:pPr>
            <a:r>
              <a:rPr lang="en-US" sz="2400" b="1" smtClean="0"/>
              <a:t>	</a:t>
            </a:r>
          </a:p>
          <a:p>
            <a:pPr algn="just" eaLnBrk="1" hangingPunct="1"/>
            <a:r>
              <a:rPr lang="en-US" sz="2400" smtClean="0"/>
              <a:t>Ex. Suppose a dataset with 1000 tuples, income=low (0), income= medium (990), and income = high (10)</a:t>
            </a:r>
          </a:p>
          <a:p>
            <a:pPr algn="just" eaLnBrk="1" hangingPunct="1"/>
            <a:r>
              <a:rPr lang="en-US" sz="2400" smtClean="0"/>
              <a:t>Use </a:t>
            </a:r>
            <a:r>
              <a:rPr lang="en-US" sz="2400" b="1" smtClean="0"/>
              <a:t>Laplacian correction</a:t>
            </a:r>
            <a:r>
              <a:rPr lang="en-US" sz="2400" smtClean="0"/>
              <a:t> (or Laplacian estimator)</a:t>
            </a:r>
          </a:p>
          <a:p>
            <a:pPr lvl="1" algn="just" eaLnBrk="1" hangingPunct="1"/>
            <a:r>
              <a:rPr lang="en-US" sz="2400" i="1" smtClean="0"/>
              <a:t>Adding 1 to each case</a:t>
            </a:r>
          </a:p>
          <a:p>
            <a:pPr lvl="2" algn="just" eaLnBrk="1" hangingPunct="1">
              <a:buFont typeface="Wingdings" pitchFamily="2" charset="2"/>
              <a:buNone/>
            </a:pPr>
            <a:r>
              <a:rPr lang="en-US" smtClean="0"/>
              <a:t>Prob(income = low) = 1/1003</a:t>
            </a:r>
          </a:p>
          <a:p>
            <a:pPr lvl="2" algn="just" eaLnBrk="1" hangingPunct="1">
              <a:buFont typeface="Wingdings" pitchFamily="2" charset="2"/>
              <a:buNone/>
            </a:pPr>
            <a:r>
              <a:rPr lang="en-US" smtClean="0"/>
              <a:t>Prob(income = medium) = 991/1003</a:t>
            </a:r>
          </a:p>
          <a:p>
            <a:pPr lvl="2" algn="just" eaLnBrk="1" hangingPunct="1">
              <a:buFont typeface="Wingdings" pitchFamily="2" charset="2"/>
              <a:buNone/>
            </a:pPr>
            <a:r>
              <a:rPr lang="en-US" smtClean="0"/>
              <a:t>Prob(income = high) = 11/1003</a:t>
            </a:r>
          </a:p>
          <a:p>
            <a:pPr lvl="1" algn="just" eaLnBrk="1" hangingPunct="1"/>
            <a:r>
              <a:rPr lang="en-US" sz="2400" smtClean="0"/>
              <a:t>The “corrected” prob. estimates are close to their “uncorrected” counterparts</a:t>
            </a:r>
          </a:p>
        </p:txBody>
      </p:sp>
      <p:graphicFrame>
        <p:nvGraphicFramePr>
          <p:cNvPr id="16386" name="Object 4"/>
          <p:cNvGraphicFramePr>
            <a:graphicFrameLocks noGrp="1"/>
          </p:cNvGraphicFramePr>
          <p:nvPr>
            <p:ph sz="half" idx="2"/>
          </p:nvPr>
        </p:nvGraphicFramePr>
        <p:xfrm>
          <a:off x="2209800" y="1981200"/>
          <a:ext cx="4038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3" name="Equation" r:id="rId4" imgW="1765300" imgH="508000" progId="Equation.3">
                  <p:embed/>
                </p:oleObj>
              </mc:Choice>
              <mc:Fallback>
                <p:oleObj name="Equation" r:id="rId4" imgW="1765300" imgH="508000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981200"/>
                        <a:ext cx="40386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E5F2ACE1-D993-478A-8DD5-DE8562AB2910}" type="slidenum">
              <a:rPr lang="en-US" smtClean="0"/>
              <a:pPr/>
              <a:t>11</a:t>
            </a:fld>
            <a:endParaRPr lang="en-US" smtClean="0"/>
          </a:p>
        </p:txBody>
      </p:sp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>
          <a:xfrm>
            <a:off x="9525" y="304800"/>
            <a:ext cx="91440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Naïve Bayes Classifier: Comments</a:t>
            </a:r>
          </a:p>
        </p:txBody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610600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smtClean="0"/>
              <a:t>Advantages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Easy to implement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Good results obtained in most of the cases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Disadvantages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Assumption: class conditional independence, therefore loss of accuracy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Practically, dependencies exist among variables </a:t>
            </a:r>
          </a:p>
          <a:p>
            <a:pPr lvl="2" eaLnBrk="1" hangingPunct="1">
              <a:lnSpc>
                <a:spcPct val="90000"/>
              </a:lnSpc>
            </a:pPr>
            <a:r>
              <a:rPr lang="en-US" smtClean="0"/>
              <a:t>E.g.,  hospitals: patients: Profile: age, family history, etc. </a:t>
            </a:r>
          </a:p>
          <a:p>
            <a:pPr lvl="3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mtClean="0"/>
              <a:t> </a:t>
            </a:r>
            <a:r>
              <a:rPr lang="en-US" sz="2400" smtClean="0"/>
              <a:t>Symptoms: fever, cough etc., Disease: lung cancer, diabetes, etc. </a:t>
            </a:r>
          </a:p>
          <a:p>
            <a:pPr lvl="2" eaLnBrk="1" hangingPunct="1">
              <a:lnSpc>
                <a:spcPct val="90000"/>
              </a:lnSpc>
            </a:pPr>
            <a:r>
              <a:rPr lang="en-US" smtClean="0"/>
              <a:t>Dependencies among these cannot be modeled by Naïve Bayes Classifier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How to deal with these dependencies? Bayesian Belief Networks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778</Words>
  <Application>Microsoft Office PowerPoint</Application>
  <PresentationFormat>On-screen Show (4:3)</PresentationFormat>
  <Paragraphs>113</Paragraphs>
  <Slides>11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Wingdings</vt:lpstr>
      <vt:lpstr>Office Theme</vt:lpstr>
      <vt:lpstr>Equation</vt:lpstr>
      <vt:lpstr>Worksheet</vt:lpstr>
      <vt:lpstr>Naïve Bayes Classifier</vt:lpstr>
      <vt:lpstr>Bayesian Classification: Why?</vt:lpstr>
      <vt:lpstr>Bayes’ Theorem: Basics</vt:lpstr>
      <vt:lpstr>Prediction Based on Bayes’ Theorem</vt:lpstr>
      <vt:lpstr>Classification Is to Derive the Maximum Posteriori</vt:lpstr>
      <vt:lpstr>Naïve Bayes Classifier </vt:lpstr>
      <vt:lpstr>Naïve Bayes Classifier: Training Dataset</vt:lpstr>
      <vt:lpstr>PowerPoint Presentation</vt:lpstr>
      <vt:lpstr>Naïve Bayes Classifier: An Example</vt:lpstr>
      <vt:lpstr>Avoiding the Zero-Probability Problem</vt:lpstr>
      <vt:lpstr>Naïve Bayes Classifier: Comments</vt:lpstr>
    </vt:vector>
  </TitlesOfParts>
  <Company>Hewlett-Packard Company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Naïve Bayes Classifier </dc:title>
  <dc:creator>himanshu.mittal</dc:creator>
  <cp:lastModifiedBy>Microsoft account</cp:lastModifiedBy>
  <cp:revision>5</cp:revision>
  <dcterms:created xsi:type="dcterms:W3CDTF">2017-03-07T06:07:09Z</dcterms:created>
  <dcterms:modified xsi:type="dcterms:W3CDTF">2025-01-06T06:03:28Z</dcterms:modified>
</cp:coreProperties>
</file>