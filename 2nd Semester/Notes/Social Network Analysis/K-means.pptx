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444" y="211023"/>
            <a:ext cx="6431102" cy="1096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47ED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47ED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47ED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47ED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6" y="281184"/>
                </a:lnTo>
                <a:lnTo>
                  <a:pt x="13967" y="234645"/>
                </a:lnTo>
                <a:lnTo>
                  <a:pt x="30661" y="190840"/>
                </a:lnTo>
                <a:lnTo>
                  <a:pt x="53149" y="150277"/>
                </a:lnTo>
                <a:lnTo>
                  <a:pt x="80919" y="113468"/>
                </a:lnTo>
                <a:lnTo>
                  <a:pt x="113462" y="80923"/>
                </a:lnTo>
                <a:lnTo>
                  <a:pt x="150267" y="53151"/>
                </a:lnTo>
                <a:lnTo>
                  <a:pt x="190825" y="30662"/>
                </a:lnTo>
                <a:lnTo>
                  <a:pt x="234624" y="13967"/>
                </a:lnTo>
                <a:lnTo>
                  <a:pt x="281155" y="3576"/>
                </a:lnTo>
                <a:lnTo>
                  <a:pt x="329907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49"/>
                </a:lnTo>
                <a:lnTo>
                  <a:pt x="9009359" y="6412201"/>
                </a:lnTo>
                <a:lnTo>
                  <a:pt x="8998968" y="6458732"/>
                </a:lnTo>
                <a:lnTo>
                  <a:pt x="8982273" y="6502532"/>
                </a:lnTo>
                <a:lnTo>
                  <a:pt x="8959784" y="6543089"/>
                </a:lnTo>
                <a:lnTo>
                  <a:pt x="8932012" y="6579895"/>
                </a:lnTo>
                <a:lnTo>
                  <a:pt x="8899467" y="6612438"/>
                </a:lnTo>
                <a:lnTo>
                  <a:pt x="8862658" y="6640208"/>
                </a:lnTo>
                <a:lnTo>
                  <a:pt x="8822095" y="6662696"/>
                </a:lnTo>
                <a:lnTo>
                  <a:pt x="8778290" y="6679390"/>
                </a:lnTo>
                <a:lnTo>
                  <a:pt x="8731751" y="6689781"/>
                </a:lnTo>
                <a:lnTo>
                  <a:pt x="8682990" y="6693358"/>
                </a:lnTo>
                <a:lnTo>
                  <a:pt x="329907" y="6693358"/>
                </a:lnTo>
                <a:lnTo>
                  <a:pt x="281155" y="6689781"/>
                </a:lnTo>
                <a:lnTo>
                  <a:pt x="234624" y="6679390"/>
                </a:lnTo>
                <a:lnTo>
                  <a:pt x="190825" y="6662696"/>
                </a:lnTo>
                <a:lnTo>
                  <a:pt x="150267" y="6640208"/>
                </a:lnTo>
                <a:lnTo>
                  <a:pt x="113462" y="6612438"/>
                </a:lnTo>
                <a:lnTo>
                  <a:pt x="80919" y="6579895"/>
                </a:lnTo>
                <a:lnTo>
                  <a:pt x="53149" y="6543089"/>
                </a:lnTo>
                <a:lnTo>
                  <a:pt x="30661" y="6502532"/>
                </a:lnTo>
                <a:lnTo>
                  <a:pt x="13967" y="6458732"/>
                </a:lnTo>
                <a:lnTo>
                  <a:pt x="3576" y="6412201"/>
                </a:lnTo>
                <a:lnTo>
                  <a:pt x="0" y="6363449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215" y="48005"/>
            <a:ext cx="8989568" cy="15372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47ED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616" y="1536166"/>
            <a:ext cx="641477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49.png"/><Relationship Id="rId21" Type="http://schemas.openxmlformats.org/officeDocument/2006/relationships/image" Target="../media/image70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image" Target="../media/image52.png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7705" y="4628769"/>
            <a:ext cx="5981065" cy="134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4960" algn="just">
              <a:lnSpc>
                <a:spcPct val="120000"/>
              </a:lnSpc>
              <a:spcBef>
                <a:spcPts val="100"/>
              </a:spcBef>
            </a:pPr>
            <a:r>
              <a:rPr sz="2400" spc="-70" dirty="0">
                <a:latin typeface="Calibri"/>
                <a:cs typeface="Calibri"/>
              </a:rPr>
              <a:t>Dr.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Ashish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Kumar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Tripathi </a:t>
            </a:r>
            <a:r>
              <a:rPr sz="2400" dirty="0">
                <a:latin typeface="Calibri"/>
                <a:cs typeface="Calibri"/>
              </a:rPr>
              <a:t>Department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Science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Engineering </a:t>
            </a:r>
            <a:r>
              <a:rPr sz="2400" dirty="0">
                <a:latin typeface="Calibri"/>
                <a:cs typeface="Calibri"/>
              </a:rPr>
              <a:t>Malviya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National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Institute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Technology,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Jaipur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215" y="48005"/>
            <a:ext cx="8989568" cy="752641"/>
          </a:xfrm>
          <a:prstGeom prst="rect">
            <a:avLst/>
          </a:prstGeom>
        </p:spPr>
        <p:txBody>
          <a:bodyPr vert="horz" wrap="square" lIns="0" tIns="257682" rIns="0" bIns="0" rtlCol="0">
            <a:spAutoFit/>
          </a:bodyPr>
          <a:lstStyle/>
          <a:p>
            <a:pPr marL="3119755" marR="5080" indent="-1995805">
              <a:lnSpc>
                <a:spcPct val="100000"/>
              </a:lnSpc>
              <a:spcBef>
                <a:spcPts val="100"/>
              </a:spcBef>
            </a:pPr>
            <a:r>
              <a:rPr sz="3200" b="0" dirty="0" smtClean="0">
                <a:solidFill>
                  <a:srgbClr val="1F487C"/>
                </a:solidFill>
                <a:latin typeface="Calibri"/>
                <a:cs typeface="Calibri"/>
              </a:rPr>
              <a:t>Machine</a:t>
            </a:r>
            <a:r>
              <a:rPr sz="3200" b="0" spc="-25" dirty="0" smtClean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3200" b="0" spc="-10" dirty="0" smtClean="0">
                <a:solidFill>
                  <a:srgbClr val="1F487C"/>
                </a:solidFill>
                <a:latin typeface="Calibri"/>
                <a:cs typeface="Calibri"/>
              </a:rPr>
              <a:t>Learning</a:t>
            </a:r>
            <a:r>
              <a:rPr lang="en-IN" sz="3200" b="0" spc="-10" dirty="0" smtClean="0">
                <a:solidFill>
                  <a:srgbClr val="1F487C"/>
                </a:solidFill>
                <a:latin typeface="Calibri"/>
                <a:cs typeface="Calibri"/>
              </a:rPr>
              <a:t> for Social Data Analysis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244" y="1714500"/>
            <a:ext cx="3215639" cy="27142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4897" y="309117"/>
            <a:ext cx="2394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99490"/>
            <a:ext cx="6402705" cy="4403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Some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popular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problems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social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media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analysis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765"/>
              </a:spcBef>
            </a:pPr>
            <a:endParaRPr sz="2400" dirty="0">
              <a:latin typeface="Cambria"/>
              <a:cs typeface="Cambria"/>
            </a:endParaRPr>
          </a:p>
          <a:p>
            <a:pPr marL="970915" indent="-382270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970915" algn="l"/>
              </a:tabLst>
            </a:pPr>
            <a:r>
              <a:rPr sz="2200" dirty="0">
                <a:latin typeface="Cambria"/>
                <a:cs typeface="Cambria"/>
              </a:rPr>
              <a:t>Sentiment</a:t>
            </a:r>
            <a:r>
              <a:rPr sz="2200" spc="-12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analysis.</a:t>
            </a:r>
            <a:endParaRPr sz="2200" dirty="0">
              <a:latin typeface="Cambria"/>
              <a:cs typeface="Cambria"/>
            </a:endParaRPr>
          </a:p>
          <a:p>
            <a:pPr marL="970915" indent="-382270">
              <a:lnSpc>
                <a:spcPct val="100000"/>
              </a:lnSpc>
              <a:spcBef>
                <a:spcPts val="1185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970915" algn="l"/>
              </a:tabLst>
            </a:pPr>
            <a:r>
              <a:rPr sz="2200" spc="-20" dirty="0">
                <a:latin typeface="Cambria"/>
                <a:cs typeface="Cambria"/>
              </a:rPr>
              <a:t>Fake</a:t>
            </a:r>
            <a:r>
              <a:rPr sz="2200" spc="-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news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detection.</a:t>
            </a:r>
            <a:endParaRPr sz="2200" dirty="0">
              <a:latin typeface="Cambria"/>
              <a:cs typeface="Cambria"/>
            </a:endParaRPr>
          </a:p>
          <a:p>
            <a:pPr marL="908685" indent="-320040">
              <a:lnSpc>
                <a:spcPct val="100000"/>
              </a:lnSpc>
              <a:spcBef>
                <a:spcPts val="1200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908685" algn="l"/>
              </a:tabLst>
            </a:pPr>
            <a:r>
              <a:rPr sz="2200" dirty="0">
                <a:latin typeface="Cambria"/>
                <a:cs typeface="Cambria"/>
              </a:rPr>
              <a:t>Rumor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detection.</a:t>
            </a:r>
            <a:endParaRPr sz="2200" dirty="0">
              <a:latin typeface="Cambria"/>
              <a:cs typeface="Cambria"/>
            </a:endParaRPr>
          </a:p>
          <a:p>
            <a:pPr marL="908685" indent="-320040">
              <a:lnSpc>
                <a:spcPct val="100000"/>
              </a:lnSpc>
              <a:spcBef>
                <a:spcPts val="1190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908685" algn="l"/>
              </a:tabLst>
            </a:pPr>
            <a:r>
              <a:rPr sz="2200" spc="-10" dirty="0">
                <a:latin typeface="Cambria"/>
                <a:cs typeface="Cambria"/>
              </a:rPr>
              <a:t>Depression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analysis.</a:t>
            </a:r>
            <a:endParaRPr sz="2200" dirty="0">
              <a:latin typeface="Cambria"/>
              <a:cs typeface="Cambria"/>
            </a:endParaRPr>
          </a:p>
          <a:p>
            <a:pPr marL="908685" indent="-320040">
              <a:lnSpc>
                <a:spcPct val="100000"/>
              </a:lnSpc>
              <a:spcBef>
                <a:spcPts val="1190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908685" algn="l"/>
              </a:tabLst>
            </a:pPr>
            <a:r>
              <a:rPr sz="2200" spc="-10" dirty="0">
                <a:latin typeface="Cambria"/>
                <a:cs typeface="Cambria"/>
              </a:rPr>
              <a:t>Credibility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detection.</a:t>
            </a:r>
            <a:endParaRPr sz="2200" dirty="0">
              <a:latin typeface="Cambria"/>
              <a:cs typeface="Cambria"/>
            </a:endParaRPr>
          </a:p>
          <a:p>
            <a:pPr marL="908685" indent="-320040">
              <a:lnSpc>
                <a:spcPct val="100000"/>
              </a:lnSpc>
              <a:spcBef>
                <a:spcPts val="1200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908685" algn="l"/>
              </a:tabLst>
            </a:pPr>
            <a:r>
              <a:rPr sz="2200" dirty="0">
                <a:latin typeface="Cambria"/>
                <a:cs typeface="Cambria"/>
              </a:rPr>
              <a:t>Hate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speech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detection</a:t>
            </a:r>
            <a:r>
              <a:rPr sz="2200" spc="-10" dirty="0" smtClean="0">
                <a:latin typeface="Cambria"/>
                <a:cs typeface="Cambria"/>
              </a:rPr>
              <a:t>.</a:t>
            </a:r>
            <a:endParaRPr lang="en-IN" sz="2200" spc="-10" dirty="0" smtClean="0">
              <a:latin typeface="Cambria"/>
              <a:cs typeface="Cambria"/>
            </a:endParaRPr>
          </a:p>
          <a:p>
            <a:pPr marL="908685" indent="-320040">
              <a:lnSpc>
                <a:spcPct val="100000"/>
              </a:lnSpc>
              <a:spcBef>
                <a:spcPts val="1200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908685" algn="l"/>
              </a:tabLst>
            </a:pPr>
            <a:r>
              <a:rPr lang="en-IN" sz="2200" spc="-10" dirty="0">
                <a:latin typeface="Cambria"/>
                <a:cs typeface="Cambria"/>
              </a:rPr>
              <a:t> </a:t>
            </a:r>
            <a:r>
              <a:rPr lang="en-IN" sz="2200" spc="-10" dirty="0" smtClean="0">
                <a:latin typeface="Cambria"/>
                <a:cs typeface="Cambria"/>
              </a:rPr>
              <a:t>Disruptive Event Detection </a:t>
            </a:r>
            <a:endParaRPr sz="22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65" y="1239723"/>
            <a:ext cx="7871459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indent="-383540">
              <a:lnSpc>
                <a:spcPct val="100000"/>
              </a:lnSpc>
              <a:spcBef>
                <a:spcPts val="95"/>
              </a:spcBef>
              <a:buClr>
                <a:srgbClr val="4F81BC"/>
              </a:buClr>
              <a:buSzPct val="65909"/>
              <a:buFont typeface="Segoe UI Symbol"/>
              <a:buChar char="◾"/>
              <a:tabLst>
                <a:tab pos="396240" algn="l"/>
              </a:tabLst>
            </a:pPr>
            <a:r>
              <a:rPr sz="2200" spc="-10" dirty="0">
                <a:latin typeface="Cambria"/>
                <a:cs typeface="Cambria"/>
              </a:rPr>
              <a:t>Organizing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data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into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classes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such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that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there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is</a:t>
            </a:r>
            <a:endParaRPr sz="2200">
              <a:latin typeface="Cambria"/>
              <a:cs typeface="Cambria"/>
            </a:endParaRPr>
          </a:p>
          <a:p>
            <a:pPr marL="532130" lvl="1" indent="-382905">
              <a:lnSpc>
                <a:spcPct val="100000"/>
              </a:lnSpc>
              <a:spcBef>
                <a:spcPts val="5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532130" algn="l"/>
              </a:tabLst>
            </a:pPr>
            <a:r>
              <a:rPr sz="2200" dirty="0">
                <a:latin typeface="Cambria"/>
                <a:cs typeface="Cambria"/>
              </a:rPr>
              <a:t>high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intra-</a:t>
            </a:r>
            <a:r>
              <a:rPr sz="2200" dirty="0">
                <a:latin typeface="Cambria"/>
                <a:cs typeface="Cambria"/>
              </a:rPr>
              <a:t>class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similarity</a:t>
            </a:r>
            <a:endParaRPr sz="2200">
              <a:latin typeface="Cambria"/>
              <a:cs typeface="Cambria"/>
            </a:endParaRPr>
          </a:p>
          <a:p>
            <a:pPr marL="532130" lvl="1" indent="-382905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532130" algn="l"/>
              </a:tabLst>
            </a:pPr>
            <a:r>
              <a:rPr sz="2200" dirty="0">
                <a:latin typeface="Cambria"/>
                <a:cs typeface="Cambria"/>
              </a:rPr>
              <a:t>low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inter-</a:t>
            </a:r>
            <a:r>
              <a:rPr sz="2200" dirty="0">
                <a:latin typeface="Cambria"/>
                <a:cs typeface="Cambria"/>
              </a:rPr>
              <a:t>class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similarity</a:t>
            </a:r>
            <a:endParaRPr sz="22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4F81BC"/>
              </a:buClr>
              <a:buFont typeface="Segoe UI Symbol"/>
              <a:buChar char="◾"/>
            </a:pPr>
            <a:endParaRPr sz="220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332105" algn="l"/>
              </a:tabLst>
            </a:pPr>
            <a:r>
              <a:rPr sz="2200" dirty="0">
                <a:latin typeface="Cambria"/>
                <a:cs typeface="Cambria"/>
              </a:rPr>
              <a:t>Finding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class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labels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number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classes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directly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from</a:t>
            </a:r>
            <a:endParaRPr sz="2200">
              <a:latin typeface="Cambria"/>
              <a:cs typeface="Cambria"/>
            </a:endParaRPr>
          </a:p>
          <a:p>
            <a:pPr marL="570230">
              <a:lnSpc>
                <a:spcPct val="100000"/>
              </a:lnSpc>
            </a:pPr>
            <a:r>
              <a:rPr sz="2200" dirty="0">
                <a:latin typeface="Cambria"/>
                <a:cs typeface="Cambria"/>
              </a:rPr>
              <a:t>the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data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(in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contrast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classification).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200">
              <a:latin typeface="Cambria"/>
              <a:cs typeface="Cambria"/>
            </a:endParaRPr>
          </a:p>
          <a:p>
            <a:pPr marL="394970" indent="-382270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394970" algn="l"/>
              </a:tabLst>
            </a:pPr>
            <a:r>
              <a:rPr sz="2200" dirty="0">
                <a:latin typeface="Cambria"/>
                <a:cs typeface="Cambria"/>
              </a:rPr>
              <a:t>More</a:t>
            </a:r>
            <a:r>
              <a:rPr sz="2200" spc="-8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informally,</a:t>
            </a:r>
            <a:r>
              <a:rPr sz="2200" spc="-7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finding</a:t>
            </a:r>
            <a:r>
              <a:rPr sz="2200" spc="-7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natural</a:t>
            </a:r>
            <a:r>
              <a:rPr sz="2200" spc="-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groupings</a:t>
            </a:r>
            <a:r>
              <a:rPr sz="2200" spc="-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among</a:t>
            </a:r>
            <a:r>
              <a:rPr sz="2200" spc="-8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objects.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3514" y="363982"/>
            <a:ext cx="3676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7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spc="-10" dirty="0"/>
              <a:t>Clustering?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583" y="1947672"/>
            <a:ext cx="794004" cy="17586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9223" y="2010155"/>
            <a:ext cx="797051" cy="1752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56020" y="2156460"/>
            <a:ext cx="882396" cy="13776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2595" y="2068067"/>
            <a:ext cx="984504" cy="14996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1940" y="1891283"/>
            <a:ext cx="899159" cy="16611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0367" y="1975104"/>
            <a:ext cx="917447" cy="16261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10355" y="2426207"/>
            <a:ext cx="704088" cy="11887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81671" y="2435351"/>
            <a:ext cx="475487" cy="110337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99532" y="1714500"/>
            <a:ext cx="711708" cy="224332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703320" marR="5080" indent="-3001645">
              <a:lnSpc>
                <a:spcPct val="80000"/>
              </a:lnSpc>
              <a:spcBef>
                <a:spcPts val="960"/>
              </a:spcBef>
            </a:pPr>
            <a:r>
              <a:rPr dirty="0"/>
              <a:t>What</a:t>
            </a:r>
            <a:r>
              <a:rPr spc="-110" dirty="0"/>
              <a:t> </a:t>
            </a:r>
            <a:r>
              <a:rPr dirty="0"/>
              <a:t>is</a:t>
            </a:r>
            <a:r>
              <a:rPr spc="-110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spc="-10" dirty="0"/>
              <a:t>natural</a:t>
            </a:r>
            <a:r>
              <a:rPr spc="-100" dirty="0"/>
              <a:t> </a:t>
            </a:r>
            <a:r>
              <a:rPr dirty="0"/>
              <a:t>grouping</a:t>
            </a:r>
            <a:r>
              <a:rPr spc="-100" dirty="0"/>
              <a:t> </a:t>
            </a:r>
            <a:r>
              <a:rPr dirty="0"/>
              <a:t>among</a:t>
            </a:r>
            <a:r>
              <a:rPr spc="-114" dirty="0"/>
              <a:t> </a:t>
            </a:r>
            <a:r>
              <a:rPr spc="-20" dirty="0"/>
              <a:t>these </a:t>
            </a:r>
            <a:r>
              <a:rPr spc="-10" dirty="0"/>
              <a:t>objects?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531107"/>
            <a:ext cx="9144000" cy="3327400"/>
          </a:xfrm>
          <a:custGeom>
            <a:avLst/>
            <a:gdLst/>
            <a:ahLst/>
            <a:cxnLst/>
            <a:rect l="l" t="t" r="r" b="b"/>
            <a:pathLst>
              <a:path w="9144000" h="3327400">
                <a:moveTo>
                  <a:pt x="9144000" y="0"/>
                </a:moveTo>
                <a:lnTo>
                  <a:pt x="0" y="0"/>
                </a:lnTo>
                <a:lnTo>
                  <a:pt x="0" y="3326891"/>
                </a:lnTo>
                <a:lnTo>
                  <a:pt x="9144000" y="3326891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708" y="1252727"/>
            <a:ext cx="813816" cy="1758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4359" y="1315211"/>
            <a:ext cx="815339" cy="1752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43828" y="1459991"/>
            <a:ext cx="903731" cy="13792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78964" y="1373124"/>
            <a:ext cx="1008888" cy="14980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29371" y="1194816"/>
            <a:ext cx="920496" cy="16626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2352" y="1280160"/>
            <a:ext cx="940308" cy="16245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35679" y="1729739"/>
            <a:ext cx="720851" cy="119024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93864" y="1740407"/>
            <a:ext cx="486155" cy="110337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67528" y="1019555"/>
            <a:ext cx="728472" cy="2243328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81355" y="4250435"/>
            <a:ext cx="1729739" cy="2148840"/>
            <a:chOff x="181355" y="4250435"/>
            <a:chExt cx="1729739" cy="2148840"/>
          </a:xfrm>
        </p:grpSpPr>
        <p:sp>
          <p:nvSpPr>
            <p:cNvPr id="13" name="object 13"/>
            <p:cNvSpPr/>
            <p:nvPr/>
          </p:nvSpPr>
          <p:spPr>
            <a:xfrm>
              <a:off x="188975" y="4258055"/>
              <a:ext cx="1714500" cy="2133600"/>
            </a:xfrm>
            <a:custGeom>
              <a:avLst/>
              <a:gdLst/>
              <a:ahLst/>
              <a:cxnLst/>
              <a:rect l="l" t="t" r="r" b="b"/>
              <a:pathLst>
                <a:path w="1714500" h="2133600">
                  <a:moveTo>
                    <a:pt x="1714500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1714500" y="21336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8975" y="4258055"/>
              <a:ext cx="1714500" cy="2133600"/>
            </a:xfrm>
            <a:custGeom>
              <a:avLst/>
              <a:gdLst/>
              <a:ahLst/>
              <a:cxnLst/>
              <a:rect l="l" t="t" r="r" b="b"/>
              <a:pathLst>
                <a:path w="1714500" h="2133600">
                  <a:moveTo>
                    <a:pt x="0" y="2133600"/>
                  </a:moveTo>
                  <a:lnTo>
                    <a:pt x="1714500" y="2133600"/>
                  </a:lnTo>
                  <a:lnTo>
                    <a:pt x="1714500" y="0"/>
                  </a:lnTo>
                  <a:lnTo>
                    <a:pt x="0" y="0"/>
                  </a:lnTo>
                  <a:lnTo>
                    <a:pt x="0" y="213360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095500" y="4250435"/>
            <a:ext cx="1729739" cy="2148840"/>
            <a:chOff x="2095500" y="4250435"/>
            <a:chExt cx="1729739" cy="2148840"/>
          </a:xfrm>
        </p:grpSpPr>
        <p:sp>
          <p:nvSpPr>
            <p:cNvPr id="16" name="object 16"/>
            <p:cNvSpPr/>
            <p:nvPr/>
          </p:nvSpPr>
          <p:spPr>
            <a:xfrm>
              <a:off x="2103120" y="4258055"/>
              <a:ext cx="1714500" cy="2133600"/>
            </a:xfrm>
            <a:custGeom>
              <a:avLst/>
              <a:gdLst/>
              <a:ahLst/>
              <a:cxnLst/>
              <a:rect l="l" t="t" r="r" b="b"/>
              <a:pathLst>
                <a:path w="1714500" h="2133600">
                  <a:moveTo>
                    <a:pt x="1714500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1714500" y="21336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03120" y="4258055"/>
              <a:ext cx="1714500" cy="2133600"/>
            </a:xfrm>
            <a:custGeom>
              <a:avLst/>
              <a:gdLst/>
              <a:ahLst/>
              <a:cxnLst/>
              <a:rect l="l" t="t" r="r" b="b"/>
              <a:pathLst>
                <a:path w="1714500" h="2133600">
                  <a:moveTo>
                    <a:pt x="0" y="2133600"/>
                  </a:moveTo>
                  <a:lnTo>
                    <a:pt x="1714500" y="2133600"/>
                  </a:lnTo>
                  <a:lnTo>
                    <a:pt x="1714500" y="0"/>
                  </a:lnTo>
                  <a:lnTo>
                    <a:pt x="0" y="0"/>
                  </a:lnTo>
                  <a:lnTo>
                    <a:pt x="0" y="213360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257800" y="4250435"/>
            <a:ext cx="1729739" cy="2148840"/>
            <a:chOff x="5257800" y="4250435"/>
            <a:chExt cx="1729739" cy="2148840"/>
          </a:xfrm>
        </p:grpSpPr>
        <p:sp>
          <p:nvSpPr>
            <p:cNvPr id="19" name="object 19"/>
            <p:cNvSpPr/>
            <p:nvPr/>
          </p:nvSpPr>
          <p:spPr>
            <a:xfrm>
              <a:off x="5265420" y="4258055"/>
              <a:ext cx="1714500" cy="2133600"/>
            </a:xfrm>
            <a:custGeom>
              <a:avLst/>
              <a:gdLst/>
              <a:ahLst/>
              <a:cxnLst/>
              <a:rect l="l" t="t" r="r" b="b"/>
              <a:pathLst>
                <a:path w="1714500" h="2133600">
                  <a:moveTo>
                    <a:pt x="1714500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1714500" y="21336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65420" y="4258055"/>
              <a:ext cx="1714500" cy="2133600"/>
            </a:xfrm>
            <a:custGeom>
              <a:avLst/>
              <a:gdLst/>
              <a:ahLst/>
              <a:cxnLst/>
              <a:rect l="l" t="t" r="r" b="b"/>
              <a:pathLst>
                <a:path w="1714500" h="2133600">
                  <a:moveTo>
                    <a:pt x="0" y="2133600"/>
                  </a:moveTo>
                  <a:lnTo>
                    <a:pt x="1714500" y="2133600"/>
                  </a:lnTo>
                  <a:lnTo>
                    <a:pt x="1714500" y="0"/>
                  </a:lnTo>
                  <a:lnTo>
                    <a:pt x="0" y="0"/>
                  </a:lnTo>
                  <a:lnTo>
                    <a:pt x="0" y="213360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7171943" y="4250435"/>
            <a:ext cx="1729739" cy="2148840"/>
            <a:chOff x="7171943" y="4250435"/>
            <a:chExt cx="1729739" cy="2148840"/>
          </a:xfrm>
        </p:grpSpPr>
        <p:sp>
          <p:nvSpPr>
            <p:cNvPr id="22" name="object 22"/>
            <p:cNvSpPr/>
            <p:nvPr/>
          </p:nvSpPr>
          <p:spPr>
            <a:xfrm>
              <a:off x="7179563" y="4258055"/>
              <a:ext cx="1714500" cy="2133600"/>
            </a:xfrm>
            <a:custGeom>
              <a:avLst/>
              <a:gdLst/>
              <a:ahLst/>
              <a:cxnLst/>
              <a:rect l="l" t="t" r="r" b="b"/>
              <a:pathLst>
                <a:path w="1714500" h="2133600">
                  <a:moveTo>
                    <a:pt x="1714500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1714500" y="21336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79563" y="4258055"/>
              <a:ext cx="1714500" cy="2133600"/>
            </a:xfrm>
            <a:custGeom>
              <a:avLst/>
              <a:gdLst/>
              <a:ahLst/>
              <a:cxnLst/>
              <a:rect l="l" t="t" r="r" b="b"/>
              <a:pathLst>
                <a:path w="1714500" h="2133600">
                  <a:moveTo>
                    <a:pt x="0" y="2133600"/>
                  </a:moveTo>
                  <a:lnTo>
                    <a:pt x="1714500" y="2133600"/>
                  </a:lnTo>
                  <a:lnTo>
                    <a:pt x="1714500" y="0"/>
                  </a:lnTo>
                  <a:lnTo>
                    <a:pt x="0" y="0"/>
                  </a:lnTo>
                  <a:lnTo>
                    <a:pt x="0" y="213360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7064" y="5301996"/>
            <a:ext cx="481584" cy="104241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2676" y="4319015"/>
            <a:ext cx="483108" cy="103784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83535" y="4347971"/>
            <a:ext cx="533400" cy="81686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25723" y="5402579"/>
            <a:ext cx="595884" cy="885444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726948" y="4288535"/>
            <a:ext cx="1130935" cy="2049780"/>
            <a:chOff x="726948" y="4288535"/>
            <a:chExt cx="1130935" cy="204978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2164" y="4288535"/>
              <a:ext cx="545592" cy="98145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8284" y="4623815"/>
              <a:ext cx="594360" cy="10271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41120" y="5536691"/>
              <a:ext cx="426719" cy="70408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6948" y="5686043"/>
              <a:ext cx="288036" cy="652272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3840" y="4392167"/>
            <a:ext cx="432816" cy="132740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9132" y="4378452"/>
            <a:ext cx="480060" cy="1040892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7783068" y="5329428"/>
            <a:ext cx="1061085" cy="1036319"/>
            <a:chOff x="7783068" y="5329428"/>
            <a:chExt cx="1061085" cy="1036319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60664" y="5329428"/>
              <a:ext cx="483107" cy="103631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83068" y="5462016"/>
              <a:ext cx="533400" cy="816863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41335" y="4288535"/>
            <a:ext cx="594359" cy="88544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95131" y="4306823"/>
            <a:ext cx="544068" cy="98297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205471" y="5404103"/>
            <a:ext cx="557783" cy="96164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284719" y="4575047"/>
            <a:ext cx="426720" cy="704088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70447" y="5591555"/>
            <a:ext cx="288036" cy="652272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59908" y="4326635"/>
            <a:ext cx="431291" cy="1325880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78739" y="6374688"/>
            <a:ext cx="397700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15" baseline="-4166" dirty="0">
                <a:latin typeface="Cambria"/>
                <a:cs typeface="Cambria"/>
              </a:rPr>
              <a:t>Simpson's</a:t>
            </a:r>
            <a:r>
              <a:rPr sz="3000" spc="-104" baseline="-4166" dirty="0">
                <a:latin typeface="Cambria"/>
                <a:cs typeface="Cambria"/>
              </a:rPr>
              <a:t> </a:t>
            </a:r>
            <a:r>
              <a:rPr sz="3000" baseline="-4166" dirty="0">
                <a:latin typeface="Cambria"/>
                <a:cs typeface="Cambria"/>
              </a:rPr>
              <a:t>Family</a:t>
            </a:r>
            <a:r>
              <a:rPr sz="3000" spc="630" baseline="-4166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School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Employees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98485" y="6391147"/>
            <a:ext cx="660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mbria"/>
                <a:cs typeface="Cambria"/>
              </a:rPr>
              <a:t>Males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36514" y="6391147"/>
            <a:ext cx="91566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mbria"/>
                <a:cs typeface="Cambria"/>
              </a:rPr>
              <a:t>Females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68345" y="3515944"/>
            <a:ext cx="43516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347ED7"/>
                </a:solidFill>
                <a:latin typeface="Calibri"/>
                <a:cs typeface="Calibri"/>
              </a:rPr>
              <a:t>Clustering</a:t>
            </a:r>
            <a:r>
              <a:rPr sz="3600" b="1" spc="-95" dirty="0">
                <a:solidFill>
                  <a:srgbClr val="347ED7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47ED7"/>
                </a:solidFill>
                <a:latin typeface="Calibri"/>
                <a:cs typeface="Calibri"/>
              </a:rPr>
              <a:t>is</a:t>
            </a:r>
            <a:r>
              <a:rPr sz="3600" b="1" spc="-90" dirty="0">
                <a:solidFill>
                  <a:srgbClr val="347ED7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347ED7"/>
                </a:solidFill>
                <a:latin typeface="Calibri"/>
                <a:cs typeface="Calibri"/>
              </a:rPr>
              <a:t>subjective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624579" marR="5080" indent="-3001010">
              <a:lnSpc>
                <a:spcPct val="80000"/>
              </a:lnSpc>
              <a:spcBef>
                <a:spcPts val="960"/>
              </a:spcBef>
            </a:pPr>
            <a:r>
              <a:rPr dirty="0"/>
              <a:t>What</a:t>
            </a:r>
            <a:r>
              <a:rPr spc="-110" dirty="0"/>
              <a:t> </a:t>
            </a:r>
            <a:r>
              <a:rPr dirty="0"/>
              <a:t>is</a:t>
            </a:r>
            <a:r>
              <a:rPr spc="-110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spc="-10" dirty="0"/>
              <a:t>natural</a:t>
            </a:r>
            <a:r>
              <a:rPr spc="-100" dirty="0"/>
              <a:t> </a:t>
            </a:r>
            <a:r>
              <a:rPr dirty="0"/>
              <a:t>grouping</a:t>
            </a:r>
            <a:r>
              <a:rPr spc="-100" dirty="0"/>
              <a:t> </a:t>
            </a:r>
            <a:r>
              <a:rPr dirty="0"/>
              <a:t>among</a:t>
            </a:r>
            <a:r>
              <a:rPr spc="-114" dirty="0"/>
              <a:t> </a:t>
            </a:r>
            <a:r>
              <a:rPr spc="-20" dirty="0"/>
              <a:t>these </a:t>
            </a:r>
            <a:r>
              <a:rPr spc="-10" dirty="0"/>
              <a:t>objects?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6048" y="211023"/>
            <a:ext cx="53060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Defining</a:t>
            </a:r>
            <a:r>
              <a:rPr spc="-165" dirty="0"/>
              <a:t> </a:t>
            </a:r>
            <a:r>
              <a:rPr spc="-10" dirty="0"/>
              <a:t>Distance</a:t>
            </a:r>
            <a:r>
              <a:rPr spc="-155" dirty="0"/>
              <a:t> </a:t>
            </a:r>
            <a:r>
              <a:rPr spc="-10" dirty="0"/>
              <a:t>Measures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963778"/>
            <a:ext cx="8452485" cy="125730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algn="just">
              <a:lnSpc>
                <a:spcPct val="110200"/>
              </a:lnSpc>
              <a:spcBef>
                <a:spcPts val="200"/>
              </a:spcBef>
            </a:pPr>
            <a:r>
              <a:rPr sz="2800" b="1" dirty="0">
                <a:latin typeface="Arial"/>
                <a:cs typeface="Arial"/>
              </a:rPr>
              <a:t>Definition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420" dirty="0">
                <a:latin typeface="Arial MT"/>
                <a:cs typeface="Arial MT"/>
              </a:rPr>
              <a:t> </a:t>
            </a:r>
            <a:r>
              <a:rPr sz="2200" dirty="0">
                <a:latin typeface="Cambria"/>
                <a:cs typeface="Cambria"/>
              </a:rPr>
              <a:t>Let</a:t>
            </a:r>
            <a:r>
              <a:rPr sz="2200" spc="4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O1</a:t>
            </a:r>
            <a:r>
              <a:rPr sz="2200" spc="4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4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O2</a:t>
            </a:r>
            <a:r>
              <a:rPr sz="2200" spc="4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</a:t>
            </a:r>
            <a:r>
              <a:rPr sz="2200" spc="4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two</a:t>
            </a:r>
            <a:r>
              <a:rPr sz="2200" spc="4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objects</a:t>
            </a:r>
            <a:r>
              <a:rPr sz="2200" spc="4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from</a:t>
            </a:r>
            <a:r>
              <a:rPr sz="2200" spc="4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4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universe</a:t>
            </a:r>
            <a:r>
              <a:rPr sz="2200" spc="43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of </a:t>
            </a:r>
            <a:r>
              <a:rPr sz="2200" dirty="0">
                <a:latin typeface="Cambria"/>
                <a:cs typeface="Cambria"/>
              </a:rPr>
              <a:t>possible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objects.</a:t>
            </a:r>
            <a:r>
              <a:rPr sz="2200" spc="1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distance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(dissimilarity)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between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O1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1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O2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170" dirty="0">
                <a:latin typeface="Cambria"/>
                <a:cs typeface="Cambria"/>
              </a:rPr>
              <a:t> </a:t>
            </a:r>
            <a:r>
              <a:rPr sz="2200" spc="-50" dirty="0">
                <a:latin typeface="Cambria"/>
                <a:cs typeface="Cambria"/>
              </a:rPr>
              <a:t>a </a:t>
            </a:r>
            <a:r>
              <a:rPr sz="2200" dirty="0">
                <a:latin typeface="Cambria"/>
                <a:cs typeface="Cambria"/>
              </a:rPr>
              <a:t>real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number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denoted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by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D(O1,O2)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507" y="2798064"/>
            <a:ext cx="1018032" cy="11612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447" y="4544567"/>
            <a:ext cx="1551449" cy="15499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21423" y="4544567"/>
            <a:ext cx="1549907" cy="15499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0847" y="4544567"/>
            <a:ext cx="1551449" cy="154990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74876" y="2709614"/>
            <a:ext cx="1426210" cy="1758950"/>
            <a:chOff x="174876" y="2709614"/>
            <a:chExt cx="1426210" cy="175895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876" y="2709614"/>
              <a:ext cx="1426097" cy="13257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343" y="4145279"/>
              <a:ext cx="251459" cy="3230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30516" y="4076318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69" h="308610">
                  <a:moveTo>
                    <a:pt x="109575" y="0"/>
                  </a:moveTo>
                  <a:lnTo>
                    <a:pt x="0" y="32511"/>
                  </a:lnTo>
                  <a:lnTo>
                    <a:pt x="65100" y="251586"/>
                  </a:lnTo>
                  <a:lnTo>
                    <a:pt x="10312" y="267842"/>
                  </a:lnTo>
                  <a:lnTo>
                    <a:pt x="141579" y="308355"/>
                  </a:lnTo>
                  <a:lnTo>
                    <a:pt x="229450" y="202818"/>
                  </a:lnTo>
                  <a:lnTo>
                    <a:pt x="174663" y="219074"/>
                  </a:lnTo>
                  <a:lnTo>
                    <a:pt x="109575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0516" y="4076318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69" h="308610">
                  <a:moveTo>
                    <a:pt x="10312" y="267842"/>
                  </a:moveTo>
                  <a:lnTo>
                    <a:pt x="65100" y="251586"/>
                  </a:lnTo>
                  <a:lnTo>
                    <a:pt x="0" y="32511"/>
                  </a:lnTo>
                  <a:lnTo>
                    <a:pt x="109575" y="0"/>
                  </a:lnTo>
                  <a:lnTo>
                    <a:pt x="174663" y="219074"/>
                  </a:lnTo>
                  <a:lnTo>
                    <a:pt x="229450" y="202818"/>
                  </a:lnTo>
                  <a:lnTo>
                    <a:pt x="141579" y="308355"/>
                  </a:lnTo>
                  <a:lnTo>
                    <a:pt x="10312" y="26784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971544" y="4071556"/>
            <a:ext cx="317500" cy="396875"/>
            <a:chOff x="3971544" y="4071556"/>
            <a:chExt cx="317500" cy="39687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71544" y="4145280"/>
              <a:ext cx="251460" cy="3230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054729" y="4076319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70" h="308610">
                  <a:moveTo>
                    <a:pt x="109600" y="0"/>
                  </a:moveTo>
                  <a:lnTo>
                    <a:pt x="0" y="32511"/>
                  </a:lnTo>
                  <a:lnTo>
                    <a:pt x="65024" y="251586"/>
                  </a:lnTo>
                  <a:lnTo>
                    <a:pt x="10287" y="267842"/>
                  </a:lnTo>
                  <a:lnTo>
                    <a:pt x="141605" y="308355"/>
                  </a:lnTo>
                  <a:lnTo>
                    <a:pt x="229488" y="202818"/>
                  </a:lnTo>
                  <a:lnTo>
                    <a:pt x="174625" y="219074"/>
                  </a:lnTo>
                  <a:lnTo>
                    <a:pt x="1096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54729" y="4076319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70" h="308610">
                  <a:moveTo>
                    <a:pt x="10287" y="267842"/>
                  </a:moveTo>
                  <a:lnTo>
                    <a:pt x="65024" y="251586"/>
                  </a:lnTo>
                  <a:lnTo>
                    <a:pt x="0" y="32511"/>
                  </a:lnTo>
                  <a:lnTo>
                    <a:pt x="109600" y="0"/>
                  </a:lnTo>
                  <a:lnTo>
                    <a:pt x="174625" y="219074"/>
                  </a:lnTo>
                  <a:lnTo>
                    <a:pt x="229488" y="202818"/>
                  </a:lnTo>
                  <a:lnTo>
                    <a:pt x="141605" y="308355"/>
                  </a:lnTo>
                  <a:lnTo>
                    <a:pt x="10287" y="26784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066788" y="4071556"/>
            <a:ext cx="318135" cy="396875"/>
            <a:chOff x="7066788" y="4071556"/>
            <a:chExt cx="318135" cy="396875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66788" y="4145280"/>
              <a:ext cx="251459" cy="3230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150354" y="4076319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70" h="308610">
                  <a:moveTo>
                    <a:pt x="109600" y="0"/>
                  </a:moveTo>
                  <a:lnTo>
                    <a:pt x="0" y="32511"/>
                  </a:lnTo>
                  <a:lnTo>
                    <a:pt x="65024" y="251586"/>
                  </a:lnTo>
                  <a:lnTo>
                    <a:pt x="10287" y="267842"/>
                  </a:lnTo>
                  <a:lnTo>
                    <a:pt x="141604" y="308355"/>
                  </a:lnTo>
                  <a:lnTo>
                    <a:pt x="229489" y="202818"/>
                  </a:lnTo>
                  <a:lnTo>
                    <a:pt x="174625" y="219074"/>
                  </a:lnTo>
                  <a:lnTo>
                    <a:pt x="1096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50354" y="4076319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70" h="308610">
                  <a:moveTo>
                    <a:pt x="10287" y="267842"/>
                  </a:moveTo>
                  <a:lnTo>
                    <a:pt x="65024" y="251586"/>
                  </a:lnTo>
                  <a:lnTo>
                    <a:pt x="0" y="32511"/>
                  </a:lnTo>
                  <a:lnTo>
                    <a:pt x="109600" y="0"/>
                  </a:lnTo>
                  <a:lnTo>
                    <a:pt x="174625" y="219074"/>
                  </a:lnTo>
                  <a:lnTo>
                    <a:pt x="229489" y="202818"/>
                  </a:lnTo>
                  <a:lnTo>
                    <a:pt x="141604" y="308355"/>
                  </a:lnTo>
                  <a:lnTo>
                    <a:pt x="10287" y="26784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796795" y="4071556"/>
            <a:ext cx="325755" cy="396875"/>
            <a:chOff x="1796795" y="4071556"/>
            <a:chExt cx="325755" cy="396875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6795" y="4145280"/>
              <a:ext cx="251460" cy="32308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887981" y="4076319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69" h="308610">
                  <a:moveTo>
                    <a:pt x="119887" y="0"/>
                  </a:moveTo>
                  <a:lnTo>
                    <a:pt x="54863" y="219074"/>
                  </a:lnTo>
                  <a:lnTo>
                    <a:pt x="0" y="202818"/>
                  </a:lnTo>
                  <a:lnTo>
                    <a:pt x="87884" y="308355"/>
                  </a:lnTo>
                  <a:lnTo>
                    <a:pt x="219201" y="267842"/>
                  </a:lnTo>
                  <a:lnTo>
                    <a:pt x="164465" y="251586"/>
                  </a:lnTo>
                  <a:lnTo>
                    <a:pt x="229488" y="32511"/>
                  </a:lnTo>
                  <a:lnTo>
                    <a:pt x="119887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87981" y="4076319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69" h="308610">
                  <a:moveTo>
                    <a:pt x="219201" y="267842"/>
                  </a:moveTo>
                  <a:lnTo>
                    <a:pt x="164465" y="251586"/>
                  </a:lnTo>
                  <a:lnTo>
                    <a:pt x="229488" y="32511"/>
                  </a:lnTo>
                  <a:lnTo>
                    <a:pt x="119887" y="0"/>
                  </a:lnTo>
                  <a:lnTo>
                    <a:pt x="54863" y="219074"/>
                  </a:lnTo>
                  <a:lnTo>
                    <a:pt x="0" y="202818"/>
                  </a:lnTo>
                  <a:lnTo>
                    <a:pt x="87884" y="308355"/>
                  </a:lnTo>
                  <a:lnTo>
                    <a:pt x="219201" y="26784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030723" y="4071556"/>
            <a:ext cx="325755" cy="396875"/>
            <a:chOff x="5030723" y="4071556"/>
            <a:chExt cx="325755" cy="396875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30723" y="4145280"/>
              <a:ext cx="251460" cy="32308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121782" y="4076319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70" h="308610">
                  <a:moveTo>
                    <a:pt x="119887" y="0"/>
                  </a:moveTo>
                  <a:lnTo>
                    <a:pt x="54737" y="219074"/>
                  </a:lnTo>
                  <a:lnTo>
                    <a:pt x="0" y="202818"/>
                  </a:lnTo>
                  <a:lnTo>
                    <a:pt x="87883" y="308355"/>
                  </a:lnTo>
                  <a:lnTo>
                    <a:pt x="219075" y="267842"/>
                  </a:lnTo>
                  <a:lnTo>
                    <a:pt x="164337" y="251586"/>
                  </a:lnTo>
                  <a:lnTo>
                    <a:pt x="229488" y="32511"/>
                  </a:lnTo>
                  <a:lnTo>
                    <a:pt x="119887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21782" y="4076319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70" h="308610">
                  <a:moveTo>
                    <a:pt x="219075" y="267842"/>
                  </a:moveTo>
                  <a:lnTo>
                    <a:pt x="164337" y="251586"/>
                  </a:lnTo>
                  <a:lnTo>
                    <a:pt x="229488" y="32511"/>
                  </a:lnTo>
                  <a:lnTo>
                    <a:pt x="119887" y="0"/>
                  </a:lnTo>
                  <a:lnTo>
                    <a:pt x="54737" y="219074"/>
                  </a:lnTo>
                  <a:lnTo>
                    <a:pt x="0" y="202818"/>
                  </a:lnTo>
                  <a:lnTo>
                    <a:pt x="87883" y="308355"/>
                  </a:lnTo>
                  <a:lnTo>
                    <a:pt x="219075" y="26784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8016240" y="4071556"/>
            <a:ext cx="326390" cy="396875"/>
            <a:chOff x="8016240" y="4071556"/>
            <a:chExt cx="326390" cy="396875"/>
          </a:xfrm>
        </p:grpSpPr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16240" y="4145280"/>
              <a:ext cx="252983" cy="32308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107807" y="4076319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70" h="308610">
                  <a:moveTo>
                    <a:pt x="119888" y="0"/>
                  </a:moveTo>
                  <a:lnTo>
                    <a:pt x="54864" y="219074"/>
                  </a:lnTo>
                  <a:lnTo>
                    <a:pt x="0" y="202818"/>
                  </a:lnTo>
                  <a:lnTo>
                    <a:pt x="87884" y="308355"/>
                  </a:lnTo>
                  <a:lnTo>
                    <a:pt x="219201" y="267842"/>
                  </a:lnTo>
                  <a:lnTo>
                    <a:pt x="164465" y="251586"/>
                  </a:lnTo>
                  <a:lnTo>
                    <a:pt x="229489" y="32511"/>
                  </a:lnTo>
                  <a:lnTo>
                    <a:pt x="119888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07807" y="4076319"/>
              <a:ext cx="229870" cy="308610"/>
            </a:xfrm>
            <a:custGeom>
              <a:avLst/>
              <a:gdLst/>
              <a:ahLst/>
              <a:cxnLst/>
              <a:rect l="l" t="t" r="r" b="b"/>
              <a:pathLst>
                <a:path w="229870" h="308610">
                  <a:moveTo>
                    <a:pt x="219201" y="267842"/>
                  </a:moveTo>
                  <a:lnTo>
                    <a:pt x="164465" y="251586"/>
                  </a:lnTo>
                  <a:lnTo>
                    <a:pt x="229489" y="32511"/>
                  </a:lnTo>
                  <a:lnTo>
                    <a:pt x="119888" y="0"/>
                  </a:lnTo>
                  <a:lnTo>
                    <a:pt x="54864" y="219074"/>
                  </a:lnTo>
                  <a:lnTo>
                    <a:pt x="0" y="202818"/>
                  </a:lnTo>
                  <a:lnTo>
                    <a:pt x="87884" y="308355"/>
                  </a:lnTo>
                  <a:lnTo>
                    <a:pt x="219201" y="26784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36091" y="6428943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 MT"/>
                <a:cs typeface="Arial MT"/>
              </a:rPr>
              <a:t>0.23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103375" y="6176149"/>
            <a:ext cx="331470" cy="318135"/>
            <a:chOff x="1103375" y="6176149"/>
            <a:chExt cx="331470" cy="318135"/>
          </a:xfrm>
        </p:grpSpPr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03375" y="6251448"/>
              <a:ext cx="271272" cy="24231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96225" y="6176149"/>
              <a:ext cx="238048" cy="238925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440173" y="642894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303776" y="6176149"/>
            <a:ext cx="331470" cy="318135"/>
            <a:chOff x="4303776" y="6176149"/>
            <a:chExt cx="331470" cy="318135"/>
          </a:xfrm>
        </p:grpSpPr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03776" y="6251448"/>
              <a:ext cx="271272" cy="24231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96676" y="6176149"/>
              <a:ext cx="237998" cy="23892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7309231" y="6428943"/>
            <a:ext cx="596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342.7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399019" y="6176149"/>
            <a:ext cx="331470" cy="318135"/>
            <a:chOff x="7399019" y="6176149"/>
            <a:chExt cx="331470" cy="318135"/>
          </a:xfrm>
        </p:grpSpPr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99019" y="6251448"/>
              <a:ext cx="271272" cy="24231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92301" y="6176149"/>
              <a:ext cx="237997" cy="238925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3429000" y="3430523"/>
            <a:ext cx="1259205" cy="524510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44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"/>
              </a:spcBef>
            </a:pPr>
            <a:r>
              <a:rPr sz="2800" b="1" spc="-10" dirty="0">
                <a:latin typeface="Courier New"/>
                <a:cs typeface="Courier New"/>
              </a:rPr>
              <a:t>Kasun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96028" y="3430523"/>
            <a:ext cx="1259205" cy="524510"/>
          </a:xfrm>
          <a:prstGeom prst="rect">
            <a:avLst/>
          </a:prstGeom>
          <a:solidFill>
            <a:srgbClr val="EAEAEA"/>
          </a:solidFill>
        </p:spPr>
        <p:txBody>
          <a:bodyPr vert="horz" wrap="square" lIns="0" tIns="44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"/>
              </a:spcBef>
            </a:pPr>
            <a:r>
              <a:rPr sz="2800" b="1" spc="-10" dirty="0">
                <a:latin typeface="Courier New"/>
                <a:cs typeface="Courier New"/>
              </a:rPr>
              <a:t>Kiosn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48" name="object 4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420611" y="2743200"/>
            <a:ext cx="2514600" cy="12664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100"/>
              </a:spcBef>
              <a:tabLst>
                <a:tab pos="4129404" algn="l"/>
              </a:tabLst>
            </a:pPr>
            <a:r>
              <a:rPr dirty="0"/>
              <a:t>Consider</a:t>
            </a:r>
            <a:r>
              <a:rPr spc="-3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Set</a:t>
            </a:r>
            <a:r>
              <a:rPr spc="-25" dirty="0"/>
              <a:t> of</a:t>
            </a:r>
            <a:r>
              <a:rPr dirty="0"/>
              <a:t>	Data</a:t>
            </a:r>
            <a:r>
              <a:rPr spc="-135" dirty="0"/>
              <a:t> </a:t>
            </a:r>
            <a:r>
              <a:rPr spc="-10" dirty="0"/>
              <a:t>Points,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980875"/>
            <a:ext cx="2705100" cy="3145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200" y="1019175"/>
            <a:ext cx="2085597" cy="2209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59433" y="3565017"/>
            <a:ext cx="40436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347ED7"/>
                </a:solidFill>
                <a:latin typeface="Calibri"/>
                <a:cs typeface="Calibri"/>
              </a:rPr>
              <a:t>And</a:t>
            </a:r>
            <a:r>
              <a:rPr sz="3600" b="1" spc="-30" dirty="0">
                <a:solidFill>
                  <a:srgbClr val="347ED7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47ED7"/>
                </a:solidFill>
                <a:latin typeface="Calibri"/>
                <a:cs typeface="Calibri"/>
              </a:rPr>
              <a:t>a</a:t>
            </a:r>
            <a:r>
              <a:rPr sz="3600" b="1" spc="-30" dirty="0">
                <a:solidFill>
                  <a:srgbClr val="347ED7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47ED7"/>
                </a:solidFill>
                <a:latin typeface="Calibri"/>
                <a:cs typeface="Calibri"/>
              </a:rPr>
              <a:t>Set</a:t>
            </a:r>
            <a:r>
              <a:rPr sz="3600" b="1" spc="-45" dirty="0">
                <a:solidFill>
                  <a:srgbClr val="347ED7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47ED7"/>
                </a:solidFill>
                <a:latin typeface="Calibri"/>
                <a:cs typeface="Calibri"/>
              </a:rPr>
              <a:t>of</a:t>
            </a:r>
            <a:r>
              <a:rPr sz="3600" b="1" spc="-40" dirty="0">
                <a:solidFill>
                  <a:srgbClr val="347ED7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347ED7"/>
                </a:solidFill>
                <a:latin typeface="Calibri"/>
                <a:cs typeface="Calibri"/>
              </a:rPr>
              <a:t>Clusters,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0855" y="4638731"/>
            <a:ext cx="2629656" cy="3145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198" y="1438331"/>
            <a:ext cx="4075955" cy="3050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726" y="2428931"/>
            <a:ext cx="2791203" cy="3050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71800" y="2943225"/>
            <a:ext cx="3324603" cy="8858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913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spc="-10" dirty="0"/>
              <a:t>Goal,</a:t>
            </a: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7726" y="4333931"/>
            <a:ext cx="4001258" cy="3050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95600" y="4838700"/>
            <a:ext cx="3743704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42" y="535635"/>
            <a:ext cx="364362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</a:t>
            </a:r>
            <a:r>
              <a:rPr spc="-90" dirty="0"/>
              <a:t> </a:t>
            </a:r>
            <a:r>
              <a:rPr i="1" spc="-10" dirty="0">
                <a:latin typeface="Calibri"/>
                <a:cs typeface="Calibri"/>
              </a:rPr>
              <a:t>k-means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4642" y="1209192"/>
            <a:ext cx="7564120" cy="2909570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284480" indent="-271780">
              <a:lnSpc>
                <a:spcPct val="100000"/>
              </a:lnSpc>
              <a:spcBef>
                <a:spcPts val="1550"/>
              </a:spcBef>
              <a:buAutoNum type="arabicPeriod"/>
              <a:tabLst>
                <a:tab pos="284480" algn="l"/>
              </a:tabLst>
            </a:pPr>
            <a:r>
              <a:rPr sz="2200" spc="-10" dirty="0">
                <a:latin typeface="Cambria"/>
                <a:cs typeface="Cambria"/>
              </a:rPr>
              <a:t>Randomly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choose</a:t>
            </a:r>
            <a:r>
              <a:rPr sz="2200" spc="39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K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data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items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from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X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as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initial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centroids.</a:t>
            </a:r>
            <a:endParaRPr sz="2200">
              <a:latin typeface="Cambria"/>
              <a:cs typeface="Cambria"/>
            </a:endParaRPr>
          </a:p>
          <a:p>
            <a:pPr marL="284480" indent="-271780">
              <a:lnSpc>
                <a:spcPct val="100000"/>
              </a:lnSpc>
              <a:spcBef>
                <a:spcPts val="1455"/>
              </a:spcBef>
              <a:buAutoNum type="arabicPeriod"/>
              <a:tabLst>
                <a:tab pos="284480" algn="l"/>
              </a:tabLst>
            </a:pPr>
            <a:r>
              <a:rPr sz="2200" spc="-10" dirty="0">
                <a:latin typeface="Cambria"/>
                <a:cs typeface="Cambria"/>
              </a:rPr>
              <a:t>Repeat</a:t>
            </a:r>
            <a:endParaRPr sz="2200">
              <a:latin typeface="Cambria"/>
              <a:cs typeface="Cambria"/>
            </a:endParaRPr>
          </a:p>
          <a:p>
            <a:pPr marL="469900" marR="5080" lvl="1" indent="18986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659765" algn="l"/>
              </a:tabLst>
            </a:pPr>
            <a:r>
              <a:rPr sz="2200" dirty="0">
                <a:latin typeface="Cambria"/>
                <a:cs typeface="Cambria"/>
              </a:rPr>
              <a:t>Assign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each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data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point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cluster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which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has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closest centroid.</a:t>
            </a:r>
            <a:endParaRPr sz="2200">
              <a:latin typeface="Cambria"/>
              <a:cs typeface="Cambria"/>
            </a:endParaRPr>
          </a:p>
          <a:p>
            <a:pPr marL="659765" lvl="1" indent="-18986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659765" algn="l"/>
              </a:tabLst>
            </a:pPr>
            <a:r>
              <a:rPr sz="2200" dirty="0">
                <a:latin typeface="Cambria"/>
                <a:cs typeface="Cambria"/>
              </a:rPr>
              <a:t>Calculate</a:t>
            </a:r>
            <a:r>
              <a:rPr sz="2200" spc="-7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new</a:t>
            </a:r>
            <a:r>
              <a:rPr sz="2200" spc="-9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cluster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centroids.</a:t>
            </a:r>
            <a:endParaRPr sz="22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Cambria"/>
                <a:cs typeface="Cambria"/>
              </a:rPr>
              <a:t>Until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convergence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criteria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met.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13628" y="3759"/>
            <a:ext cx="29673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data</a:t>
            </a:r>
            <a:r>
              <a:rPr spc="-95" dirty="0"/>
              <a:t> </a:t>
            </a:r>
            <a:r>
              <a:rPr spc="-10" dirty="0"/>
              <a:t>points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9428" y="3759"/>
            <a:ext cx="23844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Initialization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09029" y="3759"/>
            <a:ext cx="185038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#Runs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09029" y="3759"/>
            <a:ext cx="185038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#Runs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09029" y="3759"/>
            <a:ext cx="185038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#Runs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913" rIns="0" bIns="0" rtlCol="0">
            <a:spAutoFit/>
          </a:bodyPr>
          <a:lstStyle/>
          <a:p>
            <a:pPr marL="92836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K-</a:t>
            </a:r>
            <a:r>
              <a:rPr dirty="0"/>
              <a:t>means</a:t>
            </a:r>
            <a:r>
              <a:rPr spc="-75" dirty="0"/>
              <a:t> </a:t>
            </a:r>
            <a:r>
              <a:rPr dirty="0"/>
              <a:t>gets</a:t>
            </a:r>
            <a:r>
              <a:rPr spc="-75" dirty="0"/>
              <a:t> </a:t>
            </a:r>
            <a:r>
              <a:rPr dirty="0"/>
              <a:t>stuck</a:t>
            </a:r>
            <a:r>
              <a:rPr spc="-80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local</a:t>
            </a:r>
            <a:r>
              <a:rPr spc="-65" dirty="0"/>
              <a:t> </a:t>
            </a:r>
            <a:r>
              <a:rPr spc="-10" dirty="0"/>
              <a:t>optima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13628" y="3759"/>
            <a:ext cx="29673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data</a:t>
            </a:r>
            <a:r>
              <a:rPr spc="-95" dirty="0"/>
              <a:t> </a:t>
            </a:r>
            <a:r>
              <a:rPr spc="-10" dirty="0"/>
              <a:t>points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9428" y="3759"/>
            <a:ext cx="23844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Initialization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09029" y="3759"/>
            <a:ext cx="185038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#Runs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09029" y="3759"/>
            <a:ext cx="185038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#Runs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09029" y="3759"/>
            <a:ext cx="185038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#Runs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09029" y="3759"/>
            <a:ext cx="185038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#Runs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02767"/>
            <a:ext cx="6805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Comments</a:t>
            </a:r>
            <a:r>
              <a:rPr spc="-70" dirty="0"/>
              <a:t> </a:t>
            </a:r>
            <a:r>
              <a:rPr dirty="0"/>
              <a:t>on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K-</a:t>
            </a:r>
            <a:r>
              <a:rPr dirty="0"/>
              <a:t>Means</a:t>
            </a:r>
            <a:r>
              <a:rPr spc="-6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212" y="1264471"/>
            <a:ext cx="8411210" cy="52279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4F81BC"/>
              </a:buClr>
              <a:buSzPct val="80357"/>
              <a:buFont typeface="Segoe UI Symbol"/>
              <a:buChar char="◾"/>
              <a:tabLst>
                <a:tab pos="332105" algn="l"/>
              </a:tabLst>
            </a:pPr>
            <a:r>
              <a:rPr sz="2800" spc="-10" dirty="0">
                <a:latin typeface="Cambria"/>
                <a:cs typeface="Cambria"/>
              </a:rPr>
              <a:t>Strength</a:t>
            </a:r>
            <a:endParaRPr sz="2800">
              <a:latin typeface="Cambria"/>
              <a:cs typeface="Cambria"/>
            </a:endParaRPr>
          </a:p>
          <a:p>
            <a:pPr marL="441959">
              <a:lnSpc>
                <a:spcPts val="2510"/>
              </a:lnSpc>
              <a:spcBef>
                <a:spcPts val="480"/>
              </a:spcBef>
            </a:pPr>
            <a:r>
              <a:rPr sz="2200" dirty="0">
                <a:latin typeface="Cambria"/>
                <a:cs typeface="Cambria"/>
              </a:rPr>
              <a:t>Relatively</a:t>
            </a:r>
            <a:r>
              <a:rPr sz="2200" spc="3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efficient:</a:t>
            </a:r>
            <a:r>
              <a:rPr sz="2200" spc="30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O(tkn),</a:t>
            </a:r>
            <a:r>
              <a:rPr sz="2200" spc="3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where</a:t>
            </a:r>
            <a:r>
              <a:rPr sz="2200" spc="3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</a:t>
            </a:r>
            <a:r>
              <a:rPr sz="2200" spc="3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3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#</a:t>
            </a:r>
            <a:r>
              <a:rPr sz="2200" spc="3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objects,</a:t>
            </a:r>
            <a:r>
              <a:rPr sz="2200" spc="30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k</a:t>
            </a:r>
            <a:r>
              <a:rPr sz="2200" spc="3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3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#</a:t>
            </a:r>
            <a:r>
              <a:rPr sz="2200" spc="31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clusters,</a:t>
            </a:r>
            <a:endParaRPr sz="2200">
              <a:latin typeface="Cambria"/>
              <a:cs typeface="Cambria"/>
            </a:endParaRPr>
          </a:p>
          <a:p>
            <a:pPr marL="441959">
              <a:lnSpc>
                <a:spcPts val="2510"/>
              </a:lnSpc>
            </a:pPr>
            <a:r>
              <a:rPr sz="2200" dirty="0">
                <a:latin typeface="Cambria"/>
                <a:cs typeface="Cambria"/>
              </a:rPr>
              <a:t>and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</a:t>
            </a:r>
            <a:r>
              <a:rPr sz="2200" spc="4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#</a:t>
            </a:r>
            <a:r>
              <a:rPr sz="2200" spc="-2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iterations.</a:t>
            </a:r>
            <a:r>
              <a:rPr sz="2200" spc="10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Normally,</a:t>
            </a:r>
            <a:r>
              <a:rPr sz="2200" spc="-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k,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 &lt;&lt;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n.</a:t>
            </a:r>
            <a:endParaRPr sz="220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spcBef>
                <a:spcPts val="755"/>
              </a:spcBef>
              <a:buClr>
                <a:srgbClr val="4F81BC"/>
              </a:buClr>
              <a:buSzPct val="80357"/>
              <a:buFont typeface="Segoe UI Symbol"/>
              <a:buChar char="◾"/>
              <a:tabLst>
                <a:tab pos="332105" algn="l"/>
              </a:tabLst>
            </a:pPr>
            <a:r>
              <a:rPr sz="2800" spc="-10" dirty="0">
                <a:latin typeface="Cambria"/>
                <a:cs typeface="Cambria"/>
              </a:rPr>
              <a:t>Weakness</a:t>
            </a:r>
            <a:endParaRPr sz="280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spcBef>
                <a:spcPts val="1080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332105" algn="l"/>
              </a:tabLst>
            </a:pPr>
            <a:r>
              <a:rPr sz="2200" dirty="0">
                <a:latin typeface="Cambria"/>
                <a:cs typeface="Cambria"/>
              </a:rPr>
              <a:t>Applicable</a:t>
            </a:r>
            <a:r>
              <a:rPr sz="2200" spc="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only</a:t>
            </a:r>
            <a:r>
              <a:rPr sz="2200" spc="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when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mean</a:t>
            </a:r>
            <a:r>
              <a:rPr sz="2200" spc="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defined,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then</a:t>
            </a:r>
            <a:r>
              <a:rPr sz="2200" spc="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what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about</a:t>
            </a:r>
            <a:r>
              <a:rPr sz="2200" spc="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categorical</a:t>
            </a:r>
            <a:endParaRPr sz="2200">
              <a:latin typeface="Cambria"/>
              <a:cs typeface="Cambria"/>
            </a:endParaRPr>
          </a:p>
          <a:p>
            <a:pPr marL="332105">
              <a:lnSpc>
                <a:spcPct val="100000"/>
              </a:lnSpc>
              <a:spcBef>
                <a:spcPts val="395"/>
              </a:spcBef>
            </a:pPr>
            <a:r>
              <a:rPr sz="2200" spc="-10" dirty="0">
                <a:latin typeface="Cambria"/>
                <a:cs typeface="Cambria"/>
              </a:rPr>
              <a:t>data?</a:t>
            </a:r>
            <a:endParaRPr sz="2200">
              <a:latin typeface="Cambria"/>
              <a:cs typeface="Cambria"/>
            </a:endParaRPr>
          </a:p>
          <a:p>
            <a:pPr marL="329565" marR="5080" indent="-317500" algn="just">
              <a:lnSpc>
                <a:spcPct val="114999"/>
              </a:lnSpc>
              <a:spcBef>
                <a:spcPts val="600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332105" algn="l"/>
              </a:tabLst>
            </a:pPr>
            <a:r>
              <a:rPr sz="2200" dirty="0">
                <a:latin typeface="Cambria"/>
                <a:cs typeface="Cambria"/>
              </a:rPr>
              <a:t>Often</a:t>
            </a:r>
            <a:r>
              <a:rPr sz="2200" spc="2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terminates</a:t>
            </a:r>
            <a:r>
              <a:rPr sz="2200" spc="2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at</a:t>
            </a:r>
            <a:r>
              <a:rPr sz="2200" spc="2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</a:t>
            </a:r>
            <a:r>
              <a:rPr sz="2200" spc="20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local</a:t>
            </a:r>
            <a:r>
              <a:rPr sz="2200" spc="204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optimum.</a:t>
            </a:r>
            <a:r>
              <a:rPr sz="2200" spc="2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204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global</a:t>
            </a:r>
            <a:r>
              <a:rPr sz="2200" spc="22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optimum</a:t>
            </a:r>
            <a:r>
              <a:rPr sz="2200" spc="2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may</a:t>
            </a:r>
            <a:r>
              <a:rPr sz="2200" spc="21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be 	</a:t>
            </a:r>
            <a:r>
              <a:rPr sz="2200" dirty="0">
                <a:latin typeface="Cambria"/>
                <a:cs typeface="Cambria"/>
              </a:rPr>
              <a:t>found</a:t>
            </a:r>
            <a:r>
              <a:rPr sz="2200" spc="210" dirty="0">
                <a:latin typeface="Cambria"/>
                <a:cs typeface="Cambria"/>
              </a:rPr>
              <a:t>  </a:t>
            </a:r>
            <a:r>
              <a:rPr sz="2200" dirty="0">
                <a:latin typeface="Cambria"/>
                <a:cs typeface="Cambria"/>
              </a:rPr>
              <a:t>using</a:t>
            </a:r>
            <a:r>
              <a:rPr sz="2200" spc="229" dirty="0">
                <a:latin typeface="Cambria"/>
                <a:cs typeface="Cambria"/>
              </a:rPr>
              <a:t>  </a:t>
            </a:r>
            <a:r>
              <a:rPr sz="2200" dirty="0">
                <a:latin typeface="Cambria"/>
                <a:cs typeface="Cambria"/>
              </a:rPr>
              <a:t>techniques</a:t>
            </a:r>
            <a:r>
              <a:rPr sz="2200" spc="225" dirty="0">
                <a:latin typeface="Cambria"/>
                <a:cs typeface="Cambria"/>
              </a:rPr>
              <a:t>  </a:t>
            </a:r>
            <a:r>
              <a:rPr sz="2200" dirty="0">
                <a:latin typeface="Cambria"/>
                <a:cs typeface="Cambria"/>
              </a:rPr>
              <a:t>such</a:t>
            </a:r>
            <a:r>
              <a:rPr sz="2200" spc="225" dirty="0">
                <a:latin typeface="Cambria"/>
                <a:cs typeface="Cambria"/>
              </a:rPr>
              <a:t>  </a:t>
            </a:r>
            <a:r>
              <a:rPr sz="2200" dirty="0">
                <a:latin typeface="Cambria"/>
                <a:cs typeface="Cambria"/>
              </a:rPr>
              <a:t>as:</a:t>
            </a:r>
            <a:r>
              <a:rPr sz="2200" spc="225" dirty="0">
                <a:latin typeface="Cambria"/>
                <a:cs typeface="Cambria"/>
              </a:rPr>
              <a:t>  </a:t>
            </a:r>
            <a:r>
              <a:rPr sz="2200" dirty="0">
                <a:latin typeface="Cambria"/>
                <a:cs typeface="Cambria"/>
              </a:rPr>
              <a:t>deterministic</a:t>
            </a:r>
            <a:r>
              <a:rPr sz="2200" spc="225" dirty="0">
                <a:latin typeface="Cambria"/>
                <a:cs typeface="Cambria"/>
              </a:rPr>
              <a:t>  </a:t>
            </a:r>
            <a:r>
              <a:rPr sz="2200" dirty="0">
                <a:latin typeface="Cambria"/>
                <a:cs typeface="Cambria"/>
              </a:rPr>
              <a:t>annealing</a:t>
            </a:r>
            <a:r>
              <a:rPr sz="2200" spc="215" dirty="0">
                <a:latin typeface="Cambria"/>
                <a:cs typeface="Cambria"/>
              </a:rPr>
              <a:t>  </a:t>
            </a:r>
            <a:r>
              <a:rPr sz="2200" spc="-25" dirty="0">
                <a:latin typeface="Cambria"/>
                <a:cs typeface="Cambria"/>
              </a:rPr>
              <a:t>and 	</a:t>
            </a:r>
            <a:r>
              <a:rPr sz="2200" dirty="0">
                <a:latin typeface="Cambria"/>
                <a:cs typeface="Cambria"/>
              </a:rPr>
              <a:t>genetic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algorithms.</a:t>
            </a:r>
            <a:endParaRPr sz="220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spcBef>
                <a:spcPts val="1000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332105" algn="l"/>
              </a:tabLst>
            </a:pPr>
            <a:r>
              <a:rPr sz="2200" dirty="0">
                <a:latin typeface="Cambria"/>
                <a:cs typeface="Cambria"/>
              </a:rPr>
              <a:t>Need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specify</a:t>
            </a:r>
            <a:r>
              <a:rPr sz="2200" spc="-1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k,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the</a:t>
            </a:r>
            <a:r>
              <a:rPr sz="2200" spc="-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number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of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clusters,</a:t>
            </a:r>
            <a:r>
              <a:rPr sz="2200" spc="-1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advance</a:t>
            </a:r>
            <a:endParaRPr sz="220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spcBef>
                <a:spcPts val="994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332105" algn="l"/>
              </a:tabLst>
            </a:pPr>
            <a:r>
              <a:rPr sz="2200" dirty="0">
                <a:latin typeface="Cambria"/>
                <a:cs typeface="Cambria"/>
              </a:rPr>
              <a:t>Unable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handle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noisy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data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and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outliers</a:t>
            </a:r>
            <a:endParaRPr sz="220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spcBef>
                <a:spcPts val="1000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332105" algn="l"/>
              </a:tabLst>
            </a:pPr>
            <a:r>
              <a:rPr sz="2200" dirty="0">
                <a:latin typeface="Cambria"/>
                <a:cs typeface="Cambria"/>
              </a:rPr>
              <a:t>Not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suitable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discover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clusters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with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non-</a:t>
            </a:r>
            <a:r>
              <a:rPr sz="2200" spc="-20" dirty="0">
                <a:latin typeface="Cambria"/>
                <a:cs typeface="Cambria"/>
              </a:rPr>
              <a:t>convex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shapes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612" y="1025779"/>
            <a:ext cx="8581390" cy="4902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332105" algn="l"/>
              </a:tabLst>
            </a:pPr>
            <a:r>
              <a:rPr sz="2200" spc="-25" dirty="0">
                <a:latin typeface="Cambria"/>
                <a:cs typeface="Cambria"/>
              </a:rPr>
              <a:t>Nature-</a:t>
            </a:r>
            <a:r>
              <a:rPr sz="2200" dirty="0">
                <a:latin typeface="Cambria"/>
                <a:cs typeface="Cambria"/>
              </a:rPr>
              <a:t>inspired</a:t>
            </a:r>
            <a:r>
              <a:rPr sz="2200" spc="-10" dirty="0">
                <a:latin typeface="Cambria"/>
                <a:cs typeface="Cambria"/>
              </a:rPr>
              <a:t> computing:</a:t>
            </a:r>
            <a:endParaRPr sz="2200">
              <a:latin typeface="Cambria"/>
              <a:cs typeface="Cambria"/>
            </a:endParaRPr>
          </a:p>
          <a:p>
            <a:pPr marL="789940" lvl="1" indent="-320040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789940" algn="l"/>
              </a:tabLst>
            </a:pPr>
            <a:r>
              <a:rPr sz="2200" dirty="0">
                <a:latin typeface="Cambria"/>
                <a:cs typeface="Cambria"/>
              </a:rPr>
              <a:t>Algorithms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inspired</a:t>
            </a:r>
            <a:r>
              <a:rPr sz="2200" spc="-7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from</a:t>
            </a:r>
            <a:r>
              <a:rPr sz="2200" spc="-9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nature</a:t>
            </a:r>
            <a:endParaRPr sz="2200">
              <a:latin typeface="Cambria"/>
              <a:cs typeface="Cambria"/>
            </a:endParaRPr>
          </a:p>
          <a:p>
            <a:pPr marL="789940" lvl="1" indent="-320040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789940" algn="l"/>
              </a:tabLst>
            </a:pPr>
            <a:r>
              <a:rPr sz="2200" dirty="0">
                <a:latin typeface="Cambria"/>
                <a:cs typeface="Cambria"/>
              </a:rPr>
              <a:t>Provide</a:t>
            </a:r>
            <a:r>
              <a:rPr sz="2200" spc="-9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optimal</a:t>
            </a:r>
            <a:r>
              <a:rPr sz="2200" spc="-9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solution</a:t>
            </a:r>
            <a:endParaRPr sz="2200">
              <a:latin typeface="Cambria"/>
              <a:cs typeface="Cambria"/>
            </a:endParaRPr>
          </a:p>
          <a:p>
            <a:pPr marL="789940" lvl="1" indent="-320040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789940" algn="l"/>
              </a:tabLst>
            </a:pPr>
            <a:r>
              <a:rPr sz="2200" dirty="0">
                <a:latin typeface="Cambria"/>
                <a:cs typeface="Cambria"/>
              </a:rPr>
              <a:t>Less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time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is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required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solve</a:t>
            </a:r>
            <a:r>
              <a:rPr sz="2200" spc="-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complex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optimization</a:t>
            </a:r>
            <a:endParaRPr sz="2200">
              <a:latin typeface="Cambria"/>
              <a:cs typeface="Cambria"/>
            </a:endParaRPr>
          </a:p>
          <a:p>
            <a:pPr marL="789940" lvl="1" indent="-320040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789940" algn="l"/>
              </a:tabLst>
            </a:pPr>
            <a:r>
              <a:rPr sz="2200" dirty="0">
                <a:latin typeface="Cambria"/>
                <a:cs typeface="Cambria"/>
              </a:rPr>
              <a:t>Stochastic</a:t>
            </a:r>
            <a:r>
              <a:rPr sz="2200" spc="-9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algorithms:</a:t>
            </a:r>
            <a:endParaRPr sz="2200">
              <a:latin typeface="Cambria"/>
              <a:cs typeface="Cambria"/>
            </a:endParaRPr>
          </a:p>
          <a:p>
            <a:pPr marL="1247140" lvl="2" indent="-320040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1247140" algn="l"/>
              </a:tabLst>
            </a:pPr>
            <a:r>
              <a:rPr sz="2200" dirty="0">
                <a:latin typeface="Cambria"/>
                <a:cs typeface="Cambria"/>
              </a:rPr>
              <a:t>Global</a:t>
            </a:r>
            <a:r>
              <a:rPr sz="2200" spc="-3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search(exploration)</a:t>
            </a:r>
            <a:endParaRPr sz="2200">
              <a:latin typeface="Cambria"/>
              <a:cs typeface="Cambria"/>
            </a:endParaRPr>
          </a:p>
          <a:p>
            <a:pPr marL="1247140" lvl="2" indent="-320040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1247140" algn="l"/>
              </a:tabLst>
            </a:pPr>
            <a:r>
              <a:rPr sz="2200" dirty="0">
                <a:latin typeface="Cambria"/>
                <a:cs typeface="Cambria"/>
              </a:rPr>
              <a:t>Local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search(exploitation)</a:t>
            </a:r>
            <a:endParaRPr sz="220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spcBef>
                <a:spcPts val="844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332105" algn="l"/>
              </a:tabLst>
            </a:pPr>
            <a:r>
              <a:rPr sz="2200" dirty="0">
                <a:latin typeface="Cambria"/>
                <a:cs typeface="Cambria"/>
              </a:rPr>
              <a:t>Some</a:t>
            </a:r>
            <a:r>
              <a:rPr sz="2200" spc="-9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popular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nature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inspired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algorithms:</a:t>
            </a:r>
            <a:endParaRPr sz="2200">
              <a:latin typeface="Cambria"/>
              <a:cs typeface="Cambria"/>
            </a:endParaRPr>
          </a:p>
          <a:p>
            <a:pPr marL="1247140" lvl="1" indent="-320040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1247140" algn="l"/>
              </a:tabLst>
            </a:pPr>
            <a:r>
              <a:rPr sz="2200" dirty="0">
                <a:latin typeface="Cambria"/>
                <a:cs typeface="Cambria"/>
              </a:rPr>
              <a:t>Genetic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algorithms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(GA)</a:t>
            </a:r>
            <a:endParaRPr sz="2200">
              <a:latin typeface="Cambria"/>
              <a:cs typeface="Cambria"/>
            </a:endParaRPr>
          </a:p>
          <a:p>
            <a:pPr marL="1247140" lvl="1" indent="-320040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1247140" algn="l"/>
              </a:tabLst>
            </a:pPr>
            <a:r>
              <a:rPr sz="2200" dirty="0">
                <a:latin typeface="Cambria"/>
                <a:cs typeface="Cambria"/>
              </a:rPr>
              <a:t>Particle</a:t>
            </a:r>
            <a:r>
              <a:rPr sz="2200" spc="-7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swarm</a:t>
            </a:r>
            <a:r>
              <a:rPr sz="2200" spc="-9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optimization</a:t>
            </a:r>
            <a:r>
              <a:rPr sz="2200" spc="-8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(PSO)</a:t>
            </a:r>
            <a:endParaRPr sz="2200">
              <a:latin typeface="Cambria"/>
              <a:cs typeface="Cambria"/>
            </a:endParaRPr>
          </a:p>
          <a:p>
            <a:pPr marL="1247140" lvl="1" indent="-320040">
              <a:lnSpc>
                <a:spcPct val="100000"/>
              </a:lnSpc>
              <a:buClr>
                <a:srgbClr val="4F81BC"/>
              </a:buClr>
              <a:buSzPct val="79545"/>
              <a:buFont typeface="Segoe UI Symbol"/>
              <a:buChar char="◾"/>
              <a:tabLst>
                <a:tab pos="1247140" algn="l"/>
              </a:tabLst>
            </a:pPr>
            <a:r>
              <a:rPr sz="2200" dirty="0">
                <a:latin typeface="Cambria"/>
                <a:cs typeface="Cambria"/>
              </a:rPr>
              <a:t>Cuckoo</a:t>
            </a:r>
            <a:r>
              <a:rPr sz="2200" spc="-8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search(CS),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etc.</a:t>
            </a:r>
            <a:endParaRPr sz="2200">
              <a:latin typeface="Cambria"/>
              <a:cs typeface="Cambria"/>
            </a:endParaRPr>
          </a:p>
          <a:p>
            <a:pPr marL="330200" marR="5080" indent="-317500" algn="just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79545"/>
              <a:buFont typeface="Segoe UI Symbol"/>
              <a:buChar char="◾"/>
              <a:tabLst>
                <a:tab pos="332740" algn="l"/>
              </a:tabLst>
            </a:pPr>
            <a:r>
              <a:rPr sz="2200" spc="-20" dirty="0">
                <a:latin typeface="Cambria"/>
                <a:cs typeface="Cambria"/>
              </a:rPr>
              <a:t>Nature-</a:t>
            </a:r>
            <a:r>
              <a:rPr sz="2200" dirty="0">
                <a:latin typeface="Cambria"/>
                <a:cs typeface="Cambria"/>
              </a:rPr>
              <a:t>inspired</a:t>
            </a:r>
            <a:r>
              <a:rPr sz="2200" spc="4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algorithms</a:t>
            </a:r>
            <a:r>
              <a:rPr sz="2200" spc="45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not</a:t>
            </a:r>
            <a:r>
              <a:rPr sz="2200" spc="459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only</a:t>
            </a:r>
            <a:r>
              <a:rPr sz="2200" spc="4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provide</a:t>
            </a:r>
            <a:r>
              <a:rPr sz="2200" spc="44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optimal</a:t>
            </a:r>
            <a:r>
              <a:rPr sz="2200" spc="47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solution</a:t>
            </a:r>
            <a:r>
              <a:rPr sz="2200" spc="45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but 	</a:t>
            </a:r>
            <a:r>
              <a:rPr sz="2200" dirty="0">
                <a:latin typeface="Cambria"/>
                <a:cs typeface="Cambria"/>
              </a:rPr>
              <a:t>also</a:t>
            </a:r>
            <a:r>
              <a:rPr sz="2200" spc="3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solve</a:t>
            </a:r>
            <a:r>
              <a:rPr sz="2200" spc="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complex</a:t>
            </a:r>
            <a:r>
              <a:rPr sz="2200" spc="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optimization</a:t>
            </a:r>
            <a:r>
              <a:rPr sz="2200" spc="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problems</a:t>
            </a:r>
            <a:r>
              <a:rPr sz="2200" spc="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in</a:t>
            </a:r>
            <a:r>
              <a:rPr sz="2200" spc="2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reasonably</a:t>
            </a:r>
            <a:r>
              <a:rPr sz="2200" spc="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less</a:t>
            </a:r>
            <a:r>
              <a:rPr sz="2200" spc="3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time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as 	</a:t>
            </a:r>
            <a:r>
              <a:rPr sz="2200" dirty="0">
                <a:latin typeface="Cambria"/>
                <a:cs typeface="Cambria"/>
              </a:rPr>
              <a:t>compared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-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classical</a:t>
            </a:r>
            <a:r>
              <a:rPr sz="2200" spc="-45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methods.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0791" y="48005"/>
            <a:ext cx="8074659" cy="10134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022600" marR="5080" indent="-3010535">
              <a:lnSpc>
                <a:spcPct val="80000"/>
              </a:lnSpc>
              <a:spcBef>
                <a:spcPts val="960"/>
              </a:spcBef>
            </a:pPr>
            <a:r>
              <a:rPr spc="-10" dirty="0"/>
              <a:t>Efficient</a:t>
            </a:r>
            <a:r>
              <a:rPr spc="-114" dirty="0"/>
              <a:t> </a:t>
            </a:r>
            <a:r>
              <a:rPr dirty="0"/>
              <a:t>data</a:t>
            </a:r>
            <a:r>
              <a:rPr spc="-114" dirty="0"/>
              <a:t> </a:t>
            </a:r>
            <a:r>
              <a:rPr dirty="0"/>
              <a:t>mining</a:t>
            </a:r>
            <a:r>
              <a:rPr spc="-105" dirty="0"/>
              <a:t> </a:t>
            </a:r>
            <a:r>
              <a:rPr dirty="0"/>
              <a:t>using</a:t>
            </a:r>
            <a:r>
              <a:rPr spc="-105" dirty="0"/>
              <a:t> </a:t>
            </a:r>
            <a:r>
              <a:rPr spc="-30" dirty="0"/>
              <a:t>nature-</a:t>
            </a:r>
            <a:r>
              <a:rPr spc="-10" dirty="0"/>
              <a:t>inspired computing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39597"/>
            <a:ext cx="8988425" cy="5971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Cambria"/>
                <a:cs typeface="Cambria"/>
              </a:rPr>
              <a:t>Initialize</a:t>
            </a:r>
            <a:r>
              <a:rPr sz="1950" spc="-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all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the</a:t>
            </a:r>
            <a:r>
              <a:rPr sz="1950" spc="-30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parameters</a:t>
            </a:r>
            <a:r>
              <a:rPr sz="1950" spc="-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such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as</a:t>
            </a:r>
            <a:r>
              <a:rPr sz="1950" spc="-3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no.</a:t>
            </a:r>
            <a:r>
              <a:rPr sz="1950" spc="-2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of</a:t>
            </a:r>
            <a:r>
              <a:rPr sz="1950" spc="-2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clusters,</a:t>
            </a:r>
            <a:r>
              <a:rPr sz="1950" spc="-3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no</a:t>
            </a:r>
            <a:r>
              <a:rPr sz="1950" spc="-2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of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populations,</a:t>
            </a:r>
            <a:r>
              <a:rPr sz="1950" spc="-60" dirty="0">
                <a:latin typeface="Cambria"/>
                <a:cs typeface="Cambria"/>
              </a:rPr>
              <a:t> </a:t>
            </a:r>
            <a:r>
              <a:rPr sz="1950" spc="-20" dirty="0">
                <a:latin typeface="Cambria"/>
                <a:cs typeface="Cambria"/>
              </a:rPr>
              <a:t>etc.</a:t>
            </a:r>
            <a:endParaRPr sz="1950">
              <a:latin typeface="Cambria"/>
              <a:cs typeface="Cambria"/>
            </a:endParaRPr>
          </a:p>
          <a:p>
            <a:pPr marL="131445" marR="2378075">
              <a:lnSpc>
                <a:spcPct val="100000"/>
              </a:lnSpc>
              <a:spcBef>
                <a:spcPts val="5"/>
              </a:spcBef>
            </a:pP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Step1:</a:t>
            </a:r>
            <a:r>
              <a:rPr sz="1950" spc="-8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Generate</a:t>
            </a:r>
            <a:r>
              <a:rPr sz="1950" spc="-6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N</a:t>
            </a:r>
            <a:r>
              <a:rPr sz="1950" spc="-3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initial</a:t>
            </a:r>
            <a:r>
              <a:rPr sz="1950" spc="-6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populations</a:t>
            </a:r>
            <a:r>
              <a:rPr sz="1950" spc="-7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(x1,x2……,xn)</a:t>
            </a:r>
            <a:r>
              <a:rPr sz="1950" spc="-65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randomly. </a:t>
            </a: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Step2:</a:t>
            </a:r>
            <a:r>
              <a:rPr sz="1950" spc="-7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Calculate</a:t>
            </a:r>
            <a:r>
              <a:rPr sz="1950" spc="-6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fitness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of</a:t>
            </a:r>
            <a:r>
              <a:rPr sz="1950" spc="-5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each</a:t>
            </a:r>
            <a:r>
              <a:rPr sz="1950" spc="-3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individual</a:t>
            </a:r>
            <a:r>
              <a:rPr sz="1950" spc="-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using</a:t>
            </a:r>
            <a:r>
              <a:rPr sz="1950" spc="-5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the</a:t>
            </a:r>
            <a:r>
              <a:rPr sz="1950" spc="-25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equation:</a:t>
            </a:r>
            <a:endParaRPr sz="19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950">
              <a:latin typeface="Cambria"/>
              <a:cs typeface="Cambria"/>
            </a:endParaRPr>
          </a:p>
          <a:p>
            <a:pPr marL="451484" marR="5080" indent="-320040" algn="just">
              <a:lnSpc>
                <a:spcPct val="100000"/>
              </a:lnSpc>
            </a:pPr>
            <a:r>
              <a:rPr sz="1950" dirty="0">
                <a:latin typeface="Cambria"/>
                <a:cs typeface="Cambria"/>
              </a:rPr>
              <a:t>where</a:t>
            </a:r>
            <a:r>
              <a:rPr sz="1950" spc="9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k=1,2,...K</a:t>
            </a:r>
            <a:r>
              <a:rPr sz="1950" spc="10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is</a:t>
            </a:r>
            <a:r>
              <a:rPr sz="1950" spc="9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the</a:t>
            </a:r>
            <a:r>
              <a:rPr sz="1950" spc="9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number</a:t>
            </a:r>
            <a:r>
              <a:rPr sz="1950" spc="10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of</a:t>
            </a:r>
            <a:r>
              <a:rPr sz="1950" spc="9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clusters,</a:t>
            </a:r>
            <a:r>
              <a:rPr sz="1950" spc="8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xi</a:t>
            </a:r>
            <a:r>
              <a:rPr sz="1950" spc="9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,</a:t>
            </a:r>
            <a:r>
              <a:rPr sz="1950" spc="10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i=1,2,...nk</a:t>
            </a:r>
            <a:r>
              <a:rPr sz="1950" spc="9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are</a:t>
            </a:r>
            <a:r>
              <a:rPr sz="1950" spc="9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the</a:t>
            </a:r>
            <a:r>
              <a:rPr sz="1950" spc="10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patterns</a:t>
            </a:r>
            <a:r>
              <a:rPr sz="1950" spc="9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in</a:t>
            </a:r>
            <a:r>
              <a:rPr sz="1950" spc="9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the</a:t>
            </a:r>
            <a:r>
              <a:rPr sz="1950" spc="105" dirty="0">
                <a:latin typeface="Cambria"/>
                <a:cs typeface="Cambria"/>
              </a:rPr>
              <a:t> </a:t>
            </a:r>
            <a:r>
              <a:rPr sz="1950" spc="-25" dirty="0">
                <a:latin typeface="Cambria"/>
                <a:cs typeface="Cambria"/>
              </a:rPr>
              <a:t>kth </a:t>
            </a:r>
            <a:r>
              <a:rPr sz="1950" dirty="0">
                <a:latin typeface="Cambria"/>
                <a:cs typeface="Cambria"/>
              </a:rPr>
              <a:t>cluster,</a:t>
            </a:r>
            <a:r>
              <a:rPr sz="1950" spc="1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ck</a:t>
            </a:r>
            <a:r>
              <a:rPr sz="1950" spc="13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is</a:t>
            </a:r>
            <a:r>
              <a:rPr sz="1950" spc="1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centre</a:t>
            </a:r>
            <a:r>
              <a:rPr sz="1950" spc="1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of</a:t>
            </a:r>
            <a:r>
              <a:rPr sz="1950" spc="13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the</a:t>
            </a:r>
            <a:r>
              <a:rPr sz="1950" spc="1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kth</a:t>
            </a:r>
            <a:r>
              <a:rPr sz="1950" spc="1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cluster.</a:t>
            </a:r>
            <a:r>
              <a:rPr sz="1950" spc="1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Here</a:t>
            </a:r>
            <a:r>
              <a:rPr sz="1950" spc="1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the</a:t>
            </a:r>
            <a:r>
              <a:rPr sz="1950" spc="1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cluster</a:t>
            </a:r>
            <a:r>
              <a:rPr sz="1950" spc="15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centres</a:t>
            </a:r>
            <a:r>
              <a:rPr sz="1950" spc="1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are</a:t>
            </a:r>
            <a:r>
              <a:rPr sz="1950" spc="140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represented </a:t>
            </a:r>
            <a:r>
              <a:rPr sz="1950" spc="-25" dirty="0">
                <a:latin typeface="Cambria"/>
                <a:cs typeface="Cambria"/>
              </a:rPr>
              <a:t>by:</a:t>
            </a:r>
            <a:endParaRPr sz="19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50">
              <a:latin typeface="Cambria"/>
              <a:cs typeface="Cambria"/>
            </a:endParaRPr>
          </a:p>
          <a:p>
            <a:pPr marL="451484" marR="5715" indent="-320040">
              <a:lnSpc>
                <a:spcPct val="100000"/>
              </a:lnSpc>
              <a:spcBef>
                <a:spcPts val="5"/>
              </a:spcBef>
            </a:pP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Step</a:t>
            </a:r>
            <a:r>
              <a:rPr sz="1950" spc="37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3:</a:t>
            </a:r>
            <a:r>
              <a:rPr sz="1950" spc="3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Assign</a:t>
            </a:r>
            <a:r>
              <a:rPr sz="1950" spc="36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each</a:t>
            </a:r>
            <a:r>
              <a:rPr sz="1950" spc="37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data</a:t>
            </a:r>
            <a:r>
              <a:rPr sz="1950" spc="37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points</a:t>
            </a:r>
            <a:r>
              <a:rPr sz="1950" spc="36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to</a:t>
            </a:r>
            <a:r>
              <a:rPr sz="1950" spc="37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k</a:t>
            </a:r>
            <a:r>
              <a:rPr sz="1950" spc="37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randomly</a:t>
            </a:r>
            <a:r>
              <a:rPr sz="1950" spc="38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selected</a:t>
            </a:r>
            <a:r>
              <a:rPr sz="1950" spc="37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cluster</a:t>
            </a:r>
            <a:r>
              <a:rPr sz="1950" spc="38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centroids,</a:t>
            </a:r>
            <a:r>
              <a:rPr sz="1950" spc="370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using </a:t>
            </a:r>
            <a:r>
              <a:rPr sz="1950" dirty="0">
                <a:latin typeface="Cambria"/>
                <a:cs typeface="Cambria"/>
              </a:rPr>
              <a:t>Euclidean</a:t>
            </a:r>
            <a:r>
              <a:rPr sz="1950" spc="-55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distance.</a:t>
            </a:r>
            <a:endParaRPr sz="1950">
              <a:latin typeface="Cambria"/>
              <a:cs typeface="Cambria"/>
            </a:endParaRPr>
          </a:p>
          <a:p>
            <a:pPr marL="120650" marR="5801360" indent="10160">
              <a:lnSpc>
                <a:spcPct val="100000"/>
              </a:lnSpc>
            </a:pP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Step</a:t>
            </a:r>
            <a:r>
              <a:rPr sz="1950" spc="-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4:</a:t>
            </a:r>
            <a:r>
              <a:rPr sz="1950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Find</a:t>
            </a:r>
            <a:r>
              <a:rPr sz="1950" spc="-3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the</a:t>
            </a:r>
            <a:r>
              <a:rPr sz="1950" spc="-5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current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spc="-20" dirty="0">
                <a:latin typeface="Cambria"/>
                <a:cs typeface="Cambria"/>
              </a:rPr>
              <a:t>best. </a:t>
            </a: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Step</a:t>
            </a:r>
            <a:r>
              <a:rPr sz="1950" spc="-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spc="-25" dirty="0">
                <a:solidFill>
                  <a:srgbClr val="006FC0"/>
                </a:solidFill>
                <a:latin typeface="Cambria"/>
                <a:cs typeface="Cambria"/>
              </a:rPr>
              <a:t>5:</a:t>
            </a:r>
            <a:endParaRPr sz="1950">
              <a:latin typeface="Cambria"/>
              <a:cs typeface="Cambria"/>
            </a:endParaRPr>
          </a:p>
          <a:p>
            <a:pPr marL="66040">
              <a:lnSpc>
                <a:spcPct val="100000"/>
              </a:lnSpc>
            </a:pPr>
            <a:r>
              <a:rPr sz="1950" dirty="0">
                <a:solidFill>
                  <a:srgbClr val="FF0000"/>
                </a:solidFill>
                <a:latin typeface="Cambria"/>
                <a:cs typeface="Cambria"/>
              </a:rPr>
              <a:t>while</a:t>
            </a:r>
            <a:r>
              <a:rPr sz="1950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</a:t>
            </a:r>
            <a:r>
              <a:rPr sz="1950" spc="-2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&lt;</a:t>
            </a:r>
            <a:r>
              <a:rPr sz="1950" spc="-25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MaxGeneration</a:t>
            </a:r>
            <a:endParaRPr sz="1950">
              <a:latin typeface="Cambria"/>
              <a:cs typeface="Cambria"/>
            </a:endParaRPr>
          </a:p>
          <a:p>
            <a:pPr marL="120650" marR="187960">
              <a:lnSpc>
                <a:spcPct val="100000"/>
              </a:lnSpc>
            </a:pP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Step</a:t>
            </a:r>
            <a:r>
              <a:rPr sz="1950" spc="-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5.1:</a:t>
            </a:r>
            <a:r>
              <a:rPr sz="1950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do</a:t>
            </a:r>
            <a:r>
              <a:rPr sz="1950" spc="-3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Generate</a:t>
            </a:r>
            <a:r>
              <a:rPr sz="1950" spc="-6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N</a:t>
            </a:r>
            <a:r>
              <a:rPr sz="1950" spc="-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new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individuals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using</a:t>
            </a:r>
            <a:r>
              <a:rPr sz="1950" spc="-55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meta-</a:t>
            </a:r>
            <a:r>
              <a:rPr sz="1950" dirty="0">
                <a:latin typeface="Cambria"/>
                <a:cs typeface="Cambria"/>
              </a:rPr>
              <a:t>heuristic</a:t>
            </a:r>
            <a:r>
              <a:rPr sz="1950" spc="-7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methods</a:t>
            </a:r>
            <a:r>
              <a:rPr sz="1950" spc="-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(PSO,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DE,</a:t>
            </a:r>
            <a:r>
              <a:rPr sz="1950" spc="-35" dirty="0">
                <a:latin typeface="Cambria"/>
                <a:cs typeface="Cambria"/>
              </a:rPr>
              <a:t> </a:t>
            </a:r>
            <a:r>
              <a:rPr sz="1950" spc="-25" dirty="0">
                <a:latin typeface="Cambria"/>
                <a:cs typeface="Cambria"/>
              </a:rPr>
              <a:t>..) </a:t>
            </a: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Step</a:t>
            </a:r>
            <a:r>
              <a:rPr sz="1950" spc="-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5.2:</a:t>
            </a:r>
            <a:r>
              <a:rPr sz="1950" spc="-3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Calculate</a:t>
            </a:r>
            <a:r>
              <a:rPr sz="1950" spc="-6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the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fitness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of</a:t>
            </a:r>
            <a:r>
              <a:rPr sz="1950" spc="-3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new</a:t>
            </a:r>
            <a:r>
              <a:rPr sz="1950" spc="-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individuals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using</a:t>
            </a:r>
            <a:r>
              <a:rPr sz="1950" spc="-5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equation</a:t>
            </a:r>
            <a:r>
              <a:rPr sz="1950" spc="-65" dirty="0">
                <a:latin typeface="Cambria"/>
                <a:cs typeface="Cambria"/>
              </a:rPr>
              <a:t> </a:t>
            </a:r>
            <a:r>
              <a:rPr sz="1950" spc="-25" dirty="0">
                <a:latin typeface="Cambria"/>
                <a:cs typeface="Cambria"/>
              </a:rPr>
              <a:t>1.</a:t>
            </a:r>
            <a:endParaRPr sz="1950">
              <a:latin typeface="Cambria"/>
              <a:cs typeface="Cambria"/>
            </a:endParaRPr>
          </a:p>
          <a:p>
            <a:pPr marL="120650">
              <a:lnSpc>
                <a:spcPct val="100000"/>
              </a:lnSpc>
            </a:pP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Step</a:t>
            </a:r>
            <a:r>
              <a:rPr sz="1950" spc="-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5.3:</a:t>
            </a:r>
            <a:r>
              <a:rPr sz="1950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Assign</a:t>
            </a:r>
            <a:r>
              <a:rPr sz="1950" spc="-7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new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individuals</a:t>
            </a:r>
            <a:r>
              <a:rPr sz="1950" spc="-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to</a:t>
            </a:r>
            <a:r>
              <a:rPr sz="1950" spc="-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k</a:t>
            </a:r>
            <a:r>
              <a:rPr sz="1950" spc="-35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randomly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selected</a:t>
            </a:r>
            <a:r>
              <a:rPr sz="1950" spc="-7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cluster</a:t>
            </a:r>
            <a:r>
              <a:rPr sz="1950" spc="-5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centroids,</a:t>
            </a:r>
            <a:r>
              <a:rPr sz="1950" spc="-40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using</a:t>
            </a:r>
            <a:endParaRPr sz="1950">
              <a:latin typeface="Cambria"/>
              <a:cs typeface="Cambria"/>
            </a:endParaRPr>
          </a:p>
          <a:p>
            <a:pPr marL="12700" marR="6933565">
              <a:lnSpc>
                <a:spcPct val="100000"/>
              </a:lnSpc>
              <a:spcBef>
                <a:spcPts val="5"/>
              </a:spcBef>
            </a:pPr>
            <a:r>
              <a:rPr sz="1950" dirty="0">
                <a:latin typeface="Cambria"/>
                <a:cs typeface="Cambria"/>
              </a:rPr>
              <a:t>Euclidean</a:t>
            </a:r>
            <a:r>
              <a:rPr sz="1950" spc="-55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distance. </a:t>
            </a:r>
            <a:r>
              <a:rPr sz="1950" dirty="0">
                <a:solidFill>
                  <a:srgbClr val="FF0000"/>
                </a:solidFill>
                <a:latin typeface="Cambria"/>
                <a:cs typeface="Cambria"/>
              </a:rPr>
              <a:t>end</a:t>
            </a:r>
            <a:r>
              <a:rPr sz="1950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950" spc="-10" dirty="0">
                <a:solidFill>
                  <a:srgbClr val="FF0000"/>
                </a:solidFill>
                <a:latin typeface="Cambria"/>
                <a:cs typeface="Cambria"/>
              </a:rPr>
              <a:t>while</a:t>
            </a:r>
            <a:endParaRPr sz="1950">
              <a:latin typeface="Cambria"/>
              <a:cs typeface="Cambria"/>
            </a:endParaRPr>
          </a:p>
          <a:p>
            <a:pPr marL="120650">
              <a:lnSpc>
                <a:spcPct val="100000"/>
              </a:lnSpc>
            </a:pP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Step</a:t>
            </a:r>
            <a:r>
              <a:rPr sz="1950" spc="-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solidFill>
                  <a:srgbClr val="006FC0"/>
                </a:solidFill>
                <a:latin typeface="Cambria"/>
                <a:cs typeface="Cambria"/>
              </a:rPr>
              <a:t>6:</a:t>
            </a:r>
            <a:r>
              <a:rPr sz="1950" spc="-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Print</a:t>
            </a:r>
            <a:r>
              <a:rPr sz="1950" spc="-3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the</a:t>
            </a:r>
            <a:r>
              <a:rPr sz="1950" spc="-1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best</a:t>
            </a:r>
            <a:r>
              <a:rPr sz="1950" spc="-3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solution</a:t>
            </a:r>
            <a:r>
              <a:rPr sz="1950" spc="-5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and</a:t>
            </a:r>
            <a:r>
              <a:rPr sz="1950" spc="-3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its</a:t>
            </a:r>
            <a:r>
              <a:rPr sz="1950" spc="-30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fitness.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79625" y="223265"/>
            <a:ext cx="619823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Clustering</a:t>
            </a:r>
            <a:r>
              <a:rPr sz="2900" spc="-75" dirty="0"/>
              <a:t> </a:t>
            </a:r>
            <a:r>
              <a:rPr sz="2900" dirty="0"/>
              <a:t>using</a:t>
            </a:r>
            <a:r>
              <a:rPr sz="2900" spc="-75" dirty="0"/>
              <a:t> </a:t>
            </a:r>
            <a:r>
              <a:rPr sz="2900" spc="-20" dirty="0"/>
              <a:t>Meta-</a:t>
            </a:r>
            <a:r>
              <a:rPr sz="2900" dirty="0"/>
              <a:t>heuristic</a:t>
            </a:r>
            <a:r>
              <a:rPr sz="2900" spc="-85" dirty="0"/>
              <a:t> </a:t>
            </a:r>
            <a:r>
              <a:rPr sz="2900" spc="-10" dirty="0"/>
              <a:t>methods</a:t>
            </a:r>
            <a:endParaRPr sz="2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4793" y="2876537"/>
            <a:ext cx="1267169" cy="5425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57500" y="1714500"/>
            <a:ext cx="2857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622503"/>
            <a:ext cx="3354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1F487C"/>
                </a:solidFill>
              </a:rPr>
              <a:t>Steps</a:t>
            </a:r>
            <a:r>
              <a:rPr sz="4000" spc="-95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to</a:t>
            </a:r>
            <a:r>
              <a:rPr sz="4000" spc="-90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run</a:t>
            </a:r>
            <a:r>
              <a:rPr sz="4000" spc="-95" dirty="0">
                <a:solidFill>
                  <a:srgbClr val="1F487C"/>
                </a:solidFill>
              </a:rPr>
              <a:t> </a:t>
            </a:r>
            <a:r>
              <a:rPr sz="4000" spc="-25" dirty="0">
                <a:solidFill>
                  <a:srgbClr val="1F487C"/>
                </a:solidFill>
              </a:rPr>
              <a:t>job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90"/>
              </a:spcBef>
              <a:buAutoNum type="arabicPlain"/>
              <a:tabLst>
                <a:tab pos="354965" algn="l"/>
              </a:tabLst>
            </a:pPr>
            <a:r>
              <a:rPr dirty="0"/>
              <a:t>Open</a:t>
            </a:r>
            <a:r>
              <a:rPr spc="-55" dirty="0"/>
              <a:t> </a:t>
            </a:r>
            <a:r>
              <a:rPr dirty="0"/>
              <a:t>mozila</a:t>
            </a:r>
            <a:r>
              <a:rPr spc="-3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write</a:t>
            </a:r>
            <a:r>
              <a:rPr spc="-35" dirty="0"/>
              <a:t> </a:t>
            </a:r>
            <a:r>
              <a:rPr dirty="0"/>
              <a:t>50070</a:t>
            </a:r>
            <a:r>
              <a:rPr spc="-8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address</a:t>
            </a:r>
            <a:r>
              <a:rPr spc="-55" dirty="0"/>
              <a:t> </a:t>
            </a:r>
            <a:r>
              <a:rPr spc="-20" dirty="0"/>
              <a:t>bar.</a:t>
            </a:r>
          </a:p>
          <a:p>
            <a:pPr marL="311150" marR="1148715" indent="-299085">
              <a:lnSpc>
                <a:spcPct val="109200"/>
              </a:lnSpc>
              <a:spcBef>
                <a:spcPts val="5"/>
              </a:spcBef>
              <a:buAutoNum type="arabicPlain"/>
              <a:tabLst>
                <a:tab pos="311150" algn="l"/>
                <a:tab pos="354330" algn="l"/>
              </a:tabLst>
            </a:pPr>
            <a:r>
              <a:rPr dirty="0"/>
              <a:t>	upload</a:t>
            </a:r>
            <a:r>
              <a:rPr spc="-50" dirty="0"/>
              <a:t> </a:t>
            </a:r>
            <a:r>
              <a:rPr dirty="0"/>
              <a:t>file</a:t>
            </a:r>
            <a:r>
              <a:rPr spc="-5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HDFS</a:t>
            </a:r>
            <a:r>
              <a:rPr spc="-40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spc="-10" dirty="0"/>
              <a:t>command </a:t>
            </a:r>
            <a:r>
              <a:rPr dirty="0"/>
              <a:t>hadoop</a:t>
            </a:r>
            <a:r>
              <a:rPr spc="-50" dirty="0"/>
              <a:t> </a:t>
            </a:r>
            <a:r>
              <a:rPr dirty="0"/>
              <a:t>fs</a:t>
            </a:r>
            <a:r>
              <a:rPr spc="-65" dirty="0"/>
              <a:t> </a:t>
            </a:r>
            <a:r>
              <a:rPr spc="-25" dirty="0"/>
              <a:t>-</a:t>
            </a:r>
            <a:r>
              <a:rPr spc="-10" dirty="0"/>
              <a:t>copyFromLocal</a:t>
            </a:r>
            <a:r>
              <a:rPr spc="-35" dirty="0"/>
              <a:t> </a:t>
            </a:r>
            <a:r>
              <a:rPr dirty="0"/>
              <a:t>input.txt</a:t>
            </a:r>
            <a:r>
              <a:rPr spc="-65" dirty="0"/>
              <a:t> </a:t>
            </a:r>
            <a:r>
              <a:rPr spc="-50" dirty="0"/>
              <a:t>/</a:t>
            </a: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AutoNum type="arabicPlain"/>
              <a:tabLst>
                <a:tab pos="354965" algn="l"/>
              </a:tabLst>
            </a:pPr>
            <a:r>
              <a:rPr dirty="0"/>
              <a:t>run</a:t>
            </a:r>
            <a:r>
              <a:rPr spc="-20" dirty="0"/>
              <a:t> </a:t>
            </a:r>
            <a:r>
              <a:rPr dirty="0"/>
              <a:t>jar</a:t>
            </a:r>
            <a:r>
              <a:rPr spc="-15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spc="-10" dirty="0"/>
              <a:t>command</a:t>
            </a:r>
          </a:p>
          <a:p>
            <a:pPr marL="386080">
              <a:lnSpc>
                <a:spcPct val="100000"/>
              </a:lnSpc>
              <a:spcBef>
                <a:spcPts val="290"/>
              </a:spcBef>
              <a:tabLst>
                <a:tab pos="5312410" algn="l"/>
              </a:tabLst>
            </a:pPr>
            <a:r>
              <a:rPr dirty="0"/>
              <a:t>hadoop</a:t>
            </a:r>
            <a:r>
              <a:rPr spc="-50" dirty="0"/>
              <a:t> </a:t>
            </a:r>
            <a:r>
              <a:rPr dirty="0"/>
              <a:t>jar</a:t>
            </a:r>
            <a:r>
              <a:rPr spc="-45" dirty="0"/>
              <a:t> </a:t>
            </a:r>
            <a:r>
              <a:rPr spc="-10" dirty="0"/>
              <a:t>wordcount.jar</a:t>
            </a:r>
            <a:r>
              <a:rPr spc="-40" dirty="0"/>
              <a:t> </a:t>
            </a:r>
            <a:r>
              <a:rPr spc="-10" dirty="0"/>
              <a:t>/input.txt</a:t>
            </a:r>
            <a:r>
              <a:rPr dirty="0"/>
              <a:t>	</a:t>
            </a:r>
            <a:r>
              <a:rPr spc="-10" dirty="0"/>
              <a:t>/out/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503" y="635120"/>
            <a:ext cx="7962987" cy="2920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527049"/>
            <a:ext cx="800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0000"/>
                </a:solidFill>
                <a:latin typeface="Arial"/>
                <a:cs typeface="Arial"/>
              </a:rPr>
              <a:t>FAKE</a:t>
            </a:r>
            <a:r>
              <a:rPr sz="2800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REVIEW</a:t>
            </a:r>
            <a:r>
              <a:rPr sz="2800" spc="-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DETECTION</a:t>
            </a:r>
            <a:r>
              <a:rPr sz="280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PUBLIC</a:t>
            </a:r>
            <a:r>
              <a:rPr sz="2800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"/>
                <a:cs typeface="Arial"/>
              </a:rPr>
              <a:t>DATASETS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1068" y="6308547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684" y="6365824"/>
            <a:ext cx="901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19" y="1293859"/>
            <a:ext cx="8371332" cy="82146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50945" y="1406474"/>
            <a:ext cx="17189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3000" b="1" spc="-20" dirty="0">
                <a:solidFill>
                  <a:srgbClr val="FFFFFF"/>
                </a:solidFill>
                <a:latin typeface="Arial"/>
                <a:cs typeface="Arial"/>
              </a:rPr>
              <a:t> sets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90433" y="6171133"/>
            <a:ext cx="81978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41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  <a:p>
            <a:pPr>
              <a:lnSpc>
                <a:spcPts val="1380"/>
              </a:lnSpc>
            </a:pPr>
            <a:r>
              <a:rPr sz="1400" spc="-10" dirty="0">
                <a:solidFill>
                  <a:srgbClr val="1F487C"/>
                </a:solidFill>
                <a:latin typeface="Calibri"/>
                <a:cs typeface="Calibri"/>
              </a:rPr>
              <a:t>4/24/2023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74650" y="2279650"/>
          <a:ext cx="8394700" cy="4342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676400"/>
                <a:gridCol w="1676400"/>
                <a:gridCol w="3733800"/>
              </a:tblGrid>
              <a:tr h="1295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62255" marR="142240" indent="-1143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Dataset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50825" marR="196215" indent="-488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Number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Instances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167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17456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92405" marR="182880" indent="248285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Ott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dataset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77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8580" algn="ctr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1600(800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fake,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800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real)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77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44145" marR="133985" algn="ctr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Trip</a:t>
                      </a:r>
                      <a:r>
                        <a:rPr sz="2000" spc="-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Advisor,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Yelp, Hotels.com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3335" marR="5080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Prepared</a:t>
                      </a:r>
                      <a:r>
                        <a:rPr sz="20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Mylee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Ott.,100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USD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was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paid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each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writing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fake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reviews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301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1300" marR="234950" indent="124460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Yelp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review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1280000(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60,000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fake,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68,000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real)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955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Yelp.com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082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69925" marR="419734" indent="-24257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Extracted</a:t>
                      </a:r>
                      <a:r>
                        <a:rPr sz="20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20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Yelp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using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beautiful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soup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library.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5720" y="635120"/>
            <a:ext cx="4568775" cy="2920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17294" y="527049"/>
            <a:ext cx="46196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0000"/>
                </a:solidFill>
                <a:latin typeface="Arial"/>
                <a:cs typeface="Arial"/>
              </a:rPr>
              <a:t>FAKE</a:t>
            </a:r>
            <a:r>
              <a:rPr sz="2800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REVIEW</a:t>
            </a:r>
            <a:r>
              <a:rPr sz="2800" spc="-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"/>
                <a:cs typeface="Arial"/>
              </a:rPr>
              <a:t>DETECTION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3768" y="6365824"/>
            <a:ext cx="18034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" y="1135326"/>
            <a:ext cx="8823960" cy="75142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71597" y="1232661"/>
            <a:ext cx="3477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sz="3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90433" y="6171133"/>
            <a:ext cx="81978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41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  <a:p>
            <a:pPr>
              <a:lnSpc>
                <a:spcPts val="1380"/>
              </a:lnSpc>
            </a:pPr>
            <a:r>
              <a:rPr sz="1400" spc="-10" dirty="0">
                <a:solidFill>
                  <a:srgbClr val="1F487C"/>
                </a:solidFill>
                <a:latin typeface="Calibri"/>
                <a:cs typeface="Calibri"/>
              </a:rPr>
              <a:t>4/24/2023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98450" y="1892300"/>
          <a:ext cx="8699500" cy="4957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7205"/>
                <a:gridCol w="2087880"/>
                <a:gridCol w="1634489"/>
                <a:gridCol w="3120390"/>
              </a:tblGrid>
              <a:tr h="639445">
                <a:tc>
                  <a:txBody>
                    <a:bodyPr/>
                    <a:lstStyle/>
                    <a:p>
                      <a:pPr marL="90805" marR="728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949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5111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Word</a:t>
                      </a:r>
                      <a:r>
                        <a:rPr sz="16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count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20320" indent="533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words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review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0160" marR="658495" indent="558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Branding Frequency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0160" marR="414020" indent="558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times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brand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name used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Verb</a:t>
                      </a:r>
                      <a:r>
                        <a:rPr sz="16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Count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60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verbs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588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Adjective</a:t>
                      </a:r>
                      <a:r>
                        <a:rPr sz="16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Count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0160" marR="88265" indent="5588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adjectives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used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review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Spam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Hit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Score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331470" indent="5588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words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similar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Spam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review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Truth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Hit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Score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words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similar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the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truth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review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5111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Diversity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579120" indent="558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Count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unique words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Adverb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adverbs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used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Noun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nouns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in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review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604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Preposition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prepositions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used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\sentiment</a:t>
                      </a:r>
                      <a:r>
                        <a:rPr sz="16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score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sentiment</a:t>
                      </a:r>
                      <a:r>
                        <a:rPr sz="16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score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83820" indent="5588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variation</a:t>
                      </a:r>
                      <a:r>
                        <a:rPr sz="16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between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sentiment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polarity</a:t>
                      </a:r>
                      <a:r>
                        <a:rPr sz="16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rating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reviews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160" marR="142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Average</a:t>
                      </a:r>
                      <a:r>
                        <a:rPr sz="16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content similarity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0160" marR="33655" indent="5588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defines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average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similarity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reviews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given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single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reviewer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7075" y="644651"/>
            <a:ext cx="4511185" cy="2880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90317" y="542290"/>
            <a:ext cx="45580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solidFill>
                  <a:srgbClr val="FF0000"/>
                </a:solidFill>
                <a:latin typeface="Arial"/>
                <a:cs typeface="Arial"/>
              </a:rPr>
              <a:t>FAKE</a:t>
            </a:r>
            <a:r>
              <a:rPr sz="2700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REVIEW</a:t>
            </a:r>
            <a:r>
              <a:rPr sz="27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Arial"/>
                <a:cs typeface="Arial"/>
              </a:rPr>
              <a:t>DETECTIION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719" y="1065259"/>
            <a:ext cx="8371332" cy="8214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46733" y="1196467"/>
            <a:ext cx="67227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Flow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Proposed</a:t>
            </a:r>
            <a:r>
              <a:rPr sz="2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25611" y="6083808"/>
            <a:ext cx="364490" cy="364490"/>
            <a:chOff x="8325611" y="6083808"/>
            <a:chExt cx="364490" cy="364490"/>
          </a:xfrm>
        </p:grpSpPr>
        <p:sp>
          <p:nvSpPr>
            <p:cNvPr id="7" name="object 7"/>
            <p:cNvSpPr/>
            <p:nvPr/>
          </p:nvSpPr>
          <p:spPr>
            <a:xfrm>
              <a:off x="8338565" y="6096762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4" h="338454">
                  <a:moveTo>
                    <a:pt x="169163" y="0"/>
                  </a:moveTo>
                  <a:lnTo>
                    <a:pt x="124177" y="6043"/>
                  </a:lnTo>
                  <a:lnTo>
                    <a:pt x="83763" y="23097"/>
                  </a:lnTo>
                  <a:lnTo>
                    <a:pt x="49529" y="49549"/>
                  </a:lnTo>
                  <a:lnTo>
                    <a:pt x="23085" y="83786"/>
                  </a:lnTo>
                  <a:lnTo>
                    <a:pt x="6039" y="124195"/>
                  </a:lnTo>
                  <a:lnTo>
                    <a:pt x="0" y="169164"/>
                  </a:lnTo>
                  <a:lnTo>
                    <a:pt x="6039" y="214132"/>
                  </a:lnTo>
                  <a:lnTo>
                    <a:pt x="23085" y="254541"/>
                  </a:lnTo>
                  <a:lnTo>
                    <a:pt x="49529" y="288778"/>
                  </a:lnTo>
                  <a:lnTo>
                    <a:pt x="83763" y="315230"/>
                  </a:lnTo>
                  <a:lnTo>
                    <a:pt x="124177" y="332284"/>
                  </a:lnTo>
                  <a:lnTo>
                    <a:pt x="169163" y="338328"/>
                  </a:lnTo>
                  <a:lnTo>
                    <a:pt x="214150" y="332284"/>
                  </a:lnTo>
                  <a:lnTo>
                    <a:pt x="254564" y="315230"/>
                  </a:lnTo>
                  <a:lnTo>
                    <a:pt x="288798" y="288778"/>
                  </a:lnTo>
                  <a:lnTo>
                    <a:pt x="315242" y="254541"/>
                  </a:lnTo>
                  <a:lnTo>
                    <a:pt x="332288" y="214132"/>
                  </a:lnTo>
                  <a:lnTo>
                    <a:pt x="338327" y="169164"/>
                  </a:lnTo>
                  <a:lnTo>
                    <a:pt x="332288" y="124195"/>
                  </a:lnTo>
                  <a:lnTo>
                    <a:pt x="315242" y="83786"/>
                  </a:lnTo>
                  <a:lnTo>
                    <a:pt x="288797" y="49549"/>
                  </a:lnTo>
                  <a:lnTo>
                    <a:pt x="254564" y="23097"/>
                  </a:lnTo>
                  <a:lnTo>
                    <a:pt x="214150" y="6043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38565" y="6096762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4" h="338454">
                  <a:moveTo>
                    <a:pt x="0" y="169164"/>
                  </a:moveTo>
                  <a:lnTo>
                    <a:pt x="6039" y="124195"/>
                  </a:lnTo>
                  <a:lnTo>
                    <a:pt x="23085" y="83786"/>
                  </a:lnTo>
                  <a:lnTo>
                    <a:pt x="49529" y="49549"/>
                  </a:lnTo>
                  <a:lnTo>
                    <a:pt x="83763" y="23097"/>
                  </a:lnTo>
                  <a:lnTo>
                    <a:pt x="124177" y="6043"/>
                  </a:lnTo>
                  <a:lnTo>
                    <a:pt x="169163" y="0"/>
                  </a:lnTo>
                  <a:lnTo>
                    <a:pt x="214150" y="6043"/>
                  </a:lnTo>
                  <a:lnTo>
                    <a:pt x="254564" y="23097"/>
                  </a:lnTo>
                  <a:lnTo>
                    <a:pt x="288797" y="49549"/>
                  </a:lnTo>
                  <a:lnTo>
                    <a:pt x="315242" y="83786"/>
                  </a:lnTo>
                  <a:lnTo>
                    <a:pt x="332288" y="124195"/>
                  </a:lnTo>
                  <a:lnTo>
                    <a:pt x="338327" y="169164"/>
                  </a:lnTo>
                  <a:lnTo>
                    <a:pt x="332288" y="214132"/>
                  </a:lnTo>
                  <a:lnTo>
                    <a:pt x="315242" y="254541"/>
                  </a:lnTo>
                  <a:lnTo>
                    <a:pt x="288798" y="288778"/>
                  </a:lnTo>
                  <a:lnTo>
                    <a:pt x="254564" y="315230"/>
                  </a:lnTo>
                  <a:lnTo>
                    <a:pt x="214150" y="332284"/>
                  </a:lnTo>
                  <a:lnTo>
                    <a:pt x="169163" y="338328"/>
                  </a:lnTo>
                  <a:lnTo>
                    <a:pt x="124177" y="332284"/>
                  </a:lnTo>
                  <a:lnTo>
                    <a:pt x="83763" y="315230"/>
                  </a:lnTo>
                  <a:lnTo>
                    <a:pt x="49529" y="288778"/>
                  </a:lnTo>
                  <a:lnTo>
                    <a:pt x="23085" y="254541"/>
                  </a:lnTo>
                  <a:lnTo>
                    <a:pt x="6039" y="214132"/>
                  </a:lnTo>
                  <a:lnTo>
                    <a:pt x="0" y="169164"/>
                  </a:lnTo>
                  <a:close/>
                </a:path>
              </a:pathLst>
            </a:custGeom>
            <a:ln w="25907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77733" y="6101283"/>
            <a:ext cx="84518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86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380"/>
              </a:lnSpc>
            </a:pPr>
            <a:r>
              <a:rPr sz="1400" spc="-10" dirty="0">
                <a:solidFill>
                  <a:srgbClr val="1F487C"/>
                </a:solidFill>
                <a:latin typeface="Calibri"/>
                <a:cs typeface="Calibri"/>
              </a:rPr>
              <a:t>4/24/2023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4961" y="5182361"/>
            <a:ext cx="1981200" cy="7620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934961" y="5182361"/>
            <a:ext cx="1981200" cy="762000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147320" marR="132080" indent="-7620">
              <a:lnSpc>
                <a:spcPct val="100000"/>
              </a:lnSpc>
              <a:spcBef>
                <a:spcPts val="72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Cluster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Using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Optimal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Centroids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3361" y="2515361"/>
            <a:ext cx="1828800" cy="6858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53361" y="2515361"/>
            <a:ext cx="1828800" cy="685800"/>
          </a:xfrm>
          <a:prstGeom prst="rect">
            <a:avLst/>
          </a:prstGeom>
          <a:ln w="25907">
            <a:solidFill>
              <a:srgbClr val="4F81BC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259079" marR="254635" indent="16510">
              <a:lnSpc>
                <a:spcPct val="100000"/>
              </a:lnSpc>
              <a:spcBef>
                <a:spcPts val="41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Collec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tion</a:t>
            </a:r>
            <a:r>
              <a:rPr sz="1800" spc="3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Hotel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Reviews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4138" y="3734561"/>
            <a:ext cx="2369819" cy="838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04138" y="3734561"/>
            <a:ext cx="2369820" cy="838200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577215" marR="306070" indent="-265430">
              <a:lnSpc>
                <a:spcPct val="100000"/>
              </a:lnSpc>
              <a:spcBef>
                <a:spcPts val="1019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Determine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Highest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Fitness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42638" y="3734561"/>
            <a:ext cx="1754124" cy="8382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342638" y="3734561"/>
            <a:ext cx="1754505" cy="838200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552450" marR="296545" indent="-250190">
              <a:lnSpc>
                <a:spcPct val="100000"/>
              </a:lnSpc>
              <a:spcBef>
                <a:spcPts val="1019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Evaluate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Fitness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50202" y="3810761"/>
            <a:ext cx="1737359" cy="7620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950202" y="3810761"/>
            <a:ext cx="1737360" cy="762000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Initialize</a:t>
            </a:r>
            <a:endParaRPr sz="1800">
              <a:latin typeface="Calibri"/>
              <a:cs typeface="Calibri"/>
            </a:endParaRPr>
          </a:p>
          <a:p>
            <a:pPr marL="196215" marR="189865" indent="-635"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population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58761" y="2439161"/>
            <a:ext cx="1828800" cy="68580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858761" y="2439161"/>
            <a:ext cx="1828800" cy="685800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445770" marR="440055" indent="112395">
              <a:lnSpc>
                <a:spcPct val="100000"/>
              </a:lnSpc>
              <a:spcBef>
                <a:spcPts val="41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Feature Extraction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21885" y="2439161"/>
            <a:ext cx="1522476" cy="76200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421885" y="2439161"/>
            <a:ext cx="1522730" cy="762000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22796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7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Preprocessing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83386" y="5106161"/>
            <a:ext cx="2211324" cy="91440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183386" y="5106161"/>
            <a:ext cx="2211705" cy="914400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800">
              <a:latin typeface="Times New Roman"/>
              <a:cs typeface="Times New Roman"/>
            </a:endParaRPr>
          </a:p>
          <a:p>
            <a:pPr marL="41655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Islands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087304" y="5245544"/>
            <a:ext cx="2251075" cy="788035"/>
            <a:chOff x="4087304" y="5245544"/>
            <a:chExt cx="2251075" cy="788035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0321" y="5258562"/>
              <a:ext cx="2225040" cy="7620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100321" y="5258562"/>
              <a:ext cx="2225040" cy="762000"/>
            </a:xfrm>
            <a:custGeom>
              <a:avLst/>
              <a:gdLst/>
              <a:ahLst/>
              <a:cxnLst/>
              <a:rect l="l" t="t" r="r" b="b"/>
              <a:pathLst>
                <a:path w="2225040" h="762000">
                  <a:moveTo>
                    <a:pt x="0" y="381000"/>
                  </a:moveTo>
                  <a:lnTo>
                    <a:pt x="1112519" y="0"/>
                  </a:lnTo>
                  <a:lnTo>
                    <a:pt x="2225040" y="381000"/>
                  </a:lnTo>
                  <a:lnTo>
                    <a:pt x="1112519" y="762000"/>
                  </a:lnTo>
                  <a:lnTo>
                    <a:pt x="0" y="381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805934" y="5337809"/>
            <a:ext cx="811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3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Criteria Satisfied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-12255" y="2502344"/>
            <a:ext cx="7923530" cy="3302635"/>
            <a:chOff x="-12255" y="2502344"/>
            <a:chExt cx="7923530" cy="3302635"/>
          </a:xfrm>
        </p:grpSpPr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82161" y="2743962"/>
              <a:ext cx="839724" cy="3048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582161" y="2743962"/>
              <a:ext cx="840105" cy="304800"/>
            </a:xfrm>
            <a:custGeom>
              <a:avLst/>
              <a:gdLst/>
              <a:ahLst/>
              <a:cxnLst/>
              <a:rect l="l" t="t" r="r" b="b"/>
              <a:pathLst>
                <a:path w="840104" h="304800">
                  <a:moveTo>
                    <a:pt x="0" y="76200"/>
                  </a:moveTo>
                  <a:lnTo>
                    <a:pt x="687324" y="76200"/>
                  </a:lnTo>
                  <a:lnTo>
                    <a:pt x="687324" y="0"/>
                  </a:lnTo>
                  <a:lnTo>
                    <a:pt x="839724" y="152400"/>
                  </a:lnTo>
                  <a:lnTo>
                    <a:pt x="687324" y="304800"/>
                  </a:lnTo>
                  <a:lnTo>
                    <a:pt x="687324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44361" y="2743962"/>
              <a:ext cx="914399" cy="2286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44361" y="2743962"/>
              <a:ext cx="914400" cy="228600"/>
            </a:xfrm>
            <a:custGeom>
              <a:avLst/>
              <a:gdLst/>
              <a:ahLst/>
              <a:cxnLst/>
              <a:rect l="l" t="t" r="r" b="b"/>
              <a:pathLst>
                <a:path w="914400" h="228600">
                  <a:moveTo>
                    <a:pt x="0" y="57150"/>
                  </a:moveTo>
                  <a:lnTo>
                    <a:pt x="800099" y="57150"/>
                  </a:lnTo>
                  <a:lnTo>
                    <a:pt x="800099" y="0"/>
                  </a:lnTo>
                  <a:lnTo>
                    <a:pt x="914399" y="114300"/>
                  </a:lnTo>
                  <a:lnTo>
                    <a:pt x="800099" y="228600"/>
                  </a:lnTo>
                  <a:lnTo>
                    <a:pt x="800099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60386" y="3124962"/>
              <a:ext cx="237744" cy="6858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660386" y="3124962"/>
              <a:ext cx="238125" cy="685800"/>
            </a:xfrm>
            <a:custGeom>
              <a:avLst/>
              <a:gdLst/>
              <a:ahLst/>
              <a:cxnLst/>
              <a:rect l="l" t="t" r="r" b="b"/>
              <a:pathLst>
                <a:path w="238125" h="685800">
                  <a:moveTo>
                    <a:pt x="0" y="566927"/>
                  </a:moveTo>
                  <a:lnTo>
                    <a:pt x="59436" y="566927"/>
                  </a:lnTo>
                  <a:lnTo>
                    <a:pt x="59436" y="0"/>
                  </a:lnTo>
                  <a:lnTo>
                    <a:pt x="178308" y="0"/>
                  </a:lnTo>
                  <a:lnTo>
                    <a:pt x="178308" y="566927"/>
                  </a:lnTo>
                  <a:lnTo>
                    <a:pt x="237744" y="566927"/>
                  </a:lnTo>
                  <a:lnTo>
                    <a:pt x="118872" y="685800"/>
                  </a:lnTo>
                  <a:lnTo>
                    <a:pt x="0" y="566927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96761" y="4115562"/>
              <a:ext cx="838199" cy="2286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096761" y="4115562"/>
              <a:ext cx="838200" cy="228600"/>
            </a:xfrm>
            <a:custGeom>
              <a:avLst/>
              <a:gdLst/>
              <a:ahLst/>
              <a:cxnLst/>
              <a:rect l="l" t="t" r="r" b="b"/>
              <a:pathLst>
                <a:path w="838200" h="228600">
                  <a:moveTo>
                    <a:pt x="838199" y="171450"/>
                  </a:moveTo>
                  <a:lnTo>
                    <a:pt x="114300" y="17145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lnTo>
                    <a:pt x="114300" y="57150"/>
                  </a:lnTo>
                  <a:lnTo>
                    <a:pt x="838199" y="57150"/>
                  </a:lnTo>
                  <a:lnTo>
                    <a:pt x="838199" y="17145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73958" y="4039362"/>
              <a:ext cx="870203" cy="3048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473958" y="4039362"/>
              <a:ext cx="870585" cy="304800"/>
            </a:xfrm>
            <a:custGeom>
              <a:avLst/>
              <a:gdLst/>
              <a:ahLst/>
              <a:cxnLst/>
              <a:rect l="l" t="t" r="r" b="b"/>
              <a:pathLst>
                <a:path w="870585" h="304800">
                  <a:moveTo>
                    <a:pt x="0" y="152400"/>
                  </a:moveTo>
                  <a:lnTo>
                    <a:pt x="152400" y="0"/>
                  </a:lnTo>
                  <a:lnTo>
                    <a:pt x="152400" y="76200"/>
                  </a:lnTo>
                  <a:lnTo>
                    <a:pt x="870203" y="76200"/>
                  </a:lnTo>
                  <a:lnTo>
                    <a:pt x="870203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25217" y="4572761"/>
              <a:ext cx="237744" cy="5334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125217" y="4572761"/>
              <a:ext cx="238125" cy="533400"/>
            </a:xfrm>
            <a:custGeom>
              <a:avLst/>
              <a:gdLst/>
              <a:ahLst/>
              <a:cxnLst/>
              <a:rect l="l" t="t" r="r" b="b"/>
              <a:pathLst>
                <a:path w="238125" h="533400">
                  <a:moveTo>
                    <a:pt x="0" y="414527"/>
                  </a:moveTo>
                  <a:lnTo>
                    <a:pt x="59436" y="414527"/>
                  </a:lnTo>
                  <a:lnTo>
                    <a:pt x="59436" y="0"/>
                  </a:lnTo>
                  <a:lnTo>
                    <a:pt x="178307" y="0"/>
                  </a:lnTo>
                  <a:lnTo>
                    <a:pt x="178307" y="414527"/>
                  </a:lnTo>
                  <a:lnTo>
                    <a:pt x="237744" y="414527"/>
                  </a:lnTo>
                  <a:lnTo>
                    <a:pt x="118871" y="533400"/>
                  </a:lnTo>
                  <a:lnTo>
                    <a:pt x="0" y="414527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94710" y="5487161"/>
              <a:ext cx="720851" cy="2286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394710" y="5487161"/>
              <a:ext cx="721360" cy="228600"/>
            </a:xfrm>
            <a:custGeom>
              <a:avLst/>
              <a:gdLst/>
              <a:ahLst/>
              <a:cxnLst/>
              <a:rect l="l" t="t" r="r" b="b"/>
              <a:pathLst>
                <a:path w="721360" h="228600">
                  <a:moveTo>
                    <a:pt x="0" y="57150"/>
                  </a:moveTo>
                  <a:lnTo>
                    <a:pt x="606551" y="57150"/>
                  </a:lnTo>
                  <a:lnTo>
                    <a:pt x="606551" y="0"/>
                  </a:lnTo>
                  <a:lnTo>
                    <a:pt x="720851" y="114300"/>
                  </a:lnTo>
                  <a:lnTo>
                    <a:pt x="606551" y="228600"/>
                  </a:lnTo>
                  <a:lnTo>
                    <a:pt x="606551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29961" y="4572761"/>
              <a:ext cx="237743" cy="6858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029961" y="4572761"/>
              <a:ext cx="238125" cy="685800"/>
            </a:xfrm>
            <a:custGeom>
              <a:avLst/>
              <a:gdLst/>
              <a:ahLst/>
              <a:cxnLst/>
              <a:rect l="l" t="t" r="r" b="b"/>
              <a:pathLst>
                <a:path w="238125" h="685800">
                  <a:moveTo>
                    <a:pt x="0" y="118871"/>
                  </a:moveTo>
                  <a:lnTo>
                    <a:pt x="118872" y="0"/>
                  </a:lnTo>
                  <a:lnTo>
                    <a:pt x="237743" y="118871"/>
                  </a:lnTo>
                  <a:lnTo>
                    <a:pt x="178308" y="118871"/>
                  </a:lnTo>
                  <a:lnTo>
                    <a:pt x="178308" y="685800"/>
                  </a:lnTo>
                  <a:lnTo>
                    <a:pt x="59436" y="685800"/>
                  </a:lnTo>
                  <a:lnTo>
                    <a:pt x="59436" y="118871"/>
                  </a:lnTo>
                  <a:lnTo>
                    <a:pt x="0" y="118871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72961" y="5487161"/>
              <a:ext cx="761999" cy="3048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172961" y="5487161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76200"/>
                  </a:moveTo>
                  <a:lnTo>
                    <a:pt x="609599" y="76200"/>
                  </a:lnTo>
                  <a:lnTo>
                    <a:pt x="609599" y="0"/>
                  </a:lnTo>
                  <a:lnTo>
                    <a:pt x="761999" y="152400"/>
                  </a:lnTo>
                  <a:lnTo>
                    <a:pt x="609599" y="304800"/>
                  </a:lnTo>
                  <a:lnTo>
                    <a:pt x="609599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62" y="2515362"/>
              <a:ext cx="1185672" cy="6858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62" y="2515362"/>
              <a:ext cx="1186180" cy="685800"/>
            </a:xfrm>
            <a:custGeom>
              <a:avLst/>
              <a:gdLst/>
              <a:ahLst/>
              <a:cxnLst/>
              <a:rect l="l" t="t" r="r" b="b"/>
              <a:pathLst>
                <a:path w="1186180" h="685800">
                  <a:moveTo>
                    <a:pt x="0" y="342900"/>
                  </a:moveTo>
                  <a:lnTo>
                    <a:pt x="12044" y="273799"/>
                  </a:lnTo>
                  <a:lnTo>
                    <a:pt x="46587" y="209436"/>
                  </a:lnTo>
                  <a:lnTo>
                    <a:pt x="71551" y="179462"/>
                  </a:lnTo>
                  <a:lnTo>
                    <a:pt x="101245" y="151190"/>
                  </a:lnTo>
                  <a:lnTo>
                    <a:pt x="135373" y="124792"/>
                  </a:lnTo>
                  <a:lnTo>
                    <a:pt x="173635" y="100441"/>
                  </a:lnTo>
                  <a:lnTo>
                    <a:pt x="215735" y="78308"/>
                  </a:lnTo>
                  <a:lnTo>
                    <a:pt x="261373" y="58567"/>
                  </a:lnTo>
                  <a:lnTo>
                    <a:pt x="310253" y="41390"/>
                  </a:lnTo>
                  <a:lnTo>
                    <a:pt x="362075" y="26949"/>
                  </a:lnTo>
                  <a:lnTo>
                    <a:pt x="416543" y="15417"/>
                  </a:lnTo>
                  <a:lnTo>
                    <a:pt x="473357" y="6967"/>
                  </a:lnTo>
                  <a:lnTo>
                    <a:pt x="532221" y="1770"/>
                  </a:lnTo>
                  <a:lnTo>
                    <a:pt x="592836" y="0"/>
                  </a:lnTo>
                  <a:lnTo>
                    <a:pt x="653450" y="1770"/>
                  </a:lnTo>
                  <a:lnTo>
                    <a:pt x="712314" y="6967"/>
                  </a:lnTo>
                  <a:lnTo>
                    <a:pt x="769128" y="15417"/>
                  </a:lnTo>
                  <a:lnTo>
                    <a:pt x="823596" y="26949"/>
                  </a:lnTo>
                  <a:lnTo>
                    <a:pt x="875418" y="41390"/>
                  </a:lnTo>
                  <a:lnTo>
                    <a:pt x="924298" y="58567"/>
                  </a:lnTo>
                  <a:lnTo>
                    <a:pt x="969936" y="78308"/>
                  </a:lnTo>
                  <a:lnTo>
                    <a:pt x="1012036" y="100441"/>
                  </a:lnTo>
                  <a:lnTo>
                    <a:pt x="1050298" y="124792"/>
                  </a:lnTo>
                  <a:lnTo>
                    <a:pt x="1084426" y="151190"/>
                  </a:lnTo>
                  <a:lnTo>
                    <a:pt x="1114120" y="179462"/>
                  </a:lnTo>
                  <a:lnTo>
                    <a:pt x="1139084" y="209436"/>
                  </a:lnTo>
                  <a:lnTo>
                    <a:pt x="1173627" y="273799"/>
                  </a:lnTo>
                  <a:lnTo>
                    <a:pt x="1185672" y="342900"/>
                  </a:lnTo>
                  <a:lnTo>
                    <a:pt x="1182611" y="377955"/>
                  </a:lnTo>
                  <a:lnTo>
                    <a:pt x="1159019" y="444860"/>
                  </a:lnTo>
                  <a:lnTo>
                    <a:pt x="1114120" y="506337"/>
                  </a:lnTo>
                  <a:lnTo>
                    <a:pt x="1084426" y="534609"/>
                  </a:lnTo>
                  <a:lnTo>
                    <a:pt x="1050298" y="561007"/>
                  </a:lnTo>
                  <a:lnTo>
                    <a:pt x="1012036" y="585358"/>
                  </a:lnTo>
                  <a:lnTo>
                    <a:pt x="969936" y="607491"/>
                  </a:lnTo>
                  <a:lnTo>
                    <a:pt x="924298" y="627232"/>
                  </a:lnTo>
                  <a:lnTo>
                    <a:pt x="875418" y="644409"/>
                  </a:lnTo>
                  <a:lnTo>
                    <a:pt x="823596" y="658850"/>
                  </a:lnTo>
                  <a:lnTo>
                    <a:pt x="769128" y="670382"/>
                  </a:lnTo>
                  <a:lnTo>
                    <a:pt x="712314" y="678832"/>
                  </a:lnTo>
                  <a:lnTo>
                    <a:pt x="653450" y="684029"/>
                  </a:lnTo>
                  <a:lnTo>
                    <a:pt x="592836" y="685800"/>
                  </a:lnTo>
                  <a:lnTo>
                    <a:pt x="532221" y="684029"/>
                  </a:lnTo>
                  <a:lnTo>
                    <a:pt x="473357" y="678832"/>
                  </a:lnTo>
                  <a:lnTo>
                    <a:pt x="416543" y="670382"/>
                  </a:lnTo>
                  <a:lnTo>
                    <a:pt x="362075" y="658850"/>
                  </a:lnTo>
                  <a:lnTo>
                    <a:pt x="310253" y="644409"/>
                  </a:lnTo>
                  <a:lnTo>
                    <a:pt x="261373" y="627232"/>
                  </a:lnTo>
                  <a:lnTo>
                    <a:pt x="215735" y="607491"/>
                  </a:lnTo>
                  <a:lnTo>
                    <a:pt x="173635" y="585358"/>
                  </a:lnTo>
                  <a:lnTo>
                    <a:pt x="135373" y="561007"/>
                  </a:lnTo>
                  <a:lnTo>
                    <a:pt x="101245" y="534609"/>
                  </a:lnTo>
                  <a:lnTo>
                    <a:pt x="71551" y="506337"/>
                  </a:lnTo>
                  <a:lnTo>
                    <a:pt x="46587" y="476363"/>
                  </a:lnTo>
                  <a:lnTo>
                    <a:pt x="12044" y="412000"/>
                  </a:lnTo>
                  <a:lnTo>
                    <a:pt x="0" y="3429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57936" y="2693034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207008" y="2731007"/>
            <a:ext cx="559435" cy="254635"/>
            <a:chOff x="1207008" y="2731007"/>
            <a:chExt cx="559435" cy="254635"/>
          </a:xfrm>
        </p:grpSpPr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19962" y="2743961"/>
              <a:ext cx="5334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219962" y="2743961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0" y="57150"/>
                  </a:moveTo>
                  <a:lnTo>
                    <a:pt x="419100" y="57150"/>
                  </a:lnTo>
                  <a:lnTo>
                    <a:pt x="419100" y="0"/>
                  </a:lnTo>
                  <a:lnTo>
                    <a:pt x="533400" y="114300"/>
                  </a:lnTo>
                  <a:lnTo>
                    <a:pt x="419100" y="228600"/>
                  </a:lnTo>
                  <a:lnTo>
                    <a:pt x="419100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7659" y="7620"/>
            <a:ext cx="7793990" cy="1216660"/>
            <a:chOff x="327659" y="7620"/>
            <a:chExt cx="7793990" cy="12166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9" y="7620"/>
              <a:ext cx="7360920" cy="7894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59" y="434339"/>
              <a:ext cx="7793735" cy="78943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99771"/>
            <a:ext cx="73494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  <a:latin typeface="Arial"/>
                <a:cs typeface="Arial"/>
              </a:rPr>
              <a:t>FAKE</a:t>
            </a:r>
            <a:r>
              <a:rPr sz="28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REVIEW</a:t>
            </a:r>
            <a:r>
              <a:rPr sz="280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DETECTION</a:t>
            </a:r>
            <a:r>
              <a:rPr sz="28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sz="2800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"/>
                <a:cs typeface="Arial"/>
              </a:rPr>
              <a:t>LARGE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SCALE</a:t>
            </a:r>
            <a:r>
              <a:rPr sz="2800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28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SETS</a:t>
            </a:r>
            <a:r>
              <a:rPr sz="28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USING</a:t>
            </a:r>
            <a:r>
              <a:rPr sz="28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FF0000"/>
                </a:solidFill>
                <a:latin typeface="Arial"/>
                <a:cs typeface="Arial"/>
              </a:rPr>
              <a:t>PARALLEL</a:t>
            </a:r>
            <a:r>
              <a:rPr sz="28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Arial"/>
                <a:cs typeface="Arial"/>
              </a:rPr>
              <a:t>BBO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1068" y="6308547"/>
            <a:ext cx="115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684" y="6365824"/>
            <a:ext cx="901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0520" y="1359391"/>
            <a:ext cx="8371332" cy="8214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07109" y="1473200"/>
            <a:ext cx="6651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r>
              <a:rPr sz="3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FFFFFF"/>
                </a:solidFill>
                <a:latin typeface="Arial"/>
                <a:cs typeface="Arial"/>
              </a:rPr>
              <a:t>Proposed</a:t>
            </a:r>
            <a:r>
              <a:rPr sz="3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Arial"/>
                <a:cs typeface="Arial"/>
              </a:rPr>
              <a:t>Method</a:t>
            </a:r>
            <a:endParaRPr sz="3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90433" y="6171133"/>
            <a:ext cx="81978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41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@</a:t>
            </a:r>
            <a:endParaRPr sz="1800">
              <a:latin typeface="Calibri"/>
              <a:cs typeface="Calibri"/>
            </a:endParaRPr>
          </a:p>
          <a:p>
            <a:pPr>
              <a:lnSpc>
                <a:spcPts val="1380"/>
              </a:lnSpc>
            </a:pPr>
            <a:r>
              <a:rPr sz="1400" spc="-10" dirty="0">
                <a:solidFill>
                  <a:srgbClr val="1F487C"/>
                </a:solidFill>
                <a:latin typeface="Calibri"/>
                <a:cs typeface="Calibri"/>
              </a:rPr>
              <a:t>4/24/2023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74650" y="2508250"/>
          <a:ext cx="8394700" cy="4037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8225"/>
                <a:gridCol w="1038225"/>
                <a:gridCol w="1038225"/>
                <a:gridCol w="1038225"/>
                <a:gridCol w="1038225"/>
                <a:gridCol w="1038225"/>
                <a:gridCol w="1038225"/>
                <a:gridCol w="1038225"/>
              </a:tblGrid>
              <a:tr h="807720">
                <a:tc>
                  <a:txBody>
                    <a:bodyPr/>
                    <a:lstStyle/>
                    <a:p>
                      <a:pPr marL="91440" marR="2063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Dataset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R="2387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Criteria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K-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K-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PSO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35609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Black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47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DFBPKB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263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MR- 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EGWO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BBO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807085">
                <a:tc>
                  <a:txBody>
                    <a:bodyPr/>
                    <a:lstStyle/>
                    <a:p>
                      <a:pPr marL="135890" marR="127635" indent="214629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Ott dataset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260350" algn="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Best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50.72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58.46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54.68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59.5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70.92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71.52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MCT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580.5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805.6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816.4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884.6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876.5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776.5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marL="173990" marR="166370" indent="1320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Yelp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review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260350" algn="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Best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50.72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58.46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54.68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59.5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71.92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89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73.52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06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272415" algn="r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MCT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3240.5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4141.5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3980.9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4005.98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4051.2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3940.47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41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3768" y="6221044"/>
            <a:ext cx="4303395" cy="391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1995">
              <a:lnSpc>
                <a:spcPts val="1335"/>
              </a:lnSpc>
            </a:pPr>
            <a:r>
              <a:rPr sz="1400" dirty="0">
                <a:solidFill>
                  <a:srgbClr val="1F487C"/>
                </a:solidFill>
                <a:latin typeface="Calibri"/>
                <a:cs typeface="Calibri"/>
              </a:rPr>
              <a:t>Department</a:t>
            </a:r>
            <a:r>
              <a:rPr sz="1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1400" spc="-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487C"/>
                </a:solidFill>
                <a:latin typeface="Calibri"/>
                <a:cs typeface="Calibri"/>
              </a:rPr>
              <a:t>CSE/IT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tabLst>
                <a:tab pos="721995" algn="l"/>
              </a:tabLst>
            </a:pPr>
            <a:r>
              <a:rPr sz="2100" spc="-37" baseline="21825" dirty="0">
                <a:solidFill>
                  <a:srgbClr val="FFFFFF"/>
                </a:solidFill>
                <a:latin typeface="Calibri"/>
                <a:cs typeface="Calibri"/>
              </a:rPr>
              <a:t>48</a:t>
            </a:r>
            <a:r>
              <a:rPr sz="2100" baseline="21825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400" dirty="0">
                <a:solidFill>
                  <a:srgbClr val="1F487C"/>
                </a:solidFill>
                <a:latin typeface="Calibri"/>
                <a:cs typeface="Calibri"/>
              </a:rPr>
              <a:t>Jaypee</a:t>
            </a:r>
            <a:r>
              <a:rPr sz="14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487C"/>
                </a:solidFill>
                <a:latin typeface="Calibri"/>
                <a:cs typeface="Calibri"/>
              </a:rPr>
              <a:t>Institute</a:t>
            </a:r>
            <a:r>
              <a:rPr sz="14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487C"/>
                </a:solidFill>
                <a:latin typeface="Calibri"/>
                <a:cs typeface="Calibri"/>
              </a:rPr>
              <a:t>Information</a:t>
            </a:r>
            <a:r>
              <a:rPr sz="1400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1F487C"/>
                </a:solidFill>
                <a:latin typeface="Calibri"/>
                <a:cs typeface="Calibri"/>
              </a:rPr>
              <a:t>Technology,</a:t>
            </a:r>
            <a:r>
              <a:rPr sz="14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F487C"/>
                </a:solidFill>
                <a:latin typeface="Calibri"/>
                <a:cs typeface="Calibri"/>
              </a:rPr>
              <a:t>Noida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333999"/>
            <a:ext cx="9144000" cy="1524000"/>
            <a:chOff x="0" y="5333999"/>
            <a:chExt cx="9144000" cy="1524000"/>
          </a:xfrm>
        </p:grpSpPr>
        <p:sp>
          <p:nvSpPr>
            <p:cNvPr id="4" name="object 4"/>
            <p:cNvSpPr/>
            <p:nvPr/>
          </p:nvSpPr>
          <p:spPr>
            <a:xfrm>
              <a:off x="0" y="5333999"/>
              <a:ext cx="9144000" cy="1524000"/>
            </a:xfrm>
            <a:custGeom>
              <a:avLst/>
              <a:gdLst/>
              <a:ahLst/>
              <a:cxnLst/>
              <a:rect l="l" t="t" r="r" b="b"/>
              <a:pathLst>
                <a:path w="9144000" h="1524000">
                  <a:moveTo>
                    <a:pt x="9144000" y="0"/>
                  </a:moveTo>
                  <a:lnTo>
                    <a:pt x="0" y="0"/>
                  </a:lnTo>
                  <a:lnTo>
                    <a:pt x="0" y="1523999"/>
                  </a:lnTo>
                  <a:lnTo>
                    <a:pt x="9144000" y="15239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6304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3768" y="6365824"/>
            <a:ext cx="18034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48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0"/>
              <a:ext cx="8991599" cy="68579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3999" cy="68579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2852" y="2392679"/>
              <a:ext cx="6316980" cy="224637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136394" y="2665298"/>
            <a:ext cx="503047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i="1" spc="-110" dirty="0">
                <a:solidFill>
                  <a:srgbClr val="FFC000"/>
                </a:solidFill>
                <a:latin typeface="Times New Roman"/>
                <a:cs typeface="Times New Roman"/>
              </a:rPr>
              <a:t>Thank</a:t>
            </a:r>
            <a:r>
              <a:rPr sz="8000" i="1" spc="-39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8000" i="1" spc="-60" dirty="0">
                <a:solidFill>
                  <a:srgbClr val="FFC000"/>
                </a:solidFill>
                <a:latin typeface="Times New Roman"/>
                <a:cs typeface="Times New Roman"/>
              </a:rPr>
              <a:t>you</a:t>
            </a:r>
            <a:r>
              <a:rPr sz="8000" i="1" spc="-4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8000" i="1" spc="-50" dirty="0">
                <a:solidFill>
                  <a:srgbClr val="FFC000"/>
                </a:solidFill>
                <a:latin typeface="Times New Roman"/>
                <a:cs typeface="Times New Roman"/>
              </a:rPr>
              <a:t>!</a:t>
            </a:r>
            <a:endParaRPr sz="8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884</Words>
  <Application>Microsoft Office PowerPoint</Application>
  <PresentationFormat>On-screen Show (4:3)</PresentationFormat>
  <Paragraphs>239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MT</vt:lpstr>
      <vt:lpstr>Calibri</vt:lpstr>
      <vt:lpstr>Cambria</vt:lpstr>
      <vt:lpstr>Courier New</vt:lpstr>
      <vt:lpstr>Segoe UI Symbol</vt:lpstr>
      <vt:lpstr>Times New Roman</vt:lpstr>
      <vt:lpstr>Wingdings</vt:lpstr>
      <vt:lpstr>Office Theme</vt:lpstr>
      <vt:lpstr>Machine Learning for Social Data Analysis</vt:lpstr>
      <vt:lpstr>Introduction</vt:lpstr>
      <vt:lpstr>What is Clustering?</vt:lpstr>
      <vt:lpstr>What is a natural grouping among these objects?</vt:lpstr>
      <vt:lpstr>What is a natural grouping among these objects?</vt:lpstr>
      <vt:lpstr>Defining Distance Measures</vt:lpstr>
      <vt:lpstr>Consider a Set of Data Points,</vt:lpstr>
      <vt:lpstr>The Goal,</vt:lpstr>
      <vt:lpstr>Algorithm k-means</vt:lpstr>
      <vt:lpstr>The data points</vt:lpstr>
      <vt:lpstr>Initialization</vt:lpstr>
      <vt:lpstr>#Runs = 1</vt:lpstr>
      <vt:lpstr>#Runs = 2</vt:lpstr>
      <vt:lpstr>#Runs = 3</vt:lpstr>
      <vt:lpstr>K-means gets stuck in a local optima</vt:lpstr>
      <vt:lpstr>The data points</vt:lpstr>
      <vt:lpstr>Initialization</vt:lpstr>
      <vt:lpstr>#Runs = 1</vt:lpstr>
      <vt:lpstr>#Runs = 2</vt:lpstr>
      <vt:lpstr>#Runs = 3</vt:lpstr>
      <vt:lpstr>#Runs = 4</vt:lpstr>
      <vt:lpstr>Comments on the K-Means Method</vt:lpstr>
      <vt:lpstr>Efficient data mining using nature-inspired computing</vt:lpstr>
      <vt:lpstr>Clustering using Meta-heuristic methods</vt:lpstr>
      <vt:lpstr>Steps to run job</vt:lpstr>
      <vt:lpstr>FAKE REVIEW DETECTION PUBLIC DATASETS</vt:lpstr>
      <vt:lpstr>FAKE REVIEW DETECTION</vt:lpstr>
      <vt:lpstr>FAKE REVIEW DETECTIION</vt:lpstr>
      <vt:lpstr>FAKE REVIEW DETECTION FOR LARGE SCALE DATA SETS USING PARALLEL BBO</vt:lpstr>
      <vt:lpstr>Thank you 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PROLONGING LIFETIME FOR HETEROGENEOUS WIRELESS SENSOR NETWORK USING MODIFIED SEP-E</dc:title>
  <dc:creator>anju</dc:creator>
  <cp:lastModifiedBy>Microsoft account</cp:lastModifiedBy>
  <cp:revision>3</cp:revision>
  <dcterms:created xsi:type="dcterms:W3CDTF">2024-05-07T07:00:32Z</dcterms:created>
  <dcterms:modified xsi:type="dcterms:W3CDTF">2025-02-09T07:58:31Z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2024-05-07T00:00:00Z</vt:filetime>
  </property>
  <property fmtid="{D5CDD505-2E9C-101B-9397-08002B2CF9AE}" pid="5" name="Producer">
    <vt:lpwstr>Microsoft® PowerPoint® 2013</vt:lpwstr>
  </property>
</Properties>
</file>