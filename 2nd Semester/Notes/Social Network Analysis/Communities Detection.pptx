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73" r:id="rId3"/>
    <p:sldId id="275" r:id="rId4"/>
    <p:sldId id="276" r:id="rId5"/>
    <p:sldId id="263" r:id="rId6"/>
    <p:sldId id="261" r:id="rId7"/>
    <p:sldId id="264" r:id="rId8"/>
    <p:sldId id="373" r:id="rId9"/>
    <p:sldId id="280" r:id="rId10"/>
    <p:sldId id="279" r:id="rId11"/>
    <p:sldId id="383" r:id="rId12"/>
    <p:sldId id="386" r:id="rId13"/>
    <p:sldId id="410" r:id="rId14"/>
    <p:sldId id="387" r:id="rId15"/>
    <p:sldId id="409" r:id="rId16"/>
    <p:sldId id="388" r:id="rId17"/>
    <p:sldId id="389" r:id="rId18"/>
    <p:sldId id="390" r:id="rId19"/>
    <p:sldId id="391" r:id="rId20"/>
    <p:sldId id="393" r:id="rId21"/>
    <p:sldId id="394" r:id="rId22"/>
    <p:sldId id="395" r:id="rId23"/>
    <p:sldId id="281" r:id="rId24"/>
    <p:sldId id="278" r:id="rId25"/>
    <p:sldId id="274" r:id="rId26"/>
    <p:sldId id="396" r:id="rId27"/>
    <p:sldId id="397" r:id="rId28"/>
    <p:sldId id="405" r:id="rId29"/>
    <p:sldId id="398" r:id="rId30"/>
    <p:sldId id="411" r:id="rId31"/>
    <p:sldId id="412" r:id="rId32"/>
    <p:sldId id="413" r:id="rId33"/>
    <p:sldId id="375" r:id="rId34"/>
    <p:sldId id="404" r:id="rId35"/>
    <p:sldId id="406" r:id="rId36"/>
    <p:sldId id="407" r:id="rId37"/>
    <p:sldId id="408" r:id="rId38"/>
    <p:sldId id="376" r:id="rId39"/>
    <p:sldId id="378" r:id="rId40"/>
    <p:sldId id="379" r:id="rId41"/>
    <p:sldId id="380" r:id="rId42"/>
    <p:sldId id="381" r:id="rId43"/>
    <p:sldId id="382" r:id="rId44"/>
    <p:sldId id="415" r:id="rId45"/>
  </p:sldIdLst>
  <p:sldSz cx="9144000" cy="6858000" type="screen4x3"/>
  <p:notesSz cx="6858000" cy="9144000"/>
  <p:defaultTextStyle>
    <a:defPPr>
      <a:defRPr lang="en-I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78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EE38E-6D85-40D8-BBEF-631385117283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24BBD-03AB-4E05-B276-E98D6EADD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8614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24.46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25.14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27.81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06.24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06.63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07.51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08.29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09.17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14.05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15.52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15.99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16.87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17.07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17.79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28 0,'-5'0,"0"4,-1 11,1 12,2 5,1 7,1 1,1 3,0 2,0 4,0-3,0-4,1-5,-1 0,0-2,0-2,0-2,0-2,0-1,0-6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07T05:11:22.46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11 0,'-5'0,"0"0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F83DED7-EB2C-47C7-9A06-50065ACE03F3}" type="datetimeFigureOut">
              <a:rPr lang="en-US"/>
              <a:pPr>
                <a:defRPr/>
              </a:pPr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C70C87F-6DE8-49CA-AFC4-6AA8F01FF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411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70C87F-6DE8-49CA-AFC4-6AA8F01FF58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76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295400"/>
            <a:ext cx="8229600" cy="2057400"/>
          </a:xfrm>
          <a:prstGeom prst="roundRect">
            <a:avLst/>
          </a:prstGeom>
          <a:solidFill>
            <a:srgbClr val="3333B2"/>
          </a:solidFill>
          <a:ln>
            <a:solidFill>
              <a:srgbClr val="3333B2"/>
            </a:solidFill>
          </a:ln>
          <a:effectLst>
            <a:outerShdw blurRad="1143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2667000"/>
            <a:ext cx="6400800" cy="5334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ED4CBD-8289-4871-8E70-6231F6561D79}" type="datetime1">
              <a:rPr lang="en-US" smtClean="0"/>
              <a:t>10/16/2024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PDPM IIITDM, Jabalpur</a:t>
            </a:r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DE9B63-3448-470D-968F-AE85064205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5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/>
            </a:lvl1pPr>
            <a:lvl2pPr>
              <a:buSzPct val="60000"/>
              <a:buFontTx/>
              <a:buBlip>
                <a:blip r:embed="rId3"/>
              </a:buBlip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071563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E4452B9-D371-486E-8B98-75D44CB5CA6D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492875"/>
            <a:ext cx="3505200" cy="3651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PDPM IIITDM, Jabalpur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246B284-4DD2-4AC0-83B0-05753919D1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6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D2820-0110-4504-84EE-EC011506620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B2AB8-F186-4B46-9B47-0E1DA3DE65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95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bg1"/>
              </a:solidFill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</a:rPr>
              <a:t>    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066800"/>
            <a:ext cx="42672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800"/>
            </a:lvl1pPr>
            <a:lvl2pPr>
              <a:buSzPct val="60000"/>
              <a:buFontTx/>
              <a:buBlip>
                <a:blip r:embed="rId2"/>
              </a:buBlip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267200" cy="50593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800"/>
            </a:lvl1pPr>
            <a:lvl2pPr>
              <a:buSzPct val="60000"/>
              <a:buFontTx/>
              <a:buBlip>
                <a:blip r:embed="rId2"/>
              </a:buBlip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378868C-E514-4B7F-B565-87F2F0867EB9}" type="datetime1">
              <a:rPr lang="en-US" smtClean="0"/>
              <a:t>10/16/2024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0" y="6492875"/>
            <a:ext cx="3505200" cy="3651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CA91FB2-3DC8-40FC-A194-7BEF03E1F8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4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6400"/>
            <a:ext cx="4040188" cy="44497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400"/>
            </a:lvl1pPr>
            <a:lvl2pPr>
              <a:buSzPct val="60000"/>
              <a:buFontTx/>
              <a:buBlip>
                <a:blip r:embed="rId2"/>
              </a:buBlip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906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6400"/>
            <a:ext cx="4041775" cy="4449763"/>
          </a:xfrm>
        </p:spPr>
        <p:txBody>
          <a:bodyPr/>
          <a:lstStyle>
            <a:lvl1pPr>
              <a:buSzPct val="60000"/>
              <a:buFontTx/>
              <a:buBlip>
                <a:blip r:embed="rId2"/>
              </a:buBlip>
              <a:defRPr sz="2400"/>
            </a:lvl1pPr>
            <a:lvl2pPr>
              <a:buSzPct val="60000"/>
              <a:buFontTx/>
              <a:buBlip>
                <a:blip r:embed="rId2"/>
              </a:buBlip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72530FD-2313-476F-A50F-61C94113885B}" type="datetime1">
              <a:rPr lang="en-US" smtClean="0"/>
              <a:t>10/16/2024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0" y="6492875"/>
            <a:ext cx="3505200" cy="3651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A0859A38-A3EB-47DC-8098-6D9E981E67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8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>
            <a:outerShdw blurRad="50800" dist="889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762000"/>
          </a:xfrm>
        </p:spPr>
        <p:txBody>
          <a:bodyPr/>
          <a:lstStyle>
            <a:lvl1pPr marL="182880"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66800" y="6477000"/>
            <a:ext cx="3505200" cy="381000"/>
          </a:xfrm>
        </p:spPr>
        <p:txBody>
          <a:bodyPr anchor="ctr">
            <a:normAutofit/>
          </a:bodyPr>
          <a:lstStyle>
            <a:lvl1pPr algn="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>
          <a:xfrm>
            <a:off x="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ECA5AF7-BC1B-4438-985E-46D66C921FD9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4572000" y="6492875"/>
            <a:ext cx="3505200" cy="3651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FE0592D-AC5C-4D3E-9F33-CCCBC3C52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6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0" y="6477000"/>
            <a:ext cx="4572000" cy="381000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66800" y="6477000"/>
            <a:ext cx="3505200" cy="381000"/>
          </a:xfrm>
        </p:spPr>
        <p:txBody>
          <a:bodyPr anchor="ctr">
            <a:normAutofit/>
          </a:bodyPr>
          <a:lstStyle>
            <a:lvl1pPr algn="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4"/>
          </p:nvPr>
        </p:nvSpPr>
        <p:spPr>
          <a:xfrm>
            <a:off x="0" y="6492875"/>
            <a:ext cx="1066800" cy="365125"/>
          </a:xfrm>
        </p:spPr>
        <p:txBody>
          <a:bodyPr/>
          <a:lstStyle>
            <a:lvl1pPr>
              <a:defRPr baseline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1C78E14-A250-4C78-B97E-B7096F06E87B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4572000" y="6492875"/>
            <a:ext cx="3505200" cy="3651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6"/>
          </p:nvPr>
        </p:nvSpPr>
        <p:spPr>
          <a:xfrm>
            <a:off x="8077200" y="6492875"/>
            <a:ext cx="10668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D21B22E-F37B-4669-AC4A-5AEB965045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9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78440-7616-4777-B022-0026F3CF73A5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B82AA-2DAB-4708-93B1-602CAE08D7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6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B9841-7EF8-473D-BC0E-D2D81462FD71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69D85-0148-43D9-A1F7-4F8CD20204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7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7090D-D83F-43B2-A53A-7E47EF81068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38F4D-0BD5-4F31-A843-CB6BC7EBD8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8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FF631-3A1C-4D70-94C0-A033BE89E13F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6E1E0-0F56-497D-A864-2561F1F95F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4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9A012F5-5931-46D4-8A35-D0308779F08F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PDPM IIITDM, Jabalpur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CDE9B63-3448-470D-968F-AE85064205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83" r:id="rId3"/>
    <p:sldLayoutId id="2147483690" r:id="rId4"/>
    <p:sldLayoutId id="2147483691" r:id="rId5"/>
    <p:sldLayoutId id="2147483692" r:id="rId6"/>
    <p:sldLayoutId id="2147483693" r:id="rId7"/>
    <p:sldLayoutId id="2147483684" r:id="rId8"/>
    <p:sldLayoutId id="2147483685" r:id="rId9"/>
    <p:sldLayoutId id="2147483686" r:id="rId10"/>
    <p:sldLayoutId id="2147483687" r:id="rId1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3.png"/><Relationship Id="rId4" Type="http://schemas.openxmlformats.org/officeDocument/2006/relationships/customXml" Target="../ink/ink2.xml"/><Relationship Id="rId9" Type="http://schemas.microsoft.com/office/2007/relationships/hdphoto" Target="../media/hdphoto9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230.png"/><Relationship Id="rId18" Type="http://schemas.openxmlformats.org/officeDocument/2006/relationships/customXml" Target="../ink/ink11.xml"/><Relationship Id="rId26" Type="http://schemas.openxmlformats.org/officeDocument/2006/relationships/image" Target="../media/image29.png"/><Relationship Id="rId21" Type="http://schemas.openxmlformats.org/officeDocument/2006/relationships/image" Target="../media/image27.png"/><Relationship Id="rId7" Type="http://schemas.openxmlformats.org/officeDocument/2006/relationships/image" Target="../media/image200.png"/><Relationship Id="rId12" Type="http://schemas.openxmlformats.org/officeDocument/2006/relationships/customXml" Target="../ink/ink8.xml"/><Relationship Id="rId17" Type="http://schemas.openxmlformats.org/officeDocument/2006/relationships/image" Target="../media/image250.png"/><Relationship Id="rId25" Type="http://schemas.openxmlformats.org/officeDocument/2006/relationships/customXml" Target="../ink/ink15.xml"/><Relationship Id="rId2" Type="http://schemas.openxmlformats.org/officeDocument/2006/relationships/customXml" Target="../ink/ink4.xml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220.png"/><Relationship Id="rId24" Type="http://schemas.openxmlformats.org/officeDocument/2006/relationships/image" Target="../media/image28.png"/><Relationship Id="rId5" Type="http://schemas.openxmlformats.org/officeDocument/2006/relationships/image" Target="../media/image190.png"/><Relationship Id="rId15" Type="http://schemas.openxmlformats.org/officeDocument/2006/relationships/image" Target="../media/image240.png"/><Relationship Id="rId23" Type="http://schemas.openxmlformats.org/officeDocument/2006/relationships/customXml" Target="../ink/ink14.xml"/><Relationship Id="rId28" Type="http://schemas.microsoft.com/office/2007/relationships/hdphoto" Target="../media/hdphoto10.wdp"/><Relationship Id="rId10" Type="http://schemas.openxmlformats.org/officeDocument/2006/relationships/customXml" Target="../ink/ink7.xml"/><Relationship Id="rId19" Type="http://schemas.openxmlformats.org/officeDocument/2006/relationships/image" Target="../media/image26.png"/><Relationship Id="rId9" Type="http://schemas.openxmlformats.org/officeDocument/2006/relationships/image" Target="../media/image210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9.wdp"/><Relationship Id="rId5" Type="http://schemas.openxmlformats.org/officeDocument/2006/relationships/image" Target="../media/image51.png"/><Relationship Id="rId4" Type="http://schemas.microsoft.com/office/2007/relationships/hdphoto" Target="../media/hdphoto18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5"/>
          <p:cNvSpPr>
            <a:spLocks noGrp="1"/>
          </p:cNvSpPr>
          <p:nvPr>
            <p:ph type="ctrTitle"/>
          </p:nvPr>
        </p:nvSpPr>
        <p:spPr>
          <a:xfrm>
            <a:off x="611560" y="1700808"/>
            <a:ext cx="7772400" cy="838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Communities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Network communities</a:t>
            </a:r>
          </a:p>
        </p:txBody>
      </p:sp>
      <p:pic>
        <p:nvPicPr>
          <p:cNvPr id="1026" name="Picture 2" descr="How to Interpret Social Network Graph">
            <a:extLst>
              <a:ext uri="{FF2B5EF4-FFF2-40B4-BE49-F238E27FC236}">
                <a16:creationId xmlns:a16="http://schemas.microsoft.com/office/drawing/2014/main" id="{B8BE39F3-BEEE-B296-4BC2-11C2788D1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32" y="1541531"/>
            <a:ext cx="8079432" cy="458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7D754C-BC15-E8F0-5D08-8AD5F10EADFF}"/>
              </a:ext>
            </a:extLst>
          </p:cNvPr>
          <p:cNvSpPr txBox="1"/>
          <p:nvPr/>
        </p:nvSpPr>
        <p:spPr>
          <a:xfrm>
            <a:off x="251520" y="980246"/>
            <a:ext cx="8352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eaLnBrk="1" hangingPunct="1">
              <a:buNone/>
            </a:pPr>
            <a:r>
              <a:rPr lang="en-US" altLang="en-US" sz="1800" dirty="0"/>
              <a:t>Can you determine the number of communities in following network?</a:t>
            </a:r>
          </a:p>
        </p:txBody>
      </p:sp>
    </p:spTree>
    <p:extLst>
      <p:ext uri="{BB962C8B-B14F-4D97-AF65-F5344CB8AC3E}">
        <p14:creationId xmlns:p14="http://schemas.microsoft.com/office/powerpoint/2010/main" val="3344772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Network communities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BBFF93A-B689-402D-82DA-10341A935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80728"/>
            <a:ext cx="8352928" cy="5040560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altLang="en-US" sz="2200" dirty="0"/>
              <a:t>What makes a community (cohesive subgroup)-</a:t>
            </a:r>
          </a:p>
          <a:p>
            <a:pPr marL="0" indent="0" algn="just" eaLnBrk="1" hangingPunct="1">
              <a:buNone/>
            </a:pPr>
            <a:endParaRPr lang="en-US" altLang="en-US" sz="2200" dirty="0"/>
          </a:p>
          <a:p>
            <a:pPr algn="just" eaLnBrk="1" hangingPunct="1"/>
            <a:r>
              <a:rPr lang="en-US" altLang="en-US" sz="2200" dirty="0">
                <a:solidFill>
                  <a:schemeClr val="accent2"/>
                </a:solidFill>
              </a:rPr>
              <a:t>Mutuality of ties: </a:t>
            </a:r>
            <a:r>
              <a:rPr lang="en-US" altLang="en-US" sz="2200" dirty="0"/>
              <a:t>Everyone in the </a:t>
            </a:r>
            <a:r>
              <a:rPr lang="en-US" altLang="en-US" sz="2200" dirty="0">
                <a:solidFill>
                  <a:srgbClr val="0070C0"/>
                </a:solidFill>
              </a:rPr>
              <a:t>group/community </a:t>
            </a:r>
            <a:r>
              <a:rPr lang="en-US" altLang="en-US" sz="2200" dirty="0"/>
              <a:t>has ties (edges) to one another</a:t>
            </a:r>
          </a:p>
          <a:p>
            <a:pPr algn="just" eaLnBrk="1" hangingPunct="1"/>
            <a:r>
              <a:rPr lang="en-US" altLang="en-US" sz="2200" dirty="0">
                <a:solidFill>
                  <a:schemeClr val="accent2"/>
                </a:solidFill>
              </a:rPr>
              <a:t>Compactness: </a:t>
            </a:r>
            <a:r>
              <a:rPr lang="en-US" altLang="en-US" sz="2200" dirty="0"/>
              <a:t>Closeness or reachability of group members in small number of steps, not necessarily adjacency</a:t>
            </a:r>
          </a:p>
          <a:p>
            <a:pPr algn="just" eaLnBrk="1" hangingPunct="1"/>
            <a:r>
              <a:rPr lang="en-US" altLang="en-US" sz="2200" dirty="0">
                <a:solidFill>
                  <a:schemeClr val="accent2"/>
                </a:solidFill>
              </a:rPr>
              <a:t>Density of edges: </a:t>
            </a:r>
            <a:r>
              <a:rPr lang="en-US" altLang="en-US" sz="2200" dirty="0"/>
              <a:t>High frequency of ties within the group</a:t>
            </a:r>
          </a:p>
          <a:p>
            <a:pPr algn="just" eaLnBrk="1" hangingPunct="1"/>
            <a:r>
              <a:rPr lang="en-US" altLang="en-US" sz="2200" dirty="0">
                <a:solidFill>
                  <a:schemeClr val="accent2"/>
                </a:solidFill>
              </a:rPr>
              <a:t>Separation: </a:t>
            </a:r>
            <a:r>
              <a:rPr lang="en-US" altLang="en-US" sz="2200" dirty="0"/>
              <a:t>Higher frequency of ties among group members compared to non-members</a:t>
            </a:r>
          </a:p>
          <a:p>
            <a:pPr algn="just" eaLnBrk="1" hangingPunct="1"/>
            <a:r>
              <a:rPr lang="en-US" altLang="en-US" sz="2200" dirty="0"/>
              <a:t>Community can be viewed as a summary of the whole network, and therefore easy to visualize and analyze.</a:t>
            </a:r>
          </a:p>
          <a:p>
            <a:pPr algn="just" eaLnBrk="1" hangingPunct="1"/>
            <a:r>
              <a:rPr lang="en-US" altLang="en-US" sz="2200" dirty="0"/>
              <a:t>Communities provide important information for applications such as market segmentation,  building recommender system.</a:t>
            </a:r>
          </a:p>
          <a:p>
            <a:pPr algn="just" eaLnBrk="1" hangingPunct="1"/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99948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Network communities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8A31A-9DFE-4CDC-BF14-DEA3C2550A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67" t="32584" r="34927" b="21254"/>
          <a:stretch/>
        </p:blipFill>
        <p:spPr>
          <a:xfrm>
            <a:off x="3059832" y="1772816"/>
            <a:ext cx="2520280" cy="24482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86FB0E-C37A-190B-3A7B-DBC0754735DE}"/>
              </a:ext>
            </a:extLst>
          </p:cNvPr>
          <p:cNvSpPr txBox="1"/>
          <p:nvPr/>
        </p:nvSpPr>
        <p:spPr>
          <a:xfrm>
            <a:off x="332754" y="905232"/>
            <a:ext cx="8370988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eaLnBrk="1" hangingPunct="1">
              <a:buNone/>
            </a:pPr>
            <a:r>
              <a:rPr lang="en-US" altLang="en-US" sz="2300" dirty="0">
                <a:latin typeface="+mj-lt"/>
              </a:rPr>
              <a:t>Network communities are groups of vertices such that vertices inside the group connected with many more edges that between groups.</a:t>
            </a:r>
          </a:p>
          <a:p>
            <a:pPr marL="0" indent="0" algn="just" eaLnBrk="1" hangingPunct="1">
              <a:buNone/>
            </a:pPr>
            <a:endParaRPr lang="en-US" altLang="en-US" sz="2300" dirty="0">
              <a:latin typeface="+mj-lt"/>
            </a:endParaRPr>
          </a:p>
          <a:p>
            <a:pPr marL="0" indent="0" algn="just" eaLnBrk="1" hangingPunct="1">
              <a:buNone/>
            </a:pPr>
            <a:endParaRPr lang="en-US" altLang="en-US" sz="2300" dirty="0">
              <a:latin typeface="+mj-lt"/>
            </a:endParaRPr>
          </a:p>
          <a:p>
            <a:pPr marL="0" indent="0" algn="just" eaLnBrk="1" hangingPunct="1">
              <a:buNone/>
            </a:pPr>
            <a:endParaRPr lang="en-US" altLang="en-US" sz="2300" dirty="0">
              <a:latin typeface="+mj-lt"/>
            </a:endParaRPr>
          </a:p>
          <a:p>
            <a:pPr marL="0" indent="0" algn="just" eaLnBrk="1" hangingPunct="1">
              <a:buNone/>
            </a:pPr>
            <a:endParaRPr lang="en-US" altLang="en-US" sz="2300" dirty="0">
              <a:latin typeface="+mj-lt"/>
            </a:endParaRPr>
          </a:p>
          <a:p>
            <a:pPr marL="0" indent="0" algn="just" eaLnBrk="1" hangingPunct="1">
              <a:buNone/>
            </a:pPr>
            <a:endParaRPr lang="en-US" altLang="en-US" sz="2300" dirty="0">
              <a:latin typeface="+mj-lt"/>
            </a:endParaRPr>
          </a:p>
          <a:p>
            <a:pPr marL="0" indent="0" algn="just" eaLnBrk="1" hangingPunct="1">
              <a:buNone/>
            </a:pPr>
            <a:endParaRPr lang="en-US" altLang="en-US" sz="2300" dirty="0">
              <a:latin typeface="+mj-lt"/>
            </a:endParaRPr>
          </a:p>
          <a:p>
            <a:pPr marL="0" indent="0" algn="just" eaLnBrk="1" hangingPunct="1">
              <a:buNone/>
            </a:pPr>
            <a:endParaRPr lang="en-US" altLang="en-US" sz="2300" dirty="0">
              <a:latin typeface="+mj-lt"/>
            </a:endParaRPr>
          </a:p>
          <a:p>
            <a:pPr marL="0" indent="0" algn="just" eaLnBrk="1" hangingPunct="1">
              <a:buNone/>
            </a:pPr>
            <a:endParaRPr lang="en-US" altLang="en-US" sz="2300" dirty="0">
              <a:latin typeface="+mj-lt"/>
            </a:endParaRPr>
          </a:p>
          <a:p>
            <a:pPr marL="0" indent="0" algn="just" eaLnBrk="1" hangingPunct="1">
              <a:buNone/>
            </a:pPr>
            <a:r>
              <a:rPr lang="en-US" altLang="en-US" sz="2300" dirty="0">
                <a:latin typeface="+mj-lt"/>
              </a:rPr>
              <a:t>Will consider non-overlapping communities, each node assigned only to one community.</a:t>
            </a:r>
          </a:p>
        </p:txBody>
      </p:sp>
    </p:spTree>
    <p:extLst>
      <p:ext uri="{BB962C8B-B14F-4D97-AF65-F5344CB8AC3E}">
        <p14:creationId xmlns:p14="http://schemas.microsoft.com/office/powerpoint/2010/main" val="1403776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4E3E5C-7E8D-4EB7-AE4B-01117941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300" dirty="0"/>
              <a:t>What is Community in Network?</a:t>
            </a:r>
          </a:p>
        </p:txBody>
      </p:sp>
      <p:pic>
        <p:nvPicPr>
          <p:cNvPr id="15363" name="Picture 2" descr="http://www.nature.com/nphys/journal/v8/n1/images/nphys2162-f1.jpg">
            <a:extLst>
              <a:ext uri="{FF2B5EF4-FFF2-40B4-BE49-F238E27FC236}">
                <a16:creationId xmlns:a16="http://schemas.microsoft.com/office/drawing/2014/main" id="{7A7AD0DD-6D94-471E-9CC4-0C7BD13A72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04520" y="2105014"/>
            <a:ext cx="3110880" cy="3044847"/>
          </a:xfr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41C456-5FE6-4408-9260-C3EA2359AD5C}"/>
              </a:ext>
            </a:extLst>
          </p:cNvPr>
          <p:cNvSpPr txBox="1"/>
          <p:nvPr/>
        </p:nvSpPr>
        <p:spPr>
          <a:xfrm>
            <a:off x="251520" y="1452022"/>
            <a:ext cx="525658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500" dirty="0">
                <a:latin typeface="+mj-lt"/>
              </a:rPr>
              <a:t>No statistically precise definition so far</a:t>
            </a:r>
          </a:p>
          <a:p>
            <a:pPr algn="just">
              <a:defRPr/>
            </a:pPr>
            <a:endParaRPr lang="en-US" sz="2500" dirty="0">
              <a:latin typeface="+mj-lt"/>
            </a:endParaRPr>
          </a:p>
          <a:p>
            <a:pPr algn="just">
              <a:buFont typeface="Wingdings" pitchFamily="2" charset="2"/>
              <a:buChar char="Ø"/>
              <a:defRPr/>
            </a:pPr>
            <a:r>
              <a:rPr lang="en-US" sz="2500" dirty="0">
                <a:latin typeface="+mj-lt"/>
              </a:rPr>
              <a:t>Generally speaking, a community is a set of nodes densely connected internally</a:t>
            </a:r>
          </a:p>
          <a:p>
            <a:pPr algn="just">
              <a:defRPr/>
            </a:pPr>
            <a:endParaRPr lang="en-US" sz="2500" dirty="0">
              <a:latin typeface="+mj-lt"/>
            </a:endParaRPr>
          </a:p>
          <a:p>
            <a:pPr algn="just">
              <a:buFont typeface="Wingdings" pitchFamily="2" charset="2"/>
              <a:buChar char="Ø"/>
              <a:defRPr/>
            </a:pPr>
            <a:r>
              <a:rPr lang="en-US" sz="2500" dirty="0">
                <a:latin typeface="+mj-lt"/>
              </a:rPr>
              <a:t>Nodes between two communities are loosely connected</a:t>
            </a:r>
          </a:p>
          <a:p>
            <a:pPr algn="just">
              <a:buFont typeface="Wingdings" pitchFamily="2" charset="2"/>
              <a:buChar char="§"/>
              <a:defRPr/>
            </a:pPr>
            <a:endParaRPr lang="en-US" sz="2500" dirty="0">
              <a:latin typeface="+mj-lt"/>
            </a:endParaRPr>
          </a:p>
          <a:p>
            <a:pPr>
              <a:buFont typeface="Wingdings" pitchFamily="2" charset="2"/>
              <a:buChar char="§"/>
              <a:defRPr/>
            </a:pPr>
            <a:endParaRPr lang="en-US" sz="2500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64CE4-1C2B-4019-B8AD-96F6D1C7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09A3CB4-8AA8-40A8-8D12-00AC6EBFC13A}" type="slidenum">
              <a:rPr lang="en-US" altLang="en-US">
                <a:latin typeface="Lucida Sans Unicode" panose="020B0602030504020204" pitchFamily="34" charset="0"/>
              </a:rPr>
              <a:pPr eaLnBrk="1" hangingPunct="1"/>
              <a:t>5</a:t>
            </a:fld>
            <a:endParaRPr lang="en-US" altLang="en-US">
              <a:latin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F6AEDD72-DC60-470A-8C7E-68F10E08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49" y="827200"/>
            <a:ext cx="8731696" cy="5554128"/>
          </a:xfrm>
        </p:spPr>
        <p:txBody>
          <a:bodyPr/>
          <a:lstStyle/>
          <a:p>
            <a:pPr algn="just" eaLnBrk="1" hangingPunct="1"/>
            <a:r>
              <a:rPr lang="en-US" altLang="en-US" sz="2200" dirty="0"/>
              <a:t>Based on Bridge</a:t>
            </a:r>
          </a:p>
          <a:p>
            <a:pPr algn="just" eaLnBrk="1" hangingPunct="1"/>
            <a:endParaRPr lang="en-US" altLang="en-US" sz="2200" dirty="0"/>
          </a:p>
          <a:p>
            <a:pPr algn="just" eaLnBrk="1" hangingPunct="1"/>
            <a:r>
              <a:rPr lang="en-US" altLang="en-US" sz="2200" dirty="0"/>
              <a:t>Hierarchical clustering</a:t>
            </a:r>
          </a:p>
          <a:p>
            <a:pPr marL="0" indent="0" algn="just" eaLnBrk="1" hangingPunct="1">
              <a:buNone/>
            </a:pPr>
            <a:endParaRPr lang="en-US" altLang="en-US" sz="2200" dirty="0"/>
          </a:p>
          <a:p>
            <a:pPr algn="just" eaLnBrk="1" hangingPunct="1"/>
            <a:r>
              <a:rPr lang="en-US" altLang="en-US" sz="2200" dirty="0"/>
              <a:t>Girvan-Newman algorithm (betweenness)</a:t>
            </a:r>
          </a:p>
          <a:p>
            <a:pPr marL="0" indent="0" algn="just" eaLnBrk="1" hangingPunct="1">
              <a:buNone/>
            </a:pPr>
            <a:endParaRPr lang="en-US" altLang="en-US" sz="2200" dirty="0"/>
          </a:p>
          <a:p>
            <a:pPr algn="just" eaLnBrk="1" hangingPunct="1"/>
            <a:r>
              <a:rPr lang="en-US" altLang="en-US" sz="2200" dirty="0"/>
              <a:t>Modularity maximization</a:t>
            </a:r>
          </a:p>
          <a:p>
            <a:pPr marL="0" indent="0" algn="just" eaLnBrk="1" hangingPunct="1">
              <a:buNone/>
            </a:pPr>
            <a:endParaRPr lang="en-US" altLang="en-US" sz="2200" dirty="0"/>
          </a:p>
          <a:p>
            <a:pPr algn="just" eaLnBrk="1" hangingPunct="1"/>
            <a:r>
              <a:rPr lang="en-US" altLang="en-US" sz="2200" dirty="0"/>
              <a:t>Finding maximal clique</a:t>
            </a:r>
          </a:p>
          <a:p>
            <a:pPr algn="just" eaLnBrk="1" hangingPunct="1"/>
            <a:endParaRPr lang="en-US" altLang="en-US" sz="2200" dirty="0"/>
          </a:p>
          <a:p>
            <a:pPr algn="just"/>
            <a:r>
              <a:rPr lang="en-US" altLang="en-US" sz="2200" dirty="0"/>
              <a:t>Stochastic block model</a:t>
            </a:r>
          </a:p>
          <a:p>
            <a:pPr algn="just" eaLnBrk="1" hangingPunct="1"/>
            <a:endParaRPr lang="en-US" altLang="en-US" sz="2200" dirty="0"/>
          </a:p>
          <a:p>
            <a:pPr algn="just" eaLnBrk="1" hangingPunct="1"/>
            <a:r>
              <a:rPr lang="en-US" altLang="en-US" sz="2200" dirty="0"/>
              <a:t>Spectral clustering-based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08F934-DAAE-4ABB-8C56-60109D2C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300" dirty="0"/>
              <a:t>Network Clustering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B2BBF-2D9E-4071-BDA3-13C010FB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77D9EB-470A-47D5-9CA1-B572944E6F68}" type="slidenum">
              <a:rPr lang="en-US" altLang="en-US">
                <a:latin typeface="Lucida Sans Unicode" panose="020B0602030504020204" pitchFamily="34" charset="0"/>
              </a:rPr>
              <a:pPr eaLnBrk="1" hangingPunct="1"/>
              <a:t>6</a:t>
            </a:fld>
            <a:endParaRPr lang="en-US" altLang="en-US">
              <a:latin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detection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7F288-8954-4176-9B86-C5887781D8A1}"/>
              </a:ext>
            </a:extLst>
          </p:cNvPr>
          <p:cNvSpPr txBox="1"/>
          <p:nvPr/>
        </p:nvSpPr>
        <p:spPr>
          <a:xfrm>
            <a:off x="251520" y="1124744"/>
            <a:ext cx="86409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dirty="0">
                <a:latin typeface="+mj-lt"/>
              </a:rPr>
              <a:t>Based on Bridge</a:t>
            </a:r>
          </a:p>
          <a:p>
            <a:endParaRPr lang="en-US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Identify bridge edge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Remove that edge to find the communities in the network</a:t>
            </a:r>
          </a:p>
          <a:p>
            <a:endParaRPr lang="en-IN" sz="2200" dirty="0">
              <a:latin typeface="+mj-lt"/>
            </a:endParaRPr>
          </a:p>
        </p:txBody>
      </p:sp>
      <p:pic>
        <p:nvPicPr>
          <p:cNvPr id="15362" name="Picture 2" descr="Community Detection Algorithms. Many of you are familiar with networks… |  by Thamindu Dilshan Jayawickrama | Towards Data Science">
            <a:extLst>
              <a:ext uri="{FF2B5EF4-FFF2-40B4-BE49-F238E27FC236}">
                <a16:creationId xmlns:a16="http://schemas.microsoft.com/office/drawing/2014/main" id="{00F142FF-1D24-4C3C-BB11-405B73B9F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068961"/>
            <a:ext cx="3800895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DE951E-65CF-438F-B19B-812FA9B283F7}"/>
              </a:ext>
            </a:extLst>
          </p:cNvPr>
          <p:cNvSpPr txBox="1"/>
          <p:nvPr/>
        </p:nvSpPr>
        <p:spPr>
          <a:xfrm>
            <a:off x="3419872" y="4149080"/>
            <a:ext cx="2323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After removing bridge</a:t>
            </a:r>
            <a:r>
              <a:rPr lang="en-US" sz="1800" dirty="0">
                <a:latin typeface="+mj-lt"/>
              </a:rPr>
              <a:t> </a:t>
            </a:r>
            <a:endParaRPr lang="en-IN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A915FC6-3020-4A2A-AC9D-283350DA4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323386"/>
              </p:ext>
            </p:extLst>
          </p:nvPr>
        </p:nvGraphicFramePr>
        <p:xfrm>
          <a:off x="5635302" y="3111997"/>
          <a:ext cx="34671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467160" imgH="2362320" progId="Paint.Picture">
                  <p:embed/>
                </p:oleObj>
              </mc:Choice>
              <mc:Fallback>
                <p:oleObj name="Bitmap Image" r:id="rId3" imgW="3467160" imgH="23623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5302" y="3111997"/>
                        <a:ext cx="3467100" cy="236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7F288-8954-4176-9B86-C5887781D8A1}"/>
              </a:ext>
            </a:extLst>
          </p:cNvPr>
          <p:cNvSpPr txBox="1"/>
          <p:nvPr/>
        </p:nvSpPr>
        <p:spPr>
          <a:xfrm>
            <a:off x="107504" y="1124744"/>
            <a:ext cx="892899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dirty="0">
                <a:latin typeface="+mj-lt"/>
              </a:rPr>
              <a:t>Community a.k.a. clustering is used for organizing vertices (data) into groups or clusters such that there</a:t>
            </a:r>
          </a:p>
          <a:p>
            <a:endParaRPr lang="en-US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High intra-cluster connectivity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Low inter-cluster connectivity</a:t>
            </a:r>
            <a:endParaRPr lang="en-IN" sz="2200" dirty="0">
              <a:latin typeface="+mj-lt"/>
            </a:endParaRPr>
          </a:p>
        </p:txBody>
      </p:sp>
      <p:pic>
        <p:nvPicPr>
          <p:cNvPr id="15362" name="Picture 2" descr="Community Detection Algorithms. Many of you are familiar with networks… |  by Thamindu Dilshan Jayawickrama | Towards Data Science">
            <a:extLst>
              <a:ext uri="{FF2B5EF4-FFF2-40B4-BE49-F238E27FC236}">
                <a16:creationId xmlns:a16="http://schemas.microsoft.com/office/drawing/2014/main" id="{00F142FF-1D24-4C3C-BB11-405B73B9F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140968"/>
            <a:ext cx="5478096" cy="301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653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Clustering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7F288-8954-4176-9B86-C5887781D8A1}"/>
              </a:ext>
            </a:extLst>
          </p:cNvPr>
          <p:cNvSpPr txBox="1"/>
          <p:nvPr/>
        </p:nvSpPr>
        <p:spPr>
          <a:xfrm>
            <a:off x="251520" y="1124744"/>
            <a:ext cx="86409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dirty="0">
                <a:latin typeface="+mj-lt"/>
              </a:rPr>
              <a:t>To find the clusters in a set of data points, we require a distance measure (</a:t>
            </a:r>
            <a:r>
              <a:rPr lang="en-US" altLang="en-US" sz="2200" dirty="0" err="1">
                <a:solidFill>
                  <a:srgbClr val="FF0000"/>
                </a:solidFill>
                <a:latin typeface="+mj-lt"/>
              </a:rPr>
              <a:t>d</a:t>
            </a:r>
            <a:r>
              <a:rPr lang="en-US" altLang="en-US" sz="1600" dirty="0" err="1">
                <a:solidFill>
                  <a:srgbClr val="FF0000"/>
                </a:solidFill>
                <a:latin typeface="+mj-lt"/>
              </a:rPr>
              <a:t>ij</a:t>
            </a:r>
            <a:r>
              <a:rPr lang="en-US" altLang="en-US" sz="2200" dirty="0">
                <a:latin typeface="+mj-lt"/>
              </a:rPr>
              <a:t>) that computes distance b/w data points </a:t>
            </a:r>
            <a:r>
              <a:rPr lang="en-US" altLang="en-US" sz="2200" dirty="0" err="1">
                <a:solidFill>
                  <a:srgbClr val="FF0000"/>
                </a:solidFill>
                <a:latin typeface="+mj-lt"/>
              </a:rPr>
              <a:t>i</a:t>
            </a:r>
            <a:r>
              <a:rPr lang="en-US" altLang="en-US" sz="2200" dirty="0">
                <a:latin typeface="+mj-lt"/>
              </a:rPr>
              <a:t> and the cluster centroid </a:t>
            </a:r>
            <a:r>
              <a:rPr lang="en-US" altLang="en-US" sz="2200" dirty="0">
                <a:solidFill>
                  <a:srgbClr val="FF0000"/>
                </a:solidFill>
                <a:latin typeface="+mj-lt"/>
              </a:rPr>
              <a:t>C</a:t>
            </a:r>
            <a:r>
              <a:rPr lang="en-US" altLang="en-US" sz="2200" dirty="0">
                <a:latin typeface="+mj-lt"/>
              </a:rPr>
              <a:t>.</a:t>
            </a:r>
          </a:p>
          <a:p>
            <a:endParaRPr lang="en-IN" sz="2200" dirty="0">
              <a:latin typeface="+mj-lt"/>
            </a:endParaRPr>
          </a:p>
        </p:txBody>
      </p:sp>
      <p:pic>
        <p:nvPicPr>
          <p:cNvPr id="16386" name="Picture 2" descr="Text Clustering">
            <a:extLst>
              <a:ext uri="{FF2B5EF4-FFF2-40B4-BE49-F238E27FC236}">
                <a16:creationId xmlns:a16="http://schemas.microsoft.com/office/drawing/2014/main" id="{A95BC81B-C862-49A9-BA63-1DACBAF7D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184790"/>
            <a:ext cx="5328592" cy="242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67FAE3-7A62-46D8-8864-D1685C76678F}"/>
              </a:ext>
            </a:extLst>
          </p:cNvPr>
          <p:cNvSpPr txBox="1"/>
          <p:nvPr/>
        </p:nvSpPr>
        <p:spPr>
          <a:xfrm>
            <a:off x="611560" y="4625261"/>
            <a:ext cx="806489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latin typeface="+mj-lt"/>
              </a:rPr>
              <a:t>Types of clustering algorithms are-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+mj-lt"/>
              </a:rPr>
              <a:t>Partitional- k-means, fuzzy c-means, etc.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+mj-lt"/>
              </a:rPr>
              <a:t>Hierarchical- agglomerative, divisive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+mj-lt"/>
              </a:rPr>
              <a:t>Density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+mj-lt"/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259218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>
                <a:latin typeface="+mj-lt"/>
              </a:rPr>
              <a:t>Hierarchical clustering</a:t>
            </a:r>
            <a:endParaRPr lang="en-US" sz="3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7F288-8954-4176-9B86-C5887781D8A1}"/>
              </a:ext>
            </a:extLst>
          </p:cNvPr>
          <p:cNvSpPr txBox="1"/>
          <p:nvPr/>
        </p:nvSpPr>
        <p:spPr>
          <a:xfrm>
            <a:off x="197768" y="952085"/>
            <a:ext cx="8640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200" dirty="0">
                <a:latin typeface="+mj-lt"/>
              </a:rPr>
              <a:t>Data points will be present at the leaf node of the clusters</a:t>
            </a:r>
          </a:p>
          <a:p>
            <a:endParaRPr lang="en-IN" sz="2200" dirty="0">
              <a:latin typeface="+mj-lt"/>
            </a:endParaRPr>
          </a:p>
        </p:txBody>
      </p:sp>
      <p:pic>
        <p:nvPicPr>
          <p:cNvPr id="16388" name="Picture 4" descr="What is Hierarchical Clustering? An Introduction to Hierarchical Clustering">
            <a:extLst>
              <a:ext uri="{FF2B5EF4-FFF2-40B4-BE49-F238E27FC236}">
                <a16:creationId xmlns:a16="http://schemas.microsoft.com/office/drawing/2014/main" id="{E296454E-EC8D-49D0-99AC-A822AA128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95078"/>
            <a:ext cx="7015083" cy="389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62C081-D6DB-4DC2-A910-FC974EFD683C}"/>
              </a:ext>
            </a:extLst>
          </p:cNvPr>
          <p:cNvCxnSpPr>
            <a:cxnSpLocks/>
          </p:cNvCxnSpPr>
          <p:nvPr/>
        </p:nvCxnSpPr>
        <p:spPr>
          <a:xfrm>
            <a:off x="2771800" y="1906192"/>
            <a:ext cx="267051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3175E0-A1A4-417C-9DC3-A317F875E3FC}"/>
              </a:ext>
            </a:extLst>
          </p:cNvPr>
          <p:cNvCxnSpPr/>
          <p:nvPr/>
        </p:nvCxnSpPr>
        <p:spPr>
          <a:xfrm>
            <a:off x="2411760" y="2924944"/>
            <a:ext cx="32403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77F6031-907F-4BAB-A01A-0CCC08B07B89}"/>
              </a:ext>
            </a:extLst>
          </p:cNvPr>
          <p:cNvSpPr txBox="1"/>
          <p:nvPr/>
        </p:nvSpPr>
        <p:spPr>
          <a:xfrm>
            <a:off x="5580112" y="1721526"/>
            <a:ext cx="115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1 cluster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26C554-A788-4AFF-A271-9B92DEC66D43}"/>
              </a:ext>
            </a:extLst>
          </p:cNvPr>
          <p:cNvSpPr txBox="1"/>
          <p:nvPr/>
        </p:nvSpPr>
        <p:spPr>
          <a:xfrm>
            <a:off x="5630333" y="2740278"/>
            <a:ext cx="115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2 clusters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BFC7CD-7436-0A4D-0178-1EF7FB5D254B}"/>
              </a:ext>
            </a:extLst>
          </p:cNvPr>
          <p:cNvCxnSpPr>
            <a:cxnSpLocks/>
          </p:cNvCxnSpPr>
          <p:nvPr/>
        </p:nvCxnSpPr>
        <p:spPr>
          <a:xfrm>
            <a:off x="4139952" y="1667865"/>
            <a:ext cx="0" cy="68101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103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C</a:t>
            </a:r>
            <a:r>
              <a:rPr lang="en-US" altLang="en-US" sz="3600" dirty="0">
                <a:latin typeface="+mj-lt"/>
              </a:rPr>
              <a:t>lustering for Community Detection</a:t>
            </a:r>
            <a:endParaRPr lang="en-US" sz="3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019035-66CD-4C49-8564-81526BAE6826}"/>
              </a:ext>
            </a:extLst>
          </p:cNvPr>
          <p:cNvSpPr txBox="1"/>
          <p:nvPr/>
        </p:nvSpPr>
        <p:spPr>
          <a:xfrm>
            <a:off x="287523" y="908721"/>
            <a:ext cx="860495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2400" dirty="0">
                <a:latin typeface="+mj-lt"/>
              </a:rPr>
              <a:t>In SNA, to identify clusters or community, create a matrix called </a:t>
            </a:r>
            <a:r>
              <a:rPr lang="en-US" altLang="en-US" sz="2400" dirty="0">
                <a:solidFill>
                  <a:srgbClr val="FF0000"/>
                </a:solidFill>
                <a:latin typeface="+mj-lt"/>
              </a:rPr>
              <a:t>W</a:t>
            </a:r>
            <a:r>
              <a:rPr lang="en-US" altLang="en-US" sz="2400" dirty="0">
                <a:latin typeface="+mj-lt"/>
              </a:rPr>
              <a:t> that stores-</a:t>
            </a:r>
          </a:p>
          <a:p>
            <a:pPr marL="457200" indent="-457200" algn="just">
              <a:buAutoNum type="arabicPeriod"/>
            </a:pPr>
            <a:r>
              <a:rPr lang="en-US" altLang="en-US" sz="2400" dirty="0">
                <a:latin typeface="+mj-lt"/>
              </a:rPr>
              <a:t>the number of node independent path between each pair of node in the network.</a:t>
            </a:r>
          </a:p>
          <a:p>
            <a:pPr algn="just"/>
            <a:r>
              <a:rPr lang="en-US" altLang="en-US" sz="2400" dirty="0">
                <a:latin typeface="+mj-lt"/>
              </a:rPr>
              <a:t>Or</a:t>
            </a:r>
          </a:p>
          <a:p>
            <a:pPr algn="just"/>
            <a:r>
              <a:rPr lang="en-US" altLang="en-US" sz="2400" dirty="0">
                <a:latin typeface="+mj-lt"/>
              </a:rPr>
              <a:t>2.    Create a distance matrix and apply clustering</a:t>
            </a:r>
          </a:p>
          <a:p>
            <a:pPr algn="just"/>
            <a:endParaRPr lang="en-US" altLang="en-US" sz="2400" dirty="0">
              <a:latin typeface="+mj-lt"/>
            </a:endParaRPr>
          </a:p>
          <a:p>
            <a:pPr algn="just"/>
            <a:r>
              <a:rPr lang="en-US" altLang="en-US" sz="2400" dirty="0">
                <a:latin typeface="+mj-lt"/>
              </a:rPr>
              <a:t>Suppose node independent paths b/w node </a:t>
            </a:r>
            <a:r>
              <a:rPr lang="en-US" altLang="en-US" sz="2400" dirty="0">
                <a:solidFill>
                  <a:srgbClr val="0070C0"/>
                </a:solidFill>
                <a:latin typeface="+mj-lt"/>
              </a:rPr>
              <a:t>A to F is ACKJGYF and AOPZEF. </a:t>
            </a:r>
          </a:p>
          <a:p>
            <a:pPr algn="just"/>
            <a:endParaRPr lang="en-US" altLang="en-US" sz="1500" dirty="0">
              <a:solidFill>
                <a:srgbClr val="0070C0"/>
              </a:solidFill>
              <a:latin typeface="+mj-lt"/>
            </a:endParaRPr>
          </a:p>
          <a:p>
            <a:pPr algn="just"/>
            <a:r>
              <a:rPr lang="en-US" altLang="en-US" sz="2400" dirty="0">
                <a:solidFill>
                  <a:srgbClr val="0070C0"/>
                </a:solidFill>
                <a:latin typeface="+mj-lt"/>
              </a:rPr>
              <a:t>So, total number of path is 2 which will be the weight in the matrix between node A and F</a:t>
            </a:r>
          </a:p>
          <a:p>
            <a:pPr algn="just"/>
            <a:endParaRPr lang="en-US" altLang="en-US" sz="1500" dirty="0">
              <a:solidFill>
                <a:srgbClr val="0070C0"/>
              </a:solidFill>
              <a:latin typeface="+mj-lt"/>
            </a:endParaRPr>
          </a:p>
          <a:p>
            <a:pPr algn="just"/>
            <a:r>
              <a:rPr lang="en-US" altLang="en-US" sz="2400" dirty="0">
                <a:solidFill>
                  <a:srgbClr val="FF0000"/>
                </a:solidFill>
                <a:latin typeface="+mj-lt"/>
              </a:rPr>
              <a:t>Then apply the clustering concept to identify the number of community in the network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026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</a:t>
            </a:r>
            <a:endParaRPr lang="en-IN" altLang="en-US" sz="3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125C0-930D-923C-798F-50C0A5C57E7C}"/>
              </a:ext>
            </a:extLst>
          </p:cNvPr>
          <p:cNvSpPr txBox="1"/>
          <p:nvPr/>
        </p:nvSpPr>
        <p:spPr>
          <a:xfrm>
            <a:off x="240060" y="1374591"/>
            <a:ext cx="8663880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0" i="0" dirty="0">
                <a:solidFill>
                  <a:srgbClr val="2E2E2E"/>
                </a:solidFill>
                <a:effectLst/>
                <a:latin typeface="+mj-lt"/>
              </a:rPr>
              <a:t>The betweenness of an edge is defined as the number of shortest paths between any pairs of nodes in a graph </a:t>
            </a:r>
            <a:r>
              <a:rPr lang="en-US" sz="2300" b="0" i="1" dirty="0">
                <a:solidFill>
                  <a:srgbClr val="2E2E2E"/>
                </a:solidFill>
                <a:effectLst/>
                <a:latin typeface="+mj-lt"/>
              </a:rPr>
              <a:t>G</a:t>
            </a:r>
            <a:r>
              <a:rPr lang="en-US" sz="2300" b="0" i="0" dirty="0">
                <a:solidFill>
                  <a:srgbClr val="2E2E2E"/>
                </a:solidFill>
                <a:effectLst/>
                <a:latin typeface="+mj-lt"/>
              </a:rPr>
              <a:t> that pass through it.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2E2E2E"/>
              </a:solidFill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-apple-system"/>
              </a:rPr>
              <a:t>Each edge in the network can be associated with an edge betweenness centrality value.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33333"/>
              </a:solidFill>
              <a:latin typeface="-apple-system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-apple-system"/>
              </a:rPr>
              <a:t>An edge with a high edge betweenness centrality score represents a bridge-like connector between two parts of a network, and the removal of which may affect the communication between many pairs of nodes through the shortest paths between them.</a:t>
            </a:r>
            <a:endParaRPr lang="en-IN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33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20F40A-7FA5-9F34-E109-3252E25BA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052736"/>
            <a:ext cx="8648700" cy="5059363"/>
          </a:xfrm>
        </p:spPr>
        <p:txBody>
          <a:bodyPr/>
          <a:lstStyle/>
          <a:p>
            <a:pPr marL="0" indent="0" algn="just">
              <a:buNone/>
            </a:pPr>
            <a:r>
              <a:rPr lang="en-IN" sz="2800" dirty="0">
                <a:solidFill>
                  <a:srgbClr val="FF0000"/>
                </a:solidFill>
              </a:rPr>
              <a:t>Steps to compute edge betweenness value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500" dirty="0"/>
              <a:t>1. Perform BFS traversal and find the shortest path from the starting vertex to all other vertex in graph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500" dirty="0"/>
              <a:t>2. Compute the fraction of the shortest path value (local edge betweenness value)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500" dirty="0"/>
              <a:t>3. Find the edge betweenness value of each edge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500" dirty="0"/>
              <a:t>4. Remove edge(s) with the largest edge betweenness value to determine the correct number of communities</a:t>
            </a:r>
          </a:p>
          <a:p>
            <a:pPr marL="0" indent="0" algn="just">
              <a:buNone/>
            </a:pPr>
            <a:endParaRPr lang="en-IN" sz="1000" dirty="0"/>
          </a:p>
          <a:p>
            <a:pPr marL="0" indent="0" algn="just">
              <a:buNone/>
            </a:pPr>
            <a:endParaRPr lang="en-IN" sz="2500" dirty="0"/>
          </a:p>
          <a:p>
            <a:pPr marL="0" indent="0" algn="just">
              <a:buNone/>
            </a:pPr>
            <a:endParaRPr lang="en-IN" sz="2500" dirty="0"/>
          </a:p>
        </p:txBody>
      </p:sp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</a:t>
            </a:r>
            <a:endParaRPr lang="en-IN" altLang="en-US" sz="3300" dirty="0"/>
          </a:p>
        </p:txBody>
      </p:sp>
    </p:spTree>
    <p:extLst>
      <p:ext uri="{BB962C8B-B14F-4D97-AF65-F5344CB8AC3E}">
        <p14:creationId xmlns:p14="http://schemas.microsoft.com/office/powerpoint/2010/main" val="2293863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Betweenness: Based on BFS</a:t>
            </a:r>
            <a:endParaRPr lang="en-IN" altLang="en-US" sz="3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D501C1-6C2B-0F39-A729-123CC53690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2908" r="66539" b="5428"/>
          <a:stretch/>
        </p:blipFill>
        <p:spPr>
          <a:xfrm>
            <a:off x="539552" y="1196752"/>
            <a:ext cx="3265453" cy="4968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D3B519-D66A-1698-7863-BF702E44D908}"/>
              </a:ext>
            </a:extLst>
          </p:cNvPr>
          <p:cNvSpPr txBox="1"/>
          <p:nvPr/>
        </p:nvSpPr>
        <p:spPr>
          <a:xfrm>
            <a:off x="6012160" y="1110744"/>
            <a:ext cx="2592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-apple-system"/>
              </a:rPr>
              <a:t>Traversal tree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495BB-5EB0-EAF9-654E-2808646E6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4973" y="1916832"/>
            <a:ext cx="341947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06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Betweenness: Based on BFS</a:t>
            </a:r>
            <a:endParaRPr lang="en-IN" altLang="en-US" sz="3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3B519-D66A-1698-7863-BF702E44D908}"/>
              </a:ext>
            </a:extLst>
          </p:cNvPr>
          <p:cNvSpPr txBox="1"/>
          <p:nvPr/>
        </p:nvSpPr>
        <p:spPr>
          <a:xfrm>
            <a:off x="6012160" y="1110744"/>
            <a:ext cx="2592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-apple-system"/>
              </a:rPr>
              <a:t>Traversal tree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495BB-5EB0-EAF9-654E-2808646E6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4973" y="1916832"/>
            <a:ext cx="3419475" cy="4105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642B1F-414F-2170-9526-5B09CFAE8C32}"/>
              </a:ext>
            </a:extLst>
          </p:cNvPr>
          <p:cNvSpPr txBox="1"/>
          <p:nvPr/>
        </p:nvSpPr>
        <p:spPr>
          <a:xfrm>
            <a:off x="251520" y="1264632"/>
            <a:ext cx="54726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T</a:t>
            </a:r>
            <a:r>
              <a:rPr lang="en-IN" sz="2200" dirty="0"/>
              <a:t>here is only one shortest path from A to B. So, assign value 1 to B. Similarly, 1 is also assigned to node 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/>
              <a:t>The value for node G = 1 (only one shorted path)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/>
              <a:t>The value of node F=2 (two shortest path from A to F)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/>
              <a:t>The value for node D =3 (three shortest path from A to D) </a:t>
            </a:r>
          </a:p>
        </p:txBody>
      </p:sp>
    </p:spTree>
    <p:extLst>
      <p:ext uri="{BB962C8B-B14F-4D97-AF65-F5344CB8AC3E}">
        <p14:creationId xmlns:p14="http://schemas.microsoft.com/office/powerpoint/2010/main" val="4053653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20F40A-7FA5-9F34-E109-3252E25BA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795561"/>
            <a:ext cx="8648700" cy="5585767"/>
          </a:xfrm>
        </p:spPr>
        <p:txBody>
          <a:bodyPr/>
          <a:lstStyle/>
          <a:p>
            <a:pPr marL="0" indent="0" algn="just">
              <a:buNone/>
            </a:pPr>
            <a:r>
              <a:rPr lang="en-IN" sz="2800" dirty="0">
                <a:solidFill>
                  <a:srgbClr val="FF0000"/>
                </a:solidFill>
              </a:rPr>
              <a:t>Computing the fraction of Shortest Path Value</a:t>
            </a:r>
          </a:p>
          <a:p>
            <a:pPr marL="0" indent="0" algn="just">
              <a:buNone/>
            </a:pPr>
            <a:r>
              <a:rPr lang="en-IN" sz="2500" dirty="0"/>
              <a:t>We assume 1 unit of information originates at each node.</a:t>
            </a:r>
          </a:p>
          <a:p>
            <a:pPr marL="0" indent="0" algn="just">
              <a:buNone/>
            </a:pPr>
            <a:r>
              <a:rPr lang="en-IN" sz="2500" dirty="0"/>
              <a:t>1. Start with the node at the bottom most level and let 1 unit of info start from node D</a:t>
            </a:r>
          </a:p>
          <a:p>
            <a:pPr marL="0" indent="0" algn="just">
              <a:buNone/>
            </a:pPr>
            <a:r>
              <a:rPr lang="en-IN" sz="2500" dirty="0"/>
              <a:t>2. Node D (3 shortest path) gets 2 of its shortest paths from node F and 1 through G. So-</a:t>
            </a:r>
          </a:p>
          <a:p>
            <a:pPr marL="0" indent="0" algn="just">
              <a:buNone/>
            </a:pPr>
            <a:endParaRPr lang="en-IN" sz="10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200" dirty="0"/>
              <a:t>Node D sends 2/3 of the info to F and 1/3 through 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200" dirty="0"/>
              <a:t>Further, Node F adds received information from D to 1 unit of info originating at itself and splits the resulting (1+0.67=1.67/2) and sends (0.835) to B and 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200" dirty="0"/>
              <a:t>G adds 0.33 info unit to 1 units of info originating at itself and sends 1.33 to B.</a:t>
            </a:r>
          </a:p>
          <a:p>
            <a:pPr marL="457200" lvl="1" indent="0" algn="just">
              <a:buNone/>
            </a:pPr>
            <a:r>
              <a:rPr lang="en-IN" sz="2500" dirty="0">
                <a:solidFill>
                  <a:srgbClr val="FF0000"/>
                </a:solidFill>
              </a:rPr>
              <a:t>This process is repeated all vertices of the graph.</a:t>
            </a:r>
          </a:p>
          <a:p>
            <a:pPr marL="0" indent="0" algn="just">
              <a:buNone/>
            </a:pPr>
            <a:endParaRPr lang="en-IN" sz="2500" dirty="0"/>
          </a:p>
          <a:p>
            <a:pPr marL="0" indent="0" algn="just">
              <a:buNone/>
            </a:pPr>
            <a:endParaRPr lang="en-IN" sz="2500" dirty="0"/>
          </a:p>
        </p:txBody>
      </p:sp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</a:t>
            </a:r>
            <a:endParaRPr lang="en-IN" altLang="en-US" sz="3300" dirty="0"/>
          </a:p>
        </p:txBody>
      </p:sp>
    </p:spTree>
    <p:extLst>
      <p:ext uri="{BB962C8B-B14F-4D97-AF65-F5344CB8AC3E}">
        <p14:creationId xmlns:p14="http://schemas.microsoft.com/office/powerpoint/2010/main" val="3257794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Betweenness: Based on BFS</a:t>
            </a:r>
            <a:endParaRPr lang="en-IN" altLang="en-US" sz="3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3B519-D66A-1698-7863-BF702E44D908}"/>
              </a:ext>
            </a:extLst>
          </p:cNvPr>
          <p:cNvSpPr txBox="1"/>
          <p:nvPr/>
        </p:nvSpPr>
        <p:spPr>
          <a:xfrm>
            <a:off x="539552" y="1110744"/>
            <a:ext cx="2592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-apple-system"/>
              </a:rPr>
              <a:t>Traversal tree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3D490-B08A-E643-F5B6-EBF060272A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60773" t="15306" r="4749"/>
          <a:stretch/>
        </p:blipFill>
        <p:spPr>
          <a:xfrm>
            <a:off x="5292080" y="1772816"/>
            <a:ext cx="3105389" cy="4027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0BD64F-6FB1-D669-1974-B72F5FB7B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7421" y="1795289"/>
            <a:ext cx="28765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60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Betweenness: Based on BFS</a:t>
            </a:r>
            <a:endParaRPr lang="en-IN" altLang="en-US" sz="3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2B21A1-8671-526D-7C15-1A3BDADA47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3349" t="6500" r="2499" b="7480"/>
          <a:stretch/>
        </p:blipFill>
        <p:spPr>
          <a:xfrm>
            <a:off x="401237" y="1664804"/>
            <a:ext cx="8514163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13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Betweenness: Based on BFS</a:t>
            </a:r>
            <a:endParaRPr lang="en-IN" altLang="en-US" sz="3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0283C2-F733-E567-851C-08131B104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3462" y="908720"/>
            <a:ext cx="684847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23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Betweenness: Based on BFS</a:t>
            </a:r>
            <a:endParaRPr lang="en-IN" altLang="en-US" sz="3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A6218-A8DA-B276-EABA-075320ED7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3537" y="1052736"/>
            <a:ext cx="587692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01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B33465CF-95CB-4848-A100-5721FA7D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300" dirty="0"/>
              <a:t>Edge Betweenness: Based on BFS</a:t>
            </a:r>
            <a:endParaRPr lang="en-IN" altLang="en-US" sz="3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46D3A7-0C12-9A7F-5A35-D234713F2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8837" y="1262062"/>
            <a:ext cx="488632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74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6FFF4-16CD-4C67-AFCD-348DFC2E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500" dirty="0"/>
              <a:t>Girvan -</a:t>
            </a:r>
            <a:r>
              <a:rPr lang="en-IN" sz="3500" dirty="0" err="1"/>
              <a:t>newman</a:t>
            </a:r>
            <a:r>
              <a:rPr lang="en-IN" sz="3500" dirty="0"/>
              <a:t> community detection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BA110-24C3-419F-BE42-F2920615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PDPM IIITDM, Jabalpur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B2B9A-F13B-4020-AA64-907B9990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46B284-4DD2-4AC0-83B0-05753919D17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C084C5-13CF-B6C7-49AB-04D47515BE03}"/>
                  </a:ext>
                </a:extLst>
              </p14:cNvPr>
              <p14:cNvContentPartPr/>
              <p14:nvPr/>
            </p14:nvContentPartPr>
            <p14:xfrm>
              <a:off x="3285990" y="230499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C084C5-13CF-B6C7-49AB-04D47515BE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7990" y="219699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9B3627-1983-0EDA-8D28-E2F3FD360ED5}"/>
                  </a:ext>
                </a:extLst>
              </p14:cNvPr>
              <p14:cNvContentPartPr/>
              <p14:nvPr/>
            </p14:nvContentPartPr>
            <p14:xfrm>
              <a:off x="3028590" y="203823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9B3627-1983-0EDA-8D28-E2F3FD360E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0590" y="193023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44523BD-BCED-BA96-7F48-666FD930A986}"/>
                  </a:ext>
                </a:extLst>
              </p14:cNvPr>
              <p14:cNvContentPartPr/>
              <p14:nvPr/>
            </p14:nvContentPartPr>
            <p14:xfrm>
              <a:off x="3304710" y="232407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44523BD-BCED-BA96-7F48-666FD930A9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6710" y="2216070"/>
                <a:ext cx="36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2D2637A-FF24-8483-78C6-BB21D93F48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0762" y="1905000"/>
            <a:ext cx="45624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66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6FFF4-16CD-4C67-AFCD-348DFC2E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300" dirty="0"/>
              <a:t>Betweenness for Partitioning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BA110-24C3-419F-BE42-F2920615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PDPM IIITDM, Jabalpur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B2B9A-F13B-4020-AA64-907B9990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46B284-4DD2-4AC0-83B0-05753919D17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82AD3E-5A8A-43F4-85F3-72E80857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94" y="1401904"/>
            <a:ext cx="7971211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13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C5EC704-6B2B-4FFF-B649-D5C7B0226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050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GROUP-BASED APPROCHES (Graph Cliques)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B75CE9-CD39-7581-91A2-0E723ECCEC59}"/>
                  </a:ext>
                </a:extLst>
              </p14:cNvPr>
              <p14:cNvContentPartPr/>
              <p14:nvPr/>
            </p14:nvContentPartPr>
            <p14:xfrm>
              <a:off x="9181710" y="360027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B75CE9-CD39-7581-91A2-0E723ECCEC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64070" y="349227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8BD27E-90C2-5A57-69F2-F502F0FDC5BA}"/>
                  </a:ext>
                </a:extLst>
              </p14:cNvPr>
              <p14:cNvContentPartPr/>
              <p14:nvPr/>
            </p14:nvContentPartPr>
            <p14:xfrm>
              <a:off x="7238790" y="373383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8BD27E-90C2-5A57-69F2-F502F0FDC5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21150" y="362583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441D40A-8DA0-6E90-29B4-9F34177F662A}"/>
                  </a:ext>
                </a:extLst>
              </p14:cNvPr>
              <p14:cNvContentPartPr/>
              <p14:nvPr/>
            </p14:nvContentPartPr>
            <p14:xfrm>
              <a:off x="4381110" y="336231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441D40A-8DA0-6E90-29B4-9F34177F66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63470" y="325431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7F7FAA5-3F7E-86E1-D512-5F3C04A616A8}"/>
                  </a:ext>
                </a:extLst>
              </p14:cNvPr>
              <p14:cNvContentPartPr/>
              <p14:nvPr/>
            </p14:nvContentPartPr>
            <p14:xfrm>
              <a:off x="3876390" y="162891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7F7FAA5-3F7E-86E1-D512-5F3C04A616A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58750" y="152091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E3E89AF-D170-7148-B939-E06AFED7E5B0}"/>
                  </a:ext>
                </a:extLst>
              </p14:cNvPr>
              <p14:cNvContentPartPr/>
              <p14:nvPr/>
            </p14:nvContentPartPr>
            <p14:xfrm>
              <a:off x="9600750" y="131427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E3E89AF-D170-7148-B939-E06AFED7E5B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83110" y="120627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048DDAF-9B90-7DD3-9D82-AD74F189CD9A}"/>
                  </a:ext>
                </a:extLst>
              </p14:cNvPr>
              <p14:cNvContentPartPr/>
              <p14:nvPr/>
            </p14:nvContentPartPr>
            <p14:xfrm>
              <a:off x="4209750" y="394335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048DDAF-9B90-7DD3-9D82-AD74F189CD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92110" y="383535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D3111EF-C286-5318-12F8-ACF2D5F67095}"/>
                  </a:ext>
                </a:extLst>
              </p14:cNvPr>
              <p14:cNvContentPartPr/>
              <p14:nvPr/>
            </p14:nvContentPartPr>
            <p14:xfrm>
              <a:off x="7553070" y="470547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D3111EF-C286-5318-12F8-ACF2D5F6709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35430" y="459747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3CC14E9-6C57-D20E-4B39-A109FAB2C3CF}"/>
                  </a:ext>
                </a:extLst>
              </p14:cNvPr>
              <p14:cNvContentPartPr/>
              <p14:nvPr/>
            </p14:nvContentPartPr>
            <p14:xfrm>
              <a:off x="7886430" y="585783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3CC14E9-6C57-D20E-4B39-A109FAB2C3C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68790" y="5749830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DBC4F5A-01A0-3127-3B40-7F1514D19C2F}"/>
              </a:ext>
            </a:extLst>
          </p:cNvPr>
          <p:cNvGrpSpPr/>
          <p:nvPr/>
        </p:nvGrpSpPr>
        <p:grpSpPr>
          <a:xfrm>
            <a:off x="971190" y="1057230"/>
            <a:ext cx="360" cy="360"/>
            <a:chOff x="971190" y="1057230"/>
            <a:chExt cx="360" cy="3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C29443B-83A8-A02E-E0DD-A47C21200CA4}"/>
                    </a:ext>
                  </a:extLst>
                </p14:cNvPr>
                <p14:cNvContentPartPr/>
                <p14:nvPr/>
              </p14:nvContentPartPr>
              <p14:xfrm>
                <a:off x="971190" y="105723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C29443B-83A8-A02E-E0DD-A47C21200C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3550" y="94923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AEF539A-F6ED-9F50-0226-B0DF1897778A}"/>
                    </a:ext>
                  </a:extLst>
                </p14:cNvPr>
                <p14:cNvContentPartPr/>
                <p14:nvPr/>
              </p14:nvContentPartPr>
              <p14:xfrm>
                <a:off x="971190" y="105723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AEF539A-F6ED-9F50-0226-B0DF189777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3550" y="94923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B60DA1E-983C-2471-9D9A-CDF6695CBC4D}"/>
                  </a:ext>
                </a:extLst>
              </p14:cNvPr>
              <p14:cNvContentPartPr/>
              <p14:nvPr/>
            </p14:nvContentPartPr>
            <p14:xfrm>
              <a:off x="780390" y="962190"/>
              <a:ext cx="10080" cy="228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B60DA1E-983C-2471-9D9A-CDF6695CBC4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62750" y="854190"/>
                <a:ext cx="4572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194188F-1B0A-4223-627E-3F87E23D3F3C}"/>
                  </a:ext>
                </a:extLst>
              </p14:cNvPr>
              <p14:cNvContentPartPr/>
              <p14:nvPr/>
            </p14:nvContentPartPr>
            <p14:xfrm>
              <a:off x="5434830" y="4162590"/>
              <a:ext cx="39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194188F-1B0A-4223-627E-3F87E23D3F3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417190" y="4054590"/>
                <a:ext cx="396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48CF424-C0D5-988F-467E-16B0EC87A771}"/>
              </a:ext>
            </a:extLst>
          </p:cNvPr>
          <p:cNvSpPr txBox="1"/>
          <p:nvPr/>
        </p:nvSpPr>
        <p:spPr>
          <a:xfrm>
            <a:off x="282649" y="5109245"/>
            <a:ext cx="8567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A maximal clique is a clique that cannot be extended by including one more adjacent vertex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+mj-lt"/>
              </a:rPr>
              <a:t>A maximum clique is the largest maximal clique</a:t>
            </a:r>
            <a:endParaRPr lang="en-US" sz="1800" dirty="0">
              <a:latin typeface="+mj-l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CDC2A83-20B7-BEB4-8DDE-3559EB8921F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081" y="892675"/>
            <a:ext cx="84677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20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GROUP-BASED APPROCHES(Graph Cliques)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3E45E-EBB7-4B5E-BFBD-6A7EB88811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2069" t="10924" r="4311" b="26933"/>
          <a:stretch/>
        </p:blipFill>
        <p:spPr>
          <a:xfrm>
            <a:off x="1025860" y="1412776"/>
            <a:ext cx="6984776" cy="3312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91DDC2-D3CC-A1FA-7D4D-890B848C9648}"/>
              </a:ext>
            </a:extLst>
          </p:cNvPr>
          <p:cNvSpPr txBox="1"/>
          <p:nvPr/>
        </p:nvSpPr>
        <p:spPr>
          <a:xfrm>
            <a:off x="539552" y="5157192"/>
            <a:ext cx="60486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j-lt"/>
              </a:rPr>
              <a:t>A maximal cliques:</a:t>
            </a:r>
          </a:p>
          <a:p>
            <a:r>
              <a:rPr lang="en-US" sz="1800" dirty="0">
                <a:latin typeface="+mj-lt"/>
              </a:rPr>
              <a:t>Clique size:	2	3	4	5	</a:t>
            </a:r>
          </a:p>
          <a:p>
            <a:r>
              <a:rPr lang="en-US" dirty="0">
                <a:latin typeface="+mj-lt"/>
              </a:rPr>
              <a:t>Number of cliques: 11	21	2	2</a:t>
            </a: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2779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GROUP-BASED APPROCHES(Graph Cliques)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A9D21-6A4D-C668-7998-41E4ED6C6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0" y="1124744"/>
            <a:ext cx="7916380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78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GROUP-BASED APPROCHES(Graph Cliques)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4DF33-9E6E-AAB4-EF03-A219218474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1384" r="3348"/>
          <a:stretch/>
        </p:blipFill>
        <p:spPr>
          <a:xfrm>
            <a:off x="467544" y="1052736"/>
            <a:ext cx="7704856" cy="1578270"/>
          </a:xfrm>
          <a:prstGeom prst="rect">
            <a:avLst/>
          </a:prstGeom>
        </p:spPr>
      </p:pic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32F18BA8-3A2C-53CA-9032-53B87C6FF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037025"/>
            <a:ext cx="6822708" cy="294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550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GROUP-BASED APPROCHES(Graph Cliques)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80363-2872-3BD9-91D3-FD20B58A5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5536" y="908720"/>
            <a:ext cx="8068569" cy="469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9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Identify Communities: Graph Cliques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A6B10-BA0F-1AE7-C524-9D2DDB803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4303" y="1592421"/>
            <a:ext cx="5235394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96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Identify Communities: Graph Cliques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38EFD-D5A9-678C-1223-C91126AB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4" y="980728"/>
            <a:ext cx="7992888" cy="547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10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Identify Communities: Graph Cliques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778EA-AA98-06DC-C246-15A0A33AC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44" y="762000"/>
            <a:ext cx="7934311" cy="543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37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00" dirty="0"/>
              <a:t>Identify Communities: Graph Cliques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16558-4A63-1C6C-2CAB-1A4244BC3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20" y="1052736"/>
            <a:ext cx="7848872" cy="5380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29684-EB73-8E46-BBDC-55B74F0A48E0}"/>
              </a:ext>
            </a:extLst>
          </p:cNvPr>
          <p:cNvSpPr txBox="1"/>
          <p:nvPr/>
        </p:nvSpPr>
        <p:spPr>
          <a:xfrm>
            <a:off x="5148064" y="908720"/>
            <a:ext cx="4629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333333"/>
                </a:solidFill>
                <a:effectLst/>
                <a:latin typeface="open_sansregular"/>
              </a:rPr>
              <a:t> Number of communities = 3</a:t>
            </a:r>
          </a:p>
          <a:p>
            <a:r>
              <a:rPr lang="en-IN" dirty="0">
                <a:solidFill>
                  <a:srgbClr val="333333"/>
                </a:solidFill>
                <a:latin typeface="open_sansregular"/>
              </a:rPr>
              <a:t>(1, 2, 3, 8), (4, 5, 6) (7)</a:t>
            </a:r>
          </a:p>
          <a:p>
            <a:r>
              <a:rPr lang="en-IN" dirty="0">
                <a:solidFill>
                  <a:srgbClr val="333333"/>
                </a:solidFill>
                <a:latin typeface="open_sansregular"/>
              </a:rPr>
              <a:t>               or</a:t>
            </a:r>
          </a:p>
          <a:p>
            <a:r>
              <a:rPr lang="en-IN" dirty="0">
                <a:solidFill>
                  <a:srgbClr val="333333"/>
                </a:solidFill>
                <a:latin typeface="open_sansregular"/>
              </a:rPr>
              <a:t>(1, 2, 3, 8), (5, 6, 7) (4)</a:t>
            </a:r>
          </a:p>
        </p:txBody>
      </p:sp>
    </p:spTree>
    <p:extLst>
      <p:ext uri="{BB962C8B-B14F-4D97-AF65-F5344CB8AC3E}">
        <p14:creationId xmlns:p14="http://schemas.microsoft.com/office/powerpoint/2010/main" val="2075403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Graph Cliques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FE07E-BB39-4943-B087-1B3C00E0E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7445385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05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5DD9A-447A-649E-8A58-D125D5A11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600" dirty="0"/>
              <a:t>Edge-betweenness centrality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600" dirty="0"/>
              <a:t>K-Clique(s)</a:t>
            </a:r>
          </a:p>
          <a:p>
            <a:pPr marL="0" indent="0">
              <a:buNone/>
            </a:pPr>
            <a:endParaRPr lang="en-IN" sz="2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Identify Communities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2BDC3-8DE9-0083-951C-5617C53EC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772816"/>
            <a:ext cx="5616624" cy="455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21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Identify Communities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1D46C2-8B71-448D-6A0E-869F377648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74"/>
          <a:stretch/>
        </p:blipFill>
        <p:spPr>
          <a:xfrm>
            <a:off x="611560" y="896379"/>
            <a:ext cx="7401958" cy="43935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2CC852-79D7-52D6-682D-4CBAC65647D9}"/>
              </a:ext>
            </a:extLst>
          </p:cNvPr>
          <p:cNvSpPr txBox="1"/>
          <p:nvPr/>
        </p:nvSpPr>
        <p:spPr>
          <a:xfrm>
            <a:off x="215516" y="5039635"/>
            <a:ext cx="87129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+mj-lt"/>
              </a:rPr>
              <a:t>There is no common node, so cliques cannot be merge. In these types of problems, some temporary edges are created to identify communities.</a:t>
            </a:r>
          </a:p>
        </p:txBody>
      </p:sp>
    </p:spTree>
    <p:extLst>
      <p:ext uri="{BB962C8B-B14F-4D97-AF65-F5344CB8AC3E}">
        <p14:creationId xmlns:p14="http://schemas.microsoft.com/office/powerpoint/2010/main" val="2951698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Identify Communities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68CEA-6B7D-5B46-DDCA-B241A728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16" y="1185549"/>
            <a:ext cx="7297168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47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0E8347-9E5E-E29F-DB6A-813AE5F1F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441" y="980728"/>
            <a:ext cx="8183117" cy="54014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detection using modularity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54F52-8CDC-4941-9263-027384169AE5}"/>
              </a:ext>
            </a:extLst>
          </p:cNvPr>
          <p:cNvSpPr txBox="1"/>
          <p:nvPr/>
        </p:nvSpPr>
        <p:spPr>
          <a:xfrm>
            <a:off x="7334919" y="3405758"/>
            <a:ext cx="1728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A </a:t>
            </a:r>
            <a:r>
              <a:rPr lang="en-US" sz="1200" dirty="0" err="1">
                <a:solidFill>
                  <a:srgbClr val="C00000"/>
                </a:solidFill>
              </a:rPr>
              <a:t>i</a:t>
            </a:r>
            <a:r>
              <a:rPr lang="en-US" sz="1200" dirty="0">
                <a:solidFill>
                  <a:srgbClr val="C00000"/>
                </a:solidFill>
              </a:rPr>
              <a:t>, j</a:t>
            </a:r>
            <a:r>
              <a:rPr lang="en-US" sz="1800" dirty="0">
                <a:solidFill>
                  <a:srgbClr val="C00000"/>
                </a:solidFill>
              </a:rPr>
              <a:t> =1 if there is an edge b/w </a:t>
            </a:r>
            <a:r>
              <a:rPr lang="en-US" sz="1800" dirty="0" err="1">
                <a:solidFill>
                  <a:srgbClr val="C00000"/>
                </a:solidFill>
              </a:rPr>
              <a:t>i</a:t>
            </a:r>
            <a:r>
              <a:rPr lang="en-US" sz="1800" dirty="0">
                <a:solidFill>
                  <a:srgbClr val="C00000"/>
                </a:solidFill>
              </a:rPr>
              <a:t> and j </a:t>
            </a:r>
          </a:p>
          <a:p>
            <a:r>
              <a:rPr lang="en-US" dirty="0">
                <a:solidFill>
                  <a:srgbClr val="C00000"/>
                </a:solidFill>
              </a:rPr>
              <a:t>Else 0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945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detection using modularity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54317-128F-BDA8-FE4C-5E37DF239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0494" y="980728"/>
            <a:ext cx="7783011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366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detection using modularity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B0B61A-4482-7523-09C8-36046A12B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7099" y="1052736"/>
            <a:ext cx="8249801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702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detection using modularity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B9D1103-CE4D-478A-90EB-0F423CBB08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463685"/>
              </p:ext>
            </p:extLst>
          </p:nvPr>
        </p:nvGraphicFramePr>
        <p:xfrm>
          <a:off x="2123728" y="980728"/>
          <a:ext cx="3600400" cy="210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322440" imgH="1943280" progId="Paint.Picture">
                  <p:embed/>
                </p:oleObj>
              </mc:Choice>
              <mc:Fallback>
                <p:oleObj name="Bitmap Image" r:id="rId2" imgW="3322440" imgH="19432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23728" y="980728"/>
                        <a:ext cx="3600400" cy="2105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C422BBE-6B08-4A9C-B0A6-6E863A56D7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394641"/>
              </p:ext>
            </p:extLst>
          </p:nvPr>
        </p:nvGraphicFramePr>
        <p:xfrm>
          <a:off x="395536" y="2996952"/>
          <a:ext cx="3254375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3253680" imgH="2118240" progId="Paint.Picture">
                  <p:embed/>
                </p:oleObj>
              </mc:Choice>
              <mc:Fallback>
                <p:oleObj name="Bitmap Image" r:id="rId4" imgW="3253680" imgH="21182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536" y="2996952"/>
                        <a:ext cx="3254375" cy="211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D3492CA-3E2A-4ECD-989E-9FE8093DC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582088"/>
              </p:ext>
            </p:extLst>
          </p:nvPr>
        </p:nvGraphicFramePr>
        <p:xfrm>
          <a:off x="4999099" y="2695515"/>
          <a:ext cx="3314700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3314880" imgH="2529720" progId="Paint.Picture">
                  <p:embed/>
                </p:oleObj>
              </mc:Choice>
              <mc:Fallback>
                <p:oleObj name="Bitmap Image" r:id="rId6" imgW="3314880" imgH="25297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99099" y="2695515"/>
                        <a:ext cx="3314700" cy="2530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1726907-536B-4E4A-85EA-F0CD9B4B199A}"/>
              </a:ext>
            </a:extLst>
          </p:cNvPr>
          <p:cNvSpPr txBox="1"/>
          <p:nvPr/>
        </p:nvSpPr>
        <p:spPr>
          <a:xfrm>
            <a:off x="395536" y="5692606"/>
            <a:ext cx="4628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Which structure will be preferred?</a:t>
            </a: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CAEE7-3F67-43B0-8582-DF721C3B3883}"/>
              </a:ext>
            </a:extLst>
          </p:cNvPr>
          <p:cNvSpPr txBox="1"/>
          <p:nvPr/>
        </p:nvSpPr>
        <p:spPr>
          <a:xfrm>
            <a:off x="830201" y="5019781"/>
            <a:ext cx="462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j-lt"/>
              </a:rPr>
              <a:t>(</a:t>
            </a:r>
            <a:r>
              <a:rPr lang="en-US" sz="1800" dirty="0" err="1">
                <a:latin typeface="+mj-lt"/>
              </a:rPr>
              <a:t>i</a:t>
            </a:r>
            <a:r>
              <a:rPr lang="en-US" sz="1800" dirty="0">
                <a:latin typeface="+mj-lt"/>
              </a:rPr>
              <a:t>) Modularity score= 5.54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63F7F0-B9DD-4E27-8ACC-B7B37F695B1C}"/>
              </a:ext>
            </a:extLst>
          </p:cNvPr>
          <p:cNvSpPr txBox="1"/>
          <p:nvPr/>
        </p:nvSpPr>
        <p:spPr>
          <a:xfrm>
            <a:off x="5024096" y="4925932"/>
            <a:ext cx="462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j-lt"/>
              </a:rPr>
              <a:t>(ii) Modularity score=0.46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4479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C78D6C-F2E1-42C6-A82F-C09F1B711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6912768" cy="33836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BCDC0C-D23F-2F9D-E2BC-B5AAA34258D0}"/>
              </a:ext>
            </a:extLst>
          </p:cNvPr>
          <p:cNvSpPr txBox="1"/>
          <p:nvPr/>
        </p:nvSpPr>
        <p:spPr>
          <a:xfrm>
            <a:off x="1023070" y="4236948"/>
            <a:ext cx="67172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en-US" sz="2200" dirty="0"/>
              <a:t>To evaluate the quality of communities with ground truth, following metrics are used: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	Rand index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	NMI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	Dunn Index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  etc.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970731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evaluation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26E153-ADB2-233F-E3AE-6B35F9FD7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5" y="1233031"/>
            <a:ext cx="8997611" cy="439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76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DC14D-2A1E-2A7F-9785-457BF72E9B31}"/>
              </a:ext>
            </a:extLst>
          </p:cNvPr>
          <p:cNvSpPr txBox="1"/>
          <p:nvPr/>
        </p:nvSpPr>
        <p:spPr>
          <a:xfrm>
            <a:off x="107504" y="2489392"/>
            <a:ext cx="892899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700" b="1" dirty="0"/>
              <a:t>1. Define Pairs of Points</a:t>
            </a:r>
          </a:p>
          <a:p>
            <a:pPr algn="just"/>
            <a:r>
              <a:rPr lang="en-US" sz="1700" dirty="0"/>
              <a:t>For evaluating the Rand Index, we consider all possible pairs of points. Here, there are 5 data points, so the number of possible pairs is = 10</a:t>
            </a:r>
          </a:p>
          <a:p>
            <a:pPr algn="just"/>
            <a:r>
              <a:rPr lang="en-US" sz="1700" dirty="0"/>
              <a:t>The pairs are:</a:t>
            </a:r>
          </a:p>
          <a:p>
            <a:pPr algn="just"/>
            <a:r>
              <a:rPr lang="en-US" sz="1700" dirty="0"/>
              <a:t>(1, 2), (1, 3), (1, 4), (1, 5), (2, 3), (2, 4), (2, 5), (3, 4), (3, 5), (4, 5)</a:t>
            </a:r>
          </a:p>
          <a:p>
            <a:pPr algn="just"/>
            <a:endParaRPr lang="en-US" sz="1000" dirty="0"/>
          </a:p>
          <a:p>
            <a:pPr algn="just"/>
            <a:r>
              <a:rPr lang="en-US" sz="1700" b="1" dirty="0"/>
              <a:t>2. Categorize each pair</a:t>
            </a:r>
            <a:r>
              <a:rPr lang="en-US" sz="1700" dirty="0"/>
              <a:t> as one of the following: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b="1" dirty="0"/>
              <a:t>True Positive (TP)</a:t>
            </a:r>
            <a:r>
              <a:rPr lang="en-US" sz="1700" dirty="0"/>
              <a:t>: Both points belong to the same cluster in both ground truth and predicted clusters.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b="1" dirty="0"/>
              <a:t>True Negative (TN)</a:t>
            </a:r>
            <a:r>
              <a:rPr lang="en-US" sz="1700" dirty="0"/>
              <a:t>: Both points belong to different clusters in both ground truth and predicted clusters.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b="1" dirty="0"/>
              <a:t>False Positive (FP)</a:t>
            </a:r>
            <a:r>
              <a:rPr lang="en-US" sz="1700" dirty="0"/>
              <a:t>: Points are in different clusters in the ground truth but are in the same predicted cluster.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b="1" dirty="0"/>
              <a:t>False Negative (FN)</a:t>
            </a:r>
            <a:r>
              <a:rPr lang="en-US" sz="1700" dirty="0"/>
              <a:t>: Points are in the same cluster in the ground truth but are in different predicted clusters.</a:t>
            </a:r>
          </a:p>
          <a:p>
            <a:pPr algn="just"/>
            <a:endParaRPr lang="en-US" sz="1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FB1DDD-EDED-6BCF-59CF-8B96DB560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76" y="881860"/>
            <a:ext cx="7236296" cy="162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914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C893-8D15-458C-BDF6-523EC8F8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036496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/>
              <a:t>Community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DC14D-2A1E-2A7F-9785-457BF72E9B31}"/>
              </a:ext>
            </a:extLst>
          </p:cNvPr>
          <p:cNvSpPr txBox="1"/>
          <p:nvPr/>
        </p:nvSpPr>
        <p:spPr>
          <a:xfrm>
            <a:off x="107504" y="2489392"/>
            <a:ext cx="8928992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/>
              <a:t>3. Evaluate each pair:</a:t>
            </a:r>
          </a:p>
          <a:p>
            <a:pPr algn="just"/>
            <a:r>
              <a:rPr lang="en-US" sz="1700" dirty="0"/>
              <a:t>(1, 2), (1, 3), (1, 4), (1, 5), (2, 3), (2, 4), (2, 5), (3, 4), (3, 5), (4, 5)</a:t>
            </a:r>
          </a:p>
          <a:p>
            <a:pPr algn="just"/>
            <a:endParaRPr lang="en-US" sz="1700" dirty="0"/>
          </a:p>
          <a:p>
            <a:pPr algn="just"/>
            <a:r>
              <a:rPr lang="en-US" sz="1700" dirty="0"/>
              <a:t>TP= Pair must appear in both ground truth and clustering result</a:t>
            </a:r>
          </a:p>
          <a:p>
            <a:pPr algn="just"/>
            <a:endParaRPr lang="en-US" sz="1000" dirty="0"/>
          </a:p>
          <a:p>
            <a:pPr lvl="1"/>
            <a:r>
              <a:rPr lang="en-US" sz="1600" b="1" dirty="0"/>
              <a:t>Count the pairs</a:t>
            </a:r>
            <a:r>
              <a:rPr lang="en-US" sz="16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TP = 1 (Pair: (1, 2))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TN = 4 (Pairs: (1, 5), (2, 5), (3, 4), (3, 5))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FP = 3 (Pairs: (1, 4), (2, 4), (3, 5))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FN = 2 (Pairs: (1, 3), (2, 3), (4, 5))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IN" sz="1600" b="1" dirty="0"/>
              <a:t>4. Rand Index Calculation</a:t>
            </a:r>
            <a:r>
              <a:rPr lang="en-IN" sz="1600" dirty="0"/>
              <a:t>:</a:t>
            </a:r>
          </a:p>
          <a:p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FB1DDD-EDED-6BCF-59CF-8B96DB560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76" y="881860"/>
            <a:ext cx="7236296" cy="1629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B403D5-FBCE-927A-0C49-BF837CA79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3848" y="5130199"/>
            <a:ext cx="3658111" cy="648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E5BB2E-C85B-9960-F971-BC96046EF0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3848" y="5804841"/>
            <a:ext cx="4399040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61014"/>
      </p:ext>
    </p:extLst>
  </p:cSld>
  <p:clrMapOvr>
    <a:masterClrMapping/>
  </p:clrMapOvr>
</p:sld>
</file>

<file path=ppt/theme/theme1.xml><?xml version="1.0" encoding="utf-8"?>
<a:theme xmlns:a="http://schemas.openxmlformats.org/drawingml/2006/main" name="Beam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Beamer</Template>
  <TotalTime>3828</TotalTime>
  <Words>1492</Words>
  <Application>Microsoft Office PowerPoint</Application>
  <PresentationFormat>On-screen Show (4:3)</PresentationFormat>
  <Paragraphs>187</Paragraphs>
  <Slides>44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-apple-system</vt:lpstr>
      <vt:lpstr>Arial</vt:lpstr>
      <vt:lpstr>Calibri</vt:lpstr>
      <vt:lpstr>Lucida Sans Unicode</vt:lpstr>
      <vt:lpstr>open_sansregular</vt:lpstr>
      <vt:lpstr>Wingdings</vt:lpstr>
      <vt:lpstr>Beamer</vt:lpstr>
      <vt:lpstr>Bitmap Image</vt:lpstr>
      <vt:lpstr>Communities Detection</vt:lpstr>
      <vt:lpstr>Network communities</vt:lpstr>
      <vt:lpstr>Network communities</vt:lpstr>
      <vt:lpstr>Network communities</vt:lpstr>
      <vt:lpstr>What is Community in Network?</vt:lpstr>
      <vt:lpstr>Network Clustering Algorithms</vt:lpstr>
      <vt:lpstr>Community detection </vt:lpstr>
      <vt:lpstr>Community detection</vt:lpstr>
      <vt:lpstr>Clustering</vt:lpstr>
      <vt:lpstr>Hierarchical clustering</vt:lpstr>
      <vt:lpstr>Clustering for Community Detection</vt:lpstr>
      <vt:lpstr>Edge Betweenness</vt:lpstr>
      <vt:lpstr>Edge Betweenness</vt:lpstr>
      <vt:lpstr>Edge Betweenness: Based on BFS</vt:lpstr>
      <vt:lpstr>Edge Betweenness: Based on BFS</vt:lpstr>
      <vt:lpstr>Edge Betweenness</vt:lpstr>
      <vt:lpstr>Edge Betweenness: Based on BFS</vt:lpstr>
      <vt:lpstr>Edge Betweenness: Based on BFS</vt:lpstr>
      <vt:lpstr>Edge Betweenness: Based on BFS</vt:lpstr>
      <vt:lpstr>Edge Betweenness: Based on BFS</vt:lpstr>
      <vt:lpstr>Edge Betweenness: Based on BFS</vt:lpstr>
      <vt:lpstr>Girvan -newman community detection</vt:lpstr>
      <vt:lpstr>Betweenness for Partitioning</vt:lpstr>
      <vt:lpstr>GROUP-BASED APPROCHES (Graph Cliques)</vt:lpstr>
      <vt:lpstr>GROUP-BASED APPROCHES(Graph Cliques)</vt:lpstr>
      <vt:lpstr>GROUP-BASED APPROCHES(Graph Cliques)</vt:lpstr>
      <vt:lpstr>GROUP-BASED APPROCHES(Graph Cliques)</vt:lpstr>
      <vt:lpstr>GROUP-BASED APPROCHES(Graph Cliques)</vt:lpstr>
      <vt:lpstr>Identify Communities: Graph Cliques</vt:lpstr>
      <vt:lpstr>Identify Communities: Graph Cliques</vt:lpstr>
      <vt:lpstr>Identify Communities: Graph Cliques</vt:lpstr>
      <vt:lpstr>Identify Communities: Graph Cliques</vt:lpstr>
      <vt:lpstr>Graph Cliques</vt:lpstr>
      <vt:lpstr>Identify Communities</vt:lpstr>
      <vt:lpstr>Identify Communities</vt:lpstr>
      <vt:lpstr>Identify Communities</vt:lpstr>
      <vt:lpstr>Community detection using modularity</vt:lpstr>
      <vt:lpstr>Community detection using modularity</vt:lpstr>
      <vt:lpstr>Community detection using modularity</vt:lpstr>
      <vt:lpstr>Community detection using modularity</vt:lpstr>
      <vt:lpstr>Community evaluation</vt:lpstr>
      <vt:lpstr>Community evaluation</vt:lpstr>
      <vt:lpstr>Community evaluation</vt:lpstr>
      <vt:lpstr>Community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Pre-processing</dc:title>
  <dc:creator>HP</dc:creator>
  <cp:lastModifiedBy>Dr. Avinash Chandra Pandey</cp:lastModifiedBy>
  <cp:revision>238</cp:revision>
  <dcterms:created xsi:type="dcterms:W3CDTF">2022-01-04T04:55:34Z</dcterms:created>
  <dcterms:modified xsi:type="dcterms:W3CDTF">2024-10-16T07:28:50Z</dcterms:modified>
</cp:coreProperties>
</file>