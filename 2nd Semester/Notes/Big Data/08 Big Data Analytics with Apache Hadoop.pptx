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2"/>
  </p:notesMasterIdLst>
  <p:sldIdLst>
    <p:sldId id="256" r:id="rId2"/>
    <p:sldId id="281" r:id="rId3"/>
    <p:sldId id="409" r:id="rId4"/>
    <p:sldId id="411" r:id="rId5"/>
    <p:sldId id="410" r:id="rId6"/>
    <p:sldId id="412" r:id="rId7"/>
    <p:sldId id="285" r:id="rId8"/>
    <p:sldId id="286" r:id="rId9"/>
    <p:sldId id="287" r:id="rId10"/>
    <p:sldId id="288" r:id="rId11"/>
    <p:sldId id="398" r:id="rId12"/>
    <p:sldId id="397" r:id="rId13"/>
    <p:sldId id="413" r:id="rId14"/>
    <p:sldId id="414" r:id="rId15"/>
    <p:sldId id="280" r:id="rId16"/>
    <p:sldId id="258" r:id="rId17"/>
    <p:sldId id="259" r:id="rId18"/>
    <p:sldId id="335" r:id="rId19"/>
    <p:sldId id="337" r:id="rId20"/>
    <p:sldId id="303" r:id="rId21"/>
    <p:sldId id="304" r:id="rId22"/>
    <p:sldId id="368" r:id="rId23"/>
    <p:sldId id="338" r:id="rId24"/>
    <p:sldId id="339" r:id="rId25"/>
    <p:sldId id="305" r:id="rId26"/>
    <p:sldId id="306" r:id="rId27"/>
    <p:sldId id="377" r:id="rId28"/>
    <p:sldId id="340" r:id="rId29"/>
    <p:sldId id="370" r:id="rId30"/>
    <p:sldId id="267" r:id="rId31"/>
    <p:sldId id="260" r:id="rId32"/>
    <p:sldId id="261" r:id="rId33"/>
    <p:sldId id="341" r:id="rId34"/>
    <p:sldId id="262" r:id="rId35"/>
    <p:sldId id="263" r:id="rId36"/>
    <p:sldId id="264" r:id="rId37"/>
    <p:sldId id="265" r:id="rId38"/>
    <p:sldId id="342" r:id="rId39"/>
    <p:sldId id="399" r:id="rId40"/>
    <p:sldId id="400" r:id="rId41"/>
    <p:sldId id="401" r:id="rId42"/>
    <p:sldId id="402" r:id="rId43"/>
    <p:sldId id="403" r:id="rId44"/>
    <p:sldId id="408" r:id="rId45"/>
    <p:sldId id="404" r:id="rId46"/>
    <p:sldId id="405" r:id="rId47"/>
    <p:sldId id="406" r:id="rId48"/>
    <p:sldId id="407" r:id="rId49"/>
    <p:sldId id="369" r:id="rId50"/>
    <p:sldId id="371" r:id="rId51"/>
    <p:sldId id="372" r:id="rId52"/>
    <p:sldId id="373" r:id="rId53"/>
    <p:sldId id="374" r:id="rId54"/>
    <p:sldId id="375" r:id="rId55"/>
    <p:sldId id="271" r:id="rId56"/>
    <p:sldId id="273" r:id="rId57"/>
    <p:sldId id="274" r:id="rId58"/>
    <p:sldId id="359" r:id="rId59"/>
    <p:sldId id="360" r:id="rId60"/>
    <p:sldId id="343" r:id="rId61"/>
    <p:sldId id="344" r:id="rId62"/>
    <p:sldId id="345" r:id="rId63"/>
    <p:sldId id="346" r:id="rId64"/>
    <p:sldId id="347" r:id="rId65"/>
    <p:sldId id="348" r:id="rId66"/>
    <p:sldId id="353" r:id="rId67"/>
    <p:sldId id="349" r:id="rId68"/>
    <p:sldId id="352" r:id="rId69"/>
    <p:sldId id="351" r:id="rId70"/>
    <p:sldId id="361" r:id="rId71"/>
    <p:sldId id="362" r:id="rId72"/>
    <p:sldId id="363" r:id="rId73"/>
    <p:sldId id="364" r:id="rId74"/>
    <p:sldId id="272" r:id="rId75"/>
    <p:sldId id="275" r:id="rId76"/>
    <p:sldId id="276" r:id="rId77"/>
    <p:sldId id="277" r:id="rId78"/>
    <p:sldId id="278" r:id="rId79"/>
    <p:sldId id="357" r:id="rId80"/>
    <p:sldId id="358" r:id="rId81"/>
    <p:sldId id="378" r:id="rId82"/>
    <p:sldId id="388" r:id="rId83"/>
    <p:sldId id="389" r:id="rId84"/>
    <p:sldId id="390" r:id="rId85"/>
    <p:sldId id="391" r:id="rId86"/>
    <p:sldId id="392" r:id="rId87"/>
    <p:sldId id="393" r:id="rId88"/>
    <p:sldId id="394" r:id="rId89"/>
    <p:sldId id="395" r:id="rId90"/>
    <p:sldId id="307" r:id="rId9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varScale="1">
        <p:scale>
          <a:sx n="52" d="100"/>
          <a:sy n="52" d="100"/>
        </p:scale>
        <p:origin x="1652" y="44"/>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E6B80F2-FF36-40E6-AF7E-857F6417D9DB}" type="datetimeFigureOut">
              <a:rPr lang="en-US" smtClean="0"/>
              <a:t>5/14/2024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34212F2-1364-4709-8D8F-4317F4D221C3}" type="slidenum">
              <a:rPr lang="en-US" smtClean="0"/>
              <a:t>‹#›</a:t>
            </a:fld>
            <a:endParaRPr lang="en-US"/>
          </a:p>
        </p:txBody>
      </p:sp>
    </p:spTree>
    <p:extLst>
      <p:ext uri="{BB962C8B-B14F-4D97-AF65-F5344CB8AC3E}">
        <p14:creationId xmlns:p14="http://schemas.microsoft.com/office/powerpoint/2010/main" val="8596228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48131" name="Notes Placeholder 2"/>
          <p:cNvSpPr>
            <a:spLocks noGrp="1"/>
          </p:cNvSpPr>
          <p:nvPr>
            <p:ph type="body" idx="1"/>
          </p:nvPr>
        </p:nvSpPr>
        <p:spPr>
          <a:noFill/>
          <a:ln/>
        </p:spPr>
        <p:txBody>
          <a:bodyPr/>
          <a:lstStyle/>
          <a:p>
            <a:pPr>
              <a:buFontTx/>
              <a:buChar char="•"/>
            </a:pPr>
            <a:r>
              <a:rPr lang="en-US">
                <a:latin typeface="Times New Roman" pitchFamily="18" charset="0"/>
              </a:rPr>
              <a:t>Pool commodity servers in a single hierarchical namespace.</a:t>
            </a:r>
          </a:p>
          <a:p>
            <a:pPr>
              <a:buFontTx/>
              <a:buChar char="•"/>
            </a:pPr>
            <a:r>
              <a:rPr lang="en-US">
                <a:latin typeface="Times New Roman" pitchFamily="18" charset="0"/>
              </a:rPr>
              <a:t>Designed for large files that are written once and read many times.</a:t>
            </a:r>
          </a:p>
          <a:p>
            <a:pPr>
              <a:buFontTx/>
              <a:buChar char="•"/>
            </a:pPr>
            <a:r>
              <a:rPr lang="en-US">
                <a:latin typeface="Times New Roman" pitchFamily="18" charset="0"/>
              </a:rPr>
              <a:t>Example here shows what happens with a replication factor of 3, each data block is present in at least 3 separate data nodes.</a:t>
            </a:r>
          </a:p>
          <a:p>
            <a:pPr>
              <a:buFontTx/>
              <a:buChar char="•"/>
            </a:pPr>
            <a:r>
              <a:rPr lang="en-US">
                <a:latin typeface="Times New Roman" pitchFamily="18" charset="0"/>
              </a:rPr>
              <a:t>Typical Hadoop node is eight cores with 16GB ram and four 1TB SATA disks.</a:t>
            </a:r>
          </a:p>
          <a:p>
            <a:pPr>
              <a:buFontTx/>
              <a:buChar char="•"/>
            </a:pPr>
            <a:r>
              <a:rPr lang="en-US">
                <a:latin typeface="Times New Roman" pitchFamily="18" charset="0"/>
              </a:rPr>
              <a:t>Default block size is 64MB, though most folks now set it to 128MB</a:t>
            </a:r>
          </a:p>
          <a:p>
            <a:endParaRPr lang="en-US">
              <a:latin typeface="Times New Roman" pitchFamily="18" charset="0"/>
            </a:endParaRPr>
          </a:p>
        </p:txBody>
      </p:sp>
      <p:sp>
        <p:nvSpPr>
          <p:cNvPr id="48132" name="Slide Number Placeholder 3"/>
          <p:cNvSpPr>
            <a:spLocks noGrp="1"/>
          </p:cNvSpPr>
          <p:nvPr>
            <p:ph type="sldNum" sz="quarter" idx="5"/>
          </p:nvPr>
        </p:nvSpPr>
        <p:spPr>
          <a:noFill/>
        </p:spPr>
        <p:txBody>
          <a:bodyPr/>
          <a:lstStyle/>
          <a:p>
            <a:fld id="{B09A0B58-7F81-4FF2-BCB8-38CF30909D3D}" type="slidenum">
              <a:rPr lang="en-US" smtClean="0">
                <a:latin typeface="Times New Roman" pitchFamily="18" charset="0"/>
              </a:rPr>
              <a:pPr/>
              <a:t>27</a:t>
            </a:fld>
            <a:endParaRPr lang="en-US">
              <a:latin typeface="Times New Roman" pitchFamily="18" charset="0"/>
            </a:endParaRPr>
          </a:p>
        </p:txBody>
      </p:sp>
    </p:spTree>
    <p:extLst>
      <p:ext uri="{BB962C8B-B14F-4D97-AF65-F5344CB8AC3E}">
        <p14:creationId xmlns:p14="http://schemas.microsoft.com/office/powerpoint/2010/main" val="2926357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F34212F2-1364-4709-8D8F-4317F4D221C3}" type="slidenum">
              <a:rPr lang="en-US" smtClean="0"/>
              <a:t>54</a:t>
            </a:fld>
            <a:endParaRPr lang="en-US"/>
          </a:p>
        </p:txBody>
      </p:sp>
    </p:spTree>
    <p:extLst>
      <p:ext uri="{BB962C8B-B14F-4D97-AF65-F5344CB8AC3E}">
        <p14:creationId xmlns:p14="http://schemas.microsoft.com/office/powerpoint/2010/main" val="10019551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030BAAC-2614-4851-9F10-78F7E47A7A29}" type="datetimeFigureOut">
              <a:rPr lang="en-US" smtClean="0"/>
              <a:t>5/14/2024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2144C59-4DB5-4C73-BEAE-E4C76F97224D}" type="slidenum">
              <a:rPr lang="en-US" smtClean="0"/>
              <a:t>‹#›</a:t>
            </a:fld>
            <a:endParaRPr lang="en-US" dirty="0"/>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838200"/>
          </a:xfrm>
        </p:spPr>
        <p:txBody>
          <a:bodyPr/>
          <a:lstStyle/>
          <a:p>
            <a:r>
              <a:rPr lang="en-US"/>
              <a:t>Click to edit Master title style</a:t>
            </a:r>
          </a:p>
        </p:txBody>
      </p:sp>
      <p:sp>
        <p:nvSpPr>
          <p:cNvPr id="3" name="Content Placeholder 2"/>
          <p:cNvSpPr>
            <a:spLocks noGrp="1"/>
          </p:cNvSpPr>
          <p:nvPr>
            <p:ph idx="1"/>
          </p:nvPr>
        </p:nvSpPr>
        <p:spPr>
          <a:xfrm>
            <a:off x="457200" y="1447800"/>
            <a:ext cx="8229600" cy="5181600"/>
          </a:xfrm>
        </p:spPr>
        <p:txBody>
          <a:bodyPr/>
          <a:lstStyle>
            <a:lvl1pPr marL="349250" indent="-349250">
              <a:defRPr/>
            </a:lvl1pPr>
            <a:lvl2pPr marL="631825" indent="-282575">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D030BAAC-2614-4851-9F10-78F7E47A7A29}" type="datetimeFigureOut">
              <a:rPr lang="en-US" smtClean="0"/>
              <a:t>5/14/2024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2144C59-4DB5-4C73-BEAE-E4C76F97224D}"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30BAAC-2614-4851-9F10-78F7E47A7A29}" type="datetimeFigureOut">
              <a:rPr lang="en-US" smtClean="0"/>
              <a:t>5/14/2024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2144C59-4DB5-4C73-BEAE-E4C76F97224D}" type="slidenum">
              <a:rPr lang="en-US" smtClean="0"/>
              <a:t>‹#›</a:t>
            </a:fld>
            <a:endParaRPr lang="en-US" dirty="0"/>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030BAAC-2614-4851-9F10-78F7E47A7A29}" type="datetimeFigureOut">
              <a:rPr lang="en-US" smtClean="0"/>
              <a:t>5/14/2024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2144C59-4DB5-4C73-BEAE-E4C76F97224D}"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030BAAC-2614-4851-9F10-78F7E47A7A29}" type="datetimeFigureOut">
              <a:rPr lang="en-US" smtClean="0"/>
              <a:t>5/14/2024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2144C59-4DB5-4C73-BEAE-E4C76F97224D}" type="slidenum">
              <a:rPr lang="en-US" smtClean="0"/>
              <a:t>‹#›</a:t>
            </a:fld>
            <a:endParaRPr lang="en-US" dirty="0"/>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030BAAC-2614-4851-9F10-78F7E47A7A29}" type="datetimeFigureOut">
              <a:rPr lang="en-US" smtClean="0"/>
              <a:t>5/14/2024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2144C59-4DB5-4C73-BEAE-E4C76F97224D}"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30BAAC-2614-4851-9F10-78F7E47A7A29}" type="datetimeFigureOut">
              <a:rPr lang="en-US" smtClean="0"/>
              <a:t>5/14/2024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2144C59-4DB5-4C73-BEAE-E4C76F97224D}"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30BAAC-2614-4851-9F10-78F7E47A7A29}" type="datetimeFigureOut">
              <a:rPr lang="en-US" smtClean="0"/>
              <a:t>5/14/2024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2144C59-4DB5-4C73-BEAE-E4C76F97224D}" type="slidenum">
              <a:rPr lang="en-US" smtClean="0"/>
              <a:t>‹#›</a:t>
            </a:fld>
            <a:endParaRPr lang="en-US" dirty="0"/>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30BAAC-2614-4851-9F10-78F7E47A7A29}" type="datetimeFigureOut">
              <a:rPr lang="en-US" smtClean="0"/>
              <a:t>5/14/2024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2144C59-4DB5-4C73-BEAE-E4C76F97224D}"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030BAAC-2614-4851-9F10-78F7E47A7A29}" type="datetimeFigureOut">
              <a:rPr lang="en-US" smtClean="0"/>
              <a:t>5/14/2024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2144C59-4DB5-4C73-BEAE-E4C76F97224D}"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30BAAC-2614-4851-9F10-78F7E47A7A29}" type="datetimeFigureOut">
              <a:rPr lang="en-US" smtClean="0"/>
              <a:t>5/14/2024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2144C59-4DB5-4C73-BEAE-E4C76F97224D}"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7200" y="381000"/>
            <a:ext cx="8229600" cy="8382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394012"/>
            <a:ext cx="8229600" cy="523538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D030BAAC-2614-4851-9F10-78F7E47A7A29}" type="datetimeFigureOut">
              <a:rPr lang="en-US" smtClean="0"/>
              <a:t>5/14/2024</a:t>
            </a:fld>
            <a:endParaRPr lang="en-US" dirty="0"/>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US" dirty="0"/>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C2144C59-4DB5-4C73-BEAE-E4C76F97224D}" type="slidenum">
              <a:rPr lang="en-US" smtClean="0"/>
              <a:t>‹#›</a:t>
            </a:fld>
            <a:endParaRPr lang="en-US" dirty="0"/>
          </a:p>
        </p:txBody>
      </p:sp>
      <p:pic>
        <p:nvPicPr>
          <p:cNvPr id="9" name="Picture 3">
            <a:extLst>
              <a:ext uri="{FF2B5EF4-FFF2-40B4-BE49-F238E27FC236}">
                <a16:creationId xmlns:a16="http://schemas.microsoft.com/office/drawing/2014/main" id="{A81CB1E2-88DB-41A3-88B1-E713A3501519}"/>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8091958" y="374838"/>
            <a:ext cx="1034113" cy="10191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000" b="1"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0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8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6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Ordering%20Pizza%20in%20the%20Future.mp4"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P04%20MapReduce%20-%20Simplified%20Data%20Processing%20on%20Large%20Clusters.pdf" TargetMode="External"/><Relationship Id="rId2" Type="http://schemas.openxmlformats.org/officeDocument/2006/relationships/hyperlink" Target="P03%20The%20Google%20File%20System.pdf" TargetMode="External"/><Relationship Id="rId1" Type="http://schemas.openxmlformats.org/officeDocument/2006/relationships/slideLayout" Target="../slideLayouts/slideLayout2.xml"/><Relationship Id="rId4" Type="http://schemas.openxmlformats.org/officeDocument/2006/relationships/hyperlink" Target="P05%20Bigtable%20-%20A%20Distributed%20Storage%20System%20for%20Structured%20Data.pdf"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hadoopecosystemtable.github.io/"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3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6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56.wmf"/><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64.jpeg"/><Relationship Id="rId5" Type="http://schemas.openxmlformats.org/officeDocument/2006/relationships/image" Target="../media/image63.jpeg"/><Relationship Id="rId4" Type="http://schemas.openxmlformats.org/officeDocument/2006/relationships/image" Target="../media/image62.png"/></Relationships>
</file>

<file path=ppt/slides/_rels/slide84.xml.rels><?xml version="1.0" encoding="UTF-8" standalone="yes"?>
<Relationships xmlns="http://schemas.openxmlformats.org/package/2006/relationships"><Relationship Id="rId2" Type="http://schemas.openxmlformats.org/officeDocument/2006/relationships/image" Target="../media/image65.gif"/><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8153400" cy="1927225"/>
          </a:xfrm>
        </p:spPr>
        <p:txBody>
          <a:bodyPr/>
          <a:lstStyle/>
          <a:p>
            <a:r>
              <a:rPr lang="en-US" sz="6000" b="1" dirty="0"/>
              <a:t>DATA ANALYTICS  </a:t>
            </a:r>
            <a:r>
              <a:rPr lang="en-US" b="1" dirty="0"/>
              <a:t>&amp; MACHINE LEARNING</a:t>
            </a:r>
            <a:endParaRPr lang="en-US" sz="4400" b="1" dirty="0"/>
          </a:p>
        </p:txBody>
      </p:sp>
      <p:sp>
        <p:nvSpPr>
          <p:cNvPr id="3" name="Subtitle 2"/>
          <p:cNvSpPr>
            <a:spLocks noGrp="1"/>
          </p:cNvSpPr>
          <p:nvPr>
            <p:ph type="subTitle" idx="1"/>
          </p:nvPr>
        </p:nvSpPr>
        <p:spPr/>
        <p:txBody>
          <a:bodyPr/>
          <a:lstStyle/>
          <a:p>
            <a:r>
              <a:rPr lang="en-US" sz="3200" b="1" dirty="0"/>
              <a:t>Dr. Emmanuel S. Pilli</a:t>
            </a:r>
          </a:p>
          <a:p>
            <a:r>
              <a:rPr lang="en-US" sz="2400" dirty="0" err="1"/>
              <a:t>Malaviya</a:t>
            </a:r>
            <a:r>
              <a:rPr lang="en-US" sz="2400" dirty="0"/>
              <a:t> NIT Jaipur</a:t>
            </a:r>
          </a:p>
        </p:txBody>
      </p:sp>
    </p:spTree>
    <p:extLst>
      <p:ext uri="{BB962C8B-B14F-4D97-AF65-F5344CB8AC3E}">
        <p14:creationId xmlns:p14="http://schemas.microsoft.com/office/powerpoint/2010/main" val="29440097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599" y="1433512"/>
            <a:ext cx="8966201" cy="5043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1597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DF0F6-9CF7-44B2-BCC6-8F875581032E}"/>
              </a:ext>
            </a:extLst>
          </p:cNvPr>
          <p:cNvSpPr>
            <a:spLocks noGrp="1"/>
          </p:cNvSpPr>
          <p:nvPr>
            <p:ph type="title"/>
          </p:nvPr>
        </p:nvSpPr>
        <p:spPr>
          <a:xfrm>
            <a:off x="457200" y="381000"/>
            <a:ext cx="8229600" cy="838200"/>
          </a:xfrm>
        </p:spPr>
        <p:txBody>
          <a:bodyPr anchor="ctr">
            <a:normAutofit/>
          </a:bodyPr>
          <a:lstStyle/>
          <a:p>
            <a:r>
              <a:rPr lang="en-US" dirty="0"/>
              <a:t>Data 2020 – 2021 </a:t>
            </a:r>
            <a:endParaRPr lang="en-IN" dirty="0"/>
          </a:p>
        </p:txBody>
      </p:sp>
      <p:pic>
        <p:nvPicPr>
          <p:cNvPr id="3076" name="Picture 4">
            <a:extLst>
              <a:ext uri="{FF2B5EF4-FFF2-40B4-BE49-F238E27FC236}">
                <a16:creationId xmlns:a16="http://schemas.microsoft.com/office/drawing/2014/main" id="{B4213D00-FB98-495A-8295-6588173AC88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3600" y="1657350"/>
            <a:ext cx="8898000" cy="4972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57542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1D7ED-0EEA-4AC2-B4AC-D6BBE7CDFAFA}"/>
              </a:ext>
            </a:extLst>
          </p:cNvPr>
          <p:cNvSpPr>
            <a:spLocks noGrp="1"/>
          </p:cNvSpPr>
          <p:nvPr>
            <p:ph type="title"/>
          </p:nvPr>
        </p:nvSpPr>
        <p:spPr/>
        <p:txBody>
          <a:bodyPr/>
          <a:lstStyle/>
          <a:p>
            <a:r>
              <a:rPr lang="en-US" dirty="0"/>
              <a:t>Data 2021</a:t>
            </a:r>
            <a:endParaRPr lang="en-IN" dirty="0"/>
          </a:p>
        </p:txBody>
      </p:sp>
      <p:pic>
        <p:nvPicPr>
          <p:cNvPr id="1026" name="Picture 2" descr="Chart provides an overview of what happens online every minute">
            <a:extLst>
              <a:ext uri="{FF2B5EF4-FFF2-40B4-BE49-F238E27FC236}">
                <a16:creationId xmlns:a16="http://schemas.microsoft.com/office/drawing/2014/main" id="{76BC7D08-2144-43E6-A573-8E58B32DDCB1}"/>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20587" b="22667"/>
          <a:stretch/>
        </p:blipFill>
        <p:spPr bwMode="auto">
          <a:xfrm>
            <a:off x="1790700" y="1219200"/>
            <a:ext cx="5562600" cy="54291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7983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3B3E7-A697-4452-8F7C-A42C5CAC2935}"/>
              </a:ext>
            </a:extLst>
          </p:cNvPr>
          <p:cNvSpPr>
            <a:spLocks noGrp="1"/>
          </p:cNvSpPr>
          <p:nvPr>
            <p:ph type="title"/>
          </p:nvPr>
        </p:nvSpPr>
        <p:spPr/>
        <p:txBody>
          <a:bodyPr/>
          <a:lstStyle/>
          <a:p>
            <a:r>
              <a:rPr lang="en-US" dirty="0"/>
              <a:t>Data 2020</a:t>
            </a:r>
            <a:endParaRPr lang="en-IN" dirty="0"/>
          </a:p>
        </p:txBody>
      </p:sp>
      <p:pic>
        <p:nvPicPr>
          <p:cNvPr id="2052" name="Picture 4" descr="Chart: A Minute on the Internet in 2020 | Statista">
            <a:extLst>
              <a:ext uri="{FF2B5EF4-FFF2-40B4-BE49-F238E27FC236}">
                <a16:creationId xmlns:a16="http://schemas.microsoft.com/office/drawing/2014/main" id="{5FA07131-CDC0-430D-ADA1-6A5EB03E097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555" b="15555"/>
          <a:stretch/>
        </p:blipFill>
        <p:spPr bwMode="auto">
          <a:xfrm>
            <a:off x="1143000" y="1195552"/>
            <a:ext cx="6858000" cy="541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47729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B35A8-DD6E-404C-AC77-58234560DDB1}"/>
              </a:ext>
            </a:extLst>
          </p:cNvPr>
          <p:cNvSpPr>
            <a:spLocks noGrp="1"/>
          </p:cNvSpPr>
          <p:nvPr>
            <p:ph type="title"/>
          </p:nvPr>
        </p:nvSpPr>
        <p:spPr/>
        <p:txBody>
          <a:bodyPr/>
          <a:lstStyle/>
          <a:p>
            <a:r>
              <a:rPr lang="en-US" dirty="0"/>
              <a:t>Data 2021</a:t>
            </a:r>
            <a:endParaRPr lang="en-IN" dirty="0"/>
          </a:p>
        </p:txBody>
      </p:sp>
      <p:pic>
        <p:nvPicPr>
          <p:cNvPr id="2050" name="Picture 2" descr="Infographic: A Minute on the Internet in 2021 | Statista">
            <a:extLst>
              <a:ext uri="{FF2B5EF4-FFF2-40B4-BE49-F238E27FC236}">
                <a16:creationId xmlns:a16="http://schemas.microsoft.com/office/drawing/2014/main" id="{79D8E3DC-0434-4268-8287-35C501AF338C}"/>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4872" b="14706"/>
          <a:stretch/>
        </p:blipFill>
        <p:spPr bwMode="auto">
          <a:xfrm>
            <a:off x="1066799" y="1219200"/>
            <a:ext cx="6821965" cy="548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4028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Gartner Hype Cycle 2014</a:t>
            </a:r>
          </a:p>
        </p:txBody>
      </p:sp>
      <p:pic>
        <p:nvPicPr>
          <p:cNvPr id="4" name="Content Placeholder 3" descr="HC_ET_2014.jpg"/>
          <p:cNvPicPr>
            <a:picLocks noGrp="1" noChangeAspect="1"/>
          </p:cNvPicPr>
          <p:nvPr>
            <p:ph idx="1"/>
          </p:nvPr>
        </p:nvPicPr>
        <p:blipFill>
          <a:blip r:embed="rId2"/>
          <a:stretch>
            <a:fillRect/>
          </a:stretch>
        </p:blipFill>
        <p:spPr>
          <a:xfrm>
            <a:off x="381000" y="1524000"/>
            <a:ext cx="8382000" cy="4999789"/>
          </a:xfrm>
        </p:spPr>
      </p:pic>
      <p:cxnSp>
        <p:nvCxnSpPr>
          <p:cNvPr id="5" name="Straight Arrow Connector 4"/>
          <p:cNvCxnSpPr/>
          <p:nvPr/>
        </p:nvCxnSpPr>
        <p:spPr>
          <a:xfrm>
            <a:off x="852948" y="2573592"/>
            <a:ext cx="1371600" cy="0"/>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H="1">
            <a:off x="4358148" y="2620296"/>
            <a:ext cx="1524000" cy="0"/>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43756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Gartner Hype Cycle 2015</a:t>
            </a:r>
          </a:p>
        </p:txBody>
      </p:sp>
      <p:pic>
        <p:nvPicPr>
          <p:cNvPr id="4" name="Content Placeholder 3" descr="emerging-tech-hc.png"/>
          <p:cNvPicPr>
            <a:picLocks noGrp="1" noChangeAspect="1"/>
          </p:cNvPicPr>
          <p:nvPr>
            <p:ph idx="1"/>
          </p:nvPr>
        </p:nvPicPr>
        <p:blipFill>
          <a:blip r:embed="rId2"/>
          <a:stretch>
            <a:fillRect/>
          </a:stretch>
        </p:blipFill>
        <p:spPr>
          <a:xfrm>
            <a:off x="447368" y="1524000"/>
            <a:ext cx="8229600" cy="5270191"/>
          </a:xfrm>
        </p:spPr>
      </p:pic>
      <p:cxnSp>
        <p:nvCxnSpPr>
          <p:cNvPr id="5" name="Straight Arrow Connector 4"/>
          <p:cNvCxnSpPr/>
          <p:nvPr/>
        </p:nvCxnSpPr>
        <p:spPr>
          <a:xfrm>
            <a:off x="381000" y="2895600"/>
            <a:ext cx="1371600" cy="0"/>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flipH="1">
            <a:off x="5029200" y="2362200"/>
            <a:ext cx="1524000" cy="0"/>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69646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Gartner Hype Cycle 2016</a:t>
            </a:r>
          </a:p>
        </p:txBody>
      </p:sp>
      <p:pic>
        <p:nvPicPr>
          <p:cNvPr id="4" name="Content Placeholder 3" descr="emerging-tech-hc-2016.png"/>
          <p:cNvPicPr>
            <a:picLocks noGrp="1" noChangeAspect="1"/>
          </p:cNvPicPr>
          <p:nvPr>
            <p:ph idx="1"/>
          </p:nvPr>
        </p:nvPicPr>
        <p:blipFill>
          <a:blip r:embed="rId2"/>
          <a:stretch>
            <a:fillRect/>
          </a:stretch>
        </p:blipFill>
        <p:spPr>
          <a:xfrm>
            <a:off x="525454" y="1529612"/>
            <a:ext cx="8161346" cy="5175987"/>
          </a:xfrm>
        </p:spPr>
      </p:pic>
      <p:cxnSp>
        <p:nvCxnSpPr>
          <p:cNvPr id="5" name="Straight Arrow Connector 4"/>
          <p:cNvCxnSpPr/>
          <p:nvPr/>
        </p:nvCxnSpPr>
        <p:spPr>
          <a:xfrm>
            <a:off x="317090" y="3094704"/>
            <a:ext cx="1371600" cy="0"/>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flipH="1">
            <a:off x="4965290" y="1828800"/>
            <a:ext cx="1524000" cy="0"/>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17646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Gartner Hype Cycle 2017</a:t>
            </a:r>
          </a:p>
        </p:txBody>
      </p:sp>
      <p:pic>
        <p:nvPicPr>
          <p:cNvPr id="1026" name="Picture 2" descr="https://blogs.gartner.com/smarterwithgartner/files/2017/08/Emerging-Technology-Hype-Cycle-for-2017_Infographic_R6A.jpg"/>
          <p:cNvPicPr>
            <a:picLocks noChangeAspect="1" noChangeArrowheads="1"/>
          </p:cNvPicPr>
          <p:nvPr/>
        </p:nvPicPr>
        <p:blipFill rotWithShape="1">
          <a:blip r:embed="rId2">
            <a:extLst>
              <a:ext uri="{28A0092B-C50C-407E-A947-70E740481C1C}">
                <a14:useLocalDpi xmlns:a14="http://schemas.microsoft.com/office/drawing/2010/main" val="0"/>
              </a:ext>
            </a:extLst>
          </a:blip>
          <a:srcRect l="1859" t="12067" r="2960" b="19568"/>
          <a:stretch/>
        </p:blipFill>
        <p:spPr bwMode="auto">
          <a:xfrm>
            <a:off x="152400" y="1418305"/>
            <a:ext cx="8903395" cy="5410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65456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992D5-09E7-4000-828C-27B48A870322}"/>
              </a:ext>
            </a:extLst>
          </p:cNvPr>
          <p:cNvSpPr>
            <a:spLocks noGrp="1"/>
          </p:cNvSpPr>
          <p:nvPr>
            <p:ph type="title"/>
          </p:nvPr>
        </p:nvSpPr>
        <p:spPr/>
        <p:txBody>
          <a:bodyPr/>
          <a:lstStyle/>
          <a:p>
            <a:r>
              <a:rPr lang="en-US" dirty="0"/>
              <a:t>Gartner Hype Cycle 2018</a:t>
            </a:r>
            <a:endParaRPr lang="en-IN" dirty="0"/>
          </a:p>
        </p:txBody>
      </p:sp>
      <p:pic>
        <p:nvPicPr>
          <p:cNvPr id="2050" name="Picture 2" descr="Gartner Hype Cycle for Emerging Technologies, 2018">
            <a:extLst>
              <a:ext uri="{FF2B5EF4-FFF2-40B4-BE49-F238E27FC236}">
                <a16:creationId xmlns:a16="http://schemas.microsoft.com/office/drawing/2014/main" id="{EE6959C2-F015-4CE2-8D9E-7A9137C26B36}"/>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2733" t="13235" r="3976" b="19118"/>
          <a:stretch/>
        </p:blipFill>
        <p:spPr bwMode="auto">
          <a:xfrm>
            <a:off x="304800" y="1524000"/>
            <a:ext cx="8572500" cy="5257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66428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10B65-7A60-4BFB-ACA4-94338D32656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595CD61-0683-4FE5-BB57-E8910118F828}"/>
              </a:ext>
            </a:extLst>
          </p:cNvPr>
          <p:cNvSpPr>
            <a:spLocks noGrp="1"/>
          </p:cNvSpPr>
          <p:nvPr>
            <p:ph idx="1"/>
          </p:nvPr>
        </p:nvSpPr>
        <p:spPr/>
        <p:txBody>
          <a:bodyPr/>
          <a:lstStyle/>
          <a:p>
            <a:endParaRPr lang="en-IN"/>
          </a:p>
        </p:txBody>
      </p:sp>
      <p:pic>
        <p:nvPicPr>
          <p:cNvPr id="4" name="Picture 2" descr="Gartner Hype Cycle for Emerging Technologies, 2019">
            <a:extLst>
              <a:ext uri="{FF2B5EF4-FFF2-40B4-BE49-F238E27FC236}">
                <a16:creationId xmlns:a16="http://schemas.microsoft.com/office/drawing/2014/main" id="{5E2816FC-C504-4AB5-959C-FABA6B74CAE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850" t="16176" r="2452" b="13235"/>
          <a:stretch/>
        </p:blipFill>
        <p:spPr bwMode="auto">
          <a:xfrm>
            <a:off x="17462" y="319585"/>
            <a:ext cx="9126538" cy="65384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22549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The Gartner Hype Cycle for Emerging Technologies, 2020 features five trends and 30 technologies that will drive significant change over the next five to ten years. ">
            <a:extLst>
              <a:ext uri="{FF2B5EF4-FFF2-40B4-BE49-F238E27FC236}">
                <a16:creationId xmlns:a16="http://schemas.microsoft.com/office/drawing/2014/main" id="{5EBDAB8A-F267-494E-A395-DECECFA780E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5556" b="14444"/>
          <a:stretch/>
        </p:blipFill>
        <p:spPr bwMode="auto">
          <a:xfrm>
            <a:off x="-15766" y="381000"/>
            <a:ext cx="9158112" cy="609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09669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141DBA9A-CF17-4A76-88A9-8AEE83A9AD9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333" t="3539" r="4167" b="11504"/>
          <a:stretch/>
        </p:blipFill>
        <p:spPr bwMode="auto">
          <a:xfrm>
            <a:off x="-1" y="1447800"/>
            <a:ext cx="9118997" cy="525780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EBA9F7AF-3FEC-4680-9CD4-EE25A6648D88}"/>
              </a:ext>
            </a:extLst>
          </p:cNvPr>
          <p:cNvSpPr>
            <a:spLocks noGrp="1"/>
          </p:cNvSpPr>
          <p:nvPr>
            <p:ph type="title"/>
          </p:nvPr>
        </p:nvSpPr>
        <p:spPr>
          <a:xfrm>
            <a:off x="457200" y="296918"/>
            <a:ext cx="8229600" cy="838200"/>
          </a:xfrm>
        </p:spPr>
        <p:txBody>
          <a:bodyPr/>
          <a:lstStyle/>
          <a:p>
            <a:r>
              <a:rPr lang="en-US"/>
              <a:t>Gartner Hype Cycle 2021</a:t>
            </a:r>
            <a:endParaRPr lang="en-US" dirty="0"/>
          </a:p>
        </p:txBody>
      </p:sp>
    </p:spTree>
    <p:extLst>
      <p:ext uri="{BB962C8B-B14F-4D97-AF65-F5344CB8AC3E}">
        <p14:creationId xmlns:p14="http://schemas.microsoft.com/office/powerpoint/2010/main" val="7887339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V’s of Big Data</a:t>
            </a:r>
          </a:p>
        </p:txBody>
      </p:sp>
      <p:pic>
        <p:nvPicPr>
          <p:cNvPr id="4" name="Picture 3"/>
          <p:cNvPicPr>
            <a:picLocks noChangeAspect="1"/>
          </p:cNvPicPr>
          <p:nvPr/>
        </p:nvPicPr>
        <p:blipFill rotWithShape="1">
          <a:blip r:embed="rId2"/>
          <a:srcRect r="25540"/>
          <a:stretch/>
        </p:blipFill>
        <p:spPr>
          <a:xfrm>
            <a:off x="703312" y="1383024"/>
            <a:ext cx="7754888" cy="5322576"/>
          </a:xfrm>
          <a:prstGeom prst="rect">
            <a:avLst/>
          </a:prstGeom>
        </p:spPr>
      </p:pic>
    </p:spTree>
    <p:extLst>
      <p:ext uri="{BB962C8B-B14F-4D97-AF65-F5344CB8AC3E}">
        <p14:creationId xmlns:p14="http://schemas.microsoft.com/office/powerpoint/2010/main" val="33362662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 V’s of Big Data</a:t>
            </a:r>
          </a:p>
        </p:txBody>
      </p:sp>
      <p:pic>
        <p:nvPicPr>
          <p:cNvPr id="2050" name="Picture 2" descr="Image result for 5 Vs of Big data"/>
          <p:cNvPicPr>
            <a:picLocks noChangeAspect="1" noChangeArrowheads="1"/>
          </p:cNvPicPr>
          <p:nvPr/>
        </p:nvPicPr>
        <p:blipFill rotWithShape="1">
          <a:blip r:embed="rId2">
            <a:extLst>
              <a:ext uri="{28A0092B-C50C-407E-A947-70E740481C1C}">
                <a14:useLocalDpi xmlns:a14="http://schemas.microsoft.com/office/drawing/2010/main" val="0"/>
              </a:ext>
            </a:extLst>
          </a:blip>
          <a:srcRect b="5249"/>
          <a:stretch/>
        </p:blipFill>
        <p:spPr bwMode="auto">
          <a:xfrm>
            <a:off x="24908" y="1524000"/>
            <a:ext cx="9093302" cy="4495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69528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Another 5 ?</a:t>
            </a:r>
          </a:p>
        </p:txBody>
      </p:sp>
      <p:sp>
        <p:nvSpPr>
          <p:cNvPr id="3" name="Content Placeholder 2"/>
          <p:cNvSpPr>
            <a:spLocks noGrp="1"/>
          </p:cNvSpPr>
          <p:nvPr>
            <p:ph idx="1"/>
          </p:nvPr>
        </p:nvSpPr>
        <p:spPr>
          <a:xfrm>
            <a:off x="457200" y="1371600"/>
            <a:ext cx="8229600" cy="5257800"/>
          </a:xfrm>
        </p:spPr>
        <p:txBody>
          <a:bodyPr/>
          <a:lstStyle/>
          <a:p>
            <a:pPr marL="339725" indent="-339725" fontAlgn="base"/>
            <a:r>
              <a:rPr lang="en-US" dirty="0"/>
              <a:t>Volume</a:t>
            </a:r>
          </a:p>
          <a:p>
            <a:pPr marL="339725" indent="-339725" fontAlgn="base"/>
            <a:r>
              <a:rPr lang="en-US" dirty="0"/>
              <a:t>Velocity</a:t>
            </a:r>
          </a:p>
          <a:p>
            <a:pPr marL="339725" indent="-339725" fontAlgn="base"/>
            <a:r>
              <a:rPr lang="en-US" dirty="0"/>
              <a:t>Variety</a:t>
            </a:r>
          </a:p>
          <a:p>
            <a:pPr marL="339725" indent="-339725" fontAlgn="base"/>
            <a:r>
              <a:rPr lang="en-US" dirty="0"/>
              <a:t>Veracity</a:t>
            </a:r>
          </a:p>
          <a:p>
            <a:pPr marL="339725" indent="-339725" fontAlgn="base"/>
            <a:r>
              <a:rPr lang="en-US" dirty="0"/>
              <a:t>Value</a:t>
            </a:r>
          </a:p>
          <a:p>
            <a:pPr marL="339725" indent="-339725" fontAlgn="base"/>
            <a:r>
              <a:rPr lang="en-US" dirty="0">
                <a:solidFill>
                  <a:srgbClr val="0070C0"/>
                </a:solidFill>
              </a:rPr>
              <a:t>Validity</a:t>
            </a:r>
          </a:p>
          <a:p>
            <a:pPr marL="339725" indent="-339725" fontAlgn="base"/>
            <a:r>
              <a:rPr lang="en-US" dirty="0">
                <a:solidFill>
                  <a:srgbClr val="0070C0"/>
                </a:solidFill>
              </a:rPr>
              <a:t>Variability</a:t>
            </a:r>
          </a:p>
          <a:p>
            <a:pPr marL="339725" indent="-339725" fontAlgn="base"/>
            <a:r>
              <a:rPr lang="en-US" dirty="0">
                <a:solidFill>
                  <a:srgbClr val="0070C0"/>
                </a:solidFill>
              </a:rPr>
              <a:t>Venue</a:t>
            </a:r>
          </a:p>
          <a:p>
            <a:pPr marL="339725" indent="-339725" fontAlgn="base"/>
            <a:r>
              <a:rPr lang="en-US" dirty="0">
                <a:solidFill>
                  <a:srgbClr val="0070C0"/>
                </a:solidFill>
              </a:rPr>
              <a:t>Vocabulary</a:t>
            </a:r>
          </a:p>
          <a:p>
            <a:pPr marL="339725" indent="-339725" fontAlgn="base"/>
            <a:r>
              <a:rPr lang="en-US" dirty="0">
                <a:solidFill>
                  <a:srgbClr val="0070C0"/>
                </a:solidFill>
              </a:rPr>
              <a:t>Vagueness</a:t>
            </a:r>
          </a:p>
          <a:p>
            <a:endParaRPr lang="en-US" dirty="0"/>
          </a:p>
        </p:txBody>
      </p:sp>
      <p:sp>
        <p:nvSpPr>
          <p:cNvPr id="4" name="TextBox 3"/>
          <p:cNvSpPr txBox="1"/>
          <p:nvPr/>
        </p:nvSpPr>
        <p:spPr>
          <a:xfrm>
            <a:off x="4419600" y="6019800"/>
            <a:ext cx="4648200" cy="461665"/>
          </a:xfrm>
          <a:prstGeom prst="rect">
            <a:avLst/>
          </a:prstGeom>
          <a:noFill/>
        </p:spPr>
        <p:txBody>
          <a:bodyPr wrap="square" rtlCol="0">
            <a:spAutoFit/>
          </a:bodyPr>
          <a:lstStyle/>
          <a:p>
            <a:r>
              <a:rPr lang="en-US" sz="2400" b="1" dirty="0">
                <a:hlinkClick r:id="rId2" action="ppaction://hlinkfile"/>
              </a:rPr>
              <a:t>Ordering Pizza in the Future</a:t>
            </a:r>
            <a:endParaRPr lang="en-US" sz="2400" b="1" dirty="0"/>
          </a:p>
        </p:txBody>
      </p:sp>
    </p:spTree>
    <p:extLst>
      <p:ext uri="{BB962C8B-B14F-4D97-AF65-F5344CB8AC3E}">
        <p14:creationId xmlns:p14="http://schemas.microsoft.com/office/powerpoint/2010/main" val="854698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1000"/>
                                        <p:tgtEl>
                                          <p:spTgt spid="3">
                                            <p:txEl>
                                              <p:pRg st="1" end="1"/>
                                            </p:txEl>
                                          </p:spTgt>
                                        </p:tgtEl>
                                      </p:cBhvr>
                                    </p:animEffect>
                                    <p:anim calcmode="lin" valueType="num">
                                      <p:cBhvr>
                                        <p:cTn id="1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1000"/>
                                        <p:tgtEl>
                                          <p:spTgt spid="3">
                                            <p:txEl>
                                              <p:pRg st="5" end="5"/>
                                            </p:txEl>
                                          </p:spTgt>
                                        </p:tgtEl>
                                      </p:cBhvr>
                                    </p:animEffect>
                                    <p:anim calcmode="lin" valueType="num">
                                      <p:cBhvr>
                                        <p:cTn id="3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fade">
                                      <p:cBhvr>
                                        <p:cTn id="41" dur="1000"/>
                                        <p:tgtEl>
                                          <p:spTgt spid="3">
                                            <p:txEl>
                                              <p:pRg st="6" end="6"/>
                                            </p:txEl>
                                          </p:spTgt>
                                        </p:tgtEl>
                                      </p:cBhvr>
                                    </p:animEffect>
                                    <p:anim calcmode="lin" valueType="num">
                                      <p:cBhvr>
                                        <p:cTn id="4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3">
                                            <p:txEl>
                                              <p:pRg st="7" end="7"/>
                                            </p:txEl>
                                          </p:spTgt>
                                        </p:tgtEl>
                                        <p:attrNameLst>
                                          <p:attrName>style.visibility</p:attrName>
                                        </p:attrNameLst>
                                      </p:cBhvr>
                                      <p:to>
                                        <p:strVal val="visible"/>
                                      </p:to>
                                    </p:set>
                                    <p:animEffect transition="in" filter="fade">
                                      <p:cBhvr>
                                        <p:cTn id="48" dur="1000"/>
                                        <p:tgtEl>
                                          <p:spTgt spid="3">
                                            <p:txEl>
                                              <p:pRg st="7" end="7"/>
                                            </p:txEl>
                                          </p:spTgt>
                                        </p:tgtEl>
                                      </p:cBhvr>
                                    </p:animEffect>
                                    <p:anim calcmode="lin" valueType="num">
                                      <p:cBhvr>
                                        <p:cTn id="49"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0"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Effect transition="in" filter="fade">
                                      <p:cBhvr>
                                        <p:cTn id="55" dur="1000"/>
                                        <p:tgtEl>
                                          <p:spTgt spid="3">
                                            <p:txEl>
                                              <p:pRg st="8" end="8"/>
                                            </p:txEl>
                                          </p:spTgt>
                                        </p:tgtEl>
                                      </p:cBhvr>
                                    </p:animEffect>
                                    <p:anim calcmode="lin" valueType="num">
                                      <p:cBhvr>
                                        <p:cTn id="56"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7"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nodeType="clickEffect">
                                  <p:stCondLst>
                                    <p:cond delay="0"/>
                                  </p:stCondLst>
                                  <p:childTnLst>
                                    <p:set>
                                      <p:cBhvr>
                                        <p:cTn id="61" dur="1" fill="hold">
                                          <p:stCondLst>
                                            <p:cond delay="0"/>
                                          </p:stCondLst>
                                        </p:cTn>
                                        <p:tgtEl>
                                          <p:spTgt spid="3">
                                            <p:txEl>
                                              <p:pRg st="9" end="9"/>
                                            </p:txEl>
                                          </p:spTgt>
                                        </p:tgtEl>
                                        <p:attrNameLst>
                                          <p:attrName>style.visibility</p:attrName>
                                        </p:attrNameLst>
                                      </p:cBhvr>
                                      <p:to>
                                        <p:strVal val="visible"/>
                                      </p:to>
                                    </p:set>
                                    <p:animEffect transition="in" filter="fade">
                                      <p:cBhvr>
                                        <p:cTn id="62" dur="1000"/>
                                        <p:tgtEl>
                                          <p:spTgt spid="3">
                                            <p:txEl>
                                              <p:pRg st="9" end="9"/>
                                            </p:txEl>
                                          </p:spTgt>
                                        </p:tgtEl>
                                      </p:cBhvr>
                                    </p:animEffect>
                                    <p:anim calcmode="lin" valueType="num">
                                      <p:cBhvr>
                                        <p:cTn id="63"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64"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DIKW</a:t>
            </a:r>
          </a:p>
        </p:txBody>
      </p:sp>
      <p:pic>
        <p:nvPicPr>
          <p:cNvPr id="1026" name="Picture 2" descr="Image result for Data Information Knowledge Wisdom"/>
          <p:cNvPicPr>
            <a:picLocks noChangeAspect="1" noChangeArrowheads="1"/>
          </p:cNvPicPr>
          <p:nvPr/>
        </p:nvPicPr>
        <p:blipFill rotWithShape="1">
          <a:blip r:embed="rId2">
            <a:extLst>
              <a:ext uri="{28A0092B-C50C-407E-A947-70E740481C1C}">
                <a14:useLocalDpi xmlns:a14="http://schemas.microsoft.com/office/drawing/2010/main" val="0"/>
              </a:ext>
            </a:extLst>
          </a:blip>
          <a:srcRect t="11662" b="7038"/>
          <a:stretch/>
        </p:blipFill>
        <p:spPr bwMode="auto">
          <a:xfrm>
            <a:off x="457200" y="1600200"/>
            <a:ext cx="8201681" cy="5000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03806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DIKUW</a:t>
            </a:r>
          </a:p>
        </p:txBody>
      </p:sp>
      <p:pic>
        <p:nvPicPr>
          <p:cNvPr id="3074" name="Picture 2" descr="Image result for Data Information Knowledge Wisd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447800"/>
            <a:ext cx="8001000" cy="53223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69616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Motivation</a:t>
            </a:r>
          </a:p>
        </p:txBody>
      </p:sp>
      <p:sp>
        <p:nvSpPr>
          <p:cNvPr id="3" name="Content Placeholder 2"/>
          <p:cNvSpPr>
            <a:spLocks noGrp="1"/>
          </p:cNvSpPr>
          <p:nvPr>
            <p:ph idx="1"/>
          </p:nvPr>
        </p:nvSpPr>
        <p:spPr/>
        <p:txBody>
          <a:bodyPr>
            <a:normAutofit/>
          </a:bodyPr>
          <a:lstStyle/>
          <a:p>
            <a:pPr marL="339725" indent="-339725"/>
            <a:r>
              <a:rPr lang="en-US" sz="2400" dirty="0"/>
              <a:t>Storage as NAS (Network Attached Storage) and SAN (Storage Area Network)</a:t>
            </a:r>
          </a:p>
          <a:p>
            <a:pPr marL="339725" indent="-339725"/>
            <a:r>
              <a:rPr lang="en-US" sz="2400" dirty="0"/>
              <a:t>Data is moved to compute nodes at compute time</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995" y="3121025"/>
            <a:ext cx="4720205" cy="2822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05400" y="2971800"/>
            <a:ext cx="3609170"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149165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Motivation</a:t>
            </a:r>
          </a:p>
        </p:txBody>
      </p:sp>
      <p:sp>
        <p:nvSpPr>
          <p:cNvPr id="3" name="Content Placeholder 2"/>
          <p:cNvSpPr>
            <a:spLocks noGrp="1"/>
          </p:cNvSpPr>
          <p:nvPr>
            <p:ph idx="1"/>
          </p:nvPr>
        </p:nvSpPr>
        <p:spPr/>
        <p:txBody>
          <a:bodyPr>
            <a:normAutofit/>
          </a:bodyPr>
          <a:lstStyle/>
          <a:p>
            <a:pPr marL="355600" marR="396240" indent="-342900">
              <a:lnSpc>
                <a:spcPct val="101400"/>
              </a:lnSpc>
              <a:tabLst>
                <a:tab pos="204470" algn="l"/>
              </a:tabLst>
            </a:pPr>
            <a:r>
              <a:rPr lang="en-US" dirty="0"/>
              <a:t>Modern systems have to deal with huge data which  has inherent value, and cannot be discarded</a:t>
            </a:r>
          </a:p>
          <a:p>
            <a:pPr marL="355600" marR="396240" indent="-342900">
              <a:lnSpc>
                <a:spcPct val="101400"/>
              </a:lnSpc>
              <a:tabLst>
                <a:tab pos="204470" algn="l"/>
              </a:tabLst>
            </a:pPr>
            <a:r>
              <a:rPr lang="en-US" spc="5" dirty="0">
                <a:solidFill>
                  <a:srgbClr val="010000"/>
                </a:solidFill>
                <a:cs typeface="Arial"/>
              </a:rPr>
              <a:t>Getting</a:t>
            </a:r>
            <a:r>
              <a:rPr lang="en-US" dirty="0">
                <a:solidFill>
                  <a:srgbClr val="010000"/>
                </a:solidFill>
                <a:cs typeface="Arial"/>
              </a:rPr>
              <a:t> </a:t>
            </a:r>
            <a:r>
              <a:rPr lang="en-US" spc="5" dirty="0">
                <a:solidFill>
                  <a:srgbClr val="010000"/>
                </a:solidFill>
                <a:cs typeface="Arial"/>
              </a:rPr>
              <a:t>the </a:t>
            </a:r>
            <a:r>
              <a:rPr lang="en-US" spc="10" dirty="0">
                <a:solidFill>
                  <a:srgbClr val="010000"/>
                </a:solidFill>
                <a:cs typeface="Arial"/>
              </a:rPr>
              <a:t>data</a:t>
            </a:r>
            <a:r>
              <a:rPr lang="en-US" spc="5" dirty="0">
                <a:solidFill>
                  <a:srgbClr val="010000"/>
                </a:solidFill>
                <a:cs typeface="Arial"/>
              </a:rPr>
              <a:t> to the </a:t>
            </a:r>
            <a:r>
              <a:rPr lang="en-US" spc="10" dirty="0">
                <a:solidFill>
                  <a:srgbClr val="010000"/>
                </a:solidFill>
                <a:cs typeface="Arial"/>
              </a:rPr>
              <a:t>processors</a:t>
            </a:r>
            <a:r>
              <a:rPr lang="en-US" dirty="0">
                <a:solidFill>
                  <a:srgbClr val="010000"/>
                </a:solidFill>
                <a:cs typeface="Arial"/>
              </a:rPr>
              <a:t> </a:t>
            </a:r>
            <a:r>
              <a:rPr lang="en-US" spc="10" dirty="0">
                <a:solidFill>
                  <a:srgbClr val="010000"/>
                </a:solidFill>
                <a:cs typeface="Arial"/>
              </a:rPr>
              <a:t>becomes</a:t>
            </a:r>
            <a:r>
              <a:rPr lang="en-US" dirty="0">
                <a:solidFill>
                  <a:srgbClr val="010000"/>
                </a:solidFill>
                <a:cs typeface="Arial"/>
              </a:rPr>
              <a:t> </a:t>
            </a:r>
            <a:r>
              <a:rPr lang="en-US" spc="5" dirty="0">
                <a:solidFill>
                  <a:srgbClr val="010000"/>
                </a:solidFill>
                <a:cs typeface="Arial"/>
              </a:rPr>
              <a:t>the bottleneck</a:t>
            </a:r>
          </a:p>
          <a:p>
            <a:pPr marL="355600" marR="396240" indent="-342900">
              <a:lnSpc>
                <a:spcPct val="101400"/>
              </a:lnSpc>
              <a:tabLst>
                <a:tab pos="204470" algn="l"/>
              </a:tabLst>
            </a:pPr>
            <a:r>
              <a:rPr lang="en-US" spc="10" dirty="0">
                <a:solidFill>
                  <a:srgbClr val="010000"/>
                </a:solidFill>
                <a:cs typeface="Arial"/>
              </a:rPr>
              <a:t>The</a:t>
            </a:r>
            <a:r>
              <a:rPr lang="en-US" spc="5" dirty="0">
                <a:solidFill>
                  <a:srgbClr val="010000"/>
                </a:solidFill>
                <a:cs typeface="Arial"/>
              </a:rPr>
              <a:t> syste</a:t>
            </a:r>
            <a:r>
              <a:rPr lang="en-US" spc="15" dirty="0">
                <a:solidFill>
                  <a:srgbClr val="010000"/>
                </a:solidFill>
                <a:cs typeface="Arial"/>
              </a:rPr>
              <a:t>m</a:t>
            </a:r>
            <a:r>
              <a:rPr lang="en-US" spc="5" dirty="0">
                <a:solidFill>
                  <a:srgbClr val="010000"/>
                </a:solidFill>
                <a:cs typeface="Arial"/>
              </a:rPr>
              <a:t> must support</a:t>
            </a:r>
            <a:r>
              <a:rPr lang="en-US" spc="10" dirty="0">
                <a:solidFill>
                  <a:srgbClr val="010000"/>
                </a:solidFill>
                <a:cs typeface="Arial"/>
              </a:rPr>
              <a:t> </a:t>
            </a:r>
            <a:r>
              <a:rPr lang="en-US" spc="5" dirty="0">
                <a:solidFill>
                  <a:srgbClr val="010000"/>
                </a:solidFill>
                <a:cs typeface="Arial"/>
              </a:rPr>
              <a:t>partial</a:t>
            </a:r>
            <a:r>
              <a:rPr lang="en-US" dirty="0">
                <a:solidFill>
                  <a:srgbClr val="010000"/>
                </a:solidFill>
                <a:cs typeface="Arial"/>
              </a:rPr>
              <a:t> </a:t>
            </a:r>
            <a:r>
              <a:rPr lang="en-US" spc="5" dirty="0">
                <a:solidFill>
                  <a:srgbClr val="010000"/>
                </a:solidFill>
                <a:cs typeface="Arial"/>
              </a:rPr>
              <a:t>failure</a:t>
            </a:r>
          </a:p>
          <a:p>
            <a:pPr marL="355600" marR="396240" indent="-342900">
              <a:lnSpc>
                <a:spcPct val="101400"/>
              </a:lnSpc>
              <a:tabLst>
                <a:tab pos="204470" algn="l"/>
              </a:tabLst>
            </a:pPr>
            <a:r>
              <a:rPr lang="en-US" spc="5" dirty="0">
                <a:solidFill>
                  <a:srgbClr val="010000"/>
                </a:solidFill>
                <a:cs typeface="Arial"/>
              </a:rPr>
              <a:t>Addin</a:t>
            </a:r>
            <a:r>
              <a:rPr lang="en-US" spc="10" dirty="0">
                <a:solidFill>
                  <a:srgbClr val="010000"/>
                </a:solidFill>
                <a:cs typeface="Arial"/>
              </a:rPr>
              <a:t>g load</a:t>
            </a:r>
            <a:r>
              <a:rPr lang="en-US" spc="5" dirty="0">
                <a:solidFill>
                  <a:srgbClr val="010000"/>
                </a:solidFill>
                <a:cs typeface="Arial"/>
              </a:rPr>
              <a:t> to the syste</a:t>
            </a:r>
            <a:r>
              <a:rPr lang="en-US" spc="15" dirty="0">
                <a:solidFill>
                  <a:srgbClr val="010000"/>
                </a:solidFill>
                <a:cs typeface="Arial"/>
              </a:rPr>
              <a:t>m</a:t>
            </a:r>
            <a:r>
              <a:rPr lang="en-US" spc="5" dirty="0">
                <a:solidFill>
                  <a:srgbClr val="010000"/>
                </a:solidFill>
                <a:cs typeface="Arial"/>
              </a:rPr>
              <a:t> shoul</a:t>
            </a:r>
            <a:r>
              <a:rPr lang="en-US" spc="10" dirty="0">
                <a:solidFill>
                  <a:srgbClr val="010000"/>
                </a:solidFill>
                <a:cs typeface="Arial"/>
              </a:rPr>
              <a:t>d </a:t>
            </a:r>
            <a:r>
              <a:rPr lang="en-US" dirty="0">
                <a:solidFill>
                  <a:srgbClr val="010000"/>
                </a:solidFill>
                <a:cs typeface="Arial"/>
              </a:rPr>
              <a:t>resul</a:t>
            </a:r>
            <a:r>
              <a:rPr lang="en-US" spc="5" dirty="0">
                <a:solidFill>
                  <a:srgbClr val="010000"/>
                </a:solidFill>
                <a:cs typeface="Arial"/>
              </a:rPr>
              <a:t>t</a:t>
            </a:r>
            <a:r>
              <a:rPr lang="en-US" spc="10" dirty="0">
                <a:solidFill>
                  <a:srgbClr val="010000"/>
                </a:solidFill>
                <a:cs typeface="Arial"/>
              </a:rPr>
              <a:t> </a:t>
            </a:r>
            <a:r>
              <a:rPr lang="en-US" spc="5" dirty="0">
                <a:solidFill>
                  <a:srgbClr val="010000"/>
                </a:solidFill>
                <a:cs typeface="Arial"/>
              </a:rPr>
              <a:t>in </a:t>
            </a:r>
            <a:r>
              <a:rPr lang="en-US" spc="10" dirty="0">
                <a:solidFill>
                  <a:srgbClr val="010000"/>
                </a:solidFill>
                <a:cs typeface="Arial"/>
              </a:rPr>
              <a:t>a</a:t>
            </a:r>
            <a:r>
              <a:rPr lang="en-US" spc="5" dirty="0">
                <a:solidFill>
                  <a:srgbClr val="010000"/>
                </a:solidFill>
                <a:cs typeface="Arial"/>
              </a:rPr>
              <a:t> graceful</a:t>
            </a:r>
            <a:r>
              <a:rPr lang="en-US" dirty="0">
                <a:solidFill>
                  <a:srgbClr val="010000"/>
                </a:solidFill>
                <a:cs typeface="Arial"/>
              </a:rPr>
              <a:t> </a:t>
            </a:r>
            <a:r>
              <a:rPr lang="en-US" spc="5" dirty="0">
                <a:solidFill>
                  <a:srgbClr val="010000"/>
                </a:solidFill>
                <a:cs typeface="Arial"/>
              </a:rPr>
              <a:t>decline</a:t>
            </a:r>
            <a:r>
              <a:rPr lang="en-US" dirty="0">
                <a:solidFill>
                  <a:srgbClr val="010000"/>
                </a:solidFill>
                <a:cs typeface="Arial"/>
              </a:rPr>
              <a:t> </a:t>
            </a:r>
            <a:r>
              <a:rPr lang="en-US" spc="5" dirty="0">
                <a:solidFill>
                  <a:srgbClr val="010000"/>
                </a:solidFill>
                <a:cs typeface="Arial"/>
              </a:rPr>
              <a:t>in</a:t>
            </a:r>
            <a:r>
              <a:rPr lang="en-US" spc="10" dirty="0">
                <a:solidFill>
                  <a:srgbClr val="010000"/>
                </a:solidFill>
                <a:cs typeface="Arial"/>
              </a:rPr>
              <a:t> performance</a:t>
            </a:r>
          </a:p>
          <a:p>
            <a:pPr marL="355600" marR="396240" indent="-342900">
              <a:lnSpc>
                <a:spcPct val="101400"/>
              </a:lnSpc>
              <a:tabLst>
                <a:tab pos="204470" algn="l"/>
              </a:tabLst>
            </a:pPr>
            <a:endParaRPr lang="en-US" sz="2400" dirty="0">
              <a:cs typeface="Arial"/>
            </a:endParaRPr>
          </a:p>
          <a:p>
            <a:pPr marL="355600" marR="396240" indent="-342900">
              <a:lnSpc>
                <a:spcPct val="101400"/>
              </a:lnSpc>
              <a:tabLst>
                <a:tab pos="204470" algn="l"/>
              </a:tabLst>
            </a:pPr>
            <a:endParaRPr lang="en-US" sz="2400" dirty="0">
              <a:cs typeface="Arial"/>
            </a:endParaRPr>
          </a:p>
          <a:p>
            <a:pPr marL="355600" marR="396240" indent="-342900">
              <a:lnSpc>
                <a:spcPct val="101400"/>
              </a:lnSpc>
              <a:tabLst>
                <a:tab pos="204470" algn="l"/>
              </a:tabLst>
            </a:pPr>
            <a:endParaRPr lang="en-US" sz="2400" dirty="0"/>
          </a:p>
          <a:p>
            <a:pPr marL="339725" indent="-339725">
              <a:tabLst>
                <a:tab pos="204470" algn="l"/>
              </a:tabLst>
            </a:pPr>
            <a:endParaRPr lang="en-US" sz="2400" dirty="0">
              <a:cs typeface="Arial"/>
            </a:endParaRPr>
          </a:p>
          <a:p>
            <a:pPr marL="339725" indent="-339725">
              <a:tabLst>
                <a:tab pos="204470" algn="l"/>
              </a:tabLst>
            </a:pPr>
            <a:endParaRPr lang="en-US" sz="2400" spc="5" dirty="0">
              <a:solidFill>
                <a:srgbClr val="010000"/>
              </a:solidFill>
              <a:cs typeface="Arial"/>
            </a:endParaRPr>
          </a:p>
          <a:p>
            <a:pPr marL="339725" indent="-339725">
              <a:tabLst>
                <a:tab pos="204470" algn="l"/>
              </a:tabLst>
            </a:pPr>
            <a:endParaRPr lang="en-US" sz="2400" dirty="0">
              <a:cs typeface="Arial"/>
            </a:endParaRPr>
          </a:p>
          <a:p>
            <a:pPr marL="339725" indent="-339725">
              <a:lnSpc>
                <a:spcPct val="100000"/>
              </a:lnSpc>
              <a:tabLst>
                <a:tab pos="204470" algn="l"/>
              </a:tabLst>
            </a:pPr>
            <a:endParaRPr lang="en-US" sz="2400" dirty="0"/>
          </a:p>
          <a:p>
            <a:pPr marL="339725" indent="-339725">
              <a:lnSpc>
                <a:spcPct val="100000"/>
              </a:lnSpc>
              <a:tabLst>
                <a:tab pos="204470" algn="l"/>
              </a:tabLst>
            </a:pPr>
            <a:endParaRPr lang="en-US" sz="2400" dirty="0"/>
          </a:p>
          <a:p>
            <a:pPr marL="339725" indent="-339725"/>
            <a:endParaRPr lang="en-US" sz="2400" dirty="0"/>
          </a:p>
        </p:txBody>
      </p:sp>
    </p:spTree>
    <p:extLst>
      <p:ext uri="{BB962C8B-B14F-4D97-AF65-F5344CB8AC3E}">
        <p14:creationId xmlns:p14="http://schemas.microsoft.com/office/powerpoint/2010/main" val="2112536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9937D-092A-4B62-B819-9306D5C4F653}"/>
              </a:ext>
            </a:extLst>
          </p:cNvPr>
          <p:cNvSpPr>
            <a:spLocks noGrp="1"/>
          </p:cNvSpPr>
          <p:nvPr>
            <p:ph type="title"/>
          </p:nvPr>
        </p:nvSpPr>
        <p:spPr/>
        <p:txBody>
          <a:bodyPr/>
          <a:lstStyle/>
          <a:p>
            <a:r>
              <a:rPr lang="en-IN" dirty="0"/>
              <a:t>Motivation</a:t>
            </a:r>
          </a:p>
        </p:txBody>
      </p:sp>
      <p:sp>
        <p:nvSpPr>
          <p:cNvPr id="3" name="Content Placeholder 2">
            <a:extLst>
              <a:ext uri="{FF2B5EF4-FFF2-40B4-BE49-F238E27FC236}">
                <a16:creationId xmlns:a16="http://schemas.microsoft.com/office/drawing/2014/main" id="{91F592D4-A6BB-4C0F-B78A-C94357010817}"/>
              </a:ext>
            </a:extLst>
          </p:cNvPr>
          <p:cNvSpPr>
            <a:spLocks noGrp="1"/>
          </p:cNvSpPr>
          <p:nvPr>
            <p:ph idx="1"/>
          </p:nvPr>
        </p:nvSpPr>
        <p:spPr/>
        <p:txBody>
          <a:bodyPr/>
          <a:lstStyle/>
          <a:p>
            <a:r>
              <a:rPr lang="en-US" dirty="0"/>
              <a:t>Ability to scale out to Petabytes in size using commodity hardware</a:t>
            </a:r>
          </a:p>
          <a:p>
            <a:r>
              <a:rPr lang="en-US" dirty="0"/>
              <a:t>Processing (MapReduce) jobs are sent to the data versus shipping the data to be processed</a:t>
            </a:r>
          </a:p>
          <a:p>
            <a:r>
              <a:rPr lang="en-US" dirty="0"/>
              <a:t>Hadoop doesn’t impose a single data format so it can easily handle structure, semi-structure and unstructured data</a:t>
            </a:r>
          </a:p>
          <a:p>
            <a:r>
              <a:rPr lang="en-US" dirty="0"/>
              <a:t>Manages fault tolerance and data replication automatically</a:t>
            </a:r>
          </a:p>
          <a:p>
            <a:endParaRPr lang="en-IN" dirty="0"/>
          </a:p>
        </p:txBody>
      </p:sp>
    </p:spTree>
    <p:extLst>
      <p:ext uri="{BB962C8B-B14F-4D97-AF65-F5344CB8AC3E}">
        <p14:creationId xmlns:p14="http://schemas.microsoft.com/office/powerpoint/2010/main" val="40112283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Core Principles</a:t>
            </a:r>
          </a:p>
        </p:txBody>
      </p:sp>
      <p:sp>
        <p:nvSpPr>
          <p:cNvPr id="3" name="Content Placeholder 2"/>
          <p:cNvSpPr>
            <a:spLocks noGrp="1"/>
          </p:cNvSpPr>
          <p:nvPr>
            <p:ph idx="1"/>
          </p:nvPr>
        </p:nvSpPr>
        <p:spPr/>
        <p:txBody>
          <a:bodyPr/>
          <a:lstStyle/>
          <a:p>
            <a:pPr marL="361950" indent="-361950"/>
            <a:r>
              <a:rPr lang="en-US" altLang="en-US" sz="3200" dirty="0"/>
              <a:t>Scale-Out rather than Scale-Up</a:t>
            </a:r>
          </a:p>
          <a:p>
            <a:pPr marL="361950" indent="-361950"/>
            <a:r>
              <a:rPr lang="en-US" altLang="en-US" sz="3200" dirty="0"/>
              <a:t>Bring code to data rather than data to code</a:t>
            </a:r>
          </a:p>
          <a:p>
            <a:pPr marL="361950" indent="-361950"/>
            <a:r>
              <a:rPr lang="en-US" altLang="en-US" sz="3200" dirty="0"/>
              <a:t>Deal with failures – they are common</a:t>
            </a:r>
          </a:p>
          <a:p>
            <a:pPr marL="361950" indent="-361950"/>
            <a:r>
              <a:rPr lang="en-US" altLang="en-US" sz="3200" dirty="0"/>
              <a:t>Abstract complexity of distributed and concurrent applications</a:t>
            </a:r>
          </a:p>
          <a:p>
            <a:endParaRPr lang="en-US" dirty="0"/>
          </a:p>
        </p:txBody>
      </p:sp>
    </p:spTree>
    <p:extLst>
      <p:ext uri="{BB962C8B-B14F-4D97-AF65-F5344CB8AC3E}">
        <p14:creationId xmlns:p14="http://schemas.microsoft.com/office/powerpoint/2010/main" val="25574158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dirty="0"/>
              <a:t>Scale-Out rather than Scale-Up</a:t>
            </a:r>
            <a:endParaRPr lang="en-US" dirty="0"/>
          </a:p>
        </p:txBody>
      </p:sp>
      <p:sp>
        <p:nvSpPr>
          <p:cNvPr id="3" name="Content Placeholder 2"/>
          <p:cNvSpPr>
            <a:spLocks noGrp="1"/>
          </p:cNvSpPr>
          <p:nvPr>
            <p:ph idx="1"/>
          </p:nvPr>
        </p:nvSpPr>
        <p:spPr/>
        <p:txBody>
          <a:bodyPr>
            <a:normAutofit fontScale="92500" lnSpcReduction="10000"/>
          </a:bodyPr>
          <a:lstStyle/>
          <a:p>
            <a:pPr marL="280988" indent="-280988"/>
            <a:r>
              <a:rPr lang="en-US" altLang="en-US" b="1" dirty="0"/>
              <a:t>It is harder and more expensive to Scale-Up</a:t>
            </a:r>
          </a:p>
          <a:p>
            <a:pPr marL="633413" lvl="1" indent="-287338"/>
            <a:r>
              <a:rPr lang="en-US" altLang="en-US" dirty="0"/>
              <a:t>Add additional resources to an existing node (CPU, RAM)</a:t>
            </a:r>
          </a:p>
          <a:p>
            <a:pPr marL="633413" lvl="1" indent="-287338"/>
            <a:r>
              <a:rPr lang="en-US" altLang="en-US" dirty="0"/>
              <a:t>Moore’s Law can’t keep up with data growth</a:t>
            </a:r>
          </a:p>
          <a:p>
            <a:pPr marL="633413" lvl="1" indent="-287338"/>
            <a:r>
              <a:rPr lang="en-US" altLang="en-US" dirty="0"/>
              <a:t>New units must be purchased if required resources can not be added</a:t>
            </a:r>
          </a:p>
          <a:p>
            <a:pPr marL="633413" lvl="1" indent="-287338"/>
            <a:r>
              <a:rPr lang="en-US" altLang="en-US" dirty="0"/>
              <a:t>Also known as scale vertically</a:t>
            </a:r>
          </a:p>
          <a:p>
            <a:pPr marL="509588" lvl="1" indent="-163513"/>
            <a:endParaRPr lang="en-US" altLang="en-US" sz="1700" dirty="0"/>
          </a:p>
          <a:p>
            <a:pPr marL="236538" indent="-236538"/>
            <a:r>
              <a:rPr lang="en-US" altLang="en-US" b="1" dirty="0"/>
              <a:t>Scale-Out</a:t>
            </a:r>
          </a:p>
          <a:p>
            <a:pPr marL="633413" lvl="1" indent="-287338"/>
            <a:r>
              <a:rPr lang="en-US" altLang="en-US" dirty="0"/>
              <a:t>Add more nodes/machines to an existing distributed application</a:t>
            </a:r>
          </a:p>
          <a:p>
            <a:pPr marL="633413" lvl="1" indent="-287338"/>
            <a:r>
              <a:rPr lang="en-US" altLang="en-US" dirty="0"/>
              <a:t>Software Layer is designed for node additions or removal</a:t>
            </a:r>
          </a:p>
          <a:p>
            <a:pPr marL="633413" lvl="1" indent="-287338"/>
            <a:r>
              <a:rPr lang="en-US" altLang="en-US" dirty="0"/>
              <a:t>Hadoop takes this approach - A set of nodes are bonded together as a single distributed system</a:t>
            </a:r>
          </a:p>
          <a:p>
            <a:pPr marL="633413" lvl="1" indent="-287338"/>
            <a:r>
              <a:rPr lang="en-US" altLang="en-US" dirty="0"/>
              <a:t>Very easy to scale down as well</a:t>
            </a:r>
          </a:p>
          <a:p>
            <a:pPr marL="0" indent="0">
              <a:buNone/>
            </a:pPr>
            <a:endParaRPr lang="en-US" b="1" dirty="0"/>
          </a:p>
        </p:txBody>
      </p:sp>
    </p:spTree>
    <p:extLst>
      <p:ext uri="{BB962C8B-B14F-4D97-AF65-F5344CB8AC3E}">
        <p14:creationId xmlns:p14="http://schemas.microsoft.com/office/powerpoint/2010/main" val="27467868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3000" dirty="0"/>
              <a:t>Bring Code to Data rather than Data to Code</a:t>
            </a:r>
          </a:p>
        </p:txBody>
      </p:sp>
      <p:sp>
        <p:nvSpPr>
          <p:cNvPr id="3" name="Content Placeholder 2"/>
          <p:cNvSpPr>
            <a:spLocks noGrp="1"/>
          </p:cNvSpPr>
          <p:nvPr>
            <p:ph idx="1"/>
          </p:nvPr>
        </p:nvSpPr>
        <p:spPr>
          <a:xfrm>
            <a:off x="457200" y="1447800"/>
            <a:ext cx="8458200" cy="5181600"/>
          </a:xfrm>
        </p:spPr>
        <p:txBody>
          <a:bodyPr/>
          <a:lstStyle/>
          <a:p>
            <a:pPr marL="455613" indent="-280988"/>
            <a:r>
              <a:rPr lang="en-US" altLang="en-US" sz="2400" dirty="0"/>
              <a:t>Hadoop co-locates processors and storage</a:t>
            </a:r>
          </a:p>
          <a:p>
            <a:pPr marL="455613" indent="-280988"/>
            <a:r>
              <a:rPr lang="en-US" altLang="en-US" sz="2400" dirty="0"/>
              <a:t>Code is moved to data (size is tiny, usually in KBs)</a:t>
            </a:r>
          </a:p>
          <a:p>
            <a:pPr marL="455613" indent="-280988"/>
            <a:r>
              <a:rPr lang="en-US" altLang="en-US" sz="2400" dirty="0"/>
              <a:t>Processors execute code and access underlying local storage</a:t>
            </a:r>
          </a:p>
          <a:p>
            <a:pPr marL="339725" indent="-339725"/>
            <a:endParaRPr lang="en-US" b="1" dirty="0"/>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3197964"/>
            <a:ext cx="6096000" cy="3202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124435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838200"/>
          </a:xfrm>
        </p:spPr>
        <p:txBody>
          <a:bodyPr>
            <a:noAutofit/>
          </a:bodyPr>
          <a:lstStyle/>
          <a:p>
            <a:pPr marR="396240" indent="12700">
              <a:lnSpc>
                <a:spcPct val="101400"/>
              </a:lnSpc>
              <a:tabLst>
                <a:tab pos="204470" algn="l"/>
              </a:tabLst>
            </a:pPr>
            <a:r>
              <a:rPr lang="en-US" altLang="en-US" sz="2800" dirty="0"/>
              <a:t>Hadoop is designed to cope with node failures</a:t>
            </a:r>
          </a:p>
        </p:txBody>
      </p:sp>
      <p:sp>
        <p:nvSpPr>
          <p:cNvPr id="3" name="Content Placeholder 2"/>
          <p:cNvSpPr>
            <a:spLocks noGrp="1"/>
          </p:cNvSpPr>
          <p:nvPr>
            <p:ph idx="1"/>
          </p:nvPr>
        </p:nvSpPr>
        <p:spPr/>
        <p:txBody>
          <a:bodyPr>
            <a:normAutofit fontScale="92500"/>
          </a:bodyPr>
          <a:lstStyle/>
          <a:p>
            <a:pPr marL="347345" marR="396240" indent="-342900">
              <a:lnSpc>
                <a:spcPct val="101400"/>
              </a:lnSpc>
              <a:tabLst>
                <a:tab pos="204470" algn="l"/>
              </a:tabLst>
            </a:pPr>
            <a:r>
              <a:rPr lang="en-US" dirty="0"/>
              <a:t>If a node fails, the master will detect that failure and re-assign the work to a different node on the system</a:t>
            </a:r>
          </a:p>
          <a:p>
            <a:pPr marL="347345" marR="396240" indent="-342900">
              <a:lnSpc>
                <a:spcPct val="101400"/>
              </a:lnSpc>
              <a:tabLst>
                <a:tab pos="204470" algn="l"/>
              </a:tabLst>
            </a:pPr>
            <a:r>
              <a:rPr lang="en-US" dirty="0"/>
              <a:t>Restarting a task does not require communication with nodes working on other portions of the data</a:t>
            </a:r>
          </a:p>
          <a:p>
            <a:pPr marL="347345" marR="396240" indent="-342900">
              <a:lnSpc>
                <a:spcPct val="101400"/>
              </a:lnSpc>
              <a:tabLst>
                <a:tab pos="204470" algn="l"/>
              </a:tabLst>
            </a:pPr>
            <a:r>
              <a:rPr lang="en-US" dirty="0"/>
              <a:t>If a failed node restarts, it is automatically added back to the system and assigned new tasks</a:t>
            </a:r>
          </a:p>
          <a:p>
            <a:pPr marL="347345" marR="396240" indent="-342900">
              <a:lnSpc>
                <a:spcPct val="101400"/>
              </a:lnSpc>
              <a:tabLst>
                <a:tab pos="204470" algn="l"/>
              </a:tabLst>
            </a:pPr>
            <a:r>
              <a:rPr lang="en-US" dirty="0"/>
              <a:t>If a node appears to be running slowly, the master can redundantly execute another instance of the same task</a:t>
            </a:r>
          </a:p>
          <a:p>
            <a:pPr marL="804545" marR="396240" lvl="1" indent="-342900">
              <a:lnSpc>
                <a:spcPct val="101400"/>
              </a:lnSpc>
              <a:tabLst>
                <a:tab pos="204470" algn="l"/>
              </a:tabLst>
            </a:pPr>
            <a:r>
              <a:rPr lang="en-US" sz="2200" dirty="0"/>
              <a:t>Results from the first to finish will be used</a:t>
            </a:r>
          </a:p>
          <a:p>
            <a:endParaRPr lang="en-US" dirty="0"/>
          </a:p>
        </p:txBody>
      </p:sp>
    </p:spTree>
    <p:extLst>
      <p:ext uri="{BB962C8B-B14F-4D97-AF65-F5344CB8AC3E}">
        <p14:creationId xmlns:p14="http://schemas.microsoft.com/office/powerpoint/2010/main" val="24977015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4" name="Title 1"/>
          <p:cNvSpPr>
            <a:spLocks noGrp="1"/>
          </p:cNvSpPr>
          <p:nvPr>
            <p:ph type="title"/>
          </p:nvPr>
        </p:nvSpPr>
        <p:spPr>
          <a:xfrm>
            <a:off x="381000" y="509587"/>
            <a:ext cx="8458201" cy="557213"/>
          </a:xfrm>
        </p:spPr>
        <p:txBody>
          <a:bodyPr>
            <a:noAutofit/>
          </a:bodyPr>
          <a:lstStyle/>
          <a:p>
            <a:r>
              <a:rPr lang="en-US" dirty="0"/>
              <a:t>Hadoop Distributed File System</a:t>
            </a:r>
          </a:p>
        </p:txBody>
      </p:sp>
      <p:sp>
        <p:nvSpPr>
          <p:cNvPr id="8" name="Footer Placeholder 3"/>
          <p:cNvSpPr>
            <a:spLocks noGrp="1"/>
          </p:cNvSpPr>
          <p:nvPr>
            <p:ph type="ftr" sz="quarter" idx="11"/>
          </p:nvPr>
        </p:nvSpPr>
        <p:spPr>
          <a:xfrm>
            <a:off x="3124200" y="6477000"/>
            <a:ext cx="2895600" cy="304800"/>
          </a:xfrm>
        </p:spPr>
        <p:txBody>
          <a:bodyPr/>
          <a:lstStyle/>
          <a:p>
            <a:r>
              <a:rPr lang="en-US" dirty="0"/>
              <a:t>©2011 Cloudera, Inc. All Rights Reserved.</a:t>
            </a:r>
          </a:p>
        </p:txBody>
      </p:sp>
      <p:sp>
        <p:nvSpPr>
          <p:cNvPr id="9" name="Slide Number Placeholder 4"/>
          <p:cNvSpPr>
            <a:spLocks noGrp="1"/>
          </p:cNvSpPr>
          <p:nvPr>
            <p:ph type="sldNum" sz="quarter" idx="12"/>
          </p:nvPr>
        </p:nvSpPr>
        <p:spPr>
          <a:xfrm>
            <a:off x="304800" y="6291072"/>
            <a:ext cx="2133600" cy="365125"/>
          </a:xfrm>
        </p:spPr>
        <p:txBody>
          <a:bodyPr/>
          <a:lstStyle/>
          <a:p>
            <a:fld id="{EC913D36-5D07-4228-ACDA-B3825FFA9D99}" type="slidenum">
              <a:rPr lang="en-US" smtClean="0"/>
              <a:pPr/>
              <a:t>27</a:t>
            </a:fld>
            <a:endParaRPr lang="en-US" dirty="0"/>
          </a:p>
        </p:txBody>
      </p:sp>
      <p:sp>
        <p:nvSpPr>
          <p:cNvPr id="129" name="TextBox 10">
            <a:extLst>
              <a:ext uri="{FF2B5EF4-FFF2-40B4-BE49-F238E27FC236}">
                <a16:creationId xmlns:a16="http://schemas.microsoft.com/office/drawing/2014/main" id="{27C3551C-32D6-47FE-B7C5-9C5DEB0704AC}"/>
              </a:ext>
            </a:extLst>
          </p:cNvPr>
          <p:cNvSpPr txBox="1">
            <a:spLocks noChangeArrowheads="1"/>
          </p:cNvSpPr>
          <p:nvPr/>
        </p:nvSpPr>
        <p:spPr bwMode="auto">
          <a:xfrm>
            <a:off x="457200" y="1752599"/>
            <a:ext cx="3276600" cy="830997"/>
          </a:xfrm>
          <a:prstGeom prst="rect">
            <a:avLst/>
          </a:prstGeom>
          <a:noFill/>
          <a:ln w="9525">
            <a:noFill/>
            <a:miter lim="800000"/>
            <a:headEnd/>
            <a:tailEnd/>
          </a:ln>
        </p:spPr>
        <p:txBody>
          <a:bodyPr>
            <a:spAutoFit/>
          </a:bodyPr>
          <a:lstStyle/>
          <a:p>
            <a:pPr algn="ctr"/>
            <a:r>
              <a:rPr lang="en-US" sz="2400" dirty="0">
                <a:solidFill>
                  <a:prstClr val="black"/>
                </a:solidFill>
                <a:cs typeface="Arial" pitchFamily="34" charset="0"/>
              </a:rPr>
              <a:t>Block Size = 64MB</a:t>
            </a:r>
          </a:p>
          <a:p>
            <a:pPr algn="ctr"/>
            <a:r>
              <a:rPr lang="en-US" sz="2400" dirty="0">
                <a:solidFill>
                  <a:prstClr val="black"/>
                </a:solidFill>
                <a:cs typeface="Arial" pitchFamily="34" charset="0"/>
              </a:rPr>
              <a:t>Replication Factor = 3</a:t>
            </a:r>
          </a:p>
        </p:txBody>
      </p:sp>
      <p:sp>
        <p:nvSpPr>
          <p:cNvPr id="130" name="TextBox 10">
            <a:extLst>
              <a:ext uri="{FF2B5EF4-FFF2-40B4-BE49-F238E27FC236}">
                <a16:creationId xmlns:a16="http://schemas.microsoft.com/office/drawing/2014/main" id="{6AABD026-81E5-4308-894F-E54149660049}"/>
              </a:ext>
            </a:extLst>
          </p:cNvPr>
          <p:cNvSpPr txBox="1">
            <a:spLocks noChangeArrowheads="1"/>
          </p:cNvSpPr>
          <p:nvPr/>
        </p:nvSpPr>
        <p:spPr bwMode="auto">
          <a:xfrm>
            <a:off x="381000" y="5410199"/>
            <a:ext cx="3581400" cy="461665"/>
          </a:xfrm>
          <a:prstGeom prst="rect">
            <a:avLst/>
          </a:prstGeom>
          <a:noFill/>
          <a:ln w="9525">
            <a:noFill/>
            <a:miter lim="800000"/>
            <a:headEnd/>
            <a:tailEnd/>
          </a:ln>
        </p:spPr>
        <p:txBody>
          <a:bodyPr>
            <a:spAutoFit/>
          </a:bodyPr>
          <a:lstStyle/>
          <a:p>
            <a:pPr algn="ctr"/>
            <a:r>
              <a:rPr lang="en-US" sz="2400" dirty="0">
                <a:solidFill>
                  <a:prstClr val="black"/>
                </a:solidFill>
                <a:cs typeface="Arial" pitchFamily="34" charset="0"/>
              </a:rPr>
              <a:t>Cost is $400-$500/TB</a:t>
            </a:r>
          </a:p>
        </p:txBody>
      </p:sp>
      <p:pic>
        <p:nvPicPr>
          <p:cNvPr id="131" name="Picture 130">
            <a:extLst>
              <a:ext uri="{FF2B5EF4-FFF2-40B4-BE49-F238E27FC236}">
                <a16:creationId xmlns:a16="http://schemas.microsoft.com/office/drawing/2014/main" id="{84798597-BC6D-4970-AC9E-1946FA36319A}"/>
              </a:ext>
            </a:extLst>
          </p:cNvPr>
          <p:cNvPicPr>
            <a:picLocks noChangeAspect="1"/>
          </p:cNvPicPr>
          <p:nvPr/>
        </p:nvPicPr>
        <p:blipFill>
          <a:blip r:embed="rId3">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flipH="1">
            <a:off x="7697680" y="1905000"/>
            <a:ext cx="760520" cy="1219200"/>
          </a:xfrm>
          <a:prstGeom prst="rect">
            <a:avLst/>
          </a:prstGeom>
        </p:spPr>
      </p:pic>
      <p:grpSp>
        <p:nvGrpSpPr>
          <p:cNvPr id="132" name="Group 131">
            <a:extLst>
              <a:ext uri="{FF2B5EF4-FFF2-40B4-BE49-F238E27FC236}">
                <a16:creationId xmlns:a16="http://schemas.microsoft.com/office/drawing/2014/main" id="{1B0A9C0B-40DC-4FD5-8C97-F711065351B6}"/>
              </a:ext>
            </a:extLst>
          </p:cNvPr>
          <p:cNvGrpSpPr/>
          <p:nvPr/>
        </p:nvGrpSpPr>
        <p:grpSpPr>
          <a:xfrm>
            <a:off x="2057400" y="2743200"/>
            <a:ext cx="609600" cy="2285999"/>
            <a:chOff x="7391400" y="1797774"/>
            <a:chExt cx="1066800" cy="2405743"/>
          </a:xfrm>
        </p:grpSpPr>
        <p:sp>
          <p:nvSpPr>
            <p:cNvPr id="133" name="Chevron 11">
              <a:extLst>
                <a:ext uri="{FF2B5EF4-FFF2-40B4-BE49-F238E27FC236}">
                  <a16:creationId xmlns:a16="http://schemas.microsoft.com/office/drawing/2014/main" id="{B0E4A5A0-818F-405F-85D6-756A70E303A8}"/>
                </a:ext>
              </a:extLst>
            </p:cNvPr>
            <p:cNvSpPr/>
            <p:nvPr/>
          </p:nvSpPr>
          <p:spPr>
            <a:xfrm rot="5400000">
              <a:off x="7581900" y="1607274"/>
              <a:ext cx="685800" cy="1066800"/>
            </a:xfrm>
            <a:prstGeom prst="chevron">
              <a:avLst>
                <a:gd name="adj" fmla="val 33174"/>
              </a:avLst>
            </a:prstGeom>
            <a:gradFill flip="none" rotWithShape="1">
              <a:gsLst>
                <a:gs pos="0">
                  <a:srgbClr val="42A618">
                    <a:shade val="51000"/>
                    <a:satMod val="130000"/>
                  </a:srgbClr>
                </a:gs>
                <a:gs pos="80000">
                  <a:srgbClr val="42A618">
                    <a:shade val="93000"/>
                    <a:satMod val="130000"/>
                  </a:srgbClr>
                </a:gs>
                <a:gs pos="100000">
                  <a:srgbClr val="42A618">
                    <a:shade val="94000"/>
                    <a:satMod val="135000"/>
                  </a:srgbClr>
                </a:gs>
              </a:gsLst>
              <a:path path="circle">
                <a:fillToRect l="50000" t="50000" r="50000" b="50000"/>
              </a:path>
              <a:tileRect/>
            </a:gradFill>
            <a:ln w="9525" cap="flat" cmpd="sng" algn="ctr">
              <a:solidFill>
                <a:srgbClr val="42A618">
                  <a:lumMod val="75000"/>
                </a:srgbClr>
              </a:solidFill>
              <a:prstDash val="solid"/>
            </a:ln>
            <a:effectLst>
              <a:outerShdw blurRad="40000" dist="23000" dir="5400000" rotWithShape="0">
                <a:srgbClr val="000000">
                  <a:alpha val="35000"/>
                </a:srgbClr>
              </a:outerShdw>
            </a:effectLst>
          </p:spPr>
          <p:txBody>
            <a:bodyPr vert="vert270"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rial Black" pitchFamily="34" charset="0"/>
                <a:ea typeface="+mn-ea"/>
                <a:cs typeface="+mn-cs"/>
              </a:endParaRPr>
            </a:p>
          </p:txBody>
        </p:sp>
        <p:sp>
          <p:nvSpPr>
            <p:cNvPr id="134" name="Chevron 12">
              <a:extLst>
                <a:ext uri="{FF2B5EF4-FFF2-40B4-BE49-F238E27FC236}">
                  <a16:creationId xmlns:a16="http://schemas.microsoft.com/office/drawing/2014/main" id="{6D52F7CA-3002-4E17-8BDB-963A7280BF39}"/>
                </a:ext>
              </a:extLst>
            </p:cNvPr>
            <p:cNvSpPr/>
            <p:nvPr/>
          </p:nvSpPr>
          <p:spPr>
            <a:xfrm rot="5400000">
              <a:off x="7581900" y="2043791"/>
              <a:ext cx="685800" cy="1066800"/>
            </a:xfrm>
            <a:prstGeom prst="chevron">
              <a:avLst>
                <a:gd name="adj" fmla="val 33174"/>
              </a:avLst>
            </a:prstGeom>
            <a:gradFill flip="none" rotWithShape="1">
              <a:gsLst>
                <a:gs pos="0">
                  <a:srgbClr val="42A618">
                    <a:shade val="51000"/>
                    <a:satMod val="130000"/>
                  </a:srgbClr>
                </a:gs>
                <a:gs pos="80000">
                  <a:srgbClr val="42A618">
                    <a:shade val="93000"/>
                    <a:satMod val="130000"/>
                  </a:srgbClr>
                </a:gs>
                <a:gs pos="100000">
                  <a:srgbClr val="42A618">
                    <a:shade val="94000"/>
                    <a:satMod val="135000"/>
                  </a:srgbClr>
                </a:gs>
              </a:gsLst>
              <a:path path="circle">
                <a:fillToRect l="50000" t="50000" r="50000" b="50000"/>
              </a:path>
              <a:tileRect/>
            </a:gradFill>
            <a:ln w="9525" cap="flat" cmpd="sng" algn="ctr">
              <a:solidFill>
                <a:srgbClr val="42A618">
                  <a:lumMod val="75000"/>
                </a:srgbClr>
              </a:solidFill>
              <a:prstDash val="solid"/>
            </a:ln>
            <a:effectLst>
              <a:outerShdw blurRad="40000" dist="23000" dir="5400000" rotWithShape="0">
                <a:srgbClr val="000000">
                  <a:alpha val="35000"/>
                </a:srgbClr>
              </a:outerShdw>
            </a:effectLst>
          </p:spPr>
          <p:txBody>
            <a:bodyPr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a typeface="+mn-ea"/>
                <a:cs typeface="+mn-cs"/>
              </a:endParaRPr>
            </a:p>
          </p:txBody>
        </p:sp>
        <p:sp>
          <p:nvSpPr>
            <p:cNvPr id="135" name="Chevron 13">
              <a:extLst>
                <a:ext uri="{FF2B5EF4-FFF2-40B4-BE49-F238E27FC236}">
                  <a16:creationId xmlns:a16="http://schemas.microsoft.com/office/drawing/2014/main" id="{4EE59151-DFCD-4733-BF03-0A8D04295215}"/>
                </a:ext>
              </a:extLst>
            </p:cNvPr>
            <p:cNvSpPr/>
            <p:nvPr/>
          </p:nvSpPr>
          <p:spPr>
            <a:xfrm rot="5400000">
              <a:off x="7581900" y="2493371"/>
              <a:ext cx="685800" cy="1066800"/>
            </a:xfrm>
            <a:prstGeom prst="chevron">
              <a:avLst>
                <a:gd name="adj" fmla="val 33174"/>
              </a:avLst>
            </a:prstGeom>
            <a:gradFill flip="none" rotWithShape="1">
              <a:gsLst>
                <a:gs pos="0">
                  <a:srgbClr val="42A618">
                    <a:shade val="51000"/>
                    <a:satMod val="130000"/>
                  </a:srgbClr>
                </a:gs>
                <a:gs pos="80000">
                  <a:srgbClr val="42A618">
                    <a:shade val="93000"/>
                    <a:satMod val="130000"/>
                  </a:srgbClr>
                </a:gs>
                <a:gs pos="100000">
                  <a:srgbClr val="42A618">
                    <a:shade val="94000"/>
                    <a:satMod val="135000"/>
                  </a:srgbClr>
                </a:gs>
              </a:gsLst>
              <a:path path="circle">
                <a:fillToRect l="50000" t="50000" r="50000" b="50000"/>
              </a:path>
              <a:tileRect/>
            </a:gradFill>
            <a:ln w="9525" cap="flat" cmpd="sng" algn="ctr">
              <a:solidFill>
                <a:srgbClr val="42A618">
                  <a:lumMod val="75000"/>
                </a:srgbClr>
              </a:solidFill>
              <a:prstDash val="solid"/>
            </a:ln>
            <a:effectLst>
              <a:outerShdw blurRad="40000" dist="23000" dir="5400000" rotWithShape="0">
                <a:srgbClr val="000000">
                  <a:alpha val="35000"/>
                </a:srgbClr>
              </a:outerShdw>
            </a:effectLst>
          </p:spPr>
          <p:txBody>
            <a:bodyPr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a typeface="+mn-ea"/>
                <a:cs typeface="+mn-cs"/>
              </a:endParaRPr>
            </a:p>
          </p:txBody>
        </p:sp>
        <p:sp>
          <p:nvSpPr>
            <p:cNvPr id="136" name="Chevron 14">
              <a:extLst>
                <a:ext uri="{FF2B5EF4-FFF2-40B4-BE49-F238E27FC236}">
                  <a16:creationId xmlns:a16="http://schemas.microsoft.com/office/drawing/2014/main" id="{7A68C037-731E-4DBC-91C5-087FE208F535}"/>
                </a:ext>
              </a:extLst>
            </p:cNvPr>
            <p:cNvSpPr/>
            <p:nvPr/>
          </p:nvSpPr>
          <p:spPr>
            <a:xfrm rot="5400000">
              <a:off x="7581900" y="2950571"/>
              <a:ext cx="685800" cy="1066800"/>
            </a:xfrm>
            <a:prstGeom prst="chevron">
              <a:avLst>
                <a:gd name="adj" fmla="val 33174"/>
              </a:avLst>
            </a:prstGeom>
            <a:gradFill flip="none" rotWithShape="1">
              <a:gsLst>
                <a:gs pos="0">
                  <a:srgbClr val="42A618">
                    <a:shade val="51000"/>
                    <a:satMod val="130000"/>
                  </a:srgbClr>
                </a:gs>
                <a:gs pos="80000">
                  <a:srgbClr val="42A618">
                    <a:shade val="93000"/>
                    <a:satMod val="130000"/>
                  </a:srgbClr>
                </a:gs>
                <a:gs pos="100000">
                  <a:srgbClr val="42A618">
                    <a:shade val="94000"/>
                    <a:satMod val="135000"/>
                  </a:srgbClr>
                </a:gs>
              </a:gsLst>
              <a:path path="circle">
                <a:fillToRect l="50000" t="50000" r="50000" b="50000"/>
              </a:path>
              <a:tileRect/>
            </a:gradFill>
            <a:ln w="9525" cap="flat" cmpd="sng" algn="ctr">
              <a:solidFill>
                <a:srgbClr val="42A618">
                  <a:lumMod val="75000"/>
                </a:srgbClr>
              </a:solidFill>
              <a:prstDash val="solid"/>
            </a:ln>
            <a:effectLst>
              <a:outerShdw blurRad="40000" dist="23000" dir="5400000" rotWithShape="0">
                <a:srgbClr val="000000">
                  <a:alpha val="35000"/>
                </a:srgbClr>
              </a:outerShdw>
            </a:effectLst>
          </p:spPr>
          <p:txBody>
            <a:bodyPr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a typeface="+mn-ea"/>
                <a:cs typeface="+mn-cs"/>
              </a:endParaRPr>
            </a:p>
          </p:txBody>
        </p:sp>
        <p:sp>
          <p:nvSpPr>
            <p:cNvPr id="137" name="Chevron 15">
              <a:extLst>
                <a:ext uri="{FF2B5EF4-FFF2-40B4-BE49-F238E27FC236}">
                  <a16:creationId xmlns:a16="http://schemas.microsoft.com/office/drawing/2014/main" id="{86E2CDAF-8754-4CEE-B095-F4E262BC361A}"/>
                </a:ext>
              </a:extLst>
            </p:cNvPr>
            <p:cNvSpPr/>
            <p:nvPr/>
          </p:nvSpPr>
          <p:spPr>
            <a:xfrm rot="5400000">
              <a:off x="7603127" y="3348444"/>
              <a:ext cx="643346" cy="1066800"/>
            </a:xfrm>
            <a:prstGeom prst="chevron">
              <a:avLst>
                <a:gd name="adj" fmla="val 33174"/>
              </a:avLst>
            </a:prstGeom>
            <a:gradFill flip="none" rotWithShape="1">
              <a:gsLst>
                <a:gs pos="0">
                  <a:srgbClr val="42A618">
                    <a:shade val="51000"/>
                    <a:satMod val="130000"/>
                  </a:srgbClr>
                </a:gs>
                <a:gs pos="80000">
                  <a:srgbClr val="42A618">
                    <a:shade val="93000"/>
                    <a:satMod val="130000"/>
                  </a:srgbClr>
                </a:gs>
                <a:gs pos="100000">
                  <a:srgbClr val="42A618">
                    <a:shade val="94000"/>
                    <a:satMod val="135000"/>
                  </a:srgbClr>
                </a:gs>
              </a:gsLst>
              <a:path path="circle">
                <a:fillToRect l="50000" t="50000" r="50000" b="50000"/>
              </a:path>
              <a:tileRect/>
            </a:gradFill>
            <a:ln w="9525" cap="flat" cmpd="sng" algn="ctr">
              <a:solidFill>
                <a:srgbClr val="42A618">
                  <a:lumMod val="75000"/>
                </a:srgbClr>
              </a:solidFill>
              <a:prstDash val="solid"/>
            </a:ln>
            <a:effectLst>
              <a:outerShdw blurRad="40000" dist="23000" dir="5400000" rotWithShape="0">
                <a:srgbClr val="000000">
                  <a:alpha val="35000"/>
                </a:srgbClr>
              </a:outerShdw>
            </a:effectLst>
          </p:spPr>
          <p:txBody>
            <a:bodyPr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a typeface="+mn-ea"/>
                <a:cs typeface="+mn-cs"/>
              </a:endParaRPr>
            </a:p>
          </p:txBody>
        </p:sp>
        <p:sp>
          <p:nvSpPr>
            <p:cNvPr id="138" name="TextBox 137">
              <a:extLst>
                <a:ext uri="{FF2B5EF4-FFF2-40B4-BE49-F238E27FC236}">
                  <a16:creationId xmlns:a16="http://schemas.microsoft.com/office/drawing/2014/main" id="{A00FE125-9AD6-447B-A94E-DF87644CB885}"/>
                </a:ext>
              </a:extLst>
            </p:cNvPr>
            <p:cNvSpPr txBox="1"/>
            <p:nvPr/>
          </p:nvSpPr>
          <p:spPr>
            <a:xfrm>
              <a:off x="7391400" y="2040523"/>
              <a:ext cx="1066800" cy="33855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white"/>
                  </a:solidFill>
                  <a:effectLst/>
                  <a:uLnTx/>
                  <a:uFillTx/>
                  <a:cs typeface="Arial" pitchFamily="34" charset="0"/>
                </a:rPr>
                <a:t>1</a:t>
              </a:r>
            </a:p>
          </p:txBody>
        </p:sp>
        <p:sp>
          <p:nvSpPr>
            <p:cNvPr id="139" name="TextBox 138">
              <a:extLst>
                <a:ext uri="{FF2B5EF4-FFF2-40B4-BE49-F238E27FC236}">
                  <a16:creationId xmlns:a16="http://schemas.microsoft.com/office/drawing/2014/main" id="{AEDE2DD6-51E6-44C8-9606-39A787C37DAF}"/>
                </a:ext>
              </a:extLst>
            </p:cNvPr>
            <p:cNvSpPr txBox="1"/>
            <p:nvPr/>
          </p:nvSpPr>
          <p:spPr>
            <a:xfrm>
              <a:off x="7391400" y="2483574"/>
              <a:ext cx="1066800" cy="33855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white"/>
                  </a:solidFill>
                  <a:effectLst/>
                  <a:uLnTx/>
                  <a:uFillTx/>
                  <a:cs typeface="Arial" pitchFamily="34" charset="0"/>
                </a:rPr>
                <a:t>2</a:t>
              </a:r>
            </a:p>
          </p:txBody>
        </p:sp>
        <p:sp>
          <p:nvSpPr>
            <p:cNvPr id="140" name="TextBox 139">
              <a:extLst>
                <a:ext uri="{FF2B5EF4-FFF2-40B4-BE49-F238E27FC236}">
                  <a16:creationId xmlns:a16="http://schemas.microsoft.com/office/drawing/2014/main" id="{083527EB-C3D4-4197-A00E-C44336942404}"/>
                </a:ext>
              </a:extLst>
            </p:cNvPr>
            <p:cNvSpPr txBox="1"/>
            <p:nvPr/>
          </p:nvSpPr>
          <p:spPr>
            <a:xfrm>
              <a:off x="7391400" y="2920091"/>
              <a:ext cx="1066800" cy="33855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white"/>
                  </a:solidFill>
                  <a:effectLst/>
                  <a:uLnTx/>
                  <a:uFillTx/>
                  <a:cs typeface="Arial" pitchFamily="34" charset="0"/>
                </a:rPr>
                <a:t>3</a:t>
              </a:r>
            </a:p>
          </p:txBody>
        </p:sp>
        <p:sp>
          <p:nvSpPr>
            <p:cNvPr id="141" name="TextBox 140">
              <a:extLst>
                <a:ext uri="{FF2B5EF4-FFF2-40B4-BE49-F238E27FC236}">
                  <a16:creationId xmlns:a16="http://schemas.microsoft.com/office/drawing/2014/main" id="{B888DF65-8070-4076-8EA7-407B2B5581DD}"/>
                </a:ext>
              </a:extLst>
            </p:cNvPr>
            <p:cNvSpPr txBox="1"/>
            <p:nvPr/>
          </p:nvSpPr>
          <p:spPr>
            <a:xfrm>
              <a:off x="7391400" y="3369671"/>
              <a:ext cx="1066800" cy="33855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white"/>
                  </a:solidFill>
                  <a:effectLst/>
                  <a:uLnTx/>
                  <a:uFillTx/>
                  <a:cs typeface="Arial" pitchFamily="34" charset="0"/>
                </a:rPr>
                <a:t>4</a:t>
              </a:r>
            </a:p>
          </p:txBody>
        </p:sp>
        <p:sp>
          <p:nvSpPr>
            <p:cNvPr id="142" name="TextBox 141">
              <a:extLst>
                <a:ext uri="{FF2B5EF4-FFF2-40B4-BE49-F238E27FC236}">
                  <a16:creationId xmlns:a16="http://schemas.microsoft.com/office/drawing/2014/main" id="{845002B6-95FD-4B09-8DD8-F3D5D84D72B6}"/>
                </a:ext>
              </a:extLst>
            </p:cNvPr>
            <p:cNvSpPr txBox="1"/>
            <p:nvPr/>
          </p:nvSpPr>
          <p:spPr>
            <a:xfrm>
              <a:off x="7391400" y="3810000"/>
              <a:ext cx="1066800" cy="33855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white"/>
                  </a:solidFill>
                  <a:effectLst/>
                  <a:uLnTx/>
                  <a:uFillTx/>
                  <a:cs typeface="Arial" pitchFamily="34" charset="0"/>
                </a:rPr>
                <a:t>5</a:t>
              </a:r>
            </a:p>
          </p:txBody>
        </p:sp>
      </p:grpSp>
      <p:sp>
        <p:nvSpPr>
          <p:cNvPr id="143" name="Chevron 33">
            <a:extLst>
              <a:ext uri="{FF2B5EF4-FFF2-40B4-BE49-F238E27FC236}">
                <a16:creationId xmlns:a16="http://schemas.microsoft.com/office/drawing/2014/main" id="{8FF71A67-9199-40F3-A64D-1F8E304C6A5B}"/>
              </a:ext>
            </a:extLst>
          </p:cNvPr>
          <p:cNvSpPr/>
          <p:nvPr/>
        </p:nvSpPr>
        <p:spPr>
          <a:xfrm rot="5400000">
            <a:off x="4560971" y="4506828"/>
            <a:ext cx="631658" cy="609600"/>
          </a:xfrm>
          <a:prstGeom prst="chevron">
            <a:avLst>
              <a:gd name="adj" fmla="val 33174"/>
            </a:avLst>
          </a:prstGeom>
          <a:gradFill flip="none" rotWithShape="1">
            <a:gsLst>
              <a:gs pos="0">
                <a:srgbClr val="42A618">
                  <a:shade val="51000"/>
                  <a:satMod val="130000"/>
                </a:srgbClr>
              </a:gs>
              <a:gs pos="80000">
                <a:srgbClr val="42A618">
                  <a:shade val="93000"/>
                  <a:satMod val="130000"/>
                </a:srgbClr>
              </a:gs>
              <a:gs pos="100000">
                <a:srgbClr val="42A618">
                  <a:shade val="94000"/>
                  <a:satMod val="135000"/>
                </a:srgbClr>
              </a:gs>
            </a:gsLst>
            <a:path path="circle">
              <a:fillToRect l="50000" t="50000" r="50000" b="50000"/>
            </a:path>
            <a:tileRect/>
          </a:gradFill>
          <a:ln w="9525" cap="flat" cmpd="sng" algn="ctr">
            <a:solidFill>
              <a:srgbClr val="42A618">
                <a:lumMod val="75000"/>
              </a:srgbClr>
            </a:solidFill>
            <a:prstDash val="solid"/>
          </a:ln>
          <a:effectLst>
            <a:outerShdw blurRad="40000" dist="23000" dir="5400000" rotWithShape="0">
              <a:srgbClr val="000000">
                <a:alpha val="35000"/>
              </a:srgbClr>
            </a:outerShdw>
          </a:effectLst>
        </p:spPr>
        <p:txBody>
          <a:bodyPr vert="vert270"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rial Black" pitchFamily="34" charset="0"/>
              <a:ea typeface="+mn-ea"/>
              <a:cs typeface="+mn-cs"/>
            </a:endParaRPr>
          </a:p>
        </p:txBody>
      </p:sp>
      <p:sp>
        <p:nvSpPr>
          <p:cNvPr id="144" name="Chevron 34">
            <a:extLst>
              <a:ext uri="{FF2B5EF4-FFF2-40B4-BE49-F238E27FC236}">
                <a16:creationId xmlns:a16="http://schemas.microsoft.com/office/drawing/2014/main" id="{0E20DDA2-BA4E-47BF-960F-4245C26F7315}"/>
              </a:ext>
            </a:extLst>
          </p:cNvPr>
          <p:cNvSpPr/>
          <p:nvPr/>
        </p:nvSpPr>
        <p:spPr>
          <a:xfrm rot="5400000">
            <a:off x="4560971" y="4908883"/>
            <a:ext cx="631658" cy="609600"/>
          </a:xfrm>
          <a:prstGeom prst="chevron">
            <a:avLst>
              <a:gd name="adj" fmla="val 33174"/>
            </a:avLst>
          </a:prstGeom>
          <a:gradFill flip="none" rotWithShape="1">
            <a:gsLst>
              <a:gs pos="0">
                <a:srgbClr val="42A618">
                  <a:shade val="51000"/>
                  <a:satMod val="130000"/>
                </a:srgbClr>
              </a:gs>
              <a:gs pos="80000">
                <a:srgbClr val="42A618">
                  <a:shade val="93000"/>
                  <a:satMod val="130000"/>
                </a:srgbClr>
              </a:gs>
              <a:gs pos="100000">
                <a:srgbClr val="42A618">
                  <a:shade val="94000"/>
                  <a:satMod val="135000"/>
                </a:srgbClr>
              </a:gs>
            </a:gsLst>
            <a:path path="circle">
              <a:fillToRect l="50000" t="50000" r="50000" b="50000"/>
            </a:path>
            <a:tileRect/>
          </a:gradFill>
          <a:ln w="9525" cap="flat" cmpd="sng" algn="ctr">
            <a:solidFill>
              <a:srgbClr val="42A618">
                <a:lumMod val="75000"/>
              </a:srgbClr>
            </a:solidFill>
            <a:prstDash val="solid"/>
          </a:ln>
          <a:effectLst>
            <a:outerShdw blurRad="40000" dist="23000" dir="5400000" rotWithShape="0">
              <a:srgbClr val="000000">
                <a:alpha val="35000"/>
              </a:srgbClr>
            </a:outerShdw>
          </a:effectLst>
        </p:spPr>
        <p:txBody>
          <a:bodyPr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a typeface="+mn-ea"/>
              <a:cs typeface="+mn-cs"/>
            </a:endParaRPr>
          </a:p>
        </p:txBody>
      </p:sp>
      <p:sp>
        <p:nvSpPr>
          <p:cNvPr id="145" name="Chevron 35">
            <a:extLst>
              <a:ext uri="{FF2B5EF4-FFF2-40B4-BE49-F238E27FC236}">
                <a16:creationId xmlns:a16="http://schemas.microsoft.com/office/drawing/2014/main" id="{192C544C-49FF-475F-9DFB-2AF09A7E8D8A}"/>
              </a:ext>
            </a:extLst>
          </p:cNvPr>
          <p:cNvSpPr/>
          <p:nvPr/>
        </p:nvSpPr>
        <p:spPr>
          <a:xfrm rot="5400000">
            <a:off x="4560971" y="5322971"/>
            <a:ext cx="631658" cy="609600"/>
          </a:xfrm>
          <a:prstGeom prst="chevron">
            <a:avLst>
              <a:gd name="adj" fmla="val 33174"/>
            </a:avLst>
          </a:prstGeom>
          <a:gradFill flip="none" rotWithShape="1">
            <a:gsLst>
              <a:gs pos="0">
                <a:srgbClr val="42A618">
                  <a:shade val="51000"/>
                  <a:satMod val="130000"/>
                </a:srgbClr>
              </a:gs>
              <a:gs pos="80000">
                <a:srgbClr val="42A618">
                  <a:shade val="93000"/>
                  <a:satMod val="130000"/>
                </a:srgbClr>
              </a:gs>
              <a:gs pos="100000">
                <a:srgbClr val="42A618">
                  <a:shade val="94000"/>
                  <a:satMod val="135000"/>
                </a:srgbClr>
              </a:gs>
            </a:gsLst>
            <a:path path="circle">
              <a:fillToRect l="50000" t="50000" r="50000" b="50000"/>
            </a:path>
            <a:tileRect/>
          </a:gradFill>
          <a:ln w="9525" cap="flat" cmpd="sng" algn="ctr">
            <a:solidFill>
              <a:srgbClr val="42A618">
                <a:lumMod val="75000"/>
              </a:srgbClr>
            </a:solidFill>
            <a:prstDash val="solid"/>
          </a:ln>
          <a:effectLst>
            <a:outerShdw blurRad="40000" dist="23000" dir="5400000" rotWithShape="0">
              <a:srgbClr val="000000">
                <a:alpha val="35000"/>
              </a:srgbClr>
            </a:outerShdw>
          </a:effectLst>
        </p:spPr>
        <p:txBody>
          <a:bodyPr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a typeface="+mn-ea"/>
              <a:cs typeface="+mn-cs"/>
            </a:endParaRPr>
          </a:p>
        </p:txBody>
      </p:sp>
      <p:sp>
        <p:nvSpPr>
          <p:cNvPr id="146" name="TextBox 145">
            <a:extLst>
              <a:ext uri="{FF2B5EF4-FFF2-40B4-BE49-F238E27FC236}">
                <a16:creationId xmlns:a16="http://schemas.microsoft.com/office/drawing/2014/main" id="{5DDAD4F1-ED69-4746-A338-E44A3153394F}"/>
              </a:ext>
            </a:extLst>
          </p:cNvPr>
          <p:cNvSpPr txBox="1"/>
          <p:nvPr/>
        </p:nvSpPr>
        <p:spPr>
          <a:xfrm>
            <a:off x="4571999" y="4719384"/>
            <a:ext cx="609600" cy="328160"/>
          </a:xfrm>
          <a:prstGeom prst="rect">
            <a:avLst/>
          </a:prstGeom>
          <a:noFill/>
        </p:spPr>
        <p:txBody>
          <a:bodyPr wrap="square" rtlCol="0">
            <a:spAutoFit/>
          </a:bodyPr>
          <a:lstStyle/>
          <a:p>
            <a:pPr algn="ctr"/>
            <a:r>
              <a:rPr lang="en-US" sz="1600" b="1" dirty="0">
                <a:solidFill>
                  <a:prstClr val="white"/>
                </a:solidFill>
                <a:cs typeface="Arial" pitchFamily="34" charset="0"/>
              </a:rPr>
              <a:t>2</a:t>
            </a:r>
          </a:p>
        </p:txBody>
      </p:sp>
      <p:sp>
        <p:nvSpPr>
          <p:cNvPr id="147" name="TextBox 146">
            <a:extLst>
              <a:ext uri="{FF2B5EF4-FFF2-40B4-BE49-F238E27FC236}">
                <a16:creationId xmlns:a16="http://schemas.microsoft.com/office/drawing/2014/main" id="{7C20C1CB-9D1E-4FC2-A93E-D3CC9C186702}"/>
              </a:ext>
            </a:extLst>
          </p:cNvPr>
          <p:cNvSpPr txBox="1"/>
          <p:nvPr/>
        </p:nvSpPr>
        <p:spPr>
          <a:xfrm>
            <a:off x="4571999" y="5127458"/>
            <a:ext cx="609600" cy="328160"/>
          </a:xfrm>
          <a:prstGeom prst="rect">
            <a:avLst/>
          </a:prstGeom>
          <a:noFill/>
        </p:spPr>
        <p:txBody>
          <a:bodyPr wrap="square" rtlCol="0">
            <a:spAutoFit/>
          </a:bodyPr>
          <a:lstStyle/>
          <a:p>
            <a:pPr algn="ctr"/>
            <a:r>
              <a:rPr lang="en-US" sz="1600" b="1" dirty="0">
                <a:solidFill>
                  <a:prstClr val="white"/>
                </a:solidFill>
                <a:cs typeface="Arial" pitchFamily="34" charset="0"/>
              </a:rPr>
              <a:t>3</a:t>
            </a:r>
          </a:p>
        </p:txBody>
      </p:sp>
      <p:sp>
        <p:nvSpPr>
          <p:cNvPr id="148" name="TextBox 147">
            <a:extLst>
              <a:ext uri="{FF2B5EF4-FFF2-40B4-BE49-F238E27FC236}">
                <a16:creationId xmlns:a16="http://schemas.microsoft.com/office/drawing/2014/main" id="{7C8AADCB-2E91-43DB-ADDA-F1D69077C32F}"/>
              </a:ext>
            </a:extLst>
          </p:cNvPr>
          <p:cNvSpPr txBox="1"/>
          <p:nvPr/>
        </p:nvSpPr>
        <p:spPr>
          <a:xfrm>
            <a:off x="4571999" y="5529513"/>
            <a:ext cx="609600" cy="328160"/>
          </a:xfrm>
          <a:prstGeom prst="rect">
            <a:avLst/>
          </a:prstGeom>
          <a:noFill/>
        </p:spPr>
        <p:txBody>
          <a:bodyPr wrap="square" rtlCol="0">
            <a:spAutoFit/>
          </a:bodyPr>
          <a:lstStyle/>
          <a:p>
            <a:pPr algn="ctr"/>
            <a:r>
              <a:rPr lang="en-US" sz="1600" b="1" dirty="0">
                <a:solidFill>
                  <a:prstClr val="white"/>
                </a:solidFill>
                <a:cs typeface="Arial" pitchFamily="34" charset="0"/>
              </a:rPr>
              <a:t>4</a:t>
            </a:r>
          </a:p>
        </p:txBody>
      </p:sp>
      <p:sp>
        <p:nvSpPr>
          <p:cNvPr id="149" name="TextBox 148">
            <a:extLst>
              <a:ext uri="{FF2B5EF4-FFF2-40B4-BE49-F238E27FC236}">
                <a16:creationId xmlns:a16="http://schemas.microsoft.com/office/drawing/2014/main" id="{A0FB6366-CD88-4024-A3E9-2D4C421AE828}"/>
              </a:ext>
            </a:extLst>
          </p:cNvPr>
          <p:cNvSpPr txBox="1"/>
          <p:nvPr/>
        </p:nvSpPr>
        <p:spPr>
          <a:xfrm>
            <a:off x="3352800" y="4807668"/>
            <a:ext cx="762000" cy="321703"/>
          </a:xfrm>
          <a:prstGeom prst="rect">
            <a:avLst/>
          </a:prstGeom>
          <a:noFill/>
        </p:spPr>
        <p:txBody>
          <a:bodyPr wrap="square" rtlCol="0">
            <a:spAutoFit/>
          </a:bodyPr>
          <a:lstStyle/>
          <a:p>
            <a:pPr algn="ctr"/>
            <a:r>
              <a:rPr lang="en-US" sz="1600" b="1" dirty="0">
                <a:solidFill>
                  <a:prstClr val="white"/>
                </a:solidFill>
                <a:cs typeface="Arial" pitchFamily="34" charset="0"/>
              </a:rPr>
              <a:t>5</a:t>
            </a:r>
          </a:p>
        </p:txBody>
      </p:sp>
      <p:sp>
        <p:nvSpPr>
          <p:cNvPr id="150" name="Chevron 45">
            <a:extLst>
              <a:ext uri="{FF2B5EF4-FFF2-40B4-BE49-F238E27FC236}">
                <a16:creationId xmlns:a16="http://schemas.microsoft.com/office/drawing/2014/main" id="{20622F17-D2CB-4468-A375-D8A59231C1DA}"/>
              </a:ext>
            </a:extLst>
          </p:cNvPr>
          <p:cNvSpPr/>
          <p:nvPr/>
        </p:nvSpPr>
        <p:spPr>
          <a:xfrm rot="5400000">
            <a:off x="4560971" y="1839828"/>
            <a:ext cx="631658" cy="609600"/>
          </a:xfrm>
          <a:prstGeom prst="chevron">
            <a:avLst>
              <a:gd name="adj" fmla="val 33174"/>
            </a:avLst>
          </a:prstGeom>
          <a:gradFill flip="none" rotWithShape="1">
            <a:gsLst>
              <a:gs pos="0">
                <a:srgbClr val="42A618">
                  <a:shade val="51000"/>
                  <a:satMod val="130000"/>
                </a:srgbClr>
              </a:gs>
              <a:gs pos="80000">
                <a:srgbClr val="42A618">
                  <a:shade val="93000"/>
                  <a:satMod val="130000"/>
                </a:srgbClr>
              </a:gs>
              <a:gs pos="100000">
                <a:srgbClr val="42A618">
                  <a:shade val="94000"/>
                  <a:satMod val="135000"/>
                </a:srgbClr>
              </a:gs>
            </a:gsLst>
            <a:path path="circle">
              <a:fillToRect l="50000" t="50000" r="50000" b="50000"/>
            </a:path>
            <a:tileRect/>
          </a:gradFill>
          <a:ln w="9525" cap="flat" cmpd="sng" algn="ctr">
            <a:solidFill>
              <a:srgbClr val="42A618">
                <a:lumMod val="75000"/>
              </a:srgbClr>
            </a:solidFill>
            <a:prstDash val="solid"/>
          </a:ln>
          <a:effectLst>
            <a:outerShdw blurRad="40000" dist="23000" dir="5400000" rotWithShape="0">
              <a:srgbClr val="000000">
                <a:alpha val="35000"/>
              </a:srgbClr>
            </a:outerShdw>
          </a:effectLst>
        </p:spPr>
        <p:txBody>
          <a:bodyPr vert="vert270"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rial Black" pitchFamily="34" charset="0"/>
              <a:ea typeface="+mn-ea"/>
              <a:cs typeface="+mn-cs"/>
            </a:endParaRPr>
          </a:p>
        </p:txBody>
      </p:sp>
      <p:sp>
        <p:nvSpPr>
          <p:cNvPr id="151" name="Chevron 46">
            <a:extLst>
              <a:ext uri="{FF2B5EF4-FFF2-40B4-BE49-F238E27FC236}">
                <a16:creationId xmlns:a16="http://schemas.microsoft.com/office/drawing/2014/main" id="{109F1B56-FEC4-4E9D-89C0-12238C3BE153}"/>
              </a:ext>
            </a:extLst>
          </p:cNvPr>
          <p:cNvSpPr/>
          <p:nvPr/>
        </p:nvSpPr>
        <p:spPr>
          <a:xfrm rot="5400000">
            <a:off x="4560971" y="2241883"/>
            <a:ext cx="631658" cy="609600"/>
          </a:xfrm>
          <a:prstGeom prst="chevron">
            <a:avLst>
              <a:gd name="adj" fmla="val 33174"/>
            </a:avLst>
          </a:prstGeom>
          <a:gradFill flip="none" rotWithShape="1">
            <a:gsLst>
              <a:gs pos="0">
                <a:srgbClr val="42A618">
                  <a:shade val="51000"/>
                  <a:satMod val="130000"/>
                </a:srgbClr>
              </a:gs>
              <a:gs pos="80000">
                <a:srgbClr val="42A618">
                  <a:shade val="93000"/>
                  <a:satMod val="130000"/>
                </a:srgbClr>
              </a:gs>
              <a:gs pos="100000">
                <a:srgbClr val="42A618">
                  <a:shade val="94000"/>
                  <a:satMod val="135000"/>
                </a:srgbClr>
              </a:gs>
            </a:gsLst>
            <a:path path="circle">
              <a:fillToRect l="50000" t="50000" r="50000" b="50000"/>
            </a:path>
            <a:tileRect/>
          </a:gradFill>
          <a:ln w="9525" cap="flat" cmpd="sng" algn="ctr">
            <a:solidFill>
              <a:srgbClr val="42A618">
                <a:lumMod val="75000"/>
              </a:srgbClr>
            </a:solidFill>
            <a:prstDash val="solid"/>
          </a:ln>
          <a:effectLst>
            <a:outerShdw blurRad="40000" dist="23000" dir="5400000" rotWithShape="0">
              <a:srgbClr val="000000">
                <a:alpha val="35000"/>
              </a:srgbClr>
            </a:outerShdw>
          </a:effectLst>
        </p:spPr>
        <p:txBody>
          <a:bodyPr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a typeface="+mn-ea"/>
              <a:cs typeface="+mn-cs"/>
            </a:endParaRPr>
          </a:p>
        </p:txBody>
      </p:sp>
      <p:sp>
        <p:nvSpPr>
          <p:cNvPr id="152" name="Chevron 47">
            <a:extLst>
              <a:ext uri="{FF2B5EF4-FFF2-40B4-BE49-F238E27FC236}">
                <a16:creationId xmlns:a16="http://schemas.microsoft.com/office/drawing/2014/main" id="{0495F90F-D713-46AE-B9A5-A1CEB486E2D7}"/>
              </a:ext>
            </a:extLst>
          </p:cNvPr>
          <p:cNvSpPr/>
          <p:nvPr/>
        </p:nvSpPr>
        <p:spPr>
          <a:xfrm rot="5400000">
            <a:off x="4560971" y="2655971"/>
            <a:ext cx="631658" cy="609600"/>
          </a:xfrm>
          <a:prstGeom prst="chevron">
            <a:avLst>
              <a:gd name="adj" fmla="val 33174"/>
            </a:avLst>
          </a:prstGeom>
          <a:gradFill flip="none" rotWithShape="1">
            <a:gsLst>
              <a:gs pos="0">
                <a:srgbClr val="42A618">
                  <a:shade val="51000"/>
                  <a:satMod val="130000"/>
                </a:srgbClr>
              </a:gs>
              <a:gs pos="80000">
                <a:srgbClr val="42A618">
                  <a:shade val="93000"/>
                  <a:satMod val="130000"/>
                </a:srgbClr>
              </a:gs>
              <a:gs pos="100000">
                <a:srgbClr val="42A618">
                  <a:shade val="94000"/>
                  <a:satMod val="135000"/>
                </a:srgbClr>
              </a:gs>
            </a:gsLst>
            <a:path path="circle">
              <a:fillToRect l="50000" t="50000" r="50000" b="50000"/>
            </a:path>
            <a:tileRect/>
          </a:gradFill>
          <a:ln w="9525" cap="flat" cmpd="sng" algn="ctr">
            <a:solidFill>
              <a:srgbClr val="42A618">
                <a:lumMod val="75000"/>
              </a:srgbClr>
            </a:solidFill>
            <a:prstDash val="solid"/>
          </a:ln>
          <a:effectLst>
            <a:outerShdw blurRad="40000" dist="23000" dir="5400000" rotWithShape="0">
              <a:srgbClr val="000000">
                <a:alpha val="35000"/>
              </a:srgbClr>
            </a:outerShdw>
          </a:effectLst>
        </p:spPr>
        <p:txBody>
          <a:bodyPr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a typeface="+mn-ea"/>
              <a:cs typeface="+mn-cs"/>
            </a:endParaRPr>
          </a:p>
        </p:txBody>
      </p:sp>
      <p:sp>
        <p:nvSpPr>
          <p:cNvPr id="153" name="TextBox 152">
            <a:extLst>
              <a:ext uri="{FF2B5EF4-FFF2-40B4-BE49-F238E27FC236}">
                <a16:creationId xmlns:a16="http://schemas.microsoft.com/office/drawing/2014/main" id="{C484C30A-7E7A-43E8-8FB2-6BF0B181D11A}"/>
              </a:ext>
            </a:extLst>
          </p:cNvPr>
          <p:cNvSpPr txBox="1"/>
          <p:nvPr/>
        </p:nvSpPr>
        <p:spPr>
          <a:xfrm>
            <a:off x="4571999" y="2052384"/>
            <a:ext cx="609600" cy="328160"/>
          </a:xfrm>
          <a:prstGeom prst="rect">
            <a:avLst/>
          </a:prstGeom>
          <a:noFill/>
        </p:spPr>
        <p:txBody>
          <a:bodyPr wrap="square" rtlCol="0">
            <a:spAutoFit/>
          </a:bodyPr>
          <a:lstStyle/>
          <a:p>
            <a:pPr algn="ctr"/>
            <a:r>
              <a:rPr lang="en-US" sz="1600" b="1" dirty="0">
                <a:solidFill>
                  <a:prstClr val="white"/>
                </a:solidFill>
                <a:cs typeface="Arial" pitchFamily="34" charset="0"/>
              </a:rPr>
              <a:t>2</a:t>
            </a:r>
          </a:p>
        </p:txBody>
      </p:sp>
      <p:sp>
        <p:nvSpPr>
          <p:cNvPr id="154" name="TextBox 153">
            <a:extLst>
              <a:ext uri="{FF2B5EF4-FFF2-40B4-BE49-F238E27FC236}">
                <a16:creationId xmlns:a16="http://schemas.microsoft.com/office/drawing/2014/main" id="{9F2E3DF8-F0BD-4A4C-AA13-717D21AC8968}"/>
              </a:ext>
            </a:extLst>
          </p:cNvPr>
          <p:cNvSpPr txBox="1"/>
          <p:nvPr/>
        </p:nvSpPr>
        <p:spPr>
          <a:xfrm>
            <a:off x="4571999" y="2460458"/>
            <a:ext cx="609600" cy="328160"/>
          </a:xfrm>
          <a:prstGeom prst="rect">
            <a:avLst/>
          </a:prstGeom>
          <a:noFill/>
        </p:spPr>
        <p:txBody>
          <a:bodyPr wrap="square" rtlCol="0">
            <a:spAutoFit/>
          </a:bodyPr>
          <a:lstStyle/>
          <a:p>
            <a:pPr algn="ctr"/>
            <a:r>
              <a:rPr lang="en-US" sz="1600" b="1" dirty="0">
                <a:solidFill>
                  <a:prstClr val="white"/>
                </a:solidFill>
                <a:cs typeface="Arial" pitchFamily="34" charset="0"/>
              </a:rPr>
              <a:t>4</a:t>
            </a:r>
          </a:p>
        </p:txBody>
      </p:sp>
      <p:sp>
        <p:nvSpPr>
          <p:cNvPr id="155" name="TextBox 154">
            <a:extLst>
              <a:ext uri="{FF2B5EF4-FFF2-40B4-BE49-F238E27FC236}">
                <a16:creationId xmlns:a16="http://schemas.microsoft.com/office/drawing/2014/main" id="{508C69EA-562A-48DD-9CD6-4BCC2696A9EF}"/>
              </a:ext>
            </a:extLst>
          </p:cNvPr>
          <p:cNvSpPr txBox="1"/>
          <p:nvPr/>
        </p:nvSpPr>
        <p:spPr>
          <a:xfrm>
            <a:off x="4571999" y="2862513"/>
            <a:ext cx="609600" cy="328160"/>
          </a:xfrm>
          <a:prstGeom prst="rect">
            <a:avLst/>
          </a:prstGeom>
          <a:noFill/>
        </p:spPr>
        <p:txBody>
          <a:bodyPr wrap="square" rtlCol="0">
            <a:spAutoFit/>
          </a:bodyPr>
          <a:lstStyle/>
          <a:p>
            <a:pPr algn="ctr"/>
            <a:r>
              <a:rPr lang="en-US" sz="1600" b="1" dirty="0">
                <a:solidFill>
                  <a:prstClr val="white"/>
                </a:solidFill>
                <a:cs typeface="Arial" pitchFamily="34" charset="0"/>
              </a:rPr>
              <a:t>5</a:t>
            </a:r>
          </a:p>
        </p:txBody>
      </p:sp>
      <p:sp>
        <p:nvSpPr>
          <p:cNvPr id="156" name="Chevron 52">
            <a:extLst>
              <a:ext uri="{FF2B5EF4-FFF2-40B4-BE49-F238E27FC236}">
                <a16:creationId xmlns:a16="http://schemas.microsoft.com/office/drawing/2014/main" id="{B36F4A5E-8060-4AA3-8B5F-443BEAC65F8E}"/>
              </a:ext>
            </a:extLst>
          </p:cNvPr>
          <p:cNvSpPr/>
          <p:nvPr/>
        </p:nvSpPr>
        <p:spPr>
          <a:xfrm rot="5400000">
            <a:off x="7092194" y="4718806"/>
            <a:ext cx="598413" cy="609599"/>
          </a:xfrm>
          <a:prstGeom prst="chevron">
            <a:avLst>
              <a:gd name="adj" fmla="val 33174"/>
            </a:avLst>
          </a:prstGeom>
          <a:gradFill flip="none" rotWithShape="1">
            <a:gsLst>
              <a:gs pos="0">
                <a:srgbClr val="42A618">
                  <a:shade val="51000"/>
                  <a:satMod val="130000"/>
                </a:srgbClr>
              </a:gs>
              <a:gs pos="80000">
                <a:srgbClr val="42A618">
                  <a:shade val="93000"/>
                  <a:satMod val="130000"/>
                </a:srgbClr>
              </a:gs>
              <a:gs pos="100000">
                <a:srgbClr val="42A618">
                  <a:shade val="94000"/>
                  <a:satMod val="135000"/>
                </a:srgbClr>
              </a:gs>
            </a:gsLst>
            <a:path path="circle">
              <a:fillToRect l="50000" t="50000" r="50000" b="50000"/>
            </a:path>
            <a:tileRect/>
          </a:gradFill>
          <a:ln w="9525" cap="flat" cmpd="sng" algn="ctr">
            <a:solidFill>
              <a:srgbClr val="42A618">
                <a:lumMod val="75000"/>
              </a:srgbClr>
            </a:solidFill>
            <a:prstDash val="solid"/>
          </a:ln>
          <a:effectLst>
            <a:outerShdw blurRad="40000" dist="23000" dir="5400000" rotWithShape="0">
              <a:srgbClr val="000000">
                <a:alpha val="35000"/>
              </a:srgbClr>
            </a:outerShdw>
          </a:effectLst>
        </p:spPr>
        <p:txBody>
          <a:bodyPr vert="vert270"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rial Black" pitchFamily="34" charset="0"/>
              <a:ea typeface="+mn-ea"/>
              <a:cs typeface="+mn-cs"/>
            </a:endParaRPr>
          </a:p>
        </p:txBody>
      </p:sp>
      <p:sp>
        <p:nvSpPr>
          <p:cNvPr id="157" name="Chevron 53">
            <a:extLst>
              <a:ext uri="{FF2B5EF4-FFF2-40B4-BE49-F238E27FC236}">
                <a16:creationId xmlns:a16="http://schemas.microsoft.com/office/drawing/2014/main" id="{C22E56A4-1DE2-44E8-A385-940B26552D22}"/>
              </a:ext>
            </a:extLst>
          </p:cNvPr>
          <p:cNvSpPr/>
          <p:nvPr/>
        </p:nvSpPr>
        <p:spPr>
          <a:xfrm rot="5400000">
            <a:off x="7092194" y="5099701"/>
            <a:ext cx="598413" cy="609599"/>
          </a:xfrm>
          <a:prstGeom prst="chevron">
            <a:avLst>
              <a:gd name="adj" fmla="val 33174"/>
            </a:avLst>
          </a:prstGeom>
          <a:gradFill flip="none" rotWithShape="1">
            <a:gsLst>
              <a:gs pos="0">
                <a:srgbClr val="42A618">
                  <a:shade val="51000"/>
                  <a:satMod val="130000"/>
                </a:srgbClr>
              </a:gs>
              <a:gs pos="80000">
                <a:srgbClr val="42A618">
                  <a:shade val="93000"/>
                  <a:satMod val="130000"/>
                </a:srgbClr>
              </a:gs>
              <a:gs pos="100000">
                <a:srgbClr val="42A618">
                  <a:shade val="94000"/>
                  <a:satMod val="135000"/>
                </a:srgbClr>
              </a:gs>
            </a:gsLst>
            <a:path path="circle">
              <a:fillToRect l="50000" t="50000" r="50000" b="50000"/>
            </a:path>
            <a:tileRect/>
          </a:gradFill>
          <a:ln w="9525" cap="flat" cmpd="sng" algn="ctr">
            <a:solidFill>
              <a:srgbClr val="42A618">
                <a:lumMod val="75000"/>
              </a:srgbClr>
            </a:solidFill>
            <a:prstDash val="solid"/>
          </a:ln>
          <a:effectLst>
            <a:outerShdw blurRad="40000" dist="23000" dir="5400000" rotWithShape="0">
              <a:srgbClr val="000000">
                <a:alpha val="35000"/>
              </a:srgbClr>
            </a:outerShdw>
          </a:effectLst>
        </p:spPr>
        <p:txBody>
          <a:bodyPr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a typeface="+mn-ea"/>
              <a:cs typeface="+mn-cs"/>
            </a:endParaRPr>
          </a:p>
        </p:txBody>
      </p:sp>
      <p:sp>
        <p:nvSpPr>
          <p:cNvPr id="158" name="Chevron 54">
            <a:extLst>
              <a:ext uri="{FF2B5EF4-FFF2-40B4-BE49-F238E27FC236}">
                <a16:creationId xmlns:a16="http://schemas.microsoft.com/office/drawing/2014/main" id="{5BF46B5E-250A-45A4-BDB5-9B5F58C1C5E9}"/>
              </a:ext>
            </a:extLst>
          </p:cNvPr>
          <p:cNvSpPr/>
          <p:nvPr/>
        </p:nvSpPr>
        <p:spPr>
          <a:xfrm rot="5400000">
            <a:off x="7092194" y="5491994"/>
            <a:ext cx="598413" cy="609599"/>
          </a:xfrm>
          <a:prstGeom prst="chevron">
            <a:avLst>
              <a:gd name="adj" fmla="val 33174"/>
            </a:avLst>
          </a:prstGeom>
          <a:gradFill flip="none" rotWithShape="1">
            <a:gsLst>
              <a:gs pos="0">
                <a:srgbClr val="42A618">
                  <a:shade val="51000"/>
                  <a:satMod val="130000"/>
                </a:srgbClr>
              </a:gs>
              <a:gs pos="80000">
                <a:srgbClr val="42A618">
                  <a:shade val="93000"/>
                  <a:satMod val="130000"/>
                </a:srgbClr>
              </a:gs>
              <a:gs pos="100000">
                <a:srgbClr val="42A618">
                  <a:shade val="94000"/>
                  <a:satMod val="135000"/>
                </a:srgbClr>
              </a:gs>
            </a:gsLst>
            <a:path path="circle">
              <a:fillToRect l="50000" t="50000" r="50000" b="50000"/>
            </a:path>
            <a:tileRect/>
          </a:gradFill>
          <a:ln w="9525" cap="flat" cmpd="sng" algn="ctr">
            <a:solidFill>
              <a:srgbClr val="42A618">
                <a:lumMod val="75000"/>
              </a:srgbClr>
            </a:solidFill>
            <a:prstDash val="solid"/>
          </a:ln>
          <a:effectLst>
            <a:outerShdw blurRad="40000" dist="23000" dir="5400000" rotWithShape="0">
              <a:srgbClr val="000000">
                <a:alpha val="35000"/>
              </a:srgbClr>
            </a:outerShdw>
          </a:effectLst>
        </p:spPr>
        <p:txBody>
          <a:bodyPr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a typeface="+mn-ea"/>
              <a:cs typeface="+mn-cs"/>
            </a:endParaRPr>
          </a:p>
        </p:txBody>
      </p:sp>
      <p:sp>
        <p:nvSpPr>
          <p:cNvPr id="159" name="TextBox 158">
            <a:extLst>
              <a:ext uri="{FF2B5EF4-FFF2-40B4-BE49-F238E27FC236}">
                <a16:creationId xmlns:a16="http://schemas.microsoft.com/office/drawing/2014/main" id="{41BE7EB8-1943-422D-83DD-79489338DF7B}"/>
              </a:ext>
            </a:extLst>
          </p:cNvPr>
          <p:cNvSpPr txBox="1"/>
          <p:nvPr/>
        </p:nvSpPr>
        <p:spPr>
          <a:xfrm>
            <a:off x="7086600" y="4936216"/>
            <a:ext cx="609599" cy="310888"/>
          </a:xfrm>
          <a:prstGeom prst="rect">
            <a:avLst/>
          </a:prstGeom>
          <a:noFill/>
        </p:spPr>
        <p:txBody>
          <a:bodyPr wrap="square" rtlCol="0">
            <a:spAutoFit/>
          </a:bodyPr>
          <a:lstStyle/>
          <a:p>
            <a:pPr algn="ctr"/>
            <a:r>
              <a:rPr lang="en-US" sz="1600" b="1" dirty="0">
                <a:solidFill>
                  <a:prstClr val="white"/>
                </a:solidFill>
                <a:cs typeface="Arial" pitchFamily="34" charset="0"/>
              </a:rPr>
              <a:t>1</a:t>
            </a:r>
          </a:p>
        </p:txBody>
      </p:sp>
      <p:sp>
        <p:nvSpPr>
          <p:cNvPr id="160" name="TextBox 159">
            <a:extLst>
              <a:ext uri="{FF2B5EF4-FFF2-40B4-BE49-F238E27FC236}">
                <a16:creationId xmlns:a16="http://schemas.microsoft.com/office/drawing/2014/main" id="{9CA6D8AB-1AF6-4075-B7CB-7BDC89745962}"/>
              </a:ext>
            </a:extLst>
          </p:cNvPr>
          <p:cNvSpPr txBox="1"/>
          <p:nvPr/>
        </p:nvSpPr>
        <p:spPr>
          <a:xfrm>
            <a:off x="7086600" y="5322812"/>
            <a:ext cx="609599" cy="310888"/>
          </a:xfrm>
          <a:prstGeom prst="rect">
            <a:avLst/>
          </a:prstGeom>
          <a:noFill/>
        </p:spPr>
        <p:txBody>
          <a:bodyPr wrap="square" rtlCol="0">
            <a:spAutoFit/>
          </a:bodyPr>
          <a:lstStyle/>
          <a:p>
            <a:pPr algn="ctr"/>
            <a:r>
              <a:rPr lang="en-US" sz="1600" b="1" dirty="0">
                <a:solidFill>
                  <a:prstClr val="white"/>
                </a:solidFill>
                <a:cs typeface="Arial" pitchFamily="34" charset="0"/>
              </a:rPr>
              <a:t>3</a:t>
            </a:r>
          </a:p>
        </p:txBody>
      </p:sp>
      <p:sp>
        <p:nvSpPr>
          <p:cNvPr id="161" name="TextBox 160">
            <a:extLst>
              <a:ext uri="{FF2B5EF4-FFF2-40B4-BE49-F238E27FC236}">
                <a16:creationId xmlns:a16="http://schemas.microsoft.com/office/drawing/2014/main" id="{8C25E229-66D6-49D7-B9E3-B9C8519CCDF9}"/>
              </a:ext>
            </a:extLst>
          </p:cNvPr>
          <p:cNvSpPr txBox="1"/>
          <p:nvPr/>
        </p:nvSpPr>
        <p:spPr>
          <a:xfrm>
            <a:off x="7086600" y="5703707"/>
            <a:ext cx="609599" cy="310888"/>
          </a:xfrm>
          <a:prstGeom prst="rect">
            <a:avLst/>
          </a:prstGeom>
          <a:noFill/>
        </p:spPr>
        <p:txBody>
          <a:bodyPr wrap="square" rtlCol="0">
            <a:spAutoFit/>
          </a:bodyPr>
          <a:lstStyle/>
          <a:p>
            <a:pPr algn="ctr"/>
            <a:r>
              <a:rPr lang="en-US" sz="1600" b="1" dirty="0">
                <a:solidFill>
                  <a:prstClr val="white"/>
                </a:solidFill>
                <a:cs typeface="Arial" pitchFamily="34" charset="0"/>
              </a:rPr>
              <a:t>5</a:t>
            </a:r>
          </a:p>
        </p:txBody>
      </p:sp>
      <p:sp>
        <p:nvSpPr>
          <p:cNvPr id="162" name="Chevron 59">
            <a:extLst>
              <a:ext uri="{FF2B5EF4-FFF2-40B4-BE49-F238E27FC236}">
                <a16:creationId xmlns:a16="http://schemas.microsoft.com/office/drawing/2014/main" id="{B2893D9A-E807-47BA-96AD-88BE965B91D0}"/>
              </a:ext>
            </a:extLst>
          </p:cNvPr>
          <p:cNvSpPr/>
          <p:nvPr/>
        </p:nvSpPr>
        <p:spPr>
          <a:xfrm rot="5400000">
            <a:off x="7092194" y="1823206"/>
            <a:ext cx="598413" cy="609599"/>
          </a:xfrm>
          <a:prstGeom prst="chevron">
            <a:avLst>
              <a:gd name="adj" fmla="val 33174"/>
            </a:avLst>
          </a:prstGeom>
          <a:gradFill flip="none" rotWithShape="1">
            <a:gsLst>
              <a:gs pos="0">
                <a:srgbClr val="42A618">
                  <a:shade val="51000"/>
                  <a:satMod val="130000"/>
                </a:srgbClr>
              </a:gs>
              <a:gs pos="80000">
                <a:srgbClr val="42A618">
                  <a:shade val="93000"/>
                  <a:satMod val="130000"/>
                </a:srgbClr>
              </a:gs>
              <a:gs pos="100000">
                <a:srgbClr val="42A618">
                  <a:shade val="94000"/>
                  <a:satMod val="135000"/>
                </a:srgbClr>
              </a:gs>
            </a:gsLst>
            <a:path path="circle">
              <a:fillToRect l="50000" t="50000" r="50000" b="50000"/>
            </a:path>
            <a:tileRect/>
          </a:gradFill>
          <a:ln w="9525" cap="flat" cmpd="sng" algn="ctr">
            <a:solidFill>
              <a:srgbClr val="42A618">
                <a:lumMod val="75000"/>
              </a:srgbClr>
            </a:solidFill>
            <a:prstDash val="solid"/>
          </a:ln>
          <a:effectLst>
            <a:outerShdw blurRad="40000" dist="23000" dir="5400000" rotWithShape="0">
              <a:srgbClr val="000000">
                <a:alpha val="35000"/>
              </a:srgbClr>
            </a:outerShdw>
          </a:effectLst>
        </p:spPr>
        <p:txBody>
          <a:bodyPr vert="vert270"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rial Black" pitchFamily="34" charset="0"/>
              <a:ea typeface="+mn-ea"/>
              <a:cs typeface="+mn-cs"/>
            </a:endParaRPr>
          </a:p>
        </p:txBody>
      </p:sp>
      <p:sp>
        <p:nvSpPr>
          <p:cNvPr id="163" name="Chevron 60">
            <a:extLst>
              <a:ext uri="{FF2B5EF4-FFF2-40B4-BE49-F238E27FC236}">
                <a16:creationId xmlns:a16="http://schemas.microsoft.com/office/drawing/2014/main" id="{050583AF-8576-43EA-96F6-E15AF7D5F4FD}"/>
              </a:ext>
            </a:extLst>
          </p:cNvPr>
          <p:cNvSpPr/>
          <p:nvPr/>
        </p:nvSpPr>
        <p:spPr>
          <a:xfrm rot="5400000">
            <a:off x="7092194" y="2204101"/>
            <a:ext cx="598413" cy="609599"/>
          </a:xfrm>
          <a:prstGeom prst="chevron">
            <a:avLst>
              <a:gd name="adj" fmla="val 33174"/>
            </a:avLst>
          </a:prstGeom>
          <a:gradFill flip="none" rotWithShape="1">
            <a:gsLst>
              <a:gs pos="0">
                <a:srgbClr val="42A618">
                  <a:shade val="51000"/>
                  <a:satMod val="130000"/>
                </a:srgbClr>
              </a:gs>
              <a:gs pos="80000">
                <a:srgbClr val="42A618">
                  <a:shade val="93000"/>
                  <a:satMod val="130000"/>
                </a:srgbClr>
              </a:gs>
              <a:gs pos="100000">
                <a:srgbClr val="42A618">
                  <a:shade val="94000"/>
                  <a:satMod val="135000"/>
                </a:srgbClr>
              </a:gs>
            </a:gsLst>
            <a:path path="circle">
              <a:fillToRect l="50000" t="50000" r="50000" b="50000"/>
            </a:path>
            <a:tileRect/>
          </a:gradFill>
          <a:ln w="9525" cap="flat" cmpd="sng" algn="ctr">
            <a:solidFill>
              <a:srgbClr val="42A618">
                <a:lumMod val="75000"/>
              </a:srgbClr>
            </a:solidFill>
            <a:prstDash val="solid"/>
          </a:ln>
          <a:effectLst>
            <a:outerShdw blurRad="40000" dist="23000" dir="5400000" rotWithShape="0">
              <a:srgbClr val="000000">
                <a:alpha val="35000"/>
              </a:srgbClr>
            </a:outerShdw>
          </a:effectLst>
        </p:spPr>
        <p:txBody>
          <a:bodyPr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a typeface="+mn-ea"/>
              <a:cs typeface="+mn-cs"/>
            </a:endParaRPr>
          </a:p>
        </p:txBody>
      </p:sp>
      <p:sp>
        <p:nvSpPr>
          <p:cNvPr id="164" name="Chevron 61">
            <a:extLst>
              <a:ext uri="{FF2B5EF4-FFF2-40B4-BE49-F238E27FC236}">
                <a16:creationId xmlns:a16="http://schemas.microsoft.com/office/drawing/2014/main" id="{CCFF95C6-4782-4B51-9EC1-93262E94ED11}"/>
              </a:ext>
            </a:extLst>
          </p:cNvPr>
          <p:cNvSpPr/>
          <p:nvPr/>
        </p:nvSpPr>
        <p:spPr>
          <a:xfrm rot="5400000">
            <a:off x="7092194" y="2596394"/>
            <a:ext cx="598413" cy="609599"/>
          </a:xfrm>
          <a:prstGeom prst="chevron">
            <a:avLst>
              <a:gd name="adj" fmla="val 33174"/>
            </a:avLst>
          </a:prstGeom>
          <a:gradFill flip="none" rotWithShape="1">
            <a:gsLst>
              <a:gs pos="0">
                <a:srgbClr val="42A618">
                  <a:shade val="51000"/>
                  <a:satMod val="130000"/>
                </a:srgbClr>
              </a:gs>
              <a:gs pos="80000">
                <a:srgbClr val="42A618">
                  <a:shade val="93000"/>
                  <a:satMod val="130000"/>
                </a:srgbClr>
              </a:gs>
              <a:gs pos="100000">
                <a:srgbClr val="42A618">
                  <a:shade val="94000"/>
                  <a:satMod val="135000"/>
                </a:srgbClr>
              </a:gs>
            </a:gsLst>
            <a:path path="circle">
              <a:fillToRect l="50000" t="50000" r="50000" b="50000"/>
            </a:path>
            <a:tileRect/>
          </a:gradFill>
          <a:ln w="9525" cap="flat" cmpd="sng" algn="ctr">
            <a:solidFill>
              <a:srgbClr val="42A618">
                <a:lumMod val="75000"/>
              </a:srgbClr>
            </a:solidFill>
            <a:prstDash val="solid"/>
          </a:ln>
          <a:effectLst>
            <a:outerShdw blurRad="40000" dist="23000" dir="5400000" rotWithShape="0">
              <a:srgbClr val="000000">
                <a:alpha val="35000"/>
              </a:srgbClr>
            </a:outerShdw>
          </a:effectLst>
        </p:spPr>
        <p:txBody>
          <a:bodyPr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a typeface="+mn-ea"/>
              <a:cs typeface="+mn-cs"/>
            </a:endParaRPr>
          </a:p>
        </p:txBody>
      </p:sp>
      <p:sp>
        <p:nvSpPr>
          <p:cNvPr id="165" name="TextBox 164">
            <a:extLst>
              <a:ext uri="{FF2B5EF4-FFF2-40B4-BE49-F238E27FC236}">
                <a16:creationId xmlns:a16="http://schemas.microsoft.com/office/drawing/2014/main" id="{6E94555B-0B06-4735-B5DB-C8A00E2328CD}"/>
              </a:ext>
            </a:extLst>
          </p:cNvPr>
          <p:cNvSpPr txBox="1"/>
          <p:nvPr/>
        </p:nvSpPr>
        <p:spPr>
          <a:xfrm>
            <a:off x="7086600" y="2040616"/>
            <a:ext cx="609599" cy="338554"/>
          </a:xfrm>
          <a:prstGeom prst="rect">
            <a:avLst/>
          </a:prstGeom>
          <a:noFill/>
        </p:spPr>
        <p:txBody>
          <a:bodyPr wrap="square" rtlCol="0">
            <a:spAutoFit/>
          </a:bodyPr>
          <a:lstStyle/>
          <a:p>
            <a:pPr algn="ctr"/>
            <a:r>
              <a:rPr lang="en-US" sz="1600" b="1" dirty="0">
                <a:solidFill>
                  <a:prstClr val="white"/>
                </a:solidFill>
                <a:cs typeface="Arial" pitchFamily="34" charset="0"/>
              </a:rPr>
              <a:t>1</a:t>
            </a:r>
          </a:p>
        </p:txBody>
      </p:sp>
      <p:sp>
        <p:nvSpPr>
          <p:cNvPr id="166" name="TextBox 165">
            <a:extLst>
              <a:ext uri="{FF2B5EF4-FFF2-40B4-BE49-F238E27FC236}">
                <a16:creationId xmlns:a16="http://schemas.microsoft.com/office/drawing/2014/main" id="{37DD1262-1E5A-4FD4-9347-2017F452E724}"/>
              </a:ext>
            </a:extLst>
          </p:cNvPr>
          <p:cNvSpPr txBox="1"/>
          <p:nvPr/>
        </p:nvSpPr>
        <p:spPr>
          <a:xfrm>
            <a:off x="7086600" y="2427212"/>
            <a:ext cx="609599" cy="338554"/>
          </a:xfrm>
          <a:prstGeom prst="rect">
            <a:avLst/>
          </a:prstGeom>
          <a:noFill/>
        </p:spPr>
        <p:txBody>
          <a:bodyPr wrap="square" rtlCol="0">
            <a:spAutoFit/>
          </a:bodyPr>
          <a:lstStyle/>
          <a:p>
            <a:pPr algn="ctr"/>
            <a:r>
              <a:rPr lang="en-US" sz="1600" b="1" dirty="0">
                <a:solidFill>
                  <a:prstClr val="white"/>
                </a:solidFill>
                <a:cs typeface="Arial" pitchFamily="34" charset="0"/>
              </a:rPr>
              <a:t>2</a:t>
            </a:r>
          </a:p>
        </p:txBody>
      </p:sp>
      <p:sp>
        <p:nvSpPr>
          <p:cNvPr id="167" name="TextBox 166">
            <a:extLst>
              <a:ext uri="{FF2B5EF4-FFF2-40B4-BE49-F238E27FC236}">
                <a16:creationId xmlns:a16="http://schemas.microsoft.com/office/drawing/2014/main" id="{66338819-441F-41F7-9E91-00A7779DD0D1}"/>
              </a:ext>
            </a:extLst>
          </p:cNvPr>
          <p:cNvSpPr txBox="1"/>
          <p:nvPr/>
        </p:nvSpPr>
        <p:spPr>
          <a:xfrm>
            <a:off x="7086600" y="2808107"/>
            <a:ext cx="609599" cy="310888"/>
          </a:xfrm>
          <a:prstGeom prst="rect">
            <a:avLst/>
          </a:prstGeom>
          <a:noFill/>
        </p:spPr>
        <p:txBody>
          <a:bodyPr wrap="square" rtlCol="0">
            <a:spAutoFit/>
          </a:bodyPr>
          <a:lstStyle/>
          <a:p>
            <a:pPr algn="ctr"/>
            <a:r>
              <a:rPr lang="en-US" sz="1600" b="1" dirty="0">
                <a:solidFill>
                  <a:prstClr val="white"/>
                </a:solidFill>
                <a:cs typeface="Arial" pitchFamily="34" charset="0"/>
              </a:rPr>
              <a:t>5</a:t>
            </a:r>
          </a:p>
        </p:txBody>
      </p:sp>
      <p:pic>
        <p:nvPicPr>
          <p:cNvPr id="168" name="Picture 167">
            <a:extLst>
              <a:ext uri="{FF2B5EF4-FFF2-40B4-BE49-F238E27FC236}">
                <a16:creationId xmlns:a16="http://schemas.microsoft.com/office/drawing/2014/main" id="{8E7D03EF-9040-440C-96D1-9C2A657B761F}"/>
              </a:ext>
            </a:extLst>
          </p:cNvPr>
          <p:cNvPicPr>
            <a:picLocks noChangeAspect="1"/>
          </p:cNvPicPr>
          <p:nvPr/>
        </p:nvPicPr>
        <p:blipFill>
          <a:blip r:embed="rId3">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flipH="1">
            <a:off x="6705600" y="3276599"/>
            <a:ext cx="760520" cy="1219200"/>
          </a:xfrm>
          <a:prstGeom prst="rect">
            <a:avLst/>
          </a:prstGeom>
        </p:spPr>
      </p:pic>
      <p:pic>
        <p:nvPicPr>
          <p:cNvPr id="169" name="Picture 168">
            <a:extLst>
              <a:ext uri="{FF2B5EF4-FFF2-40B4-BE49-F238E27FC236}">
                <a16:creationId xmlns:a16="http://schemas.microsoft.com/office/drawing/2014/main" id="{4495D35C-B4E0-4295-A03B-13346EECEADE}"/>
              </a:ext>
            </a:extLst>
          </p:cNvPr>
          <p:cNvPicPr>
            <a:picLocks noChangeAspect="1"/>
          </p:cNvPicPr>
          <p:nvPr/>
        </p:nvPicPr>
        <p:blipFill>
          <a:blip r:embed="rId3">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flipH="1">
            <a:off x="7696200" y="4876799"/>
            <a:ext cx="760520" cy="1219200"/>
          </a:xfrm>
          <a:prstGeom prst="rect">
            <a:avLst/>
          </a:prstGeom>
        </p:spPr>
      </p:pic>
      <p:sp>
        <p:nvSpPr>
          <p:cNvPr id="170" name="Chevron 68">
            <a:extLst>
              <a:ext uri="{FF2B5EF4-FFF2-40B4-BE49-F238E27FC236}">
                <a16:creationId xmlns:a16="http://schemas.microsoft.com/office/drawing/2014/main" id="{0FCC5354-4CB8-43D6-B28B-0EF3268B904B}"/>
              </a:ext>
            </a:extLst>
          </p:cNvPr>
          <p:cNvSpPr/>
          <p:nvPr/>
        </p:nvSpPr>
        <p:spPr>
          <a:xfrm rot="5400000">
            <a:off x="6091590" y="3158952"/>
            <a:ext cx="618420" cy="609599"/>
          </a:xfrm>
          <a:prstGeom prst="chevron">
            <a:avLst>
              <a:gd name="adj" fmla="val 33174"/>
            </a:avLst>
          </a:prstGeom>
          <a:gradFill flip="none" rotWithShape="1">
            <a:gsLst>
              <a:gs pos="0">
                <a:srgbClr val="42A618">
                  <a:shade val="51000"/>
                  <a:satMod val="130000"/>
                </a:srgbClr>
              </a:gs>
              <a:gs pos="80000">
                <a:srgbClr val="42A618">
                  <a:shade val="93000"/>
                  <a:satMod val="130000"/>
                </a:srgbClr>
              </a:gs>
              <a:gs pos="100000">
                <a:srgbClr val="42A618">
                  <a:shade val="94000"/>
                  <a:satMod val="135000"/>
                </a:srgbClr>
              </a:gs>
            </a:gsLst>
            <a:path path="circle">
              <a:fillToRect l="50000" t="50000" r="50000" b="50000"/>
            </a:path>
            <a:tileRect/>
          </a:gradFill>
          <a:ln w="9525" cap="flat" cmpd="sng" algn="ctr">
            <a:solidFill>
              <a:srgbClr val="42A618">
                <a:lumMod val="75000"/>
              </a:srgbClr>
            </a:solidFill>
            <a:prstDash val="solid"/>
          </a:ln>
          <a:effectLst>
            <a:outerShdw blurRad="40000" dist="23000" dir="5400000" rotWithShape="0">
              <a:srgbClr val="000000">
                <a:alpha val="35000"/>
              </a:srgbClr>
            </a:outerShdw>
          </a:effectLst>
        </p:spPr>
        <p:txBody>
          <a:bodyPr vert="vert270"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rial Black" pitchFamily="34" charset="0"/>
              <a:ea typeface="+mn-ea"/>
              <a:cs typeface="+mn-cs"/>
            </a:endParaRPr>
          </a:p>
        </p:txBody>
      </p:sp>
      <p:sp>
        <p:nvSpPr>
          <p:cNvPr id="171" name="Chevron 69">
            <a:extLst>
              <a:ext uri="{FF2B5EF4-FFF2-40B4-BE49-F238E27FC236}">
                <a16:creationId xmlns:a16="http://schemas.microsoft.com/office/drawing/2014/main" id="{24A6868D-F0B8-4385-A35D-5ADDECFC9CE2}"/>
              </a:ext>
            </a:extLst>
          </p:cNvPr>
          <p:cNvSpPr/>
          <p:nvPr/>
        </p:nvSpPr>
        <p:spPr>
          <a:xfrm rot="5400000">
            <a:off x="6091590" y="3552581"/>
            <a:ext cx="618420" cy="609599"/>
          </a:xfrm>
          <a:prstGeom prst="chevron">
            <a:avLst>
              <a:gd name="adj" fmla="val 33174"/>
            </a:avLst>
          </a:prstGeom>
          <a:gradFill flip="none" rotWithShape="1">
            <a:gsLst>
              <a:gs pos="0">
                <a:srgbClr val="42A618">
                  <a:shade val="51000"/>
                  <a:satMod val="130000"/>
                </a:srgbClr>
              </a:gs>
              <a:gs pos="80000">
                <a:srgbClr val="42A618">
                  <a:shade val="93000"/>
                  <a:satMod val="130000"/>
                </a:srgbClr>
              </a:gs>
              <a:gs pos="100000">
                <a:srgbClr val="42A618">
                  <a:shade val="94000"/>
                  <a:satMod val="135000"/>
                </a:srgbClr>
              </a:gs>
            </a:gsLst>
            <a:path path="circle">
              <a:fillToRect l="50000" t="50000" r="50000" b="50000"/>
            </a:path>
            <a:tileRect/>
          </a:gradFill>
          <a:ln w="9525" cap="flat" cmpd="sng" algn="ctr">
            <a:solidFill>
              <a:srgbClr val="42A618">
                <a:lumMod val="75000"/>
              </a:srgbClr>
            </a:solidFill>
            <a:prstDash val="solid"/>
          </a:ln>
          <a:effectLst>
            <a:outerShdw blurRad="40000" dist="23000" dir="5400000" rotWithShape="0">
              <a:srgbClr val="000000">
                <a:alpha val="35000"/>
              </a:srgbClr>
            </a:outerShdw>
          </a:effectLst>
        </p:spPr>
        <p:txBody>
          <a:bodyPr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a typeface="+mn-ea"/>
              <a:cs typeface="+mn-cs"/>
            </a:endParaRPr>
          </a:p>
        </p:txBody>
      </p:sp>
      <p:sp>
        <p:nvSpPr>
          <p:cNvPr id="172" name="Chevron 70">
            <a:extLst>
              <a:ext uri="{FF2B5EF4-FFF2-40B4-BE49-F238E27FC236}">
                <a16:creationId xmlns:a16="http://schemas.microsoft.com/office/drawing/2014/main" id="{A7581FB7-6DA8-42D5-9660-CF447EB11373}"/>
              </a:ext>
            </a:extLst>
          </p:cNvPr>
          <p:cNvSpPr/>
          <p:nvPr/>
        </p:nvSpPr>
        <p:spPr>
          <a:xfrm rot="5400000">
            <a:off x="6091590" y="3957990"/>
            <a:ext cx="618420" cy="609599"/>
          </a:xfrm>
          <a:prstGeom prst="chevron">
            <a:avLst>
              <a:gd name="adj" fmla="val 33174"/>
            </a:avLst>
          </a:prstGeom>
          <a:gradFill flip="none" rotWithShape="1">
            <a:gsLst>
              <a:gs pos="0">
                <a:srgbClr val="42A618">
                  <a:shade val="51000"/>
                  <a:satMod val="130000"/>
                </a:srgbClr>
              </a:gs>
              <a:gs pos="80000">
                <a:srgbClr val="42A618">
                  <a:shade val="93000"/>
                  <a:satMod val="130000"/>
                </a:srgbClr>
              </a:gs>
              <a:gs pos="100000">
                <a:srgbClr val="42A618">
                  <a:shade val="94000"/>
                  <a:satMod val="135000"/>
                </a:srgbClr>
              </a:gs>
            </a:gsLst>
            <a:path path="circle">
              <a:fillToRect l="50000" t="50000" r="50000" b="50000"/>
            </a:path>
            <a:tileRect/>
          </a:gradFill>
          <a:ln w="9525" cap="flat" cmpd="sng" algn="ctr">
            <a:solidFill>
              <a:srgbClr val="42A618">
                <a:lumMod val="75000"/>
              </a:srgbClr>
            </a:solidFill>
            <a:prstDash val="solid"/>
          </a:ln>
          <a:effectLst>
            <a:outerShdw blurRad="40000" dist="23000" dir="5400000" rotWithShape="0">
              <a:srgbClr val="000000">
                <a:alpha val="35000"/>
              </a:srgbClr>
            </a:outerShdw>
          </a:effectLst>
        </p:spPr>
        <p:txBody>
          <a:bodyPr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a typeface="+mn-ea"/>
              <a:cs typeface="+mn-cs"/>
            </a:endParaRPr>
          </a:p>
        </p:txBody>
      </p:sp>
      <p:sp>
        <p:nvSpPr>
          <p:cNvPr id="173" name="TextBox 172">
            <a:extLst>
              <a:ext uri="{FF2B5EF4-FFF2-40B4-BE49-F238E27FC236}">
                <a16:creationId xmlns:a16="http://schemas.microsoft.com/office/drawing/2014/main" id="{E42AB737-F0CB-42D8-84EF-ADC16E0F4595}"/>
              </a:ext>
            </a:extLst>
          </p:cNvPr>
          <p:cNvSpPr txBox="1"/>
          <p:nvPr/>
        </p:nvSpPr>
        <p:spPr>
          <a:xfrm>
            <a:off x="6096000" y="3373440"/>
            <a:ext cx="609599" cy="321282"/>
          </a:xfrm>
          <a:prstGeom prst="rect">
            <a:avLst/>
          </a:prstGeom>
          <a:noFill/>
        </p:spPr>
        <p:txBody>
          <a:bodyPr wrap="square" rtlCol="0">
            <a:spAutoFit/>
          </a:bodyPr>
          <a:lstStyle/>
          <a:p>
            <a:pPr algn="ctr"/>
            <a:r>
              <a:rPr lang="en-US" sz="1600" b="1" dirty="0">
                <a:solidFill>
                  <a:prstClr val="white"/>
                </a:solidFill>
                <a:cs typeface="Arial" pitchFamily="34" charset="0"/>
              </a:rPr>
              <a:t>1</a:t>
            </a:r>
          </a:p>
        </p:txBody>
      </p:sp>
      <p:sp>
        <p:nvSpPr>
          <p:cNvPr id="174" name="TextBox 173">
            <a:extLst>
              <a:ext uri="{FF2B5EF4-FFF2-40B4-BE49-F238E27FC236}">
                <a16:creationId xmlns:a16="http://schemas.microsoft.com/office/drawing/2014/main" id="{97A07184-720F-4EAD-821A-F753680F10A7}"/>
              </a:ext>
            </a:extLst>
          </p:cNvPr>
          <p:cNvSpPr txBox="1"/>
          <p:nvPr/>
        </p:nvSpPr>
        <p:spPr>
          <a:xfrm>
            <a:off x="6096000" y="3772962"/>
            <a:ext cx="609599" cy="321282"/>
          </a:xfrm>
          <a:prstGeom prst="rect">
            <a:avLst/>
          </a:prstGeom>
          <a:noFill/>
        </p:spPr>
        <p:txBody>
          <a:bodyPr wrap="square" rtlCol="0">
            <a:spAutoFit/>
          </a:bodyPr>
          <a:lstStyle/>
          <a:p>
            <a:pPr algn="ctr"/>
            <a:r>
              <a:rPr lang="en-US" sz="1600" b="1" dirty="0">
                <a:solidFill>
                  <a:prstClr val="white"/>
                </a:solidFill>
                <a:cs typeface="Arial" pitchFamily="34" charset="0"/>
              </a:rPr>
              <a:t>3</a:t>
            </a:r>
          </a:p>
        </p:txBody>
      </p:sp>
      <p:sp>
        <p:nvSpPr>
          <p:cNvPr id="175" name="TextBox 174">
            <a:extLst>
              <a:ext uri="{FF2B5EF4-FFF2-40B4-BE49-F238E27FC236}">
                <a16:creationId xmlns:a16="http://schemas.microsoft.com/office/drawing/2014/main" id="{9F841ED9-0778-4110-9D39-6C39542187F5}"/>
              </a:ext>
            </a:extLst>
          </p:cNvPr>
          <p:cNvSpPr txBox="1"/>
          <p:nvPr/>
        </p:nvSpPr>
        <p:spPr>
          <a:xfrm>
            <a:off x="6096000" y="4166591"/>
            <a:ext cx="609599" cy="321282"/>
          </a:xfrm>
          <a:prstGeom prst="rect">
            <a:avLst/>
          </a:prstGeom>
          <a:noFill/>
        </p:spPr>
        <p:txBody>
          <a:bodyPr wrap="square" rtlCol="0">
            <a:spAutoFit/>
          </a:bodyPr>
          <a:lstStyle/>
          <a:p>
            <a:pPr algn="ctr"/>
            <a:r>
              <a:rPr lang="en-US" sz="1600" b="1" dirty="0">
                <a:solidFill>
                  <a:prstClr val="white"/>
                </a:solidFill>
                <a:cs typeface="Arial" pitchFamily="34" charset="0"/>
              </a:rPr>
              <a:t>4</a:t>
            </a:r>
          </a:p>
        </p:txBody>
      </p:sp>
      <p:pic>
        <p:nvPicPr>
          <p:cNvPr id="176" name="Picture 175">
            <a:extLst>
              <a:ext uri="{FF2B5EF4-FFF2-40B4-BE49-F238E27FC236}">
                <a16:creationId xmlns:a16="http://schemas.microsoft.com/office/drawing/2014/main" id="{CDEAED84-0278-47E1-8E63-235DA1D774CC}"/>
              </a:ext>
            </a:extLst>
          </p:cNvPr>
          <p:cNvPicPr>
            <a:picLocks noChangeAspect="1"/>
          </p:cNvPicPr>
          <p:nvPr/>
        </p:nvPicPr>
        <p:blipFill>
          <a:blip r:embed="rId3">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flipH="1">
            <a:off x="5183080" y="4571999"/>
            <a:ext cx="760520" cy="1219200"/>
          </a:xfrm>
          <a:prstGeom prst="rect">
            <a:avLst/>
          </a:prstGeom>
        </p:spPr>
      </p:pic>
      <p:pic>
        <p:nvPicPr>
          <p:cNvPr id="177" name="Picture 176">
            <a:extLst>
              <a:ext uri="{FF2B5EF4-FFF2-40B4-BE49-F238E27FC236}">
                <a16:creationId xmlns:a16="http://schemas.microsoft.com/office/drawing/2014/main" id="{B1231D70-DBA6-4E4B-96DE-75DDA10C9C9B}"/>
              </a:ext>
            </a:extLst>
          </p:cNvPr>
          <p:cNvPicPr>
            <a:picLocks noChangeAspect="1"/>
          </p:cNvPicPr>
          <p:nvPr/>
        </p:nvPicPr>
        <p:blipFill>
          <a:blip r:embed="rId3">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flipH="1">
            <a:off x="5181600" y="1981199"/>
            <a:ext cx="760520" cy="1219200"/>
          </a:xfrm>
          <a:prstGeom prst="rect">
            <a:avLst/>
          </a:prstGeom>
        </p:spPr>
      </p:pic>
      <p:grpSp>
        <p:nvGrpSpPr>
          <p:cNvPr id="178" name="Group 177">
            <a:extLst>
              <a:ext uri="{FF2B5EF4-FFF2-40B4-BE49-F238E27FC236}">
                <a16:creationId xmlns:a16="http://schemas.microsoft.com/office/drawing/2014/main" id="{A7E224DB-9616-487D-A8BB-BFCF9BE92830}"/>
              </a:ext>
            </a:extLst>
          </p:cNvPr>
          <p:cNvGrpSpPr/>
          <p:nvPr/>
        </p:nvGrpSpPr>
        <p:grpSpPr>
          <a:xfrm>
            <a:off x="2971800" y="3352799"/>
            <a:ext cx="1066800" cy="838200"/>
            <a:chOff x="3200400" y="2971800"/>
            <a:chExt cx="1066800" cy="838200"/>
          </a:xfrm>
        </p:grpSpPr>
        <p:sp>
          <p:nvSpPr>
            <p:cNvPr id="179" name="Right Arrow 3">
              <a:extLst>
                <a:ext uri="{FF2B5EF4-FFF2-40B4-BE49-F238E27FC236}">
                  <a16:creationId xmlns:a16="http://schemas.microsoft.com/office/drawing/2014/main" id="{89B5EB0A-8F83-4EA3-8A50-EC86621B3B20}"/>
                </a:ext>
              </a:extLst>
            </p:cNvPr>
            <p:cNvSpPr/>
            <p:nvPr/>
          </p:nvSpPr>
          <p:spPr>
            <a:xfrm>
              <a:off x="3200400" y="2971800"/>
              <a:ext cx="1066800" cy="838200"/>
            </a:xfrm>
            <a:prstGeom prst="rightArrow">
              <a:avLst/>
            </a:prstGeom>
            <a:solidFill>
              <a:sysClr val="window" lastClr="FFFFFF"/>
            </a:solidFill>
            <a:ln w="9525" cap="flat" cmpd="sng" algn="ctr">
              <a:solidFill>
                <a:srgbClr val="231F20">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180" name="TextBox 179">
              <a:extLst>
                <a:ext uri="{FF2B5EF4-FFF2-40B4-BE49-F238E27FC236}">
                  <a16:creationId xmlns:a16="http://schemas.microsoft.com/office/drawing/2014/main" id="{7E19899F-D515-432B-8108-8628F50FE9F8}"/>
                </a:ext>
              </a:extLst>
            </p:cNvPr>
            <p:cNvSpPr txBox="1"/>
            <p:nvPr/>
          </p:nvSpPr>
          <p:spPr>
            <a:xfrm>
              <a:off x="3200400" y="3200400"/>
              <a:ext cx="838200"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rPr>
                <a:t>HDFS</a:t>
              </a:r>
            </a:p>
          </p:txBody>
        </p:sp>
      </p:grpSp>
      <p:sp>
        <p:nvSpPr>
          <p:cNvPr id="181" name="Cross 180">
            <a:extLst>
              <a:ext uri="{FF2B5EF4-FFF2-40B4-BE49-F238E27FC236}">
                <a16:creationId xmlns:a16="http://schemas.microsoft.com/office/drawing/2014/main" id="{F59F2D25-0CE6-468A-945E-958FCC6C1CF8}"/>
              </a:ext>
            </a:extLst>
          </p:cNvPr>
          <p:cNvSpPr/>
          <p:nvPr/>
        </p:nvSpPr>
        <p:spPr bwMode="auto">
          <a:xfrm rot="18964250">
            <a:off x="6306359" y="3029758"/>
            <a:ext cx="1752600" cy="1752600"/>
          </a:xfrm>
          <a:prstGeom prst="plus">
            <a:avLst>
              <a:gd name="adj" fmla="val 46606"/>
            </a:avLst>
          </a:prstGeom>
          <a:solidFill>
            <a:srgbClr val="C00000"/>
          </a:solid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fontAlgn="base">
              <a:spcBef>
                <a:spcPct val="0"/>
              </a:spcBef>
              <a:spcAft>
                <a:spcPct val="0"/>
              </a:spcAft>
            </a:pPr>
            <a:endParaRPr lang="en-US" sz="3400">
              <a:solidFill>
                <a:srgbClr val="000000"/>
              </a:solidFill>
              <a:latin typeface="Gill Sans" charset="0"/>
              <a:ea typeface="ヒラギノ角ゴ ProN W3" charset="0"/>
              <a:cs typeface="ヒラギノ角ゴ ProN W3" charset="0"/>
              <a:sym typeface="Gill Sans" charset="0"/>
            </a:endParaRPr>
          </a:p>
        </p:txBody>
      </p:sp>
    </p:spTree>
    <p:extLst>
      <p:ext uri="{BB962C8B-B14F-4D97-AF65-F5344CB8AC3E}">
        <p14:creationId xmlns:p14="http://schemas.microsoft.com/office/powerpoint/2010/main" val="212944228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1"/>
                                        </p:tgtEl>
                                        <p:attrNameLst>
                                          <p:attrName>style.visibility</p:attrName>
                                        </p:attrNameLst>
                                      </p:cBhvr>
                                      <p:to>
                                        <p:strVal val="visible"/>
                                      </p:to>
                                    </p:set>
                                    <p:animEffect transition="in" filter="fade">
                                      <p:cBhvr>
                                        <p:cTn id="7" dur="500"/>
                                        <p:tgtEl>
                                          <p:spTgt spid="18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mph" presetSubtype="2" fill="hold" grpId="0" nodeType="clickEffect">
                                  <p:stCondLst>
                                    <p:cond delay="0"/>
                                  </p:stCondLst>
                                  <p:childTnLst>
                                    <p:animClr clrSpc="rgb" dir="cw">
                                      <p:cBhvr>
                                        <p:cTn id="11" dur="2000" fill="hold"/>
                                        <p:tgtEl>
                                          <p:spTgt spid="170"/>
                                        </p:tgtEl>
                                        <p:attrNameLst>
                                          <p:attrName>fillcolor</p:attrName>
                                        </p:attrNameLst>
                                      </p:cBhvr>
                                      <p:to>
                                        <a:srgbClr val="999999"/>
                                      </p:to>
                                    </p:animClr>
                                    <p:set>
                                      <p:cBhvr>
                                        <p:cTn id="12" dur="2000" fill="hold"/>
                                        <p:tgtEl>
                                          <p:spTgt spid="170"/>
                                        </p:tgtEl>
                                        <p:attrNameLst>
                                          <p:attrName>fill.type</p:attrName>
                                        </p:attrNameLst>
                                      </p:cBhvr>
                                      <p:to>
                                        <p:strVal val="solid"/>
                                      </p:to>
                                    </p:set>
                                    <p:set>
                                      <p:cBhvr>
                                        <p:cTn id="13" dur="2000" fill="hold"/>
                                        <p:tgtEl>
                                          <p:spTgt spid="170"/>
                                        </p:tgtEl>
                                        <p:attrNameLst>
                                          <p:attrName>fill.on</p:attrName>
                                        </p:attrNameLst>
                                      </p:cBhvr>
                                      <p:to>
                                        <p:strVal val="true"/>
                                      </p:to>
                                    </p:set>
                                  </p:childTnLst>
                                  <p:subTnLst>
                                    <p:animClr clrSpc="rgb" dir="cw">
                                      <p:cBhvr override="childStyle">
                                        <p:cTn dur="1" fill="hold" display="0" masterRel="nextClick" afterEffect="1"/>
                                        <p:tgtEl>
                                          <p:spTgt spid="170"/>
                                        </p:tgtEl>
                                        <p:attrNameLst>
                                          <p:attrName>ppt_c</p:attrName>
                                        </p:attrNameLst>
                                      </p:cBhvr>
                                      <p:to>
                                        <a:srgbClr val="999999"/>
                                      </p:to>
                                    </p:animClr>
                                  </p:subTnLst>
                                </p:cTn>
                              </p:par>
                            </p:childTnLst>
                          </p:cTn>
                        </p:par>
                        <p:par>
                          <p:cTn id="14" fill="hold">
                            <p:stCondLst>
                              <p:cond delay="2000"/>
                            </p:stCondLst>
                            <p:childTnLst>
                              <p:par>
                                <p:cTn id="15" presetID="1" presetClass="emph" presetSubtype="2" fill="hold" nodeType="afterEffect">
                                  <p:stCondLst>
                                    <p:cond delay="0"/>
                                  </p:stCondLst>
                                  <p:childTnLst>
                                    <p:animClr clrSpc="rgb" dir="cw">
                                      <p:cBhvr>
                                        <p:cTn id="16" dur="2000" fill="hold"/>
                                        <p:tgtEl>
                                          <p:spTgt spid="162"/>
                                        </p:tgtEl>
                                        <p:attrNameLst>
                                          <p:attrName>fillcolor</p:attrName>
                                        </p:attrNameLst>
                                      </p:cBhvr>
                                      <p:to>
                                        <a:srgbClr val="999999"/>
                                      </p:to>
                                    </p:animClr>
                                    <p:set>
                                      <p:cBhvr>
                                        <p:cTn id="17" dur="2000" fill="hold"/>
                                        <p:tgtEl>
                                          <p:spTgt spid="162"/>
                                        </p:tgtEl>
                                        <p:attrNameLst>
                                          <p:attrName>fill.type</p:attrName>
                                        </p:attrNameLst>
                                      </p:cBhvr>
                                      <p:to>
                                        <p:strVal val="solid"/>
                                      </p:to>
                                    </p:set>
                                    <p:set>
                                      <p:cBhvr>
                                        <p:cTn id="18" dur="2000" fill="hold"/>
                                        <p:tgtEl>
                                          <p:spTgt spid="162"/>
                                        </p:tgtEl>
                                        <p:attrNameLst>
                                          <p:attrName>fill.on</p:attrName>
                                        </p:attrNameLst>
                                      </p:cBhvr>
                                      <p:to>
                                        <p:strVal val="true"/>
                                      </p:to>
                                    </p:set>
                                  </p:childTnLst>
                                </p:cTn>
                              </p:par>
                            </p:childTnLst>
                          </p:cTn>
                        </p:par>
                        <p:par>
                          <p:cTn id="19" fill="hold">
                            <p:stCondLst>
                              <p:cond delay="4000"/>
                            </p:stCondLst>
                            <p:childTnLst>
                              <p:par>
                                <p:cTn id="20" presetID="1" presetClass="emph" presetSubtype="2" fill="hold" nodeType="afterEffect">
                                  <p:stCondLst>
                                    <p:cond delay="0"/>
                                  </p:stCondLst>
                                  <p:childTnLst>
                                    <p:animClr clrSpc="rgb" dir="cw">
                                      <p:cBhvr>
                                        <p:cTn id="21" dur="2000" fill="hold"/>
                                        <p:tgtEl>
                                          <p:spTgt spid="156"/>
                                        </p:tgtEl>
                                        <p:attrNameLst>
                                          <p:attrName>fillcolor</p:attrName>
                                        </p:attrNameLst>
                                      </p:cBhvr>
                                      <p:to>
                                        <a:srgbClr val="999999"/>
                                      </p:to>
                                    </p:animClr>
                                    <p:set>
                                      <p:cBhvr>
                                        <p:cTn id="22" dur="2000" fill="hold"/>
                                        <p:tgtEl>
                                          <p:spTgt spid="156"/>
                                        </p:tgtEl>
                                        <p:attrNameLst>
                                          <p:attrName>fill.type</p:attrName>
                                        </p:attrNameLst>
                                      </p:cBhvr>
                                      <p:to>
                                        <p:strVal val="solid"/>
                                      </p:to>
                                    </p:set>
                                    <p:set>
                                      <p:cBhvr>
                                        <p:cTn id="23" dur="2000" fill="hold"/>
                                        <p:tgtEl>
                                          <p:spTgt spid="156"/>
                                        </p:tgtEl>
                                        <p:attrNameLst>
                                          <p:attrName>fill.on</p:attrName>
                                        </p:attrNameLst>
                                      </p:cBhvr>
                                      <p:to>
                                        <p:strVal val="true"/>
                                      </p:to>
                                    </p:set>
                                  </p:childTnLst>
                                </p:cTn>
                              </p:par>
                            </p:childTnLst>
                          </p:cTn>
                        </p:par>
                        <p:par>
                          <p:cTn id="24" fill="hold">
                            <p:stCondLst>
                              <p:cond delay="6000"/>
                            </p:stCondLst>
                            <p:childTnLst>
                              <p:par>
                                <p:cTn id="25" presetID="9" presetClass="emph" presetSubtype="0" grpId="0" nodeType="afterEffect">
                                  <p:stCondLst>
                                    <p:cond delay="0"/>
                                  </p:stCondLst>
                                  <p:childTnLst>
                                    <p:set>
                                      <p:cBhvr rctx="PPT">
                                        <p:cTn id="26" dur="indefinite"/>
                                        <p:tgtEl>
                                          <p:spTgt spid="171"/>
                                        </p:tgtEl>
                                        <p:attrNameLst>
                                          <p:attrName>style.opacity</p:attrName>
                                        </p:attrNameLst>
                                      </p:cBhvr>
                                      <p:to>
                                        <p:strVal val="0.5"/>
                                      </p:to>
                                    </p:set>
                                    <p:animEffect filter="image" prLst="opacity: 0.5">
                                      <p:cBhvr rctx="IE">
                                        <p:cTn id="27" dur="indefinite"/>
                                        <p:tgtEl>
                                          <p:spTgt spid="171"/>
                                        </p:tgtEl>
                                      </p:cBhvr>
                                    </p:animEffect>
                                  </p:childTnLst>
                                  <p:subTnLst>
                                    <p:animClr clrSpc="rgb" dir="cw">
                                      <p:cBhvr override="childStyle">
                                        <p:cTn dur="1" fill="hold" display="0" masterRel="nextClick" afterEffect="1"/>
                                        <p:tgtEl>
                                          <p:spTgt spid="171"/>
                                        </p:tgtEl>
                                        <p:attrNameLst>
                                          <p:attrName>ppt_c</p:attrName>
                                        </p:attrNameLst>
                                      </p:cBhvr>
                                      <p:to>
                                        <a:schemeClr val="accent2"/>
                                      </p:to>
                                    </p:animClr>
                                  </p:subTnLst>
                                </p:cTn>
                              </p:par>
                            </p:childTnLst>
                          </p:cTn>
                        </p:par>
                        <p:par>
                          <p:cTn id="28" fill="hold">
                            <p:stCondLst>
                              <p:cond delay="6000"/>
                            </p:stCondLst>
                            <p:childTnLst>
                              <p:par>
                                <p:cTn id="29" presetID="1" presetClass="emph" presetSubtype="2" fill="hold" nodeType="afterEffect">
                                  <p:stCondLst>
                                    <p:cond delay="0"/>
                                  </p:stCondLst>
                                  <p:childTnLst>
                                    <p:animClr clrSpc="rgb" dir="cw">
                                      <p:cBhvr>
                                        <p:cTn id="30" dur="2000" fill="hold"/>
                                        <p:tgtEl>
                                          <p:spTgt spid="157"/>
                                        </p:tgtEl>
                                        <p:attrNameLst>
                                          <p:attrName>fillcolor</p:attrName>
                                        </p:attrNameLst>
                                      </p:cBhvr>
                                      <p:to>
                                        <a:schemeClr val="accent2"/>
                                      </p:to>
                                    </p:animClr>
                                    <p:set>
                                      <p:cBhvr>
                                        <p:cTn id="31" dur="2000" fill="hold"/>
                                        <p:tgtEl>
                                          <p:spTgt spid="157"/>
                                        </p:tgtEl>
                                        <p:attrNameLst>
                                          <p:attrName>fill.type</p:attrName>
                                        </p:attrNameLst>
                                      </p:cBhvr>
                                      <p:to>
                                        <p:strVal val="solid"/>
                                      </p:to>
                                    </p:set>
                                    <p:set>
                                      <p:cBhvr>
                                        <p:cTn id="32" dur="2000" fill="hold"/>
                                        <p:tgtEl>
                                          <p:spTgt spid="157"/>
                                        </p:tgtEl>
                                        <p:attrNameLst>
                                          <p:attrName>fill.on</p:attrName>
                                        </p:attrNameLst>
                                      </p:cBhvr>
                                      <p:to>
                                        <p:strVal val="true"/>
                                      </p:to>
                                    </p:set>
                                  </p:childTnLst>
                                </p:cTn>
                              </p:par>
                            </p:childTnLst>
                          </p:cTn>
                        </p:par>
                        <p:par>
                          <p:cTn id="33" fill="hold">
                            <p:stCondLst>
                              <p:cond delay="8000"/>
                            </p:stCondLst>
                            <p:childTnLst>
                              <p:par>
                                <p:cTn id="34" presetID="1" presetClass="emph" presetSubtype="2" fill="hold" nodeType="afterEffect">
                                  <p:stCondLst>
                                    <p:cond delay="0"/>
                                  </p:stCondLst>
                                  <p:childTnLst>
                                    <p:animClr clrSpc="rgb" dir="cw">
                                      <p:cBhvr>
                                        <p:cTn id="35" dur="2000" fill="hold"/>
                                        <p:tgtEl>
                                          <p:spTgt spid="144"/>
                                        </p:tgtEl>
                                        <p:attrNameLst>
                                          <p:attrName>fillcolor</p:attrName>
                                        </p:attrNameLst>
                                      </p:cBhvr>
                                      <p:to>
                                        <a:schemeClr val="accent2"/>
                                      </p:to>
                                    </p:animClr>
                                    <p:set>
                                      <p:cBhvr>
                                        <p:cTn id="36" dur="2000" fill="hold"/>
                                        <p:tgtEl>
                                          <p:spTgt spid="144"/>
                                        </p:tgtEl>
                                        <p:attrNameLst>
                                          <p:attrName>fill.type</p:attrName>
                                        </p:attrNameLst>
                                      </p:cBhvr>
                                      <p:to>
                                        <p:strVal val="solid"/>
                                      </p:to>
                                    </p:set>
                                    <p:set>
                                      <p:cBhvr>
                                        <p:cTn id="37" dur="2000" fill="hold"/>
                                        <p:tgtEl>
                                          <p:spTgt spid="144"/>
                                        </p:tgtEl>
                                        <p:attrNameLst>
                                          <p:attrName>fill.on</p:attrName>
                                        </p:attrNameLst>
                                      </p:cBhvr>
                                      <p:to>
                                        <p:strVal val="true"/>
                                      </p:to>
                                    </p:set>
                                  </p:childTnLst>
                                </p:cTn>
                              </p:par>
                            </p:childTnLst>
                          </p:cTn>
                        </p:par>
                        <p:par>
                          <p:cTn id="38" fill="hold">
                            <p:stCondLst>
                              <p:cond delay="10000"/>
                            </p:stCondLst>
                            <p:childTnLst>
                              <p:par>
                                <p:cTn id="39" presetID="9" presetClass="emph" presetSubtype="0" grpId="0" nodeType="afterEffect">
                                  <p:stCondLst>
                                    <p:cond delay="0"/>
                                  </p:stCondLst>
                                  <p:childTnLst>
                                    <p:set>
                                      <p:cBhvr rctx="PPT">
                                        <p:cTn id="40" dur="indefinite"/>
                                        <p:tgtEl>
                                          <p:spTgt spid="172"/>
                                        </p:tgtEl>
                                        <p:attrNameLst>
                                          <p:attrName>style.opacity</p:attrName>
                                        </p:attrNameLst>
                                      </p:cBhvr>
                                      <p:to>
                                        <p:strVal val="0.5"/>
                                      </p:to>
                                    </p:set>
                                    <p:animEffect filter="image" prLst="opacity: 0.5">
                                      <p:cBhvr rctx="IE">
                                        <p:cTn id="41" dur="indefinite"/>
                                        <p:tgtEl>
                                          <p:spTgt spid="172"/>
                                        </p:tgtEl>
                                      </p:cBhvr>
                                    </p:animEffect>
                                  </p:childTnLst>
                                  <p:subTnLst>
                                    <p:animClr clrSpc="rgb" dir="cw">
                                      <p:cBhvr override="childStyle">
                                        <p:cTn dur="1" fill="hold" display="0" masterRel="nextClick" afterEffect="1"/>
                                        <p:tgtEl>
                                          <p:spTgt spid="172"/>
                                        </p:tgtEl>
                                        <p:attrNameLst>
                                          <p:attrName>ppt_c</p:attrName>
                                        </p:attrNameLst>
                                      </p:cBhvr>
                                      <p:to>
                                        <a:schemeClr val="hlink"/>
                                      </p:to>
                                    </p:animClr>
                                  </p:subTnLst>
                                </p:cTn>
                              </p:par>
                            </p:childTnLst>
                          </p:cTn>
                        </p:par>
                        <p:par>
                          <p:cTn id="42" fill="hold">
                            <p:stCondLst>
                              <p:cond delay="10000"/>
                            </p:stCondLst>
                            <p:childTnLst>
                              <p:par>
                                <p:cTn id="43" presetID="1" presetClass="emph" presetSubtype="2" fill="hold" nodeType="afterEffect">
                                  <p:stCondLst>
                                    <p:cond delay="0"/>
                                  </p:stCondLst>
                                  <p:childTnLst>
                                    <p:animClr clrSpc="rgb" dir="cw">
                                      <p:cBhvr>
                                        <p:cTn id="44" dur="2000" fill="hold"/>
                                        <p:tgtEl>
                                          <p:spTgt spid="145"/>
                                        </p:tgtEl>
                                        <p:attrNameLst>
                                          <p:attrName>fillcolor</p:attrName>
                                        </p:attrNameLst>
                                      </p:cBhvr>
                                      <p:to>
                                        <a:schemeClr val="hlink"/>
                                      </p:to>
                                    </p:animClr>
                                    <p:set>
                                      <p:cBhvr>
                                        <p:cTn id="45" dur="2000" fill="hold"/>
                                        <p:tgtEl>
                                          <p:spTgt spid="145"/>
                                        </p:tgtEl>
                                        <p:attrNameLst>
                                          <p:attrName>fill.type</p:attrName>
                                        </p:attrNameLst>
                                      </p:cBhvr>
                                      <p:to>
                                        <p:strVal val="solid"/>
                                      </p:to>
                                    </p:set>
                                    <p:set>
                                      <p:cBhvr>
                                        <p:cTn id="46" dur="2000" fill="hold"/>
                                        <p:tgtEl>
                                          <p:spTgt spid="145"/>
                                        </p:tgtEl>
                                        <p:attrNameLst>
                                          <p:attrName>fill.on</p:attrName>
                                        </p:attrNameLst>
                                      </p:cBhvr>
                                      <p:to>
                                        <p:strVal val="true"/>
                                      </p:to>
                                    </p:set>
                                  </p:childTnLst>
                                </p:cTn>
                              </p:par>
                            </p:childTnLst>
                          </p:cTn>
                        </p:par>
                        <p:par>
                          <p:cTn id="47" fill="hold">
                            <p:stCondLst>
                              <p:cond delay="12000"/>
                            </p:stCondLst>
                            <p:childTnLst>
                              <p:par>
                                <p:cTn id="48" presetID="1" presetClass="emph" presetSubtype="2" fill="hold" nodeType="afterEffect">
                                  <p:stCondLst>
                                    <p:cond delay="0"/>
                                  </p:stCondLst>
                                  <p:childTnLst>
                                    <p:animClr clrSpc="rgb" dir="cw">
                                      <p:cBhvr>
                                        <p:cTn id="49" dur="2000" fill="hold"/>
                                        <p:tgtEl>
                                          <p:spTgt spid="151"/>
                                        </p:tgtEl>
                                        <p:attrNameLst>
                                          <p:attrName>fillcolor</p:attrName>
                                        </p:attrNameLst>
                                      </p:cBhvr>
                                      <p:to>
                                        <a:schemeClr val="hlink"/>
                                      </p:to>
                                    </p:animClr>
                                    <p:set>
                                      <p:cBhvr>
                                        <p:cTn id="50" dur="2000" fill="hold"/>
                                        <p:tgtEl>
                                          <p:spTgt spid="151"/>
                                        </p:tgtEl>
                                        <p:attrNameLst>
                                          <p:attrName>fill.type</p:attrName>
                                        </p:attrNameLst>
                                      </p:cBhvr>
                                      <p:to>
                                        <p:strVal val="solid"/>
                                      </p:to>
                                    </p:set>
                                    <p:set>
                                      <p:cBhvr>
                                        <p:cTn id="51" dur="2000" fill="hold"/>
                                        <p:tgtEl>
                                          <p:spTgt spid="151"/>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 grpId="0" animBg="1"/>
      <p:bldP spid="171" grpId="0" animBg="1"/>
      <p:bldP spid="172" grpId="0" animBg="1"/>
      <p:bldP spid="181"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Abstract complexity</a:t>
            </a:r>
            <a:endParaRPr lang="en-US" dirty="0"/>
          </a:p>
        </p:txBody>
      </p:sp>
      <p:sp>
        <p:nvSpPr>
          <p:cNvPr id="3" name="Content Placeholder 2"/>
          <p:cNvSpPr>
            <a:spLocks noGrp="1"/>
          </p:cNvSpPr>
          <p:nvPr>
            <p:ph idx="1"/>
          </p:nvPr>
        </p:nvSpPr>
        <p:spPr/>
        <p:txBody>
          <a:bodyPr>
            <a:normAutofit/>
          </a:bodyPr>
          <a:lstStyle/>
          <a:p>
            <a:pPr marL="280988" indent="-280988"/>
            <a:r>
              <a:rPr lang="en-US" altLang="en-US" sz="2600" dirty="0"/>
              <a:t>Hadoop abstracts many complexities in distributed and concurrent applications</a:t>
            </a:r>
          </a:p>
          <a:p>
            <a:pPr marL="693738" lvl="1" indent="-347663"/>
            <a:r>
              <a:rPr lang="en-US" altLang="en-US" sz="2200" dirty="0"/>
              <a:t>Defines small number of components</a:t>
            </a:r>
          </a:p>
          <a:p>
            <a:pPr marL="693738" lvl="1" indent="-347663"/>
            <a:r>
              <a:rPr lang="en-US" altLang="en-US" sz="2200" dirty="0"/>
              <a:t>Provides simple and well defined interfaces of interactions between these components</a:t>
            </a:r>
          </a:p>
          <a:p>
            <a:pPr marL="280988" indent="-280988"/>
            <a:r>
              <a:rPr lang="en-US" altLang="en-US" sz="2600" dirty="0"/>
              <a:t>Frees developer from worrying about system level challenges</a:t>
            </a:r>
          </a:p>
          <a:p>
            <a:pPr marL="693738" lvl="1" indent="-347663"/>
            <a:r>
              <a:rPr lang="en-US" altLang="en-US" sz="2200" dirty="0"/>
              <a:t>race conditions, data starvation</a:t>
            </a:r>
          </a:p>
          <a:p>
            <a:pPr marL="693738" lvl="1" indent="-347663"/>
            <a:r>
              <a:rPr lang="en-US" altLang="en-US" sz="2200" dirty="0"/>
              <a:t>processing pipelines, data partitioning, code distribution</a:t>
            </a:r>
          </a:p>
          <a:p>
            <a:pPr marL="236538" indent="-236538"/>
            <a:r>
              <a:rPr lang="en-US" altLang="en-US" sz="2600" dirty="0"/>
              <a:t> Allows developers to focus on application development and business logic</a:t>
            </a:r>
          </a:p>
          <a:p>
            <a:endParaRPr lang="en-US" dirty="0"/>
          </a:p>
        </p:txBody>
      </p:sp>
    </p:spTree>
    <p:extLst>
      <p:ext uri="{BB962C8B-B14F-4D97-AF65-F5344CB8AC3E}">
        <p14:creationId xmlns:p14="http://schemas.microsoft.com/office/powerpoint/2010/main" val="11728571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87D07-8708-4A29-9587-06766D249024}"/>
              </a:ext>
            </a:extLst>
          </p:cNvPr>
          <p:cNvSpPr>
            <a:spLocks noGrp="1"/>
          </p:cNvSpPr>
          <p:nvPr>
            <p:ph type="title"/>
          </p:nvPr>
        </p:nvSpPr>
        <p:spPr/>
        <p:txBody>
          <a:bodyPr/>
          <a:lstStyle/>
          <a:p>
            <a:r>
              <a:rPr lang="en-IN" dirty="0"/>
              <a:t>Hadoop Use Cases</a:t>
            </a:r>
          </a:p>
        </p:txBody>
      </p:sp>
      <p:grpSp>
        <p:nvGrpSpPr>
          <p:cNvPr id="40" name="Group 39">
            <a:extLst>
              <a:ext uri="{FF2B5EF4-FFF2-40B4-BE49-F238E27FC236}">
                <a16:creationId xmlns:a16="http://schemas.microsoft.com/office/drawing/2014/main" id="{FAB28472-711B-4F91-BDF3-704C1B8B1677}"/>
              </a:ext>
            </a:extLst>
          </p:cNvPr>
          <p:cNvGrpSpPr/>
          <p:nvPr/>
        </p:nvGrpSpPr>
        <p:grpSpPr>
          <a:xfrm>
            <a:off x="0" y="1791323"/>
            <a:ext cx="9144000" cy="4685677"/>
            <a:chOff x="0" y="1257924"/>
            <a:chExt cx="9144000" cy="4685677"/>
          </a:xfrm>
        </p:grpSpPr>
        <p:sp>
          <p:nvSpPr>
            <p:cNvPr id="41" name="Rectangle 40">
              <a:extLst>
                <a:ext uri="{FF2B5EF4-FFF2-40B4-BE49-F238E27FC236}">
                  <a16:creationId xmlns:a16="http://schemas.microsoft.com/office/drawing/2014/main" id="{0749FA70-7461-4BE7-B8B7-0774AC92169C}"/>
                </a:ext>
              </a:extLst>
            </p:cNvPr>
            <p:cNvSpPr/>
            <p:nvPr/>
          </p:nvSpPr>
          <p:spPr>
            <a:xfrm>
              <a:off x="0" y="1676400"/>
              <a:ext cx="9144000" cy="4267200"/>
            </a:xfrm>
            <a:prstGeom prst="rect">
              <a:avLst/>
            </a:prstGeom>
            <a:gradFill>
              <a:gsLst>
                <a:gs pos="0">
                  <a:sysClr val="window" lastClr="FFFFFF">
                    <a:lumMod val="95000"/>
                  </a:sysClr>
                </a:gs>
                <a:gs pos="50000">
                  <a:sysClr val="window" lastClr="FFFFFF"/>
                </a:gs>
                <a:gs pos="100000">
                  <a:sysClr val="window" lastClr="FFFFFF">
                    <a:lumMod val="95000"/>
                  </a:sysClr>
                </a:gs>
              </a:gsLst>
              <a:lin ang="0" scaled="0"/>
            </a:gra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cxnSp>
          <p:nvCxnSpPr>
            <p:cNvPr id="42" name="Straight Connector 41">
              <a:extLst>
                <a:ext uri="{FF2B5EF4-FFF2-40B4-BE49-F238E27FC236}">
                  <a16:creationId xmlns:a16="http://schemas.microsoft.com/office/drawing/2014/main" id="{40131A0B-329B-4BDD-B68F-538F52CB9F16}"/>
                </a:ext>
              </a:extLst>
            </p:cNvPr>
            <p:cNvCxnSpPr/>
            <p:nvPr/>
          </p:nvCxnSpPr>
          <p:spPr>
            <a:xfrm>
              <a:off x="0" y="1676400"/>
              <a:ext cx="9144000" cy="0"/>
            </a:xfrm>
            <a:prstGeom prst="line">
              <a:avLst/>
            </a:prstGeom>
            <a:noFill/>
            <a:ln w="9525" cap="flat" cmpd="sng" algn="ctr">
              <a:solidFill>
                <a:sysClr val="window" lastClr="FFFFFF">
                  <a:lumMod val="85000"/>
                </a:sysClr>
              </a:solidFill>
              <a:prstDash val="solid"/>
            </a:ln>
            <a:effectLst/>
          </p:spPr>
        </p:cxnSp>
        <p:sp>
          <p:nvSpPr>
            <p:cNvPr id="43" name="Rectangle 42">
              <a:extLst>
                <a:ext uri="{FF2B5EF4-FFF2-40B4-BE49-F238E27FC236}">
                  <a16:creationId xmlns:a16="http://schemas.microsoft.com/office/drawing/2014/main" id="{711811C0-172E-4009-86FB-5E280933E37E}"/>
                </a:ext>
              </a:extLst>
            </p:cNvPr>
            <p:cNvSpPr/>
            <p:nvPr/>
          </p:nvSpPr>
          <p:spPr>
            <a:xfrm>
              <a:off x="8001000" y="1676401"/>
              <a:ext cx="1143000" cy="4267200"/>
            </a:xfrm>
            <a:prstGeom prst="rect">
              <a:avLst/>
            </a:prstGeom>
            <a:solidFill>
              <a:sysClr val="window" lastClr="FFFFFF">
                <a:lumMod val="65000"/>
              </a:sys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44" name="Rectangle 43">
              <a:extLst>
                <a:ext uri="{FF2B5EF4-FFF2-40B4-BE49-F238E27FC236}">
                  <a16:creationId xmlns:a16="http://schemas.microsoft.com/office/drawing/2014/main" id="{933041D1-EBD0-48CD-92C6-2D2E7DB60802}"/>
                </a:ext>
              </a:extLst>
            </p:cNvPr>
            <p:cNvSpPr/>
            <p:nvPr/>
          </p:nvSpPr>
          <p:spPr>
            <a:xfrm>
              <a:off x="0" y="1676400"/>
              <a:ext cx="1143000" cy="4267200"/>
            </a:xfrm>
            <a:prstGeom prst="rect">
              <a:avLst/>
            </a:prstGeom>
            <a:solidFill>
              <a:sysClr val="window" lastClr="FFFFFF">
                <a:lumMod val="65000"/>
              </a:sys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45" name="TextBox 44">
              <a:extLst>
                <a:ext uri="{FF2B5EF4-FFF2-40B4-BE49-F238E27FC236}">
                  <a16:creationId xmlns:a16="http://schemas.microsoft.com/office/drawing/2014/main" id="{5ADE076D-B7A7-425D-868A-3FA6BA9516CE}"/>
                </a:ext>
              </a:extLst>
            </p:cNvPr>
            <p:cNvSpPr txBox="1"/>
            <p:nvPr/>
          </p:nvSpPr>
          <p:spPr>
            <a:xfrm rot="16200000">
              <a:off x="-1193139" y="3662773"/>
              <a:ext cx="3529278"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231F20"/>
                  </a:solidFill>
                  <a:effectLst/>
                  <a:uLnTx/>
                  <a:uFillTx/>
                </a:rPr>
                <a:t>ADVANCED ANALYTICS</a:t>
              </a:r>
              <a:endParaRPr kumimoji="0" lang="en-US" sz="2000" b="1" i="0" u="none" strike="noStrike" kern="0" cap="none" spc="0" normalizeH="0" baseline="0" noProof="0" dirty="0">
                <a:ln>
                  <a:noFill/>
                </a:ln>
                <a:solidFill>
                  <a:srgbClr val="231F20"/>
                </a:solidFill>
                <a:effectLst/>
                <a:uLnTx/>
                <a:uFillTx/>
              </a:endParaRPr>
            </a:p>
          </p:txBody>
        </p:sp>
        <p:sp>
          <p:nvSpPr>
            <p:cNvPr id="46" name="TextBox 45">
              <a:extLst>
                <a:ext uri="{FF2B5EF4-FFF2-40B4-BE49-F238E27FC236}">
                  <a16:creationId xmlns:a16="http://schemas.microsoft.com/office/drawing/2014/main" id="{DDCC36EA-6C36-4C26-B8EC-F3E2F25DD6B7}"/>
                </a:ext>
              </a:extLst>
            </p:cNvPr>
            <p:cNvSpPr txBox="1"/>
            <p:nvPr/>
          </p:nvSpPr>
          <p:spPr>
            <a:xfrm rot="16200000">
              <a:off x="6807861" y="3713573"/>
              <a:ext cx="3529278"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231F20"/>
                  </a:solidFill>
                  <a:effectLst/>
                  <a:uLnTx/>
                  <a:uFillTx/>
                </a:rPr>
                <a:t>DATA PROCESSING</a:t>
              </a:r>
              <a:endParaRPr kumimoji="0" lang="en-US" sz="2000" b="1" i="0" u="none" strike="noStrike" kern="0" cap="none" spc="0" normalizeH="0" baseline="0" noProof="0" dirty="0">
                <a:ln>
                  <a:noFill/>
                </a:ln>
                <a:solidFill>
                  <a:srgbClr val="231F20"/>
                </a:solidFill>
                <a:effectLst/>
                <a:uLnTx/>
                <a:uFillTx/>
              </a:endParaRPr>
            </a:p>
          </p:txBody>
        </p:sp>
        <p:sp>
          <p:nvSpPr>
            <p:cNvPr id="47" name="TextBox 46">
              <a:extLst>
                <a:ext uri="{FF2B5EF4-FFF2-40B4-BE49-F238E27FC236}">
                  <a16:creationId xmlns:a16="http://schemas.microsoft.com/office/drawing/2014/main" id="{9FC894C3-790C-45A0-BE5A-24E93B61EC2F}"/>
                </a:ext>
              </a:extLst>
            </p:cNvPr>
            <p:cNvSpPr txBox="1"/>
            <p:nvPr/>
          </p:nvSpPr>
          <p:spPr>
            <a:xfrm>
              <a:off x="1146313" y="1854200"/>
              <a:ext cx="2438400" cy="3077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lumMod val="50000"/>
                    </a:prstClr>
                  </a:solidFill>
                  <a:effectLst/>
                  <a:uLnTx/>
                  <a:uFillTx/>
                </a:rPr>
                <a:t>Social Network Analysis</a:t>
              </a:r>
            </a:p>
          </p:txBody>
        </p:sp>
        <p:sp>
          <p:nvSpPr>
            <p:cNvPr id="48" name="TextBox 47">
              <a:extLst>
                <a:ext uri="{FF2B5EF4-FFF2-40B4-BE49-F238E27FC236}">
                  <a16:creationId xmlns:a16="http://schemas.microsoft.com/office/drawing/2014/main" id="{7DE28371-90DC-4D4D-93E6-6ACAC660C1F5}"/>
                </a:ext>
              </a:extLst>
            </p:cNvPr>
            <p:cNvSpPr txBox="1"/>
            <p:nvPr/>
          </p:nvSpPr>
          <p:spPr>
            <a:xfrm>
              <a:off x="1146314" y="2438400"/>
              <a:ext cx="2435086" cy="3077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lumMod val="50000"/>
                    </a:prstClr>
                  </a:solidFill>
                  <a:effectLst/>
                  <a:uLnTx/>
                  <a:uFillTx/>
                </a:rPr>
                <a:t>Content Optimization</a:t>
              </a:r>
            </a:p>
          </p:txBody>
        </p:sp>
        <p:sp>
          <p:nvSpPr>
            <p:cNvPr id="49" name="TextBox 48">
              <a:extLst>
                <a:ext uri="{FF2B5EF4-FFF2-40B4-BE49-F238E27FC236}">
                  <a16:creationId xmlns:a16="http://schemas.microsoft.com/office/drawing/2014/main" id="{010DE87F-8CB5-4FC2-8D31-85C92737544C}"/>
                </a:ext>
              </a:extLst>
            </p:cNvPr>
            <p:cNvSpPr txBox="1"/>
            <p:nvPr/>
          </p:nvSpPr>
          <p:spPr>
            <a:xfrm>
              <a:off x="1146315" y="3048000"/>
              <a:ext cx="2451650" cy="3077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lumMod val="50000"/>
                    </a:prstClr>
                  </a:solidFill>
                  <a:effectLst/>
                  <a:uLnTx/>
                  <a:uFillTx/>
                </a:rPr>
                <a:t>Network Analytics</a:t>
              </a:r>
            </a:p>
          </p:txBody>
        </p:sp>
        <p:sp>
          <p:nvSpPr>
            <p:cNvPr id="50" name="TextBox 49">
              <a:extLst>
                <a:ext uri="{FF2B5EF4-FFF2-40B4-BE49-F238E27FC236}">
                  <a16:creationId xmlns:a16="http://schemas.microsoft.com/office/drawing/2014/main" id="{CAFFFF9F-1B48-40FC-ABD0-CAB48D4E3485}"/>
                </a:ext>
              </a:extLst>
            </p:cNvPr>
            <p:cNvSpPr txBox="1"/>
            <p:nvPr/>
          </p:nvSpPr>
          <p:spPr>
            <a:xfrm>
              <a:off x="1673085" y="4020619"/>
              <a:ext cx="1832113" cy="246221"/>
            </a:xfrm>
            <a:prstGeom prst="rect">
              <a:avLst/>
            </a:prstGeom>
            <a:noFill/>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dirty="0">
                <a:ln>
                  <a:noFill/>
                </a:ln>
                <a:solidFill>
                  <a:prstClr val="white">
                    <a:lumMod val="50000"/>
                  </a:prstClr>
                </a:solidFill>
                <a:effectLst/>
                <a:uLnTx/>
                <a:uFillTx/>
              </a:endParaRPr>
            </a:p>
          </p:txBody>
        </p:sp>
        <p:sp>
          <p:nvSpPr>
            <p:cNvPr id="51" name="TextBox 50">
              <a:extLst>
                <a:ext uri="{FF2B5EF4-FFF2-40B4-BE49-F238E27FC236}">
                  <a16:creationId xmlns:a16="http://schemas.microsoft.com/office/drawing/2014/main" id="{25B3B68D-D6D6-41AC-BE96-D1B630AFBC89}"/>
                </a:ext>
              </a:extLst>
            </p:cNvPr>
            <p:cNvSpPr txBox="1"/>
            <p:nvPr/>
          </p:nvSpPr>
          <p:spPr>
            <a:xfrm>
              <a:off x="1143000" y="3581400"/>
              <a:ext cx="2441713" cy="52322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lumMod val="50000"/>
                    </a:prstClr>
                  </a:solidFill>
                  <a:effectLst/>
                  <a:uLnTx/>
                  <a:uFillTx/>
                </a:rPr>
                <a:t>Loyalty &amp; Promotions Analysis</a:t>
              </a:r>
            </a:p>
          </p:txBody>
        </p:sp>
        <p:sp>
          <p:nvSpPr>
            <p:cNvPr id="52" name="TextBox 51">
              <a:extLst>
                <a:ext uri="{FF2B5EF4-FFF2-40B4-BE49-F238E27FC236}">
                  <a16:creationId xmlns:a16="http://schemas.microsoft.com/office/drawing/2014/main" id="{3F642619-0C91-4D14-B21D-71E6C03544F9}"/>
                </a:ext>
              </a:extLst>
            </p:cNvPr>
            <p:cNvSpPr txBox="1"/>
            <p:nvPr/>
          </p:nvSpPr>
          <p:spPr>
            <a:xfrm>
              <a:off x="1146315" y="4264223"/>
              <a:ext cx="2451650" cy="3077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lumMod val="50000"/>
                    </a:prstClr>
                  </a:solidFill>
                  <a:effectLst/>
                  <a:uLnTx/>
                  <a:uFillTx/>
                </a:rPr>
                <a:t>Fraud Analysis</a:t>
              </a:r>
            </a:p>
          </p:txBody>
        </p:sp>
        <p:sp>
          <p:nvSpPr>
            <p:cNvPr id="53" name="TextBox 52">
              <a:extLst>
                <a:ext uri="{FF2B5EF4-FFF2-40B4-BE49-F238E27FC236}">
                  <a16:creationId xmlns:a16="http://schemas.microsoft.com/office/drawing/2014/main" id="{97A5F67F-D7F0-476C-A81F-CD8F627F581F}"/>
                </a:ext>
              </a:extLst>
            </p:cNvPr>
            <p:cNvSpPr txBox="1"/>
            <p:nvPr/>
          </p:nvSpPr>
          <p:spPr>
            <a:xfrm>
              <a:off x="1146315" y="4876800"/>
              <a:ext cx="2451650" cy="3077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lumMod val="50000"/>
                    </a:prstClr>
                  </a:solidFill>
                  <a:effectLst/>
                  <a:uLnTx/>
                  <a:uFillTx/>
                </a:rPr>
                <a:t>Entity Analysis</a:t>
              </a:r>
            </a:p>
          </p:txBody>
        </p:sp>
        <p:sp>
          <p:nvSpPr>
            <p:cNvPr id="54" name="TextBox 53">
              <a:extLst>
                <a:ext uri="{FF2B5EF4-FFF2-40B4-BE49-F238E27FC236}">
                  <a16:creationId xmlns:a16="http://schemas.microsoft.com/office/drawing/2014/main" id="{227D673B-D1DB-4F1C-92AA-C8C77736CD3E}"/>
                </a:ext>
              </a:extLst>
            </p:cNvPr>
            <p:cNvSpPr txBox="1"/>
            <p:nvPr/>
          </p:nvSpPr>
          <p:spPr>
            <a:xfrm>
              <a:off x="5486400" y="1863923"/>
              <a:ext cx="2507974" cy="3077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lumMod val="50000"/>
                    </a:prstClr>
                  </a:solidFill>
                  <a:effectLst/>
                  <a:uLnTx/>
                  <a:uFillTx/>
                </a:rPr>
                <a:t>Clickstream Sessionization</a:t>
              </a:r>
            </a:p>
          </p:txBody>
        </p:sp>
        <p:sp>
          <p:nvSpPr>
            <p:cNvPr id="55" name="TextBox 54">
              <a:extLst>
                <a:ext uri="{FF2B5EF4-FFF2-40B4-BE49-F238E27FC236}">
                  <a16:creationId xmlns:a16="http://schemas.microsoft.com/office/drawing/2014/main" id="{18050D91-4372-4354-86AC-C4E6E47D53BC}"/>
                </a:ext>
              </a:extLst>
            </p:cNvPr>
            <p:cNvSpPr txBox="1"/>
            <p:nvPr/>
          </p:nvSpPr>
          <p:spPr>
            <a:xfrm>
              <a:off x="5479774" y="2413000"/>
              <a:ext cx="2514600" cy="3077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lumMod val="50000"/>
                    </a:prstClr>
                  </a:solidFill>
                  <a:effectLst/>
                  <a:uLnTx/>
                  <a:uFillTx/>
                </a:rPr>
                <a:t>Clickstream Sessionization</a:t>
              </a:r>
            </a:p>
          </p:txBody>
        </p:sp>
        <p:sp>
          <p:nvSpPr>
            <p:cNvPr id="56" name="TextBox 55">
              <a:extLst>
                <a:ext uri="{FF2B5EF4-FFF2-40B4-BE49-F238E27FC236}">
                  <a16:creationId xmlns:a16="http://schemas.microsoft.com/office/drawing/2014/main" id="{B508C065-E70A-49AF-872E-B79FB6040A90}"/>
                </a:ext>
              </a:extLst>
            </p:cNvPr>
            <p:cNvSpPr txBox="1"/>
            <p:nvPr/>
          </p:nvSpPr>
          <p:spPr>
            <a:xfrm>
              <a:off x="5502965" y="3060700"/>
              <a:ext cx="2491409" cy="3077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lumMod val="50000"/>
                    </a:prstClr>
                  </a:solidFill>
                  <a:effectLst/>
                  <a:uLnTx/>
                  <a:uFillTx/>
                </a:rPr>
                <a:t>Mediation</a:t>
              </a:r>
            </a:p>
          </p:txBody>
        </p:sp>
        <p:sp>
          <p:nvSpPr>
            <p:cNvPr id="57" name="TextBox 56">
              <a:extLst>
                <a:ext uri="{FF2B5EF4-FFF2-40B4-BE49-F238E27FC236}">
                  <a16:creationId xmlns:a16="http://schemas.microsoft.com/office/drawing/2014/main" id="{158E39F5-AA87-4925-8DF0-69B55ECF0F0E}"/>
                </a:ext>
              </a:extLst>
            </p:cNvPr>
            <p:cNvSpPr txBox="1"/>
            <p:nvPr/>
          </p:nvSpPr>
          <p:spPr>
            <a:xfrm>
              <a:off x="5486400" y="3657600"/>
              <a:ext cx="2507974" cy="3077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lumMod val="50000"/>
                    </a:prstClr>
                  </a:solidFill>
                  <a:effectLst/>
                  <a:uLnTx/>
                  <a:uFillTx/>
                </a:rPr>
                <a:t>Data Factory</a:t>
              </a:r>
            </a:p>
          </p:txBody>
        </p:sp>
        <p:sp>
          <p:nvSpPr>
            <p:cNvPr id="58" name="TextBox 57">
              <a:extLst>
                <a:ext uri="{FF2B5EF4-FFF2-40B4-BE49-F238E27FC236}">
                  <a16:creationId xmlns:a16="http://schemas.microsoft.com/office/drawing/2014/main" id="{CB46F732-F927-4760-A6D0-7DB48B81FF3A}"/>
                </a:ext>
              </a:extLst>
            </p:cNvPr>
            <p:cNvSpPr txBox="1"/>
            <p:nvPr/>
          </p:nvSpPr>
          <p:spPr>
            <a:xfrm>
              <a:off x="5502964" y="4264223"/>
              <a:ext cx="2491409" cy="3077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lumMod val="50000"/>
                    </a:prstClr>
                  </a:solidFill>
                  <a:effectLst/>
                  <a:uLnTx/>
                  <a:uFillTx/>
                </a:rPr>
                <a:t>Trade Reconciliation</a:t>
              </a:r>
            </a:p>
          </p:txBody>
        </p:sp>
        <p:sp>
          <p:nvSpPr>
            <p:cNvPr id="59" name="TextBox 58">
              <a:extLst>
                <a:ext uri="{FF2B5EF4-FFF2-40B4-BE49-F238E27FC236}">
                  <a16:creationId xmlns:a16="http://schemas.microsoft.com/office/drawing/2014/main" id="{66513565-CE61-4326-9AC6-AD71D62F116D}"/>
                </a:ext>
              </a:extLst>
            </p:cNvPr>
            <p:cNvSpPr txBox="1"/>
            <p:nvPr/>
          </p:nvSpPr>
          <p:spPr>
            <a:xfrm>
              <a:off x="5502965" y="4876800"/>
              <a:ext cx="2491408" cy="3077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lumMod val="50000"/>
                    </a:prstClr>
                  </a:solidFill>
                  <a:effectLst/>
                  <a:uLnTx/>
                  <a:uFillTx/>
                </a:rPr>
                <a:t>SIGINT</a:t>
              </a:r>
              <a:endParaRPr kumimoji="0" lang="en-US" sz="1000" b="1" i="0" u="none" strike="noStrike" kern="0" cap="none" spc="0" normalizeH="0" baseline="0" noProof="0" dirty="0">
                <a:ln>
                  <a:noFill/>
                </a:ln>
                <a:solidFill>
                  <a:prstClr val="white">
                    <a:lumMod val="50000"/>
                  </a:prstClr>
                </a:solidFill>
                <a:effectLst/>
                <a:uLnTx/>
                <a:uFillTx/>
              </a:endParaRPr>
            </a:p>
          </p:txBody>
        </p:sp>
        <p:sp>
          <p:nvSpPr>
            <p:cNvPr id="60" name="TextBox 59">
              <a:extLst>
                <a:ext uri="{FF2B5EF4-FFF2-40B4-BE49-F238E27FC236}">
                  <a16:creationId xmlns:a16="http://schemas.microsoft.com/office/drawing/2014/main" id="{CF4DAF93-7641-4C81-978E-967A0DBCBADF}"/>
                </a:ext>
              </a:extLst>
            </p:cNvPr>
            <p:cNvSpPr txBox="1"/>
            <p:nvPr/>
          </p:nvSpPr>
          <p:spPr>
            <a:xfrm>
              <a:off x="1143000" y="1261646"/>
              <a:ext cx="2454965" cy="33855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42A618">
                      <a:lumMod val="75000"/>
                    </a:srgbClr>
                  </a:solidFill>
                  <a:effectLst/>
                  <a:uLnTx/>
                  <a:uFillTx/>
                </a:rPr>
                <a:t>Application</a:t>
              </a:r>
              <a:endParaRPr kumimoji="0" lang="en-US" sz="1200" b="1" i="0" u="none" strike="noStrike" kern="0" cap="none" spc="0" normalizeH="0" baseline="0" noProof="0" dirty="0">
                <a:ln>
                  <a:noFill/>
                </a:ln>
                <a:solidFill>
                  <a:srgbClr val="42A618">
                    <a:lumMod val="75000"/>
                  </a:srgbClr>
                </a:solidFill>
                <a:effectLst/>
                <a:uLnTx/>
                <a:uFillTx/>
              </a:endParaRPr>
            </a:p>
          </p:txBody>
        </p:sp>
        <p:sp>
          <p:nvSpPr>
            <p:cNvPr id="61" name="TextBox 60">
              <a:extLst>
                <a:ext uri="{FF2B5EF4-FFF2-40B4-BE49-F238E27FC236}">
                  <a16:creationId xmlns:a16="http://schemas.microsoft.com/office/drawing/2014/main" id="{B4E040EF-C874-4341-B588-B55AE4F9F491}"/>
                </a:ext>
              </a:extLst>
            </p:cNvPr>
            <p:cNvSpPr txBox="1"/>
            <p:nvPr/>
          </p:nvSpPr>
          <p:spPr>
            <a:xfrm>
              <a:off x="5479774" y="1261644"/>
              <a:ext cx="2514600" cy="33855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42A618">
                      <a:lumMod val="75000"/>
                    </a:srgbClr>
                  </a:solidFill>
                  <a:effectLst/>
                  <a:uLnTx/>
                  <a:uFillTx/>
                </a:rPr>
                <a:t>Application</a:t>
              </a:r>
              <a:endParaRPr kumimoji="0" lang="en-US" sz="1200" b="1" i="0" u="none" strike="noStrike" kern="0" cap="none" spc="0" normalizeH="0" baseline="0" noProof="0" dirty="0">
                <a:ln>
                  <a:noFill/>
                </a:ln>
                <a:solidFill>
                  <a:srgbClr val="42A618">
                    <a:lumMod val="75000"/>
                  </a:srgbClr>
                </a:solidFill>
                <a:effectLst/>
                <a:uLnTx/>
                <a:uFillTx/>
              </a:endParaRPr>
            </a:p>
          </p:txBody>
        </p:sp>
        <p:sp>
          <p:nvSpPr>
            <p:cNvPr id="62" name="TextBox 61">
              <a:extLst>
                <a:ext uri="{FF2B5EF4-FFF2-40B4-BE49-F238E27FC236}">
                  <a16:creationId xmlns:a16="http://schemas.microsoft.com/office/drawing/2014/main" id="{E47B3550-4913-4CF8-BA4A-47FB38B2305E}"/>
                </a:ext>
              </a:extLst>
            </p:cNvPr>
            <p:cNvSpPr txBox="1"/>
            <p:nvPr/>
          </p:nvSpPr>
          <p:spPr>
            <a:xfrm>
              <a:off x="3584713" y="1257992"/>
              <a:ext cx="1905000" cy="33855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42A618">
                      <a:lumMod val="75000"/>
                    </a:srgbClr>
                  </a:solidFill>
                  <a:effectLst/>
                  <a:uLnTx/>
                  <a:uFillTx/>
                </a:rPr>
                <a:t>Industry</a:t>
              </a:r>
              <a:endParaRPr kumimoji="0" lang="en-US" sz="1200" b="1" i="0" u="none" strike="noStrike" kern="0" cap="none" spc="0" normalizeH="0" baseline="0" noProof="0" dirty="0">
                <a:ln>
                  <a:noFill/>
                </a:ln>
                <a:solidFill>
                  <a:srgbClr val="42A618">
                    <a:lumMod val="75000"/>
                  </a:srgbClr>
                </a:solidFill>
                <a:effectLst/>
                <a:uLnTx/>
                <a:uFillTx/>
              </a:endParaRPr>
            </a:p>
          </p:txBody>
        </p:sp>
        <p:grpSp>
          <p:nvGrpSpPr>
            <p:cNvPr id="63" name="Group 10">
              <a:extLst>
                <a:ext uri="{FF2B5EF4-FFF2-40B4-BE49-F238E27FC236}">
                  <a16:creationId xmlns:a16="http://schemas.microsoft.com/office/drawing/2014/main" id="{5BC80F6F-73BA-4B31-852B-B5F097B8F53C}"/>
                </a:ext>
              </a:extLst>
            </p:cNvPr>
            <p:cNvGrpSpPr/>
            <p:nvPr/>
          </p:nvGrpSpPr>
          <p:grpSpPr>
            <a:xfrm>
              <a:off x="3581400" y="1828801"/>
              <a:ext cx="1921565" cy="3962400"/>
              <a:chOff x="3581400" y="2490521"/>
              <a:chExt cx="1921565" cy="3300679"/>
            </a:xfrm>
          </p:grpSpPr>
          <p:grpSp>
            <p:nvGrpSpPr>
              <p:cNvPr id="68" name="Group 22">
                <a:extLst>
                  <a:ext uri="{FF2B5EF4-FFF2-40B4-BE49-F238E27FC236}">
                    <a16:creationId xmlns:a16="http://schemas.microsoft.com/office/drawing/2014/main" id="{69ECC378-2C92-4A93-BE2E-38DE42C137A5}"/>
                  </a:ext>
                </a:extLst>
              </p:cNvPr>
              <p:cNvGrpSpPr/>
              <p:nvPr/>
            </p:nvGrpSpPr>
            <p:grpSpPr>
              <a:xfrm>
                <a:off x="3581400" y="2490521"/>
                <a:ext cx="1921565" cy="2819400"/>
                <a:chOff x="3425687" y="2667000"/>
                <a:chExt cx="1921565" cy="2819400"/>
              </a:xfrm>
            </p:grpSpPr>
            <p:sp>
              <p:nvSpPr>
                <p:cNvPr id="70" name="Rectangle 69">
                  <a:extLst>
                    <a:ext uri="{FF2B5EF4-FFF2-40B4-BE49-F238E27FC236}">
                      <a16:creationId xmlns:a16="http://schemas.microsoft.com/office/drawing/2014/main" id="{9B76A782-1128-4E5D-9361-75ED7A59875C}"/>
                    </a:ext>
                  </a:extLst>
                </p:cNvPr>
                <p:cNvSpPr/>
                <p:nvPr/>
              </p:nvSpPr>
              <p:spPr>
                <a:xfrm>
                  <a:off x="3429000" y="2667000"/>
                  <a:ext cx="1905000" cy="304800"/>
                </a:xfrm>
                <a:prstGeom prst="rect">
                  <a:avLst/>
                </a:prstGeom>
                <a:gradFill rotWithShape="1">
                  <a:gsLst>
                    <a:gs pos="0">
                      <a:srgbClr val="42A618">
                        <a:shade val="51000"/>
                        <a:satMod val="130000"/>
                      </a:srgbClr>
                    </a:gs>
                    <a:gs pos="80000">
                      <a:srgbClr val="42A618">
                        <a:shade val="93000"/>
                        <a:satMod val="130000"/>
                      </a:srgbClr>
                    </a:gs>
                    <a:gs pos="100000">
                      <a:srgbClr val="42A618">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white"/>
                      </a:solidFill>
                      <a:effectLst/>
                      <a:uLnTx/>
                      <a:uFillTx/>
                      <a:latin typeface="Arial"/>
                      <a:ea typeface="+mn-ea"/>
                      <a:cs typeface="+mn-cs"/>
                    </a:rPr>
                    <a:t>Web</a:t>
                  </a:r>
                </a:p>
              </p:txBody>
            </p:sp>
            <p:sp>
              <p:nvSpPr>
                <p:cNvPr id="71" name="Rectangle 70">
                  <a:extLst>
                    <a:ext uri="{FF2B5EF4-FFF2-40B4-BE49-F238E27FC236}">
                      <a16:creationId xmlns:a16="http://schemas.microsoft.com/office/drawing/2014/main" id="{490F6E6C-A290-4452-87F7-42B87EEDB3D0}"/>
                    </a:ext>
                  </a:extLst>
                </p:cNvPr>
                <p:cNvSpPr/>
                <p:nvPr/>
              </p:nvSpPr>
              <p:spPr>
                <a:xfrm>
                  <a:off x="3425687" y="3130826"/>
                  <a:ext cx="1905000" cy="304800"/>
                </a:xfrm>
                <a:prstGeom prst="rect">
                  <a:avLst/>
                </a:prstGeom>
                <a:gradFill rotWithShape="1">
                  <a:gsLst>
                    <a:gs pos="0">
                      <a:srgbClr val="42A618">
                        <a:shade val="51000"/>
                        <a:satMod val="130000"/>
                      </a:srgbClr>
                    </a:gs>
                    <a:gs pos="80000">
                      <a:srgbClr val="42A618">
                        <a:shade val="93000"/>
                        <a:satMod val="130000"/>
                      </a:srgbClr>
                    </a:gs>
                    <a:gs pos="100000">
                      <a:srgbClr val="42A618">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white"/>
                      </a:solidFill>
                      <a:effectLst/>
                      <a:uLnTx/>
                      <a:uFillTx/>
                      <a:latin typeface="Arial"/>
                      <a:ea typeface="+mn-ea"/>
                      <a:cs typeface="+mn-cs"/>
                    </a:rPr>
                    <a:t>Media</a:t>
                  </a:r>
                  <a:endParaRPr kumimoji="0" lang="en-US" sz="1400" b="1" i="0" u="none" strike="noStrike" kern="0" cap="none" spc="0" normalizeH="0" baseline="0" noProof="0" dirty="0">
                    <a:ln>
                      <a:noFill/>
                    </a:ln>
                    <a:solidFill>
                      <a:prstClr val="white"/>
                    </a:solidFill>
                    <a:effectLst/>
                    <a:uLnTx/>
                    <a:uFillTx/>
                    <a:latin typeface="Arial"/>
                    <a:ea typeface="+mn-ea"/>
                    <a:cs typeface="+mn-cs"/>
                  </a:endParaRPr>
                </a:p>
              </p:txBody>
            </p:sp>
            <p:sp>
              <p:nvSpPr>
                <p:cNvPr id="72" name="Rectangle 71">
                  <a:extLst>
                    <a:ext uri="{FF2B5EF4-FFF2-40B4-BE49-F238E27FC236}">
                      <a16:creationId xmlns:a16="http://schemas.microsoft.com/office/drawing/2014/main" id="{87571BCE-6835-4C8B-B66A-463135F7AF8C}"/>
                    </a:ext>
                  </a:extLst>
                </p:cNvPr>
                <p:cNvSpPr/>
                <p:nvPr/>
              </p:nvSpPr>
              <p:spPr>
                <a:xfrm>
                  <a:off x="3429000" y="3657600"/>
                  <a:ext cx="1905000" cy="304800"/>
                </a:xfrm>
                <a:prstGeom prst="rect">
                  <a:avLst/>
                </a:prstGeom>
                <a:gradFill rotWithShape="1">
                  <a:gsLst>
                    <a:gs pos="0">
                      <a:srgbClr val="42A618">
                        <a:shade val="51000"/>
                        <a:satMod val="130000"/>
                      </a:srgbClr>
                    </a:gs>
                    <a:gs pos="80000">
                      <a:srgbClr val="42A618">
                        <a:shade val="93000"/>
                        <a:satMod val="130000"/>
                      </a:srgbClr>
                    </a:gs>
                    <a:gs pos="100000">
                      <a:srgbClr val="42A618">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white"/>
                      </a:solidFill>
                      <a:effectLst/>
                      <a:uLnTx/>
                      <a:uFillTx/>
                      <a:latin typeface="Arial"/>
                      <a:ea typeface="+mn-ea"/>
                      <a:cs typeface="+mn-cs"/>
                    </a:rPr>
                    <a:t>Telco</a:t>
                  </a:r>
                  <a:endParaRPr kumimoji="0" lang="en-US" sz="1400" b="1" i="0" u="none" strike="noStrike" kern="0" cap="none" spc="0" normalizeH="0" baseline="0" noProof="0" dirty="0">
                    <a:ln>
                      <a:noFill/>
                    </a:ln>
                    <a:solidFill>
                      <a:prstClr val="white"/>
                    </a:solidFill>
                    <a:effectLst/>
                    <a:uLnTx/>
                    <a:uFillTx/>
                    <a:latin typeface="Arial"/>
                    <a:ea typeface="+mn-ea"/>
                    <a:cs typeface="+mn-cs"/>
                  </a:endParaRPr>
                </a:p>
              </p:txBody>
            </p:sp>
            <p:sp>
              <p:nvSpPr>
                <p:cNvPr id="73" name="Rectangle 72">
                  <a:extLst>
                    <a:ext uri="{FF2B5EF4-FFF2-40B4-BE49-F238E27FC236}">
                      <a16:creationId xmlns:a16="http://schemas.microsoft.com/office/drawing/2014/main" id="{E1484598-987C-4937-A2F6-C6F3854B3CD4}"/>
                    </a:ext>
                  </a:extLst>
                </p:cNvPr>
                <p:cNvSpPr/>
                <p:nvPr/>
              </p:nvSpPr>
              <p:spPr>
                <a:xfrm>
                  <a:off x="3429000" y="4167809"/>
                  <a:ext cx="1905000" cy="304800"/>
                </a:xfrm>
                <a:prstGeom prst="rect">
                  <a:avLst/>
                </a:prstGeom>
                <a:gradFill rotWithShape="1">
                  <a:gsLst>
                    <a:gs pos="0">
                      <a:srgbClr val="42A618">
                        <a:shade val="51000"/>
                        <a:satMod val="130000"/>
                      </a:srgbClr>
                    </a:gs>
                    <a:gs pos="80000">
                      <a:srgbClr val="42A618">
                        <a:shade val="93000"/>
                        <a:satMod val="130000"/>
                      </a:srgbClr>
                    </a:gs>
                    <a:gs pos="100000">
                      <a:srgbClr val="42A618">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white"/>
                      </a:solidFill>
                      <a:effectLst/>
                      <a:uLnTx/>
                      <a:uFillTx/>
                      <a:latin typeface="Arial"/>
                      <a:ea typeface="+mn-ea"/>
                      <a:cs typeface="+mn-cs"/>
                    </a:rPr>
                    <a:t>Retail</a:t>
                  </a:r>
                  <a:endParaRPr kumimoji="0" lang="en-US" sz="1400" b="1" i="0" u="none" strike="noStrike" kern="0" cap="none" spc="0" normalizeH="0" baseline="0" noProof="0" dirty="0">
                    <a:ln>
                      <a:noFill/>
                    </a:ln>
                    <a:solidFill>
                      <a:prstClr val="white"/>
                    </a:solidFill>
                    <a:effectLst/>
                    <a:uLnTx/>
                    <a:uFillTx/>
                    <a:latin typeface="Arial"/>
                    <a:ea typeface="+mn-ea"/>
                    <a:cs typeface="+mn-cs"/>
                  </a:endParaRPr>
                </a:p>
              </p:txBody>
            </p:sp>
            <p:sp>
              <p:nvSpPr>
                <p:cNvPr id="74" name="Rectangle 73">
                  <a:extLst>
                    <a:ext uri="{FF2B5EF4-FFF2-40B4-BE49-F238E27FC236}">
                      <a16:creationId xmlns:a16="http://schemas.microsoft.com/office/drawing/2014/main" id="{D891F26E-ABE9-4272-B008-9630AD4F79FC}"/>
                    </a:ext>
                  </a:extLst>
                </p:cNvPr>
                <p:cNvSpPr/>
                <p:nvPr/>
              </p:nvSpPr>
              <p:spPr>
                <a:xfrm>
                  <a:off x="3442252" y="4668078"/>
                  <a:ext cx="1905000" cy="304800"/>
                </a:xfrm>
                <a:prstGeom prst="rect">
                  <a:avLst/>
                </a:prstGeom>
                <a:gradFill rotWithShape="1">
                  <a:gsLst>
                    <a:gs pos="0">
                      <a:srgbClr val="42A618">
                        <a:shade val="51000"/>
                        <a:satMod val="130000"/>
                      </a:srgbClr>
                    </a:gs>
                    <a:gs pos="80000">
                      <a:srgbClr val="42A618">
                        <a:shade val="93000"/>
                        <a:satMod val="130000"/>
                      </a:srgbClr>
                    </a:gs>
                    <a:gs pos="100000">
                      <a:srgbClr val="42A618">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white"/>
                      </a:solidFill>
                      <a:effectLst/>
                      <a:uLnTx/>
                      <a:uFillTx/>
                      <a:latin typeface="Arial"/>
                      <a:ea typeface="+mn-ea"/>
                      <a:cs typeface="+mn-cs"/>
                    </a:rPr>
                    <a:t>Financial</a:t>
                  </a:r>
                  <a:endParaRPr kumimoji="0" lang="en-US" sz="1400" b="1" i="0" u="none" strike="noStrike" kern="0" cap="none" spc="0" normalizeH="0" baseline="0" noProof="0" dirty="0">
                    <a:ln>
                      <a:noFill/>
                    </a:ln>
                    <a:solidFill>
                      <a:prstClr val="white"/>
                    </a:solidFill>
                    <a:effectLst/>
                    <a:uLnTx/>
                    <a:uFillTx/>
                    <a:latin typeface="Arial"/>
                    <a:ea typeface="+mn-ea"/>
                    <a:cs typeface="+mn-cs"/>
                  </a:endParaRPr>
                </a:p>
              </p:txBody>
            </p:sp>
            <p:sp>
              <p:nvSpPr>
                <p:cNvPr id="75" name="Rectangle 74">
                  <a:extLst>
                    <a:ext uri="{FF2B5EF4-FFF2-40B4-BE49-F238E27FC236}">
                      <a16:creationId xmlns:a16="http://schemas.microsoft.com/office/drawing/2014/main" id="{A771622D-73D2-4C86-83FE-8B6428ACC3FC}"/>
                    </a:ext>
                  </a:extLst>
                </p:cNvPr>
                <p:cNvSpPr/>
                <p:nvPr/>
              </p:nvSpPr>
              <p:spPr>
                <a:xfrm>
                  <a:off x="3442252" y="5181600"/>
                  <a:ext cx="1905000" cy="304800"/>
                </a:xfrm>
                <a:prstGeom prst="rect">
                  <a:avLst/>
                </a:prstGeom>
                <a:gradFill rotWithShape="1">
                  <a:gsLst>
                    <a:gs pos="0">
                      <a:srgbClr val="42A618">
                        <a:shade val="51000"/>
                        <a:satMod val="130000"/>
                      </a:srgbClr>
                    </a:gs>
                    <a:gs pos="80000">
                      <a:srgbClr val="42A618">
                        <a:shade val="93000"/>
                        <a:satMod val="130000"/>
                      </a:srgbClr>
                    </a:gs>
                    <a:gs pos="100000">
                      <a:srgbClr val="42A618">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white"/>
                      </a:solidFill>
                      <a:effectLst/>
                      <a:uLnTx/>
                      <a:uFillTx/>
                      <a:latin typeface="Arial"/>
                      <a:ea typeface="+mn-ea"/>
                      <a:cs typeface="+mn-cs"/>
                    </a:rPr>
                    <a:t>Federal</a:t>
                  </a:r>
                  <a:endParaRPr kumimoji="0" lang="en-US" sz="1400" b="1" i="0" u="none" strike="noStrike" kern="0" cap="none" spc="0" normalizeH="0" baseline="0" noProof="0" dirty="0">
                    <a:ln>
                      <a:noFill/>
                    </a:ln>
                    <a:solidFill>
                      <a:prstClr val="white"/>
                    </a:solidFill>
                    <a:effectLst/>
                    <a:uLnTx/>
                    <a:uFillTx/>
                    <a:latin typeface="Arial"/>
                    <a:ea typeface="+mn-ea"/>
                    <a:cs typeface="+mn-cs"/>
                  </a:endParaRPr>
                </a:p>
              </p:txBody>
            </p:sp>
          </p:grpSp>
          <p:sp>
            <p:nvSpPr>
              <p:cNvPr id="69" name="Rectangle 68">
                <a:extLst>
                  <a:ext uri="{FF2B5EF4-FFF2-40B4-BE49-F238E27FC236}">
                    <a16:creationId xmlns:a16="http://schemas.microsoft.com/office/drawing/2014/main" id="{F9E3E45B-9837-42CB-B9D4-B5D291D07F2E}"/>
                  </a:ext>
                </a:extLst>
              </p:cNvPr>
              <p:cNvSpPr/>
              <p:nvPr/>
            </p:nvSpPr>
            <p:spPr>
              <a:xfrm>
                <a:off x="3597964" y="5486400"/>
                <a:ext cx="1905000" cy="304800"/>
              </a:xfrm>
              <a:prstGeom prst="rect">
                <a:avLst/>
              </a:prstGeom>
              <a:gradFill rotWithShape="1">
                <a:gsLst>
                  <a:gs pos="0">
                    <a:srgbClr val="42A618">
                      <a:shade val="51000"/>
                      <a:satMod val="130000"/>
                    </a:srgbClr>
                  </a:gs>
                  <a:gs pos="80000">
                    <a:srgbClr val="42A618">
                      <a:shade val="93000"/>
                      <a:satMod val="130000"/>
                    </a:srgbClr>
                  </a:gs>
                  <a:gs pos="100000">
                    <a:srgbClr val="42A618">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white"/>
                    </a:solidFill>
                    <a:effectLst/>
                    <a:uLnTx/>
                    <a:uFillTx/>
                    <a:latin typeface="Arial"/>
                    <a:ea typeface="+mn-ea"/>
                    <a:cs typeface="+mn-cs"/>
                  </a:rPr>
                  <a:t>Bioinformatics</a:t>
                </a:r>
                <a:endParaRPr kumimoji="0" lang="en-US" sz="1400" b="1" i="0" u="none" strike="noStrike" kern="0" cap="none" spc="0" normalizeH="0" baseline="0" noProof="0" dirty="0">
                  <a:ln>
                    <a:noFill/>
                  </a:ln>
                  <a:solidFill>
                    <a:prstClr val="white"/>
                  </a:solidFill>
                  <a:effectLst/>
                  <a:uLnTx/>
                  <a:uFillTx/>
                  <a:latin typeface="Arial"/>
                  <a:ea typeface="+mn-ea"/>
                  <a:cs typeface="+mn-cs"/>
                </a:endParaRPr>
              </a:p>
            </p:txBody>
          </p:sp>
        </p:grpSp>
        <p:sp>
          <p:nvSpPr>
            <p:cNvPr id="64" name="TextBox 63">
              <a:extLst>
                <a:ext uri="{FF2B5EF4-FFF2-40B4-BE49-F238E27FC236}">
                  <a16:creationId xmlns:a16="http://schemas.microsoft.com/office/drawing/2014/main" id="{5D64ABE2-96E8-475C-A867-6C3949E61EFE}"/>
                </a:ext>
              </a:extLst>
            </p:cNvPr>
            <p:cNvSpPr txBox="1"/>
            <p:nvPr/>
          </p:nvSpPr>
          <p:spPr>
            <a:xfrm>
              <a:off x="5509592" y="5448300"/>
              <a:ext cx="2491408" cy="3077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lumMod val="50000"/>
                    </a:prstClr>
                  </a:solidFill>
                  <a:effectLst/>
                  <a:uLnTx/>
                  <a:uFillTx/>
                </a:rPr>
                <a:t>Genome Mapping</a:t>
              </a:r>
            </a:p>
          </p:txBody>
        </p:sp>
        <p:sp>
          <p:nvSpPr>
            <p:cNvPr id="65" name="TextBox 64">
              <a:extLst>
                <a:ext uri="{FF2B5EF4-FFF2-40B4-BE49-F238E27FC236}">
                  <a16:creationId xmlns:a16="http://schemas.microsoft.com/office/drawing/2014/main" id="{F98E69A1-048F-4685-9001-80B62D25652E}"/>
                </a:ext>
              </a:extLst>
            </p:cNvPr>
            <p:cNvSpPr txBox="1"/>
            <p:nvPr/>
          </p:nvSpPr>
          <p:spPr>
            <a:xfrm>
              <a:off x="1106557" y="5445323"/>
              <a:ext cx="2491408" cy="3077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lumMod val="50000"/>
                    </a:prstClr>
                  </a:solidFill>
                  <a:effectLst/>
                  <a:uLnTx/>
                  <a:uFillTx/>
                </a:rPr>
                <a:t>Sequencing Analysis</a:t>
              </a:r>
            </a:p>
          </p:txBody>
        </p:sp>
        <p:sp>
          <p:nvSpPr>
            <p:cNvPr id="66" name="TextBox 65">
              <a:extLst>
                <a:ext uri="{FF2B5EF4-FFF2-40B4-BE49-F238E27FC236}">
                  <a16:creationId xmlns:a16="http://schemas.microsoft.com/office/drawing/2014/main" id="{AA901A05-8ABB-4BD6-93CF-656942D5F669}"/>
                </a:ext>
              </a:extLst>
            </p:cNvPr>
            <p:cNvSpPr txBox="1"/>
            <p:nvPr/>
          </p:nvSpPr>
          <p:spPr>
            <a:xfrm>
              <a:off x="8001000" y="1257924"/>
              <a:ext cx="1143000" cy="33855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42A618">
                      <a:lumMod val="75000"/>
                    </a:srgbClr>
                  </a:solidFill>
                  <a:effectLst/>
                  <a:uLnTx/>
                  <a:uFillTx/>
                </a:rPr>
                <a:t>Use Case</a:t>
              </a:r>
            </a:p>
          </p:txBody>
        </p:sp>
        <p:sp>
          <p:nvSpPr>
            <p:cNvPr id="67" name="TextBox 66">
              <a:extLst>
                <a:ext uri="{FF2B5EF4-FFF2-40B4-BE49-F238E27FC236}">
                  <a16:creationId xmlns:a16="http://schemas.microsoft.com/office/drawing/2014/main" id="{1B5E36BD-850C-47DA-9B62-44C7A1A62524}"/>
                </a:ext>
              </a:extLst>
            </p:cNvPr>
            <p:cNvSpPr txBox="1"/>
            <p:nvPr/>
          </p:nvSpPr>
          <p:spPr>
            <a:xfrm>
              <a:off x="0" y="1257924"/>
              <a:ext cx="1143000" cy="33855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42A618">
                      <a:lumMod val="75000"/>
                    </a:srgbClr>
                  </a:solidFill>
                  <a:effectLst/>
                  <a:uLnTx/>
                  <a:uFillTx/>
                </a:rPr>
                <a:t>Use Case</a:t>
              </a:r>
            </a:p>
          </p:txBody>
        </p:sp>
      </p:grpSp>
    </p:spTree>
    <p:extLst>
      <p:ext uri="{BB962C8B-B14F-4D97-AF65-F5344CB8AC3E}">
        <p14:creationId xmlns:p14="http://schemas.microsoft.com/office/powerpoint/2010/main" val="23253074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Three papers by Google</a:t>
            </a:r>
          </a:p>
        </p:txBody>
      </p:sp>
      <p:sp>
        <p:nvSpPr>
          <p:cNvPr id="3" name="Content Placeholder 2"/>
          <p:cNvSpPr>
            <a:spLocks noGrp="1"/>
          </p:cNvSpPr>
          <p:nvPr>
            <p:ph idx="1"/>
          </p:nvPr>
        </p:nvSpPr>
        <p:spPr/>
        <p:txBody>
          <a:bodyPr/>
          <a:lstStyle/>
          <a:p>
            <a:endParaRPr lang="en-US" dirty="0">
              <a:hlinkClick r:id="rId2" action="ppaction://hlinkfile"/>
            </a:endParaRPr>
          </a:p>
          <a:p>
            <a:r>
              <a:rPr lang="en-US" dirty="0">
                <a:hlinkClick r:id="rId2" action="ppaction://hlinkfile"/>
              </a:rPr>
              <a:t>Google File System</a:t>
            </a:r>
            <a:endParaRPr lang="en-US" dirty="0"/>
          </a:p>
          <a:p>
            <a:endParaRPr lang="en-US" dirty="0">
              <a:hlinkClick r:id="rId3" action="ppaction://hlinkfile"/>
            </a:endParaRPr>
          </a:p>
          <a:p>
            <a:r>
              <a:rPr lang="en-US" dirty="0">
                <a:hlinkClick r:id="rId3" action="ppaction://hlinkfile"/>
              </a:rPr>
              <a:t>MapReduce</a:t>
            </a:r>
            <a:r>
              <a:rPr lang="en-US" dirty="0"/>
              <a:t> </a:t>
            </a:r>
          </a:p>
          <a:p>
            <a:endParaRPr lang="en-US" dirty="0">
              <a:hlinkClick r:id="rId4" action="ppaction://hlinkfile"/>
            </a:endParaRPr>
          </a:p>
          <a:p>
            <a:r>
              <a:rPr lang="en-US" dirty="0">
                <a:hlinkClick r:id="rId4" action="ppaction://hlinkfile"/>
              </a:rPr>
              <a:t>BigTable</a:t>
            </a:r>
            <a:endParaRPr lang="en-US" dirty="0"/>
          </a:p>
        </p:txBody>
      </p:sp>
    </p:spTree>
    <p:extLst>
      <p:ext uri="{BB962C8B-B14F-4D97-AF65-F5344CB8AC3E}">
        <p14:creationId xmlns:p14="http://schemas.microsoft.com/office/powerpoint/2010/main" val="13266110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Apache Hadoop</a:t>
            </a:r>
          </a:p>
        </p:txBody>
      </p:sp>
      <p:sp>
        <p:nvSpPr>
          <p:cNvPr id="3" name="Content Placeholder 2"/>
          <p:cNvSpPr>
            <a:spLocks noGrp="1"/>
          </p:cNvSpPr>
          <p:nvPr>
            <p:ph idx="1"/>
          </p:nvPr>
        </p:nvSpPr>
        <p:spPr/>
        <p:txBody>
          <a:bodyPr>
            <a:normAutofit/>
          </a:bodyPr>
          <a:lstStyle/>
          <a:p>
            <a:pPr marL="339725" indent="-339725" fontAlgn="base">
              <a:lnSpc>
                <a:spcPct val="100000"/>
              </a:lnSpc>
              <a:tabLst>
                <a:tab pos="204470" algn="l"/>
              </a:tabLst>
            </a:pPr>
            <a:r>
              <a:rPr lang="en-US" dirty="0"/>
              <a:t>Open source (using the Apache license)</a:t>
            </a:r>
          </a:p>
          <a:p>
            <a:pPr marL="339725" indent="-339725" fontAlgn="base">
              <a:lnSpc>
                <a:spcPct val="100000"/>
              </a:lnSpc>
              <a:tabLst>
                <a:tab pos="204470" algn="l"/>
              </a:tabLst>
            </a:pPr>
            <a:r>
              <a:rPr lang="en-US" dirty="0"/>
              <a:t>Around 40 core Hadoop committers from companies like </a:t>
            </a:r>
          </a:p>
          <a:p>
            <a:pPr marL="614045" lvl="1" indent="-339725" fontAlgn="base"/>
            <a:r>
              <a:rPr lang="en-US" dirty="0"/>
              <a:t>Yahoo!, Facebook, Apple, Cloudera, and more</a:t>
            </a:r>
          </a:p>
          <a:p>
            <a:pPr marL="339725" indent="-339725" fontAlgn="base">
              <a:lnSpc>
                <a:spcPct val="100000"/>
              </a:lnSpc>
              <a:tabLst>
                <a:tab pos="204470" algn="l"/>
              </a:tabLst>
            </a:pPr>
            <a:r>
              <a:rPr lang="en-US" dirty="0"/>
              <a:t>Hundreds of contributors writing features, fixing bugs and other ecosystem products</a:t>
            </a:r>
          </a:p>
        </p:txBody>
      </p:sp>
    </p:spTree>
    <p:extLst>
      <p:ext uri="{BB962C8B-B14F-4D97-AF65-F5344CB8AC3E}">
        <p14:creationId xmlns:p14="http://schemas.microsoft.com/office/powerpoint/2010/main" val="29798609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Hadoop Ecosystem</a:t>
            </a:r>
          </a:p>
        </p:txBody>
      </p:sp>
      <p:pic>
        <p:nvPicPr>
          <p:cNvPr id="2050" name="Picture 2" descr="http://irajain.weebly.com/uploads/2/6/0/4/26040426/13408_orig.jpg"/>
          <p:cNvPicPr>
            <a:picLocks noChangeAspect="1" noChangeArrowheads="1"/>
          </p:cNvPicPr>
          <p:nvPr/>
        </p:nvPicPr>
        <p:blipFill rotWithShape="1">
          <a:blip r:embed="rId2">
            <a:extLst>
              <a:ext uri="{28A0092B-C50C-407E-A947-70E740481C1C}">
                <a14:useLocalDpi xmlns:a14="http://schemas.microsoft.com/office/drawing/2010/main" val="0"/>
              </a:ext>
            </a:extLst>
          </a:blip>
          <a:srcRect t="11267"/>
          <a:stretch/>
        </p:blipFill>
        <p:spPr bwMode="auto">
          <a:xfrm>
            <a:off x="490520" y="1524000"/>
            <a:ext cx="8196280" cy="49652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25603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Research Periodic Table</a:t>
            </a:r>
          </a:p>
        </p:txBody>
      </p:sp>
      <p:pic>
        <p:nvPicPr>
          <p:cNvPr id="3076" name="Picture 4" descr="Image result for 451 Research Periodic Table of Hadoop"/>
          <p:cNvPicPr>
            <a:picLocks noChangeAspect="1" noChangeArrowheads="1"/>
          </p:cNvPicPr>
          <p:nvPr/>
        </p:nvPicPr>
        <p:blipFill rotWithShape="1">
          <a:blip r:embed="rId2">
            <a:extLst>
              <a:ext uri="{28A0092B-C50C-407E-A947-70E740481C1C}">
                <a14:useLocalDpi xmlns:a14="http://schemas.microsoft.com/office/drawing/2010/main" val="0"/>
              </a:ext>
            </a:extLst>
          </a:blip>
          <a:srcRect b="3339"/>
          <a:stretch/>
        </p:blipFill>
        <p:spPr bwMode="auto">
          <a:xfrm>
            <a:off x="381000" y="1981200"/>
            <a:ext cx="8422559" cy="41983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85421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Hadoop Ecosystem</a:t>
            </a:r>
          </a:p>
        </p:txBody>
      </p:sp>
      <p:sp>
        <p:nvSpPr>
          <p:cNvPr id="3" name="Content Placeholder 2"/>
          <p:cNvSpPr>
            <a:spLocks noGrp="1"/>
          </p:cNvSpPr>
          <p:nvPr>
            <p:ph idx="1"/>
          </p:nvPr>
        </p:nvSpPr>
        <p:spPr/>
        <p:txBody>
          <a:bodyPr>
            <a:normAutofit/>
          </a:bodyPr>
          <a:lstStyle/>
          <a:p>
            <a:pPr marL="339725" indent="-339725"/>
            <a:r>
              <a:rPr lang="en-US" sz="2400" b="1" dirty="0"/>
              <a:t>Hadoop Distributed File System (HDFS):</a:t>
            </a:r>
            <a:r>
              <a:rPr lang="en-US" sz="2400" dirty="0"/>
              <a:t> A distributed file system that provides high-throughput access to application data.</a:t>
            </a:r>
          </a:p>
          <a:p>
            <a:pPr marL="339725" indent="-339725"/>
            <a:r>
              <a:rPr lang="en-US" sz="2400" b="1" dirty="0"/>
              <a:t>Hadoop MapReduce: </a:t>
            </a:r>
            <a:r>
              <a:rPr lang="en-US" sz="2400" dirty="0"/>
              <a:t>A distributed parallel data processing model and execution environment for handling large data sets.</a:t>
            </a:r>
          </a:p>
          <a:p>
            <a:pPr marL="339725" indent="-339725"/>
            <a:r>
              <a:rPr lang="en-US" sz="2400" b="1" dirty="0"/>
              <a:t>Hadoop YARN: </a:t>
            </a:r>
            <a:r>
              <a:rPr lang="en-US" sz="2400" dirty="0"/>
              <a:t>A framework for job scheduling and cluster resource management.</a:t>
            </a:r>
          </a:p>
          <a:p>
            <a:pPr marL="339725" indent="-339725"/>
            <a:r>
              <a:rPr lang="en-US" sz="2400" b="1" dirty="0" err="1"/>
              <a:t>HBase</a:t>
            </a:r>
            <a:r>
              <a:rPr lang="en-US" sz="2400" b="1" dirty="0"/>
              <a:t>: </a:t>
            </a:r>
            <a:r>
              <a:rPr lang="en-US" sz="2400" dirty="0"/>
              <a:t>A scalable, distributed column oriented database that supports structured data storage for large tables.</a:t>
            </a:r>
          </a:p>
        </p:txBody>
      </p:sp>
    </p:spTree>
    <p:extLst>
      <p:ext uri="{BB962C8B-B14F-4D97-AF65-F5344CB8AC3E}">
        <p14:creationId xmlns:p14="http://schemas.microsoft.com/office/powerpoint/2010/main" val="41153623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Hadoop Ecosystem</a:t>
            </a:r>
          </a:p>
        </p:txBody>
      </p:sp>
      <p:sp>
        <p:nvSpPr>
          <p:cNvPr id="3" name="Content Placeholder 2"/>
          <p:cNvSpPr>
            <a:spLocks noGrp="1"/>
          </p:cNvSpPr>
          <p:nvPr>
            <p:ph idx="1"/>
          </p:nvPr>
        </p:nvSpPr>
        <p:spPr/>
        <p:txBody>
          <a:bodyPr>
            <a:normAutofit/>
          </a:bodyPr>
          <a:lstStyle/>
          <a:p>
            <a:pPr marL="339725" indent="-339725"/>
            <a:r>
              <a:rPr lang="en-US" sz="2400" b="1" dirty="0"/>
              <a:t>Pig: </a:t>
            </a:r>
            <a:r>
              <a:rPr lang="en-US" sz="2400" dirty="0"/>
              <a:t>A high-level data-flow language and execution framework for parallel computation of large datasets</a:t>
            </a:r>
          </a:p>
          <a:p>
            <a:pPr marL="339725" indent="-339725"/>
            <a:r>
              <a:rPr lang="en-US" sz="2400" b="1" dirty="0"/>
              <a:t>Hive: </a:t>
            </a:r>
            <a:r>
              <a:rPr lang="en-US" sz="2400" dirty="0"/>
              <a:t>A distributed data warehouse query language based on SQL that provides data summarization and ad hoc querying.</a:t>
            </a:r>
          </a:p>
          <a:p>
            <a:pPr marL="339725" indent="-339725"/>
            <a:r>
              <a:rPr lang="en-US" sz="2400" b="1" dirty="0"/>
              <a:t>Cassandra: </a:t>
            </a:r>
            <a:r>
              <a:rPr lang="en-US" sz="2400" dirty="0"/>
              <a:t>A scalable multi-master database with no single points of failure.</a:t>
            </a:r>
          </a:p>
          <a:p>
            <a:pPr marL="339725" indent="-339725"/>
            <a:r>
              <a:rPr lang="en-US" sz="2400" b="1" dirty="0"/>
              <a:t>Mahout: </a:t>
            </a:r>
            <a:r>
              <a:rPr lang="en-US" sz="2400" dirty="0"/>
              <a:t>A Scalable machine learning and data mining library.</a:t>
            </a:r>
          </a:p>
          <a:p>
            <a:pPr marL="339725" indent="-339725"/>
            <a:r>
              <a:rPr lang="en-US" sz="2400" b="1" dirty="0" err="1"/>
              <a:t>Chukwa</a:t>
            </a:r>
            <a:r>
              <a:rPr lang="en-US" sz="2400" b="1" dirty="0"/>
              <a:t>: </a:t>
            </a:r>
            <a:r>
              <a:rPr lang="en-US" sz="2400" dirty="0"/>
              <a:t>A data collection system for managing large distributed systems.</a:t>
            </a:r>
          </a:p>
          <a:p>
            <a:endParaRPr lang="en-US" dirty="0"/>
          </a:p>
        </p:txBody>
      </p:sp>
    </p:spTree>
    <p:extLst>
      <p:ext uri="{BB962C8B-B14F-4D97-AF65-F5344CB8AC3E}">
        <p14:creationId xmlns:p14="http://schemas.microsoft.com/office/powerpoint/2010/main" val="1633605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Hadoop Ecosystem</a:t>
            </a:r>
          </a:p>
        </p:txBody>
      </p:sp>
      <p:sp>
        <p:nvSpPr>
          <p:cNvPr id="3" name="Content Placeholder 2"/>
          <p:cNvSpPr>
            <a:spLocks noGrp="1"/>
          </p:cNvSpPr>
          <p:nvPr>
            <p:ph idx="1"/>
          </p:nvPr>
        </p:nvSpPr>
        <p:spPr>
          <a:xfrm>
            <a:off x="457200" y="1447800"/>
            <a:ext cx="8229600" cy="5181600"/>
          </a:xfrm>
        </p:spPr>
        <p:txBody>
          <a:bodyPr>
            <a:normAutofit/>
          </a:bodyPr>
          <a:lstStyle/>
          <a:p>
            <a:pPr marL="339725" indent="-339725"/>
            <a:r>
              <a:rPr lang="en-US" altLang="en-US" sz="2400" b="1" dirty="0"/>
              <a:t>Flume: </a:t>
            </a:r>
            <a:r>
              <a:rPr lang="en-US" altLang="en-US" sz="2400" dirty="0"/>
              <a:t>A </a:t>
            </a:r>
            <a:r>
              <a:rPr lang="en-US" sz="2400" spc="5" dirty="0">
                <a:solidFill>
                  <a:srgbClr val="010000"/>
                </a:solidFill>
                <a:cs typeface="Arial"/>
              </a:rPr>
              <a:t>distributed,</a:t>
            </a:r>
            <a:r>
              <a:rPr lang="en-US" sz="2400" dirty="0">
                <a:solidFill>
                  <a:srgbClr val="010000"/>
                </a:solidFill>
                <a:cs typeface="Arial"/>
              </a:rPr>
              <a:t> reliable</a:t>
            </a:r>
            <a:r>
              <a:rPr lang="en-US" sz="2400" spc="5" dirty="0">
                <a:solidFill>
                  <a:srgbClr val="010000"/>
                </a:solidFill>
                <a:cs typeface="Arial"/>
              </a:rPr>
              <a:t>,</a:t>
            </a:r>
            <a:r>
              <a:rPr lang="en-US" sz="2400" spc="10" dirty="0">
                <a:solidFill>
                  <a:srgbClr val="010000"/>
                </a:solidFill>
                <a:cs typeface="Arial"/>
              </a:rPr>
              <a:t> </a:t>
            </a:r>
            <a:r>
              <a:rPr lang="en-US" sz="2400" dirty="0">
                <a:solidFill>
                  <a:srgbClr val="010000"/>
                </a:solidFill>
                <a:cs typeface="Arial"/>
              </a:rPr>
              <a:t>availabl</a:t>
            </a:r>
            <a:r>
              <a:rPr lang="en-US" sz="2400" spc="10" dirty="0">
                <a:solidFill>
                  <a:srgbClr val="010000"/>
                </a:solidFill>
                <a:cs typeface="Arial"/>
              </a:rPr>
              <a:t>e </a:t>
            </a:r>
            <a:r>
              <a:rPr lang="en-US" sz="2400" dirty="0">
                <a:solidFill>
                  <a:srgbClr val="010000"/>
                </a:solidFill>
                <a:cs typeface="Arial"/>
              </a:rPr>
              <a:t>servic</a:t>
            </a:r>
            <a:r>
              <a:rPr lang="en-US" sz="2400" spc="10" dirty="0">
                <a:solidFill>
                  <a:srgbClr val="010000"/>
                </a:solidFill>
                <a:cs typeface="Arial"/>
              </a:rPr>
              <a:t>e </a:t>
            </a:r>
            <a:r>
              <a:rPr lang="en-US" sz="2400" spc="5" dirty="0">
                <a:solidFill>
                  <a:srgbClr val="010000"/>
                </a:solidFill>
                <a:cs typeface="Arial"/>
              </a:rPr>
              <a:t>for </a:t>
            </a:r>
            <a:r>
              <a:rPr lang="en-US" sz="2400" dirty="0">
                <a:solidFill>
                  <a:srgbClr val="010000"/>
                </a:solidFill>
                <a:cs typeface="Arial"/>
              </a:rPr>
              <a:t>efficiently</a:t>
            </a:r>
            <a:r>
              <a:rPr lang="en-US" sz="2400" spc="5" dirty="0">
                <a:solidFill>
                  <a:srgbClr val="010000"/>
                </a:solidFill>
                <a:cs typeface="Arial"/>
              </a:rPr>
              <a:t> movin</a:t>
            </a:r>
            <a:r>
              <a:rPr lang="en-US" sz="2400" spc="10" dirty="0">
                <a:solidFill>
                  <a:srgbClr val="010000"/>
                </a:solidFill>
                <a:cs typeface="Arial"/>
              </a:rPr>
              <a:t>g </a:t>
            </a:r>
            <a:r>
              <a:rPr lang="en-US" sz="2400" spc="5" dirty="0">
                <a:solidFill>
                  <a:srgbClr val="010000"/>
                </a:solidFill>
                <a:cs typeface="Arial"/>
              </a:rPr>
              <a:t>large amount</a:t>
            </a:r>
            <a:r>
              <a:rPr lang="en-US" sz="2400" spc="10" dirty="0">
                <a:solidFill>
                  <a:srgbClr val="010000"/>
                </a:solidFill>
                <a:cs typeface="Arial"/>
              </a:rPr>
              <a:t>s </a:t>
            </a:r>
            <a:r>
              <a:rPr lang="en-US" sz="2400" spc="5" dirty="0">
                <a:solidFill>
                  <a:srgbClr val="010000"/>
                </a:solidFill>
                <a:cs typeface="Arial"/>
              </a:rPr>
              <a:t>of </a:t>
            </a:r>
            <a:r>
              <a:rPr lang="en-US" sz="2400" spc="10" dirty="0">
                <a:solidFill>
                  <a:srgbClr val="010000"/>
                </a:solidFill>
                <a:cs typeface="Arial"/>
              </a:rPr>
              <a:t>data</a:t>
            </a:r>
            <a:r>
              <a:rPr lang="en-US" sz="2400" spc="5" dirty="0">
                <a:solidFill>
                  <a:srgbClr val="010000"/>
                </a:solidFill>
                <a:cs typeface="Arial"/>
              </a:rPr>
              <a:t> a</a:t>
            </a:r>
            <a:r>
              <a:rPr lang="en-US" sz="2400" spc="10" dirty="0">
                <a:solidFill>
                  <a:srgbClr val="010000"/>
                </a:solidFill>
                <a:cs typeface="Arial"/>
              </a:rPr>
              <a:t>s</a:t>
            </a:r>
            <a:r>
              <a:rPr lang="en-US" sz="2400" spc="5" dirty="0">
                <a:solidFill>
                  <a:srgbClr val="010000"/>
                </a:solidFill>
                <a:cs typeface="Arial"/>
              </a:rPr>
              <a:t> it is </a:t>
            </a:r>
            <a:r>
              <a:rPr lang="en-US" sz="2400" spc="10" dirty="0">
                <a:solidFill>
                  <a:srgbClr val="010000"/>
                </a:solidFill>
                <a:cs typeface="Arial"/>
              </a:rPr>
              <a:t>produced</a:t>
            </a:r>
            <a:endParaRPr lang="en-US" altLang="en-US" sz="2400" b="1" dirty="0"/>
          </a:p>
          <a:p>
            <a:pPr marL="339725" indent="-339725"/>
            <a:r>
              <a:rPr lang="en-US" altLang="en-US" sz="2400" b="1" dirty="0" err="1"/>
              <a:t>Sqoop</a:t>
            </a:r>
            <a:r>
              <a:rPr lang="en-US" altLang="en-US" sz="2400" b="1" dirty="0"/>
              <a:t>: </a:t>
            </a:r>
            <a:r>
              <a:rPr lang="en-US" altLang="en-US" sz="2400" dirty="0"/>
              <a:t>A tool for efficiently moving data between relational databases and HDFS (SQL to Hadoop)</a:t>
            </a:r>
          </a:p>
          <a:p>
            <a:pPr marL="339725" indent="-339725"/>
            <a:r>
              <a:rPr lang="en-US" altLang="en-US" sz="2400" b="1" dirty="0" err="1"/>
              <a:t>Oozie</a:t>
            </a:r>
            <a:r>
              <a:rPr lang="en-US" altLang="en-US" sz="2400" b="1" dirty="0"/>
              <a:t>: </a:t>
            </a:r>
            <a:r>
              <a:rPr lang="en-US" altLang="en-US" sz="2400" dirty="0"/>
              <a:t>A tool to </a:t>
            </a:r>
            <a:r>
              <a:rPr lang="en-US" sz="2400" spc="10" dirty="0">
                <a:solidFill>
                  <a:srgbClr val="010000"/>
                </a:solidFill>
                <a:cs typeface="Arial"/>
              </a:rPr>
              <a:t>provide</a:t>
            </a:r>
            <a:r>
              <a:rPr lang="en-US" sz="2400" dirty="0">
                <a:solidFill>
                  <a:srgbClr val="010000"/>
                </a:solidFill>
                <a:cs typeface="Arial"/>
              </a:rPr>
              <a:t> </a:t>
            </a:r>
            <a:r>
              <a:rPr lang="en-US" sz="2400" spc="10" dirty="0">
                <a:solidFill>
                  <a:srgbClr val="010000"/>
                </a:solidFill>
                <a:cs typeface="Arial"/>
              </a:rPr>
              <a:t>way</a:t>
            </a:r>
            <a:r>
              <a:rPr lang="en-US" sz="2400" spc="5" dirty="0">
                <a:solidFill>
                  <a:srgbClr val="010000"/>
                </a:solidFill>
                <a:cs typeface="Arial"/>
              </a:rPr>
              <a:t> for </a:t>
            </a:r>
            <a:r>
              <a:rPr lang="en-US" sz="2400" spc="10" dirty="0">
                <a:solidFill>
                  <a:srgbClr val="010000"/>
                </a:solidFill>
                <a:cs typeface="Arial"/>
              </a:rPr>
              <a:t>developers</a:t>
            </a:r>
            <a:r>
              <a:rPr lang="en-US" sz="2400" dirty="0">
                <a:solidFill>
                  <a:srgbClr val="010000"/>
                </a:solidFill>
                <a:cs typeface="Arial"/>
              </a:rPr>
              <a:t> </a:t>
            </a:r>
            <a:r>
              <a:rPr lang="en-US" sz="2400" spc="5" dirty="0">
                <a:solidFill>
                  <a:srgbClr val="010000"/>
                </a:solidFill>
                <a:cs typeface="Arial"/>
              </a:rPr>
              <a:t>to define a</a:t>
            </a:r>
            <a:r>
              <a:rPr lang="en-US" sz="2400" spc="10" dirty="0">
                <a:solidFill>
                  <a:srgbClr val="010000"/>
                </a:solidFill>
                <a:cs typeface="Arial"/>
              </a:rPr>
              <a:t>n</a:t>
            </a:r>
            <a:r>
              <a:rPr lang="en-US" sz="2400" spc="5" dirty="0">
                <a:solidFill>
                  <a:srgbClr val="010000"/>
                </a:solidFill>
                <a:cs typeface="Arial"/>
              </a:rPr>
              <a:t> </a:t>
            </a:r>
            <a:r>
              <a:rPr lang="en-US" sz="2400" dirty="0">
                <a:solidFill>
                  <a:srgbClr val="010000"/>
                </a:solidFill>
                <a:cs typeface="Arial"/>
              </a:rPr>
              <a:t>entir</a:t>
            </a:r>
            <a:r>
              <a:rPr lang="en-US" sz="2400" spc="10" dirty="0">
                <a:solidFill>
                  <a:srgbClr val="010000"/>
                </a:solidFill>
                <a:cs typeface="Arial"/>
              </a:rPr>
              <a:t>e workflow</a:t>
            </a:r>
            <a:r>
              <a:rPr lang="en-US" altLang="en-US" sz="2400" dirty="0"/>
              <a:t> </a:t>
            </a:r>
          </a:p>
          <a:p>
            <a:pPr marL="339725" indent="-339725"/>
            <a:r>
              <a:rPr lang="en-US" altLang="en-US" sz="2400" b="1" dirty="0"/>
              <a:t>Hue: </a:t>
            </a:r>
            <a:r>
              <a:rPr lang="en-US" sz="2400" spc="10" dirty="0">
                <a:solidFill>
                  <a:srgbClr val="010000"/>
                </a:solidFill>
                <a:cs typeface="Arial"/>
              </a:rPr>
              <a:t>Graphical</a:t>
            </a:r>
            <a:r>
              <a:rPr lang="en-US" sz="2400" dirty="0">
                <a:solidFill>
                  <a:srgbClr val="010000"/>
                </a:solidFill>
                <a:cs typeface="Arial"/>
              </a:rPr>
              <a:t> </a:t>
            </a:r>
            <a:r>
              <a:rPr lang="en-US" sz="2400" spc="5" dirty="0">
                <a:solidFill>
                  <a:srgbClr val="010000"/>
                </a:solidFill>
                <a:cs typeface="Arial"/>
              </a:rPr>
              <a:t>front-end to </a:t>
            </a:r>
            <a:r>
              <a:rPr lang="en-US" sz="2400" spc="10" dirty="0">
                <a:solidFill>
                  <a:srgbClr val="010000"/>
                </a:solidFill>
                <a:cs typeface="Arial"/>
              </a:rPr>
              <a:t>developer</a:t>
            </a:r>
            <a:r>
              <a:rPr lang="en-US" sz="2400" dirty="0">
                <a:solidFill>
                  <a:srgbClr val="010000"/>
                </a:solidFill>
                <a:cs typeface="Arial"/>
              </a:rPr>
              <a:t> </a:t>
            </a:r>
            <a:r>
              <a:rPr lang="en-US" sz="2400" spc="5" dirty="0">
                <a:solidFill>
                  <a:srgbClr val="010000"/>
                </a:solidFill>
                <a:cs typeface="Arial"/>
              </a:rPr>
              <a:t>an</a:t>
            </a:r>
            <a:r>
              <a:rPr lang="en-US" sz="2400" spc="10" dirty="0">
                <a:solidFill>
                  <a:srgbClr val="010000"/>
                </a:solidFill>
                <a:cs typeface="Arial"/>
              </a:rPr>
              <a:t>d</a:t>
            </a:r>
            <a:r>
              <a:rPr lang="en-US" sz="2400" spc="5" dirty="0">
                <a:solidFill>
                  <a:srgbClr val="010000"/>
                </a:solidFill>
                <a:cs typeface="Arial"/>
              </a:rPr>
              <a:t> </a:t>
            </a:r>
            <a:r>
              <a:rPr lang="en-US" sz="2400" dirty="0">
                <a:solidFill>
                  <a:srgbClr val="010000"/>
                </a:solidFill>
                <a:cs typeface="Arial"/>
              </a:rPr>
              <a:t>administrato</a:t>
            </a:r>
            <a:r>
              <a:rPr lang="en-US" sz="2400" spc="5" dirty="0">
                <a:solidFill>
                  <a:srgbClr val="010000"/>
                </a:solidFill>
                <a:cs typeface="Arial"/>
              </a:rPr>
              <a:t>r</a:t>
            </a:r>
            <a:r>
              <a:rPr lang="en-US" sz="2400" spc="10" dirty="0">
                <a:solidFill>
                  <a:srgbClr val="010000"/>
                </a:solidFill>
                <a:cs typeface="Arial"/>
              </a:rPr>
              <a:t> </a:t>
            </a:r>
            <a:r>
              <a:rPr lang="en-US" sz="2400" spc="5" dirty="0">
                <a:solidFill>
                  <a:srgbClr val="010000"/>
                </a:solidFill>
                <a:cs typeface="Arial"/>
              </a:rPr>
              <a:t>functionality</a:t>
            </a:r>
          </a:p>
          <a:p>
            <a:pPr marL="339725" indent="-339725"/>
            <a:r>
              <a:rPr lang="en-US" altLang="en-US" sz="2400" b="1" dirty="0" err="1"/>
              <a:t>ZooKeeper</a:t>
            </a:r>
            <a:r>
              <a:rPr lang="en-US" altLang="en-US" sz="2400" b="1" dirty="0"/>
              <a:t>: </a:t>
            </a:r>
            <a:r>
              <a:rPr lang="en-US" altLang="en-US" sz="2400" dirty="0"/>
              <a:t>A distributed, highly available coordination service. </a:t>
            </a:r>
          </a:p>
          <a:p>
            <a:pPr marL="339725" indent="-339725"/>
            <a:endParaRPr lang="en-US" altLang="en-US" sz="2400" dirty="0"/>
          </a:p>
        </p:txBody>
      </p:sp>
    </p:spTree>
    <p:extLst>
      <p:ext uri="{BB962C8B-B14F-4D97-AF65-F5344CB8AC3E}">
        <p14:creationId xmlns:p14="http://schemas.microsoft.com/office/powerpoint/2010/main" val="31064594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Hadoop Ecosystem</a:t>
            </a:r>
          </a:p>
        </p:txBody>
      </p:sp>
      <p:sp>
        <p:nvSpPr>
          <p:cNvPr id="3" name="Content Placeholder 2"/>
          <p:cNvSpPr>
            <a:spLocks noGrp="1"/>
          </p:cNvSpPr>
          <p:nvPr>
            <p:ph idx="1"/>
          </p:nvPr>
        </p:nvSpPr>
        <p:spPr>
          <a:xfrm>
            <a:off x="457200" y="1447800"/>
            <a:ext cx="8229600" cy="5181600"/>
          </a:xfrm>
        </p:spPr>
        <p:txBody>
          <a:bodyPr>
            <a:normAutofit/>
          </a:bodyPr>
          <a:lstStyle/>
          <a:p>
            <a:pPr marL="339725" indent="-339725"/>
            <a:r>
              <a:rPr lang="en-US" altLang="en-US" sz="2400" b="1" dirty="0"/>
              <a:t>Avro: </a:t>
            </a:r>
            <a:r>
              <a:rPr lang="en-US" sz="2400" dirty="0"/>
              <a:t>A data serialization system.</a:t>
            </a:r>
          </a:p>
          <a:p>
            <a:pPr marL="339725" indent="-339725"/>
            <a:r>
              <a:rPr lang="en-US" sz="2400" b="1" dirty="0"/>
              <a:t>Spark: </a:t>
            </a:r>
            <a:r>
              <a:rPr lang="en-US" sz="2400" dirty="0"/>
              <a:t>A fast and general compute engine for Hadoop data supporting machine learning, stream processing, and graph computation</a:t>
            </a:r>
          </a:p>
          <a:p>
            <a:pPr marL="339725" indent="-339725"/>
            <a:r>
              <a:rPr lang="en-US" sz="2400" b="1" dirty="0" err="1"/>
              <a:t>Ambari</a:t>
            </a:r>
            <a:r>
              <a:rPr lang="en-US" sz="2400" b="1" dirty="0"/>
              <a:t>: </a:t>
            </a:r>
            <a:r>
              <a:rPr lang="en-US" sz="2400" dirty="0"/>
              <a:t>A web-based tool for provisioning, managing, and monitoring Apache Hadoop clusters which includes support for HDFS, MapReduce, Hive, </a:t>
            </a:r>
            <a:r>
              <a:rPr lang="en-US" sz="2400" dirty="0" err="1"/>
              <a:t>HBase</a:t>
            </a:r>
            <a:r>
              <a:rPr lang="en-US" sz="2400" dirty="0"/>
              <a:t>, </a:t>
            </a:r>
            <a:r>
              <a:rPr lang="en-US" sz="2400" dirty="0" err="1"/>
              <a:t>ZooKeeper</a:t>
            </a:r>
            <a:r>
              <a:rPr lang="en-US" sz="2400" dirty="0"/>
              <a:t>, </a:t>
            </a:r>
            <a:r>
              <a:rPr lang="en-US" sz="2400" dirty="0" err="1"/>
              <a:t>Oozie</a:t>
            </a:r>
            <a:r>
              <a:rPr lang="en-US" sz="2400" dirty="0"/>
              <a:t>, Pig and </a:t>
            </a:r>
            <a:r>
              <a:rPr lang="en-US" sz="2400" dirty="0" err="1"/>
              <a:t>Sqoop</a:t>
            </a:r>
            <a:r>
              <a:rPr lang="en-US" sz="2400" dirty="0"/>
              <a:t>.</a:t>
            </a:r>
          </a:p>
          <a:p>
            <a:pPr marL="173038" indent="-173038"/>
            <a:endParaRPr lang="en-US" sz="2400" dirty="0"/>
          </a:p>
          <a:p>
            <a:pPr marL="173038" indent="-173038"/>
            <a:endParaRPr lang="en-US" altLang="en-US" sz="2200" dirty="0"/>
          </a:p>
          <a:p>
            <a:r>
              <a:rPr lang="en-US" dirty="0">
                <a:hlinkClick r:id="rId2"/>
              </a:rPr>
              <a:t>Hadoop Ecosystem Table on GitHub </a:t>
            </a:r>
            <a:endParaRPr lang="en-US" dirty="0"/>
          </a:p>
        </p:txBody>
      </p:sp>
    </p:spTree>
    <p:extLst>
      <p:ext uri="{BB962C8B-B14F-4D97-AF65-F5344CB8AC3E}">
        <p14:creationId xmlns:p14="http://schemas.microsoft.com/office/powerpoint/2010/main" val="32777898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Hadoop Ecosystem</a:t>
            </a:r>
          </a:p>
        </p:txBody>
      </p:sp>
      <p:pic>
        <p:nvPicPr>
          <p:cNvPr id="5122" name="Picture 2" descr="https://qph.ec.quoracdn.net/main-qimg-703f5d1f767006583c71fb20da33cb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328563"/>
            <a:ext cx="6934200" cy="54252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49007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EE9CF-6A9C-4217-A0A8-93A2FBC19053}"/>
              </a:ext>
            </a:extLst>
          </p:cNvPr>
          <p:cNvSpPr>
            <a:spLocks noGrp="1"/>
          </p:cNvSpPr>
          <p:nvPr>
            <p:ph type="title"/>
          </p:nvPr>
        </p:nvSpPr>
        <p:spPr/>
        <p:txBody>
          <a:bodyPr/>
          <a:lstStyle/>
          <a:p>
            <a:r>
              <a:rPr lang="en-US" dirty="0"/>
              <a:t>Hadoop Eco System</a:t>
            </a:r>
            <a:endParaRPr lang="en-IN" dirty="0"/>
          </a:p>
        </p:txBody>
      </p:sp>
      <p:pic>
        <p:nvPicPr>
          <p:cNvPr id="5" name="Picture 2" descr="Hadoop Ecosystem Infographic">
            <a:extLst>
              <a:ext uri="{FF2B5EF4-FFF2-40B4-BE49-F238E27FC236}">
                <a16:creationId xmlns:a16="http://schemas.microsoft.com/office/drawing/2014/main" id="{4D72AF02-6625-4173-AB80-6D4768A8A46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860" b="78989"/>
          <a:stretch/>
        </p:blipFill>
        <p:spPr bwMode="auto">
          <a:xfrm>
            <a:off x="1752600" y="1371600"/>
            <a:ext cx="5638800" cy="5331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95879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E465F-381E-4597-B9F0-C6BD586615D2}"/>
              </a:ext>
            </a:extLst>
          </p:cNvPr>
          <p:cNvSpPr>
            <a:spLocks noGrp="1"/>
          </p:cNvSpPr>
          <p:nvPr>
            <p:ph type="title"/>
          </p:nvPr>
        </p:nvSpPr>
        <p:spPr/>
        <p:txBody>
          <a:bodyPr/>
          <a:lstStyle/>
          <a:p>
            <a:r>
              <a:rPr lang="en-US" dirty="0"/>
              <a:t>Hadoop Core Components</a:t>
            </a:r>
            <a:endParaRPr lang="en-IN" dirty="0"/>
          </a:p>
        </p:txBody>
      </p:sp>
      <p:pic>
        <p:nvPicPr>
          <p:cNvPr id="4" name="Picture 2" descr="Hadoop Ecosystem Infographic">
            <a:extLst>
              <a:ext uri="{FF2B5EF4-FFF2-40B4-BE49-F238E27FC236}">
                <a16:creationId xmlns:a16="http://schemas.microsoft.com/office/drawing/2014/main" id="{36CA847B-B2C3-471A-93C6-98253076673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545" t="23084" r="650" b="70588"/>
          <a:stretch/>
        </p:blipFill>
        <p:spPr bwMode="auto">
          <a:xfrm>
            <a:off x="356926" y="1828800"/>
            <a:ext cx="8430148" cy="44108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52207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E465F-381E-4597-B9F0-C6BD586615D2}"/>
              </a:ext>
            </a:extLst>
          </p:cNvPr>
          <p:cNvSpPr>
            <a:spLocks noGrp="1"/>
          </p:cNvSpPr>
          <p:nvPr>
            <p:ph type="title"/>
          </p:nvPr>
        </p:nvSpPr>
        <p:spPr/>
        <p:txBody>
          <a:bodyPr/>
          <a:lstStyle/>
          <a:p>
            <a:r>
              <a:rPr lang="en-US" dirty="0"/>
              <a:t>High Level Data Processing</a:t>
            </a:r>
            <a:endParaRPr lang="en-IN" dirty="0"/>
          </a:p>
        </p:txBody>
      </p:sp>
      <p:pic>
        <p:nvPicPr>
          <p:cNvPr id="4" name="Picture 2" descr="Hadoop Ecosystem Infographic">
            <a:extLst>
              <a:ext uri="{FF2B5EF4-FFF2-40B4-BE49-F238E27FC236}">
                <a16:creationId xmlns:a16="http://schemas.microsoft.com/office/drawing/2014/main" id="{36CA847B-B2C3-471A-93C6-98253076673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32983" r="18595" b="63236"/>
          <a:stretch/>
        </p:blipFill>
        <p:spPr bwMode="auto">
          <a:xfrm>
            <a:off x="152400" y="2667000"/>
            <a:ext cx="8839200" cy="274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67145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E465F-381E-4597-B9F0-C6BD586615D2}"/>
              </a:ext>
            </a:extLst>
          </p:cNvPr>
          <p:cNvSpPr>
            <a:spLocks noGrp="1"/>
          </p:cNvSpPr>
          <p:nvPr>
            <p:ph type="title"/>
          </p:nvPr>
        </p:nvSpPr>
        <p:spPr/>
        <p:txBody>
          <a:bodyPr/>
          <a:lstStyle/>
          <a:p>
            <a:r>
              <a:rPr lang="en-US" dirty="0"/>
              <a:t>NoSQL</a:t>
            </a:r>
            <a:endParaRPr lang="en-IN" dirty="0"/>
          </a:p>
        </p:txBody>
      </p:sp>
      <p:pic>
        <p:nvPicPr>
          <p:cNvPr id="4" name="Picture 2" descr="Hadoop Ecosystem Infographic">
            <a:extLst>
              <a:ext uri="{FF2B5EF4-FFF2-40B4-BE49-F238E27FC236}">
                <a16:creationId xmlns:a16="http://schemas.microsoft.com/office/drawing/2014/main" id="{36CA847B-B2C3-471A-93C6-98253076673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9169" t="41248" r="26530" b="56779"/>
          <a:stretch/>
        </p:blipFill>
        <p:spPr bwMode="auto">
          <a:xfrm>
            <a:off x="457200" y="2667000"/>
            <a:ext cx="7848600"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03358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E465F-381E-4597-B9F0-C6BD586615D2}"/>
              </a:ext>
            </a:extLst>
          </p:cNvPr>
          <p:cNvSpPr>
            <a:spLocks noGrp="1"/>
          </p:cNvSpPr>
          <p:nvPr>
            <p:ph type="title"/>
          </p:nvPr>
        </p:nvSpPr>
        <p:spPr/>
        <p:txBody>
          <a:bodyPr/>
          <a:lstStyle/>
          <a:p>
            <a:r>
              <a:rPr lang="en-US" dirty="0"/>
              <a:t>Data Analytic Components</a:t>
            </a:r>
            <a:endParaRPr lang="en-IN" dirty="0"/>
          </a:p>
        </p:txBody>
      </p:sp>
      <p:pic>
        <p:nvPicPr>
          <p:cNvPr id="4" name="Picture 2" descr="Hadoop Ecosystem Infographic">
            <a:extLst>
              <a:ext uri="{FF2B5EF4-FFF2-40B4-BE49-F238E27FC236}">
                <a16:creationId xmlns:a16="http://schemas.microsoft.com/office/drawing/2014/main" id="{36CA847B-B2C3-471A-93C6-98253076673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 t="47239" r="18480" b="46660"/>
          <a:stretch/>
        </p:blipFill>
        <p:spPr bwMode="auto">
          <a:xfrm>
            <a:off x="381000" y="2057400"/>
            <a:ext cx="8382000" cy="4191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58316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E465F-381E-4597-B9F0-C6BD586615D2}"/>
              </a:ext>
            </a:extLst>
          </p:cNvPr>
          <p:cNvSpPr>
            <a:spLocks noGrp="1"/>
          </p:cNvSpPr>
          <p:nvPr>
            <p:ph type="title"/>
          </p:nvPr>
        </p:nvSpPr>
        <p:spPr/>
        <p:txBody>
          <a:bodyPr/>
          <a:lstStyle/>
          <a:p>
            <a:r>
              <a:rPr lang="en-US" dirty="0"/>
              <a:t>Data Analytic Components</a:t>
            </a:r>
            <a:endParaRPr lang="en-IN" dirty="0"/>
          </a:p>
        </p:txBody>
      </p:sp>
      <p:pic>
        <p:nvPicPr>
          <p:cNvPr id="4" name="Picture 2" descr="Hadoop Ecosystem Infographic">
            <a:extLst>
              <a:ext uri="{FF2B5EF4-FFF2-40B4-BE49-F238E27FC236}">
                <a16:creationId xmlns:a16="http://schemas.microsoft.com/office/drawing/2014/main" id="{36CA847B-B2C3-471A-93C6-98253076673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 t="53340" r="18480" b="42647"/>
          <a:stretch/>
        </p:blipFill>
        <p:spPr bwMode="auto">
          <a:xfrm>
            <a:off x="112300" y="2514600"/>
            <a:ext cx="8919399" cy="2933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91179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E465F-381E-4597-B9F0-C6BD586615D2}"/>
              </a:ext>
            </a:extLst>
          </p:cNvPr>
          <p:cNvSpPr>
            <a:spLocks noGrp="1"/>
          </p:cNvSpPr>
          <p:nvPr>
            <p:ph type="title"/>
          </p:nvPr>
        </p:nvSpPr>
        <p:spPr/>
        <p:txBody>
          <a:bodyPr/>
          <a:lstStyle/>
          <a:p>
            <a:r>
              <a:rPr lang="en-US" dirty="0"/>
              <a:t>Data Serialization Components</a:t>
            </a:r>
            <a:endParaRPr lang="en-IN" dirty="0"/>
          </a:p>
        </p:txBody>
      </p:sp>
      <p:pic>
        <p:nvPicPr>
          <p:cNvPr id="4" name="Picture 2" descr="Hadoop Ecosystem Infographic">
            <a:extLst>
              <a:ext uri="{FF2B5EF4-FFF2-40B4-BE49-F238E27FC236}">
                <a16:creationId xmlns:a16="http://schemas.microsoft.com/office/drawing/2014/main" id="{36CA847B-B2C3-471A-93C6-98253076673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422" t="61735" r="-294" b="34283"/>
          <a:stretch/>
        </p:blipFill>
        <p:spPr bwMode="auto">
          <a:xfrm>
            <a:off x="76874" y="2362200"/>
            <a:ext cx="9067126" cy="29468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92677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E465F-381E-4597-B9F0-C6BD586615D2}"/>
              </a:ext>
            </a:extLst>
          </p:cNvPr>
          <p:cNvSpPr>
            <a:spLocks noGrp="1"/>
          </p:cNvSpPr>
          <p:nvPr>
            <p:ph type="title"/>
          </p:nvPr>
        </p:nvSpPr>
        <p:spPr/>
        <p:txBody>
          <a:bodyPr/>
          <a:lstStyle/>
          <a:p>
            <a:r>
              <a:rPr lang="en-US" dirty="0"/>
              <a:t>Data Transfer Components</a:t>
            </a:r>
            <a:endParaRPr lang="en-IN" dirty="0"/>
          </a:p>
        </p:txBody>
      </p:sp>
      <p:pic>
        <p:nvPicPr>
          <p:cNvPr id="4" name="Picture 2" descr="Hadoop Ecosystem Infographic">
            <a:extLst>
              <a:ext uri="{FF2B5EF4-FFF2-40B4-BE49-F238E27FC236}">
                <a16:creationId xmlns:a16="http://schemas.microsoft.com/office/drawing/2014/main" id="{36CA847B-B2C3-471A-93C6-98253076673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70207" r="18014" b="23530"/>
          <a:stretch/>
        </p:blipFill>
        <p:spPr bwMode="auto">
          <a:xfrm>
            <a:off x="316522" y="1752600"/>
            <a:ext cx="8510956" cy="434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85565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E465F-381E-4597-B9F0-C6BD586615D2}"/>
              </a:ext>
            </a:extLst>
          </p:cNvPr>
          <p:cNvSpPr>
            <a:spLocks noGrp="1"/>
          </p:cNvSpPr>
          <p:nvPr>
            <p:ph type="title"/>
          </p:nvPr>
        </p:nvSpPr>
        <p:spPr/>
        <p:txBody>
          <a:bodyPr/>
          <a:lstStyle/>
          <a:p>
            <a:r>
              <a:rPr lang="en-US" dirty="0"/>
              <a:t>Management Components</a:t>
            </a:r>
            <a:endParaRPr lang="en-IN" dirty="0"/>
          </a:p>
        </p:txBody>
      </p:sp>
      <p:pic>
        <p:nvPicPr>
          <p:cNvPr id="4" name="Picture 2" descr="Hadoop Ecosystem Infographic">
            <a:extLst>
              <a:ext uri="{FF2B5EF4-FFF2-40B4-BE49-F238E27FC236}">
                <a16:creationId xmlns:a16="http://schemas.microsoft.com/office/drawing/2014/main" id="{36CA847B-B2C3-471A-93C6-98253076673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767" t="80998" r="1752" b="14925"/>
          <a:stretch/>
        </p:blipFill>
        <p:spPr bwMode="auto">
          <a:xfrm>
            <a:off x="457200" y="2038662"/>
            <a:ext cx="8281490" cy="2838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95745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E465F-381E-4597-B9F0-C6BD586615D2}"/>
              </a:ext>
            </a:extLst>
          </p:cNvPr>
          <p:cNvSpPr>
            <a:spLocks noGrp="1"/>
          </p:cNvSpPr>
          <p:nvPr>
            <p:ph type="title"/>
          </p:nvPr>
        </p:nvSpPr>
        <p:spPr/>
        <p:txBody>
          <a:bodyPr/>
          <a:lstStyle/>
          <a:p>
            <a:r>
              <a:rPr lang="en-US" dirty="0"/>
              <a:t>Monitoring Components</a:t>
            </a:r>
            <a:endParaRPr lang="en-IN" dirty="0"/>
          </a:p>
        </p:txBody>
      </p:sp>
      <p:pic>
        <p:nvPicPr>
          <p:cNvPr id="4" name="Picture 2" descr="Hadoop Ecosystem Infographic">
            <a:extLst>
              <a:ext uri="{FF2B5EF4-FFF2-40B4-BE49-F238E27FC236}">
                <a16:creationId xmlns:a16="http://schemas.microsoft.com/office/drawing/2014/main" id="{36CA847B-B2C3-471A-93C6-98253076673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89030" r="18216" b="4849"/>
          <a:stretch/>
        </p:blipFill>
        <p:spPr bwMode="auto">
          <a:xfrm>
            <a:off x="304800" y="1905000"/>
            <a:ext cx="8534400"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72761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60C0C29-CB87-4E61-B85F-D573C8C5AB41}"/>
              </a:ext>
            </a:extLst>
          </p:cNvPr>
          <p:cNvSpPr>
            <a:spLocks noGrp="1"/>
          </p:cNvSpPr>
          <p:nvPr>
            <p:ph type="title"/>
          </p:nvPr>
        </p:nvSpPr>
        <p:spPr/>
        <p:txBody>
          <a:bodyPr/>
          <a:lstStyle/>
          <a:p>
            <a:r>
              <a:rPr lang="en-IN" dirty="0"/>
              <a:t>Benefit of Agility / Flexibility</a:t>
            </a:r>
          </a:p>
        </p:txBody>
      </p:sp>
      <p:sp>
        <p:nvSpPr>
          <p:cNvPr id="5" name="Text Placeholder 4">
            <a:extLst>
              <a:ext uri="{FF2B5EF4-FFF2-40B4-BE49-F238E27FC236}">
                <a16:creationId xmlns:a16="http://schemas.microsoft.com/office/drawing/2014/main" id="{56D5A258-C926-48D1-BD3C-3E0F20695089}"/>
              </a:ext>
            </a:extLst>
          </p:cNvPr>
          <p:cNvSpPr>
            <a:spLocks noGrp="1"/>
          </p:cNvSpPr>
          <p:nvPr>
            <p:ph type="body" idx="1"/>
          </p:nvPr>
        </p:nvSpPr>
        <p:spPr>
          <a:xfrm>
            <a:off x="457200" y="1447800"/>
            <a:ext cx="3931920" cy="639762"/>
          </a:xfrm>
        </p:spPr>
        <p:txBody>
          <a:bodyPr/>
          <a:lstStyle/>
          <a:p>
            <a:r>
              <a:rPr lang="en-IN" b="1" dirty="0"/>
              <a:t>Schema-on-Write (RDBMS)</a:t>
            </a:r>
            <a:endParaRPr lang="en-IN" dirty="0"/>
          </a:p>
        </p:txBody>
      </p:sp>
      <p:sp>
        <p:nvSpPr>
          <p:cNvPr id="6" name="Content Placeholder 5">
            <a:extLst>
              <a:ext uri="{FF2B5EF4-FFF2-40B4-BE49-F238E27FC236}">
                <a16:creationId xmlns:a16="http://schemas.microsoft.com/office/drawing/2014/main" id="{D1444DDE-5E94-4FAD-A0D1-62CC7D6E5DB8}"/>
              </a:ext>
            </a:extLst>
          </p:cNvPr>
          <p:cNvSpPr>
            <a:spLocks noGrp="1"/>
          </p:cNvSpPr>
          <p:nvPr>
            <p:ph sz="half" idx="2"/>
          </p:nvPr>
        </p:nvSpPr>
        <p:spPr>
          <a:xfrm>
            <a:off x="457200" y="2209800"/>
            <a:ext cx="3931920" cy="4114800"/>
          </a:xfrm>
        </p:spPr>
        <p:txBody>
          <a:bodyPr>
            <a:normAutofit fontScale="55000" lnSpcReduction="20000"/>
          </a:bodyPr>
          <a:lstStyle/>
          <a:p>
            <a:r>
              <a:rPr lang="en-US" sz="4000" dirty="0"/>
              <a:t>Schema must be created before any data can be loaded.</a:t>
            </a:r>
          </a:p>
          <a:p>
            <a:r>
              <a:rPr lang="en-US" sz="4000" dirty="0"/>
              <a:t>An explicit load operation has to </a:t>
            </a:r>
            <a:r>
              <a:rPr lang="en-IN" sz="4000" dirty="0"/>
              <a:t>take place which transforms </a:t>
            </a:r>
            <a:r>
              <a:rPr lang="en-US" sz="4000" dirty="0"/>
              <a:t>data to DB internal structure.</a:t>
            </a:r>
          </a:p>
          <a:p>
            <a:r>
              <a:rPr lang="en-US" sz="4000" dirty="0"/>
              <a:t>New columns must be added explicitly before new data for such columns can be loaded </a:t>
            </a:r>
            <a:r>
              <a:rPr lang="en-IN" sz="4000" dirty="0"/>
              <a:t>into the database.</a:t>
            </a:r>
          </a:p>
          <a:p>
            <a:pPr marL="0" indent="0">
              <a:buNone/>
            </a:pPr>
            <a:endParaRPr lang="en-IN" dirty="0"/>
          </a:p>
          <a:p>
            <a:pPr marL="0" indent="0">
              <a:buNone/>
            </a:pPr>
            <a:endParaRPr lang="en-IN" dirty="0"/>
          </a:p>
          <a:p>
            <a:r>
              <a:rPr lang="en-IN" sz="2900" dirty="0"/>
              <a:t>Read is Fast</a:t>
            </a:r>
          </a:p>
          <a:p>
            <a:r>
              <a:rPr lang="en-IN" sz="2900" dirty="0"/>
              <a:t>Standards / Governance</a:t>
            </a:r>
          </a:p>
        </p:txBody>
      </p:sp>
      <p:sp>
        <p:nvSpPr>
          <p:cNvPr id="7" name="Text Placeholder 6">
            <a:extLst>
              <a:ext uri="{FF2B5EF4-FFF2-40B4-BE49-F238E27FC236}">
                <a16:creationId xmlns:a16="http://schemas.microsoft.com/office/drawing/2014/main" id="{A6E97062-7016-4AE7-997B-3F5523758AAD}"/>
              </a:ext>
            </a:extLst>
          </p:cNvPr>
          <p:cNvSpPr>
            <a:spLocks noGrp="1"/>
          </p:cNvSpPr>
          <p:nvPr>
            <p:ph type="body" sz="quarter" idx="3"/>
          </p:nvPr>
        </p:nvSpPr>
        <p:spPr>
          <a:xfrm>
            <a:off x="4754880" y="1447800"/>
            <a:ext cx="3931920" cy="639762"/>
          </a:xfrm>
        </p:spPr>
        <p:txBody>
          <a:bodyPr/>
          <a:lstStyle/>
          <a:p>
            <a:r>
              <a:rPr lang="en-IN" b="1" dirty="0"/>
              <a:t>Schema-on-Read (Hadoop)</a:t>
            </a:r>
            <a:endParaRPr lang="en-IN" dirty="0"/>
          </a:p>
        </p:txBody>
      </p:sp>
      <p:sp>
        <p:nvSpPr>
          <p:cNvPr id="8" name="Content Placeholder 7">
            <a:extLst>
              <a:ext uri="{FF2B5EF4-FFF2-40B4-BE49-F238E27FC236}">
                <a16:creationId xmlns:a16="http://schemas.microsoft.com/office/drawing/2014/main" id="{BA796054-031C-4884-A84C-CB81D4E4D273}"/>
              </a:ext>
            </a:extLst>
          </p:cNvPr>
          <p:cNvSpPr>
            <a:spLocks noGrp="1"/>
          </p:cNvSpPr>
          <p:nvPr>
            <p:ph sz="quarter" idx="4"/>
          </p:nvPr>
        </p:nvSpPr>
        <p:spPr>
          <a:xfrm>
            <a:off x="4754880" y="2209800"/>
            <a:ext cx="4236720" cy="4495800"/>
          </a:xfrm>
        </p:spPr>
        <p:txBody>
          <a:bodyPr>
            <a:normAutofit fontScale="55000" lnSpcReduction="20000"/>
          </a:bodyPr>
          <a:lstStyle/>
          <a:p>
            <a:r>
              <a:rPr lang="en-US" sz="4000" dirty="0"/>
              <a:t>Data is simply copied to the file store, no transformation is needed.</a:t>
            </a:r>
          </a:p>
          <a:p>
            <a:r>
              <a:rPr lang="pt-BR" sz="4000" dirty="0"/>
              <a:t>A SerDe (Serializer / Deserlizer) is </a:t>
            </a:r>
            <a:r>
              <a:rPr lang="en-US" sz="4000" dirty="0"/>
              <a:t>applied during read time to extract the required columns (</a:t>
            </a:r>
            <a:r>
              <a:rPr lang="en-US" sz="4000" i="1" dirty="0"/>
              <a:t>late binding</a:t>
            </a:r>
            <a:r>
              <a:rPr lang="en-US" sz="4000" dirty="0"/>
              <a:t>)</a:t>
            </a:r>
          </a:p>
          <a:p>
            <a:r>
              <a:rPr lang="en-US" sz="4000" dirty="0"/>
              <a:t>New data can start flowing anytime and will appear retroactively once the </a:t>
            </a:r>
            <a:r>
              <a:rPr lang="en-US" sz="4000" dirty="0" err="1"/>
              <a:t>SerDe</a:t>
            </a:r>
            <a:r>
              <a:rPr lang="en-US" sz="4000" dirty="0"/>
              <a:t> is updated to parse it.</a:t>
            </a:r>
          </a:p>
          <a:p>
            <a:endParaRPr lang="en-IN" sz="2800" dirty="0"/>
          </a:p>
          <a:p>
            <a:endParaRPr lang="en-IN" sz="2800" dirty="0"/>
          </a:p>
          <a:p>
            <a:pPr lvl="2"/>
            <a:r>
              <a:rPr lang="en-IN" sz="2900" dirty="0"/>
              <a:t>Load is Fast</a:t>
            </a:r>
          </a:p>
          <a:p>
            <a:pPr lvl="2"/>
            <a:r>
              <a:rPr lang="en-IN" sz="2900" dirty="0"/>
              <a:t>Flexibility / Agility</a:t>
            </a:r>
          </a:p>
        </p:txBody>
      </p:sp>
      <p:sp>
        <p:nvSpPr>
          <p:cNvPr id="12" name="Arrow: Left-Right 11">
            <a:extLst>
              <a:ext uri="{FF2B5EF4-FFF2-40B4-BE49-F238E27FC236}">
                <a16:creationId xmlns:a16="http://schemas.microsoft.com/office/drawing/2014/main" id="{F6687A45-D32D-4853-B72E-945542B676D0}"/>
              </a:ext>
            </a:extLst>
          </p:cNvPr>
          <p:cNvSpPr/>
          <p:nvPr/>
        </p:nvSpPr>
        <p:spPr>
          <a:xfrm>
            <a:off x="3893820" y="5715000"/>
            <a:ext cx="1287780" cy="53340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644462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5B45FAE-5B95-410D-AA80-430E84984B52}"/>
              </a:ext>
            </a:extLst>
          </p:cNvPr>
          <p:cNvSpPr>
            <a:spLocks noGrp="1"/>
          </p:cNvSpPr>
          <p:nvPr>
            <p:ph type="title"/>
          </p:nvPr>
        </p:nvSpPr>
        <p:spPr/>
        <p:txBody>
          <a:bodyPr/>
          <a:lstStyle/>
          <a:p>
            <a:r>
              <a:rPr lang="en-IN" dirty="0"/>
              <a:t>Original Raw Data</a:t>
            </a:r>
          </a:p>
        </p:txBody>
      </p:sp>
      <p:pic>
        <p:nvPicPr>
          <p:cNvPr id="9" name="Picture 8">
            <a:extLst>
              <a:ext uri="{FF2B5EF4-FFF2-40B4-BE49-F238E27FC236}">
                <a16:creationId xmlns:a16="http://schemas.microsoft.com/office/drawing/2014/main" id="{D45C62D7-391F-4DCA-9DCF-C28295FCA941}"/>
              </a:ext>
            </a:extLst>
          </p:cNvPr>
          <p:cNvPicPr>
            <a:picLocks noChangeAspect="1"/>
          </p:cNvPicPr>
          <p:nvPr/>
        </p:nvPicPr>
        <p:blipFill>
          <a:blip r:embed="rId2"/>
          <a:stretch>
            <a:fillRect/>
          </a:stretch>
        </p:blipFill>
        <p:spPr>
          <a:xfrm>
            <a:off x="381000" y="2057400"/>
            <a:ext cx="8464554" cy="3733800"/>
          </a:xfrm>
          <a:prstGeom prst="rect">
            <a:avLst/>
          </a:prstGeom>
        </p:spPr>
      </p:pic>
    </p:spTree>
    <p:extLst>
      <p:ext uri="{BB962C8B-B14F-4D97-AF65-F5344CB8AC3E}">
        <p14:creationId xmlns:p14="http://schemas.microsoft.com/office/powerpoint/2010/main" val="35816662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E980F-A897-4EC0-A466-7FAF8B832EC3}"/>
              </a:ext>
            </a:extLst>
          </p:cNvPr>
          <p:cNvSpPr>
            <a:spLocks noGrp="1"/>
          </p:cNvSpPr>
          <p:nvPr>
            <p:ph type="title"/>
          </p:nvPr>
        </p:nvSpPr>
        <p:spPr>
          <a:xfrm>
            <a:off x="228600" y="381000"/>
            <a:ext cx="8229600" cy="838200"/>
          </a:xfrm>
        </p:spPr>
        <p:txBody>
          <a:bodyPr/>
          <a:lstStyle/>
          <a:p>
            <a:r>
              <a:rPr lang="en-IN" dirty="0"/>
              <a:t>Scalable: Grows without changes</a:t>
            </a:r>
          </a:p>
        </p:txBody>
      </p:sp>
      <p:pic>
        <p:nvPicPr>
          <p:cNvPr id="4" name="Picture 3">
            <a:extLst>
              <a:ext uri="{FF2B5EF4-FFF2-40B4-BE49-F238E27FC236}">
                <a16:creationId xmlns:a16="http://schemas.microsoft.com/office/drawing/2014/main" id="{96196CF7-6D6F-459D-ADB9-8445A39385BF}"/>
              </a:ext>
            </a:extLst>
          </p:cNvPr>
          <p:cNvPicPr>
            <a:picLocks noChangeAspect="1"/>
          </p:cNvPicPr>
          <p:nvPr/>
        </p:nvPicPr>
        <p:blipFill>
          <a:blip r:embed="rId2"/>
          <a:stretch>
            <a:fillRect/>
          </a:stretch>
        </p:blipFill>
        <p:spPr>
          <a:xfrm>
            <a:off x="457200" y="2438400"/>
            <a:ext cx="8193396" cy="3276600"/>
          </a:xfrm>
          <a:prstGeom prst="rect">
            <a:avLst/>
          </a:prstGeom>
        </p:spPr>
      </p:pic>
    </p:spTree>
    <p:extLst>
      <p:ext uri="{BB962C8B-B14F-4D97-AF65-F5344CB8AC3E}">
        <p14:creationId xmlns:p14="http://schemas.microsoft.com/office/powerpoint/2010/main" val="27715503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06E89-13F7-4302-AE16-69870BE1A697}"/>
              </a:ext>
            </a:extLst>
          </p:cNvPr>
          <p:cNvSpPr>
            <a:spLocks noGrp="1"/>
          </p:cNvSpPr>
          <p:nvPr>
            <p:ph type="title"/>
          </p:nvPr>
        </p:nvSpPr>
        <p:spPr/>
        <p:txBody>
          <a:bodyPr/>
          <a:lstStyle/>
          <a:p>
            <a:r>
              <a:rPr lang="en-IN" dirty="0"/>
              <a:t>Data beats Algorithms</a:t>
            </a:r>
          </a:p>
        </p:txBody>
      </p:sp>
      <p:pic>
        <p:nvPicPr>
          <p:cNvPr id="4" name="Picture 3">
            <a:extLst>
              <a:ext uri="{FF2B5EF4-FFF2-40B4-BE49-F238E27FC236}">
                <a16:creationId xmlns:a16="http://schemas.microsoft.com/office/drawing/2014/main" id="{339C595B-EDC5-4BE6-B4D2-AEB112452816}"/>
              </a:ext>
            </a:extLst>
          </p:cNvPr>
          <p:cNvPicPr>
            <a:picLocks noChangeAspect="1"/>
          </p:cNvPicPr>
          <p:nvPr/>
        </p:nvPicPr>
        <p:blipFill>
          <a:blip r:embed="rId2"/>
          <a:stretch>
            <a:fillRect/>
          </a:stretch>
        </p:blipFill>
        <p:spPr>
          <a:xfrm>
            <a:off x="381000" y="2286000"/>
            <a:ext cx="8367688" cy="3733800"/>
          </a:xfrm>
          <a:prstGeom prst="rect">
            <a:avLst/>
          </a:prstGeom>
        </p:spPr>
      </p:pic>
    </p:spTree>
    <p:extLst>
      <p:ext uri="{BB962C8B-B14F-4D97-AF65-F5344CB8AC3E}">
        <p14:creationId xmlns:p14="http://schemas.microsoft.com/office/powerpoint/2010/main" val="16415082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ACE71-27E0-4B93-80BB-B2A09127988B}"/>
              </a:ext>
            </a:extLst>
          </p:cNvPr>
          <p:cNvSpPr>
            <a:spLocks noGrp="1"/>
          </p:cNvSpPr>
          <p:nvPr>
            <p:ph type="title"/>
          </p:nvPr>
        </p:nvSpPr>
        <p:spPr/>
        <p:txBody>
          <a:bodyPr/>
          <a:lstStyle/>
          <a:p>
            <a:r>
              <a:rPr lang="en-IN" dirty="0"/>
              <a:t>Keep All Data Alive Forever</a:t>
            </a:r>
          </a:p>
        </p:txBody>
      </p:sp>
      <p:pic>
        <p:nvPicPr>
          <p:cNvPr id="4" name="Picture 3">
            <a:extLst>
              <a:ext uri="{FF2B5EF4-FFF2-40B4-BE49-F238E27FC236}">
                <a16:creationId xmlns:a16="http://schemas.microsoft.com/office/drawing/2014/main" id="{87AD83D2-062E-4FA6-B8DB-8433F1A9EA9F}"/>
              </a:ext>
            </a:extLst>
          </p:cNvPr>
          <p:cNvPicPr>
            <a:picLocks noChangeAspect="1"/>
          </p:cNvPicPr>
          <p:nvPr/>
        </p:nvPicPr>
        <p:blipFill>
          <a:blip r:embed="rId2"/>
          <a:stretch>
            <a:fillRect/>
          </a:stretch>
        </p:blipFill>
        <p:spPr>
          <a:xfrm>
            <a:off x="533399" y="1676400"/>
            <a:ext cx="8004707" cy="4343400"/>
          </a:xfrm>
          <a:prstGeom prst="rect">
            <a:avLst/>
          </a:prstGeom>
        </p:spPr>
      </p:pic>
    </p:spTree>
    <p:extLst>
      <p:ext uri="{BB962C8B-B14F-4D97-AF65-F5344CB8AC3E}">
        <p14:creationId xmlns:p14="http://schemas.microsoft.com/office/powerpoint/2010/main" val="9020043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219C690-B159-4B61-BC7E-CAD12BEE79D3}"/>
              </a:ext>
            </a:extLst>
          </p:cNvPr>
          <p:cNvSpPr>
            <a:spLocks noGrp="1"/>
          </p:cNvSpPr>
          <p:nvPr>
            <p:ph type="title"/>
          </p:nvPr>
        </p:nvSpPr>
        <p:spPr/>
        <p:txBody>
          <a:bodyPr/>
          <a:lstStyle/>
          <a:p>
            <a:r>
              <a:rPr lang="en-IN" dirty="0"/>
              <a:t>Right Tool for the Right Job</a:t>
            </a:r>
          </a:p>
        </p:txBody>
      </p:sp>
      <p:sp>
        <p:nvSpPr>
          <p:cNvPr id="7" name="Text Placeholder 6">
            <a:extLst>
              <a:ext uri="{FF2B5EF4-FFF2-40B4-BE49-F238E27FC236}">
                <a16:creationId xmlns:a16="http://schemas.microsoft.com/office/drawing/2014/main" id="{DAA5781B-D47E-4BCD-B113-5592E4F3CAEB}"/>
              </a:ext>
            </a:extLst>
          </p:cNvPr>
          <p:cNvSpPr>
            <a:spLocks noGrp="1"/>
          </p:cNvSpPr>
          <p:nvPr>
            <p:ph type="body" idx="1"/>
          </p:nvPr>
        </p:nvSpPr>
        <p:spPr>
          <a:xfrm>
            <a:off x="457200" y="1458911"/>
            <a:ext cx="3931920" cy="689113"/>
          </a:xfrm>
        </p:spPr>
        <p:txBody>
          <a:bodyPr/>
          <a:lstStyle/>
          <a:p>
            <a:r>
              <a:rPr lang="en-IN" b="1" dirty="0"/>
              <a:t>Relational Databases</a:t>
            </a:r>
            <a:endParaRPr lang="en-IN" dirty="0"/>
          </a:p>
        </p:txBody>
      </p:sp>
      <p:sp>
        <p:nvSpPr>
          <p:cNvPr id="8" name="Content Placeholder 7">
            <a:extLst>
              <a:ext uri="{FF2B5EF4-FFF2-40B4-BE49-F238E27FC236}">
                <a16:creationId xmlns:a16="http://schemas.microsoft.com/office/drawing/2014/main" id="{7AE1EED1-7714-45B3-9744-1C4F1F406268}"/>
              </a:ext>
            </a:extLst>
          </p:cNvPr>
          <p:cNvSpPr>
            <a:spLocks noGrp="1"/>
          </p:cNvSpPr>
          <p:nvPr>
            <p:ph sz="half" idx="2"/>
          </p:nvPr>
        </p:nvSpPr>
        <p:spPr>
          <a:xfrm>
            <a:off x="457200" y="2220912"/>
            <a:ext cx="3931920" cy="4256088"/>
          </a:xfrm>
        </p:spPr>
        <p:txBody>
          <a:bodyPr>
            <a:normAutofit/>
          </a:bodyPr>
          <a:lstStyle/>
          <a:p>
            <a:pPr marL="0" indent="0">
              <a:buNone/>
            </a:pPr>
            <a:endParaRPr lang="en-IN" b="1" dirty="0"/>
          </a:p>
          <a:p>
            <a:pPr marL="0" indent="0">
              <a:buNone/>
            </a:pPr>
            <a:endParaRPr lang="en-IN" b="1" dirty="0"/>
          </a:p>
          <a:p>
            <a:pPr marL="0" indent="0">
              <a:buNone/>
            </a:pPr>
            <a:endParaRPr lang="en-IN" b="1" dirty="0"/>
          </a:p>
          <a:p>
            <a:pPr marL="0" indent="0">
              <a:buNone/>
            </a:pPr>
            <a:endParaRPr lang="en-IN" b="1" dirty="0"/>
          </a:p>
          <a:p>
            <a:pPr marL="0" indent="0">
              <a:buNone/>
            </a:pPr>
            <a:endParaRPr lang="en-IN" b="1" dirty="0"/>
          </a:p>
          <a:p>
            <a:pPr marL="0" indent="0">
              <a:buNone/>
            </a:pPr>
            <a:r>
              <a:rPr lang="en-IN" b="1" dirty="0"/>
              <a:t>Use when:</a:t>
            </a:r>
          </a:p>
          <a:p>
            <a:r>
              <a:rPr lang="en-IN" sz="2000" dirty="0"/>
              <a:t>Interactive OLAP Analytics (&lt;1sec)</a:t>
            </a:r>
          </a:p>
          <a:p>
            <a:r>
              <a:rPr lang="en-IN" sz="2000" dirty="0"/>
              <a:t>Multistep ACID Transactions</a:t>
            </a:r>
          </a:p>
          <a:p>
            <a:r>
              <a:rPr lang="en-IN" sz="2000" dirty="0"/>
              <a:t>100% SQL Compliance</a:t>
            </a:r>
          </a:p>
        </p:txBody>
      </p:sp>
      <p:sp>
        <p:nvSpPr>
          <p:cNvPr id="9" name="Text Placeholder 8">
            <a:extLst>
              <a:ext uri="{FF2B5EF4-FFF2-40B4-BE49-F238E27FC236}">
                <a16:creationId xmlns:a16="http://schemas.microsoft.com/office/drawing/2014/main" id="{37036D42-F37C-415F-86DD-F85AA5B6EFF6}"/>
              </a:ext>
            </a:extLst>
          </p:cNvPr>
          <p:cNvSpPr>
            <a:spLocks noGrp="1"/>
          </p:cNvSpPr>
          <p:nvPr>
            <p:ph type="body" sz="quarter" idx="3"/>
          </p:nvPr>
        </p:nvSpPr>
        <p:spPr>
          <a:xfrm>
            <a:off x="4754880" y="1458911"/>
            <a:ext cx="3931920" cy="689113"/>
          </a:xfrm>
        </p:spPr>
        <p:txBody>
          <a:bodyPr/>
          <a:lstStyle/>
          <a:p>
            <a:r>
              <a:rPr lang="en-IN" b="1" dirty="0"/>
              <a:t>Hadoop</a:t>
            </a:r>
          </a:p>
        </p:txBody>
      </p:sp>
      <p:sp>
        <p:nvSpPr>
          <p:cNvPr id="10" name="Content Placeholder 9">
            <a:extLst>
              <a:ext uri="{FF2B5EF4-FFF2-40B4-BE49-F238E27FC236}">
                <a16:creationId xmlns:a16="http://schemas.microsoft.com/office/drawing/2014/main" id="{58D5C0CA-C8B5-41E6-9CA1-1F90697FE7B1}"/>
              </a:ext>
            </a:extLst>
          </p:cNvPr>
          <p:cNvSpPr>
            <a:spLocks noGrp="1"/>
          </p:cNvSpPr>
          <p:nvPr>
            <p:ph sz="quarter" idx="4"/>
          </p:nvPr>
        </p:nvSpPr>
        <p:spPr>
          <a:xfrm>
            <a:off x="4754880" y="2220912"/>
            <a:ext cx="3931920" cy="4256088"/>
          </a:xfrm>
        </p:spPr>
        <p:txBody>
          <a:bodyPr>
            <a:normAutofit/>
          </a:bodyPr>
          <a:lstStyle/>
          <a:p>
            <a:pPr marL="0" indent="0">
              <a:buNone/>
            </a:pPr>
            <a:endParaRPr lang="en-IN" b="1" dirty="0"/>
          </a:p>
          <a:p>
            <a:pPr marL="0" indent="0">
              <a:buNone/>
            </a:pPr>
            <a:endParaRPr lang="en-IN" b="1" dirty="0"/>
          </a:p>
          <a:p>
            <a:pPr marL="0" indent="0">
              <a:buNone/>
            </a:pPr>
            <a:endParaRPr lang="en-IN" b="1" dirty="0"/>
          </a:p>
          <a:p>
            <a:pPr marL="0" indent="0">
              <a:buNone/>
            </a:pPr>
            <a:endParaRPr lang="en-IN" b="1" dirty="0"/>
          </a:p>
          <a:p>
            <a:pPr marL="0" indent="0">
              <a:buNone/>
            </a:pPr>
            <a:endParaRPr lang="en-IN" b="1" dirty="0"/>
          </a:p>
          <a:p>
            <a:pPr marL="0" indent="0">
              <a:buNone/>
            </a:pPr>
            <a:endParaRPr lang="en-IN" b="1" dirty="0"/>
          </a:p>
          <a:p>
            <a:pPr marL="0" indent="0">
              <a:buNone/>
            </a:pPr>
            <a:r>
              <a:rPr lang="en-IN" b="1" dirty="0"/>
              <a:t>Use when:</a:t>
            </a:r>
          </a:p>
          <a:p>
            <a:r>
              <a:rPr lang="en-IN" sz="2000" dirty="0"/>
              <a:t>Structured or Not (Flexibility)</a:t>
            </a:r>
          </a:p>
          <a:p>
            <a:r>
              <a:rPr lang="en-IN" sz="2000" dirty="0"/>
              <a:t>Scalability of Storage/Compute</a:t>
            </a:r>
          </a:p>
          <a:p>
            <a:r>
              <a:rPr lang="en-IN" sz="2000" dirty="0"/>
              <a:t>Complex Data Processing</a:t>
            </a:r>
          </a:p>
        </p:txBody>
      </p:sp>
      <p:pic>
        <p:nvPicPr>
          <p:cNvPr id="11" name="Picture 10">
            <a:extLst>
              <a:ext uri="{FF2B5EF4-FFF2-40B4-BE49-F238E27FC236}">
                <a16:creationId xmlns:a16="http://schemas.microsoft.com/office/drawing/2014/main" id="{B62726D0-0FF3-402D-8E80-C5A376089EB3}"/>
              </a:ext>
            </a:extLst>
          </p:cNvPr>
          <p:cNvPicPr>
            <a:picLocks noChangeAspect="1"/>
          </p:cNvPicPr>
          <p:nvPr/>
        </p:nvPicPr>
        <p:blipFill>
          <a:blip r:embed="rId3"/>
          <a:stretch>
            <a:fillRect/>
          </a:stretch>
        </p:blipFill>
        <p:spPr>
          <a:xfrm>
            <a:off x="609599" y="2148024"/>
            <a:ext cx="3772789" cy="2195376"/>
          </a:xfrm>
          <a:prstGeom prst="rect">
            <a:avLst/>
          </a:prstGeom>
        </p:spPr>
      </p:pic>
      <p:pic>
        <p:nvPicPr>
          <p:cNvPr id="15" name="Picture 14">
            <a:extLst>
              <a:ext uri="{FF2B5EF4-FFF2-40B4-BE49-F238E27FC236}">
                <a16:creationId xmlns:a16="http://schemas.microsoft.com/office/drawing/2014/main" id="{4F4B51B4-78DC-4657-9563-3A5D88ADABB1}"/>
              </a:ext>
            </a:extLst>
          </p:cNvPr>
          <p:cNvPicPr/>
          <p:nvPr/>
        </p:nvPicPr>
        <p:blipFill rotWithShape="1">
          <a:blip r:embed="rId4"/>
          <a:srcRect l="49967" t="46681" r="9484" b="7622"/>
          <a:stretch/>
        </p:blipFill>
        <p:spPr bwMode="auto">
          <a:xfrm>
            <a:off x="4914014" y="2148024"/>
            <a:ext cx="3391786" cy="219537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8589608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Hadoop HDFS</a:t>
            </a:r>
          </a:p>
        </p:txBody>
      </p:sp>
      <p:sp>
        <p:nvSpPr>
          <p:cNvPr id="3" name="Content Placeholder 2"/>
          <p:cNvSpPr>
            <a:spLocks noGrp="1"/>
          </p:cNvSpPr>
          <p:nvPr>
            <p:ph idx="1"/>
          </p:nvPr>
        </p:nvSpPr>
        <p:spPr/>
        <p:txBody>
          <a:bodyPr/>
          <a:lstStyle/>
          <a:p>
            <a:pPr marL="355600" marR="396240" indent="-342900">
              <a:lnSpc>
                <a:spcPct val="101400"/>
              </a:lnSpc>
              <a:tabLst>
                <a:tab pos="204470" algn="l"/>
              </a:tabLst>
            </a:pPr>
            <a:r>
              <a:rPr lang="en-US" sz="2400" dirty="0"/>
              <a:t>Hadoop Distributed File System is responsible for storing data on the cluster</a:t>
            </a:r>
          </a:p>
          <a:p>
            <a:pPr marL="355600" marR="396240" indent="-342900">
              <a:lnSpc>
                <a:spcPct val="101400"/>
              </a:lnSpc>
              <a:tabLst>
                <a:tab pos="204470" algn="l"/>
              </a:tabLst>
            </a:pPr>
            <a:r>
              <a:rPr lang="en-US" sz="2400" dirty="0"/>
              <a:t>Data files are split into blocks and distributed across multiple nodes in the cluster</a:t>
            </a:r>
          </a:p>
          <a:p>
            <a:pPr marL="355600" marR="396240" indent="-342900">
              <a:lnSpc>
                <a:spcPct val="101400"/>
              </a:lnSpc>
              <a:tabLst>
                <a:tab pos="204470" algn="l"/>
              </a:tabLst>
            </a:pPr>
            <a:r>
              <a:rPr lang="en-US" sz="2400" dirty="0"/>
              <a:t>Each block is replicated multiple times</a:t>
            </a:r>
          </a:p>
          <a:p>
            <a:pPr marL="629920" marR="396240" lvl="2" indent="-342900">
              <a:lnSpc>
                <a:spcPct val="101400"/>
              </a:lnSpc>
              <a:tabLst>
                <a:tab pos="204470" algn="l"/>
              </a:tabLst>
            </a:pPr>
            <a:r>
              <a:rPr lang="en-US" dirty="0"/>
              <a:t>Default is to replicate each block three times</a:t>
            </a:r>
          </a:p>
          <a:p>
            <a:pPr marL="629920" marR="396240" lvl="2" indent="-342900">
              <a:lnSpc>
                <a:spcPct val="101400"/>
              </a:lnSpc>
              <a:tabLst>
                <a:tab pos="204470" algn="l"/>
              </a:tabLst>
            </a:pPr>
            <a:r>
              <a:rPr lang="en-US" dirty="0"/>
              <a:t>Replicas are stored on different nodes</a:t>
            </a:r>
          </a:p>
          <a:p>
            <a:pPr marL="629920" marR="396240" lvl="2" indent="-342900">
              <a:lnSpc>
                <a:spcPct val="101400"/>
              </a:lnSpc>
              <a:tabLst>
                <a:tab pos="204470" algn="l"/>
              </a:tabLst>
            </a:pPr>
            <a:r>
              <a:rPr lang="en-US" dirty="0"/>
              <a:t>This ensures both reliability and availability</a:t>
            </a:r>
          </a:p>
          <a:p>
            <a:endParaRPr lang="en-US" dirty="0"/>
          </a:p>
        </p:txBody>
      </p:sp>
    </p:spTree>
    <p:extLst>
      <p:ext uri="{BB962C8B-B14F-4D97-AF65-F5344CB8AC3E}">
        <p14:creationId xmlns:p14="http://schemas.microsoft.com/office/powerpoint/2010/main" val="250085462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Hadoop HDFS</a:t>
            </a:r>
          </a:p>
        </p:txBody>
      </p:sp>
      <p:pic>
        <p:nvPicPr>
          <p:cNvPr id="512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4548"/>
          <a:stretch/>
        </p:blipFill>
        <p:spPr bwMode="auto">
          <a:xfrm>
            <a:off x="1828800" y="1211826"/>
            <a:ext cx="5334000" cy="55699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9671621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Hadoop HDFS</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371600"/>
            <a:ext cx="6248400" cy="52767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9736379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Hadoop Daemons</a:t>
            </a:r>
          </a:p>
        </p:txBody>
      </p:sp>
      <p:sp>
        <p:nvSpPr>
          <p:cNvPr id="3" name="Content Placeholder 2"/>
          <p:cNvSpPr>
            <a:spLocks noGrp="1"/>
          </p:cNvSpPr>
          <p:nvPr>
            <p:ph idx="1"/>
          </p:nvPr>
        </p:nvSpPr>
        <p:spPr/>
        <p:txBody>
          <a:bodyPr/>
          <a:lstStyle/>
          <a:p>
            <a:pPr marL="203835" indent="-191135">
              <a:lnSpc>
                <a:spcPct val="100000"/>
              </a:lnSpc>
              <a:buClr>
                <a:srgbClr val="006AAE"/>
              </a:buClr>
              <a:buFont typeface="Wingdings"/>
              <a:buChar char=""/>
              <a:tabLst>
                <a:tab pos="204470" algn="l"/>
              </a:tabLst>
            </a:pPr>
            <a:r>
              <a:rPr lang="en-US" sz="2400" spc="5" dirty="0">
                <a:solidFill>
                  <a:srgbClr val="010000"/>
                </a:solidFill>
                <a:cs typeface="Arial"/>
              </a:rPr>
              <a:t>Hadoo</a:t>
            </a:r>
            <a:r>
              <a:rPr lang="en-US" sz="2400" spc="10" dirty="0">
                <a:solidFill>
                  <a:srgbClr val="010000"/>
                </a:solidFill>
                <a:cs typeface="Arial"/>
              </a:rPr>
              <a:t>p </a:t>
            </a:r>
            <a:r>
              <a:rPr lang="en-US" sz="2400" spc="5" dirty="0">
                <a:solidFill>
                  <a:srgbClr val="010000"/>
                </a:solidFill>
                <a:cs typeface="Arial"/>
              </a:rPr>
              <a:t>is comprise</a:t>
            </a:r>
            <a:r>
              <a:rPr lang="en-US" sz="2400" spc="10" dirty="0">
                <a:solidFill>
                  <a:srgbClr val="010000"/>
                </a:solidFill>
                <a:cs typeface="Arial"/>
              </a:rPr>
              <a:t>d </a:t>
            </a:r>
            <a:r>
              <a:rPr lang="en-US" sz="2400" spc="5" dirty="0">
                <a:solidFill>
                  <a:srgbClr val="010000"/>
                </a:solidFill>
                <a:cs typeface="Arial"/>
              </a:rPr>
              <a:t>of five separat</a:t>
            </a:r>
            <a:r>
              <a:rPr lang="en-US" sz="2400" spc="10" dirty="0">
                <a:solidFill>
                  <a:srgbClr val="010000"/>
                </a:solidFill>
                <a:cs typeface="Arial"/>
              </a:rPr>
              <a:t>e daemons</a:t>
            </a:r>
            <a:endParaRPr lang="en-US" sz="2400" dirty="0">
              <a:cs typeface="Arial"/>
            </a:endParaRPr>
          </a:p>
          <a:p>
            <a:pPr marL="203835" indent="-191135">
              <a:lnSpc>
                <a:spcPct val="100000"/>
              </a:lnSpc>
              <a:spcBef>
                <a:spcPts val="1415"/>
              </a:spcBef>
              <a:buClr>
                <a:srgbClr val="006AAE"/>
              </a:buClr>
              <a:buFont typeface="Wingdings"/>
              <a:buChar char=""/>
              <a:tabLst>
                <a:tab pos="204470" algn="l"/>
              </a:tabLst>
            </a:pPr>
            <a:r>
              <a:rPr lang="en-US" sz="2400" b="1" spc="5" dirty="0" err="1">
                <a:solidFill>
                  <a:srgbClr val="010000"/>
                </a:solidFill>
                <a:cs typeface="Arial"/>
              </a:rPr>
              <a:t>NameNode</a:t>
            </a:r>
            <a:r>
              <a:rPr lang="en-US" sz="2400" b="1" spc="5" dirty="0">
                <a:solidFill>
                  <a:srgbClr val="010000"/>
                </a:solidFill>
                <a:cs typeface="Arial"/>
              </a:rPr>
              <a:t>: </a:t>
            </a:r>
            <a:r>
              <a:rPr lang="en-US" sz="2400" spc="5" dirty="0">
                <a:solidFill>
                  <a:srgbClr val="010000"/>
                </a:solidFill>
                <a:cs typeface="Arial"/>
              </a:rPr>
              <a:t>Holds the </a:t>
            </a:r>
            <a:r>
              <a:rPr lang="en-US" sz="2400" spc="10" dirty="0">
                <a:solidFill>
                  <a:srgbClr val="010000"/>
                </a:solidFill>
                <a:cs typeface="Arial"/>
              </a:rPr>
              <a:t>metadata</a:t>
            </a:r>
            <a:r>
              <a:rPr lang="en-US" sz="2400" spc="5" dirty="0">
                <a:solidFill>
                  <a:srgbClr val="010000"/>
                </a:solidFill>
                <a:cs typeface="Arial"/>
              </a:rPr>
              <a:t> for HD</a:t>
            </a:r>
            <a:r>
              <a:rPr lang="en-US" sz="2400" spc="10" dirty="0">
                <a:solidFill>
                  <a:srgbClr val="010000"/>
                </a:solidFill>
                <a:cs typeface="Arial"/>
              </a:rPr>
              <a:t>FS</a:t>
            </a:r>
            <a:endParaRPr lang="en-US" sz="2400" dirty="0">
              <a:cs typeface="Arial"/>
            </a:endParaRPr>
          </a:p>
          <a:p>
            <a:pPr marL="203835" indent="-191135">
              <a:lnSpc>
                <a:spcPct val="100000"/>
              </a:lnSpc>
              <a:spcBef>
                <a:spcPts val="1415"/>
              </a:spcBef>
              <a:buClr>
                <a:srgbClr val="006AAE"/>
              </a:buClr>
              <a:buFont typeface="Wingdings"/>
              <a:buChar char=""/>
              <a:tabLst>
                <a:tab pos="204470" algn="l"/>
              </a:tabLst>
            </a:pPr>
            <a:r>
              <a:rPr lang="en-US" sz="2400" b="1" spc="10" dirty="0">
                <a:solidFill>
                  <a:srgbClr val="010000"/>
                </a:solidFill>
                <a:cs typeface="Arial"/>
              </a:rPr>
              <a:t>Secondary</a:t>
            </a:r>
            <a:r>
              <a:rPr lang="en-US" sz="2400" b="1" spc="5" dirty="0">
                <a:solidFill>
                  <a:srgbClr val="010000"/>
                </a:solidFill>
                <a:cs typeface="Arial"/>
              </a:rPr>
              <a:t> </a:t>
            </a:r>
            <a:r>
              <a:rPr lang="en-US" sz="2400" b="1" spc="5" dirty="0" err="1">
                <a:solidFill>
                  <a:srgbClr val="010000"/>
                </a:solidFill>
                <a:cs typeface="Arial"/>
              </a:rPr>
              <a:t>NameNode</a:t>
            </a:r>
            <a:endParaRPr lang="en-US" sz="2400" dirty="0">
              <a:cs typeface="Arial"/>
            </a:endParaRPr>
          </a:p>
          <a:p>
            <a:pPr marL="709295" lvl="1" indent="-244475">
              <a:lnSpc>
                <a:spcPct val="100000"/>
              </a:lnSpc>
              <a:spcBef>
                <a:spcPts val="330"/>
              </a:spcBef>
              <a:buClr>
                <a:srgbClr val="006AAE"/>
              </a:buClr>
              <a:buFont typeface="Lucida Sans"/>
              <a:buChar char="–"/>
              <a:tabLst>
                <a:tab pos="709930" algn="l"/>
              </a:tabLst>
            </a:pPr>
            <a:r>
              <a:rPr lang="en-US" spc="5" dirty="0">
                <a:solidFill>
                  <a:srgbClr val="010000"/>
                </a:solidFill>
                <a:cs typeface="Arial"/>
              </a:rPr>
              <a:t>Performs housekeepin</a:t>
            </a:r>
            <a:r>
              <a:rPr lang="en-US" spc="10" dirty="0">
                <a:solidFill>
                  <a:srgbClr val="010000"/>
                </a:solidFill>
                <a:cs typeface="Arial"/>
              </a:rPr>
              <a:t>g </a:t>
            </a:r>
            <a:r>
              <a:rPr lang="en-US" spc="5" dirty="0">
                <a:solidFill>
                  <a:srgbClr val="010000"/>
                </a:solidFill>
                <a:cs typeface="Arial"/>
              </a:rPr>
              <a:t>functions</a:t>
            </a:r>
            <a:r>
              <a:rPr lang="en-US" dirty="0">
                <a:solidFill>
                  <a:srgbClr val="010000"/>
                </a:solidFill>
                <a:cs typeface="Arial"/>
              </a:rPr>
              <a:t> </a:t>
            </a:r>
            <a:r>
              <a:rPr lang="en-US" spc="5" dirty="0">
                <a:solidFill>
                  <a:srgbClr val="010000"/>
                </a:solidFill>
                <a:cs typeface="Arial"/>
              </a:rPr>
              <a:t>for the </a:t>
            </a:r>
            <a:r>
              <a:rPr lang="en-US" spc="5" dirty="0" err="1">
                <a:solidFill>
                  <a:srgbClr val="010000"/>
                </a:solidFill>
                <a:cs typeface="Arial"/>
              </a:rPr>
              <a:t>NameNode</a:t>
            </a:r>
            <a:endParaRPr lang="en-US" dirty="0">
              <a:cs typeface="Arial"/>
            </a:endParaRPr>
          </a:p>
          <a:p>
            <a:pPr marL="709295" lvl="1" indent="-244475">
              <a:lnSpc>
                <a:spcPct val="100000"/>
              </a:lnSpc>
              <a:spcBef>
                <a:spcPts val="330"/>
              </a:spcBef>
              <a:buClr>
                <a:srgbClr val="006AAE"/>
              </a:buClr>
              <a:buFont typeface="Lucida Sans"/>
              <a:buChar char="–"/>
              <a:tabLst>
                <a:tab pos="709930" algn="l"/>
              </a:tabLst>
            </a:pPr>
            <a:r>
              <a:rPr lang="en-US" spc="5" dirty="0">
                <a:solidFill>
                  <a:srgbClr val="010000"/>
                </a:solidFill>
                <a:cs typeface="Arial"/>
              </a:rPr>
              <a:t>Is not </a:t>
            </a:r>
            <a:r>
              <a:rPr lang="en-US" spc="10" dirty="0">
                <a:solidFill>
                  <a:srgbClr val="010000"/>
                </a:solidFill>
                <a:cs typeface="Arial"/>
              </a:rPr>
              <a:t>a</a:t>
            </a:r>
            <a:r>
              <a:rPr lang="en-US" spc="5" dirty="0">
                <a:solidFill>
                  <a:srgbClr val="010000"/>
                </a:solidFill>
                <a:cs typeface="Arial"/>
              </a:rPr>
              <a:t> backu</a:t>
            </a:r>
            <a:r>
              <a:rPr lang="en-US" spc="10" dirty="0">
                <a:solidFill>
                  <a:srgbClr val="010000"/>
                </a:solidFill>
                <a:cs typeface="Arial"/>
              </a:rPr>
              <a:t>p</a:t>
            </a:r>
            <a:r>
              <a:rPr lang="en-US" spc="5" dirty="0">
                <a:solidFill>
                  <a:srgbClr val="010000"/>
                </a:solidFill>
                <a:cs typeface="Arial"/>
              </a:rPr>
              <a:t> or hot standby for the </a:t>
            </a:r>
            <a:r>
              <a:rPr lang="en-US" spc="5" dirty="0" err="1">
                <a:solidFill>
                  <a:srgbClr val="010000"/>
                </a:solidFill>
                <a:cs typeface="Arial"/>
              </a:rPr>
              <a:t>NameNode</a:t>
            </a:r>
            <a:r>
              <a:rPr lang="en-US" spc="5" dirty="0">
                <a:solidFill>
                  <a:srgbClr val="010000"/>
                </a:solidFill>
                <a:cs typeface="Arial"/>
              </a:rPr>
              <a:t>!</a:t>
            </a:r>
            <a:endParaRPr lang="en-US" dirty="0">
              <a:cs typeface="Arial"/>
            </a:endParaRPr>
          </a:p>
          <a:p>
            <a:pPr marL="203835" indent="-191135">
              <a:lnSpc>
                <a:spcPct val="100000"/>
              </a:lnSpc>
              <a:spcBef>
                <a:spcPts val="1415"/>
              </a:spcBef>
              <a:buClr>
                <a:srgbClr val="006AAE"/>
              </a:buClr>
              <a:buFont typeface="Wingdings"/>
              <a:buChar char=""/>
              <a:tabLst>
                <a:tab pos="204470" algn="l"/>
              </a:tabLst>
            </a:pPr>
            <a:r>
              <a:rPr lang="en-US" sz="2400" b="1" spc="5" dirty="0" err="1">
                <a:solidFill>
                  <a:srgbClr val="010000"/>
                </a:solidFill>
                <a:cs typeface="Arial"/>
              </a:rPr>
              <a:t>DataNode</a:t>
            </a:r>
            <a:r>
              <a:rPr lang="en-US" sz="2400" b="1" spc="5" dirty="0">
                <a:solidFill>
                  <a:srgbClr val="010000"/>
                </a:solidFill>
                <a:cs typeface="Arial"/>
              </a:rPr>
              <a:t>: </a:t>
            </a:r>
            <a:r>
              <a:rPr lang="en-US" sz="2400" spc="5" dirty="0">
                <a:solidFill>
                  <a:srgbClr val="010000"/>
                </a:solidFill>
                <a:cs typeface="Arial"/>
              </a:rPr>
              <a:t>Stores </a:t>
            </a:r>
            <a:r>
              <a:rPr lang="en-US" sz="2400" dirty="0">
                <a:solidFill>
                  <a:srgbClr val="010000"/>
                </a:solidFill>
                <a:cs typeface="Arial"/>
              </a:rPr>
              <a:t>actual</a:t>
            </a:r>
            <a:r>
              <a:rPr lang="en-US" sz="2400" spc="10" dirty="0">
                <a:solidFill>
                  <a:srgbClr val="010000"/>
                </a:solidFill>
                <a:cs typeface="Arial"/>
              </a:rPr>
              <a:t> </a:t>
            </a:r>
            <a:r>
              <a:rPr lang="en-US" sz="2400" spc="5" dirty="0">
                <a:solidFill>
                  <a:srgbClr val="010000"/>
                </a:solidFill>
                <a:cs typeface="Arial"/>
              </a:rPr>
              <a:t>HDF</a:t>
            </a:r>
            <a:r>
              <a:rPr lang="en-US" sz="2400" spc="10" dirty="0">
                <a:solidFill>
                  <a:srgbClr val="010000"/>
                </a:solidFill>
                <a:cs typeface="Arial"/>
              </a:rPr>
              <a:t>S</a:t>
            </a:r>
            <a:r>
              <a:rPr lang="en-US" sz="2400" spc="5" dirty="0">
                <a:solidFill>
                  <a:srgbClr val="010000"/>
                </a:solidFill>
                <a:cs typeface="Arial"/>
              </a:rPr>
              <a:t> </a:t>
            </a:r>
            <a:r>
              <a:rPr lang="en-US" sz="2400" dirty="0">
                <a:solidFill>
                  <a:srgbClr val="010000"/>
                </a:solidFill>
                <a:cs typeface="Arial"/>
              </a:rPr>
              <a:t>dat</a:t>
            </a:r>
            <a:r>
              <a:rPr lang="en-US" sz="2400" spc="10" dirty="0">
                <a:solidFill>
                  <a:srgbClr val="010000"/>
                </a:solidFill>
                <a:cs typeface="Arial"/>
              </a:rPr>
              <a:t>a</a:t>
            </a:r>
            <a:r>
              <a:rPr lang="en-US" sz="2400" spc="5" dirty="0">
                <a:solidFill>
                  <a:srgbClr val="010000"/>
                </a:solidFill>
                <a:cs typeface="Arial"/>
              </a:rPr>
              <a:t> </a:t>
            </a:r>
            <a:r>
              <a:rPr lang="en-US" sz="2400" dirty="0">
                <a:solidFill>
                  <a:srgbClr val="010000"/>
                </a:solidFill>
                <a:cs typeface="Arial"/>
              </a:rPr>
              <a:t>bl</a:t>
            </a:r>
            <a:r>
              <a:rPr lang="en-US" sz="2400" spc="10" dirty="0">
                <a:solidFill>
                  <a:srgbClr val="010000"/>
                </a:solidFill>
                <a:cs typeface="Arial"/>
              </a:rPr>
              <a:t>ocks</a:t>
            </a:r>
            <a:endParaRPr lang="en-US" sz="2400" dirty="0">
              <a:cs typeface="Arial"/>
            </a:endParaRPr>
          </a:p>
          <a:p>
            <a:pPr marL="203835" indent="-191135">
              <a:lnSpc>
                <a:spcPct val="100000"/>
              </a:lnSpc>
              <a:spcBef>
                <a:spcPts val="1415"/>
              </a:spcBef>
              <a:buClr>
                <a:srgbClr val="006AAE"/>
              </a:buClr>
              <a:buFont typeface="Wingdings"/>
              <a:buChar char=""/>
              <a:tabLst>
                <a:tab pos="204470" algn="l"/>
              </a:tabLst>
            </a:pPr>
            <a:r>
              <a:rPr lang="en-US" sz="2400" b="1" spc="10" dirty="0" err="1">
                <a:solidFill>
                  <a:srgbClr val="010000"/>
                </a:solidFill>
                <a:cs typeface="Arial"/>
              </a:rPr>
              <a:t>Job</a:t>
            </a:r>
            <a:r>
              <a:rPr lang="en-US" sz="2400" b="1" spc="-100" dirty="0" err="1">
                <a:solidFill>
                  <a:srgbClr val="010000"/>
                </a:solidFill>
                <a:cs typeface="Arial"/>
              </a:rPr>
              <a:t>T</a:t>
            </a:r>
            <a:r>
              <a:rPr lang="en-US" sz="2400" b="1" spc="5" dirty="0" err="1">
                <a:solidFill>
                  <a:srgbClr val="010000"/>
                </a:solidFill>
                <a:cs typeface="Arial"/>
              </a:rPr>
              <a:t>racker</a:t>
            </a:r>
            <a:r>
              <a:rPr lang="en-US" sz="2400" b="1" spc="5" dirty="0">
                <a:solidFill>
                  <a:srgbClr val="010000"/>
                </a:solidFill>
                <a:cs typeface="Arial"/>
              </a:rPr>
              <a:t>: </a:t>
            </a:r>
            <a:r>
              <a:rPr lang="en-US" sz="2400" spc="10" dirty="0">
                <a:solidFill>
                  <a:srgbClr val="010000"/>
                </a:solidFill>
                <a:cs typeface="Arial"/>
              </a:rPr>
              <a:t>Manages</a:t>
            </a:r>
            <a:r>
              <a:rPr lang="en-US" sz="2400" spc="5" dirty="0">
                <a:solidFill>
                  <a:srgbClr val="010000"/>
                </a:solidFill>
                <a:cs typeface="Arial"/>
              </a:rPr>
              <a:t> </a:t>
            </a:r>
            <a:r>
              <a:rPr lang="en-US" sz="2400" spc="10" dirty="0">
                <a:solidFill>
                  <a:srgbClr val="010000"/>
                </a:solidFill>
                <a:cs typeface="Arial"/>
              </a:rPr>
              <a:t>MapReduce</a:t>
            </a:r>
            <a:r>
              <a:rPr lang="en-US" sz="2400" spc="5" dirty="0">
                <a:solidFill>
                  <a:srgbClr val="010000"/>
                </a:solidFill>
                <a:cs typeface="Arial"/>
              </a:rPr>
              <a:t> </a:t>
            </a:r>
            <a:r>
              <a:rPr lang="en-US" sz="2400" dirty="0">
                <a:solidFill>
                  <a:srgbClr val="010000"/>
                </a:solidFill>
                <a:cs typeface="Arial"/>
              </a:rPr>
              <a:t>jobs</a:t>
            </a:r>
            <a:r>
              <a:rPr lang="en-US" sz="2400" spc="5" dirty="0">
                <a:solidFill>
                  <a:srgbClr val="010000"/>
                </a:solidFill>
                <a:cs typeface="Arial"/>
              </a:rPr>
              <a:t>, </a:t>
            </a:r>
            <a:r>
              <a:rPr lang="en-US" sz="2400" dirty="0">
                <a:solidFill>
                  <a:srgbClr val="010000"/>
                </a:solidFill>
                <a:cs typeface="Arial"/>
              </a:rPr>
              <a:t>distribute</a:t>
            </a:r>
            <a:r>
              <a:rPr lang="en-US" sz="2400" spc="5" dirty="0">
                <a:solidFill>
                  <a:srgbClr val="010000"/>
                </a:solidFill>
                <a:cs typeface="Arial"/>
              </a:rPr>
              <a:t>s</a:t>
            </a:r>
            <a:r>
              <a:rPr lang="en-US" sz="2400" spc="10" dirty="0">
                <a:solidFill>
                  <a:srgbClr val="010000"/>
                </a:solidFill>
                <a:cs typeface="Arial"/>
              </a:rPr>
              <a:t> </a:t>
            </a:r>
            <a:r>
              <a:rPr lang="en-US" sz="2400" dirty="0">
                <a:solidFill>
                  <a:srgbClr val="010000"/>
                </a:solidFill>
                <a:cs typeface="Arial"/>
              </a:rPr>
              <a:t>individual</a:t>
            </a:r>
            <a:r>
              <a:rPr lang="en-US" sz="2400" spc="10" dirty="0">
                <a:solidFill>
                  <a:srgbClr val="010000"/>
                </a:solidFill>
                <a:cs typeface="Arial"/>
              </a:rPr>
              <a:t> </a:t>
            </a:r>
            <a:r>
              <a:rPr lang="en-US" sz="2400" spc="5" dirty="0">
                <a:solidFill>
                  <a:srgbClr val="010000"/>
                </a:solidFill>
                <a:cs typeface="Arial"/>
              </a:rPr>
              <a:t>tasks</a:t>
            </a:r>
            <a:endParaRPr lang="en-US" sz="2400" dirty="0">
              <a:cs typeface="Arial"/>
            </a:endParaRPr>
          </a:p>
          <a:p>
            <a:pPr marL="203835" indent="-191135">
              <a:lnSpc>
                <a:spcPct val="100000"/>
              </a:lnSpc>
              <a:spcBef>
                <a:spcPts val="1415"/>
              </a:spcBef>
              <a:buClr>
                <a:srgbClr val="006AAE"/>
              </a:buClr>
              <a:buFont typeface="Wingdings"/>
              <a:buChar char=""/>
              <a:tabLst>
                <a:tab pos="204470" algn="l"/>
              </a:tabLst>
            </a:pPr>
            <a:r>
              <a:rPr lang="en-US" sz="2400" b="1" spc="-140" dirty="0" err="1">
                <a:solidFill>
                  <a:srgbClr val="010000"/>
                </a:solidFill>
                <a:cs typeface="Arial"/>
              </a:rPr>
              <a:t>T</a:t>
            </a:r>
            <a:r>
              <a:rPr lang="en-US" sz="2400" b="1" spc="10" dirty="0" err="1">
                <a:solidFill>
                  <a:srgbClr val="010000"/>
                </a:solidFill>
                <a:cs typeface="Arial"/>
              </a:rPr>
              <a:t>ask</a:t>
            </a:r>
            <a:r>
              <a:rPr lang="en-US" sz="2400" b="1" spc="-100" dirty="0" err="1">
                <a:solidFill>
                  <a:srgbClr val="010000"/>
                </a:solidFill>
                <a:cs typeface="Arial"/>
              </a:rPr>
              <a:t>T</a:t>
            </a:r>
            <a:r>
              <a:rPr lang="en-US" sz="2400" b="1" spc="5" dirty="0" err="1">
                <a:solidFill>
                  <a:srgbClr val="010000"/>
                </a:solidFill>
                <a:cs typeface="Arial"/>
              </a:rPr>
              <a:t>racker</a:t>
            </a:r>
            <a:r>
              <a:rPr lang="en-US" sz="2400" b="1" spc="5" dirty="0">
                <a:solidFill>
                  <a:srgbClr val="010000"/>
                </a:solidFill>
                <a:cs typeface="Arial"/>
              </a:rPr>
              <a:t>: </a:t>
            </a:r>
            <a:r>
              <a:rPr lang="en-US" sz="2400" dirty="0">
                <a:solidFill>
                  <a:srgbClr val="010000"/>
                </a:solidFill>
                <a:cs typeface="Arial"/>
              </a:rPr>
              <a:t>Responsibl</a:t>
            </a:r>
            <a:r>
              <a:rPr lang="en-US" sz="2400" spc="10" dirty="0">
                <a:solidFill>
                  <a:srgbClr val="010000"/>
                </a:solidFill>
                <a:cs typeface="Arial"/>
              </a:rPr>
              <a:t>e </a:t>
            </a:r>
            <a:r>
              <a:rPr lang="en-US" sz="2400" spc="5" dirty="0">
                <a:solidFill>
                  <a:srgbClr val="010000"/>
                </a:solidFill>
                <a:cs typeface="Arial"/>
              </a:rPr>
              <a:t>for </a:t>
            </a:r>
            <a:r>
              <a:rPr lang="en-US" sz="2400" dirty="0">
                <a:solidFill>
                  <a:srgbClr val="010000"/>
                </a:solidFill>
                <a:cs typeface="Arial"/>
              </a:rPr>
              <a:t>instantiatin</a:t>
            </a:r>
            <a:r>
              <a:rPr lang="en-US" sz="2400" spc="10" dirty="0">
                <a:solidFill>
                  <a:srgbClr val="010000"/>
                </a:solidFill>
                <a:cs typeface="Arial"/>
              </a:rPr>
              <a:t>g </a:t>
            </a:r>
            <a:r>
              <a:rPr lang="en-US" sz="2400" spc="5" dirty="0">
                <a:solidFill>
                  <a:srgbClr val="010000"/>
                </a:solidFill>
                <a:cs typeface="Arial"/>
              </a:rPr>
              <a:t>an</a:t>
            </a:r>
            <a:r>
              <a:rPr lang="en-US" sz="2400" spc="10" dirty="0">
                <a:solidFill>
                  <a:srgbClr val="010000"/>
                </a:solidFill>
                <a:cs typeface="Arial"/>
              </a:rPr>
              <a:t>d</a:t>
            </a:r>
            <a:r>
              <a:rPr lang="en-US" sz="2400" spc="5" dirty="0">
                <a:solidFill>
                  <a:srgbClr val="010000"/>
                </a:solidFill>
                <a:cs typeface="Arial"/>
              </a:rPr>
              <a:t> monitoring </a:t>
            </a:r>
            <a:r>
              <a:rPr lang="en-US" sz="2400" dirty="0">
                <a:solidFill>
                  <a:srgbClr val="010000"/>
                </a:solidFill>
                <a:cs typeface="Arial"/>
              </a:rPr>
              <a:t>individual</a:t>
            </a:r>
            <a:r>
              <a:rPr lang="en-US" sz="2400" spc="10" dirty="0">
                <a:solidFill>
                  <a:srgbClr val="010000"/>
                </a:solidFill>
                <a:cs typeface="Arial"/>
              </a:rPr>
              <a:t> Map</a:t>
            </a:r>
            <a:r>
              <a:rPr lang="en-US" sz="2400" spc="5" dirty="0">
                <a:solidFill>
                  <a:srgbClr val="010000"/>
                </a:solidFill>
                <a:cs typeface="Arial"/>
              </a:rPr>
              <a:t> and Reduc</a:t>
            </a:r>
            <a:r>
              <a:rPr lang="en-US" sz="2400" spc="10" dirty="0">
                <a:solidFill>
                  <a:srgbClr val="010000"/>
                </a:solidFill>
                <a:cs typeface="Arial"/>
              </a:rPr>
              <a:t>e</a:t>
            </a:r>
            <a:r>
              <a:rPr lang="en-US" sz="2400" spc="5" dirty="0">
                <a:solidFill>
                  <a:srgbClr val="010000"/>
                </a:solidFill>
                <a:cs typeface="Arial"/>
              </a:rPr>
              <a:t> tasks</a:t>
            </a:r>
            <a:endParaRPr lang="en-US" sz="2400" dirty="0">
              <a:cs typeface="Arial"/>
            </a:endParaRPr>
          </a:p>
          <a:p>
            <a:endParaRPr lang="en-US" dirty="0"/>
          </a:p>
        </p:txBody>
      </p:sp>
    </p:spTree>
    <p:extLst>
      <p:ext uri="{BB962C8B-B14F-4D97-AF65-F5344CB8AC3E}">
        <p14:creationId xmlns:p14="http://schemas.microsoft.com/office/powerpoint/2010/main" val="270390067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Five Hadoop Daemons</a:t>
            </a:r>
          </a:p>
        </p:txBody>
      </p:sp>
      <p:grpSp>
        <p:nvGrpSpPr>
          <p:cNvPr id="4" name="Group 3"/>
          <p:cNvGrpSpPr/>
          <p:nvPr/>
        </p:nvGrpSpPr>
        <p:grpSpPr>
          <a:xfrm>
            <a:off x="685800" y="1600200"/>
            <a:ext cx="7522483" cy="4857902"/>
            <a:chOff x="1115161" y="1676364"/>
            <a:chExt cx="7522483" cy="4857902"/>
          </a:xfrm>
        </p:grpSpPr>
        <p:sp>
          <p:nvSpPr>
            <p:cNvPr id="5" name="object 4"/>
            <p:cNvSpPr/>
            <p:nvPr/>
          </p:nvSpPr>
          <p:spPr>
            <a:xfrm>
              <a:off x="3408056" y="2650286"/>
              <a:ext cx="2930295" cy="926117"/>
            </a:xfrm>
            <a:prstGeom prst="rect">
              <a:avLst/>
            </a:prstGeom>
            <a:blipFill>
              <a:blip r:embed="rId2" cstate="print"/>
              <a:stretch>
                <a:fillRect/>
              </a:stretch>
            </a:blipFill>
          </p:spPr>
          <p:txBody>
            <a:bodyPr wrap="square" lIns="0" tIns="0" rIns="0" bIns="0" rtlCol="0"/>
            <a:lstStyle/>
            <a:p>
              <a:endParaRPr/>
            </a:p>
          </p:txBody>
        </p:sp>
        <p:sp>
          <p:nvSpPr>
            <p:cNvPr id="6" name="object 5"/>
            <p:cNvSpPr/>
            <p:nvPr/>
          </p:nvSpPr>
          <p:spPr>
            <a:xfrm>
              <a:off x="1115161" y="1676364"/>
              <a:ext cx="2194313" cy="953356"/>
            </a:xfrm>
            <a:prstGeom prst="rect">
              <a:avLst/>
            </a:prstGeom>
            <a:blipFill>
              <a:blip r:embed="rId3" cstate="print"/>
              <a:stretch>
                <a:fillRect/>
              </a:stretch>
            </a:blipFill>
          </p:spPr>
          <p:txBody>
            <a:bodyPr wrap="square" lIns="0" tIns="0" rIns="0" bIns="0" rtlCol="0"/>
            <a:lstStyle/>
            <a:p>
              <a:endParaRPr/>
            </a:p>
          </p:txBody>
        </p:sp>
        <p:sp>
          <p:nvSpPr>
            <p:cNvPr id="7" name="object 6"/>
            <p:cNvSpPr/>
            <p:nvPr/>
          </p:nvSpPr>
          <p:spPr>
            <a:xfrm>
              <a:off x="1510178" y="3906782"/>
              <a:ext cx="6872564" cy="2015666"/>
            </a:xfrm>
            <a:prstGeom prst="rect">
              <a:avLst/>
            </a:prstGeom>
            <a:blipFill>
              <a:blip r:embed="rId4" cstate="print"/>
              <a:stretch>
                <a:fillRect/>
              </a:stretch>
            </a:blipFill>
          </p:spPr>
          <p:txBody>
            <a:bodyPr wrap="square" lIns="0" tIns="0" rIns="0" bIns="0" rtlCol="0"/>
            <a:lstStyle/>
            <a:p>
              <a:endParaRPr/>
            </a:p>
          </p:txBody>
        </p:sp>
        <p:sp>
          <p:nvSpPr>
            <p:cNvPr id="8" name="object 7"/>
            <p:cNvSpPr/>
            <p:nvPr/>
          </p:nvSpPr>
          <p:spPr>
            <a:xfrm>
              <a:off x="1478654" y="3697985"/>
              <a:ext cx="7158990" cy="2830195"/>
            </a:xfrm>
            <a:custGeom>
              <a:avLst/>
              <a:gdLst/>
              <a:ahLst/>
              <a:cxnLst/>
              <a:rect l="l" t="t" r="r" b="b"/>
              <a:pathLst>
                <a:path w="7158990" h="2830195">
                  <a:moveTo>
                    <a:pt x="0" y="0"/>
                  </a:moveTo>
                  <a:lnTo>
                    <a:pt x="7158679" y="0"/>
                  </a:lnTo>
                  <a:lnTo>
                    <a:pt x="7158679" y="2829657"/>
                  </a:lnTo>
                  <a:lnTo>
                    <a:pt x="0" y="2829657"/>
                  </a:lnTo>
                  <a:lnTo>
                    <a:pt x="0" y="0"/>
                  </a:lnTo>
                  <a:close/>
                </a:path>
              </a:pathLst>
            </a:custGeom>
            <a:ln w="13620">
              <a:solidFill>
                <a:srgbClr val="000000"/>
              </a:solidFill>
              <a:prstDash val="dash"/>
            </a:ln>
          </p:spPr>
          <p:txBody>
            <a:bodyPr wrap="square" lIns="0" tIns="0" rIns="0" bIns="0" rtlCol="0"/>
            <a:lstStyle/>
            <a:p>
              <a:endParaRPr/>
            </a:p>
          </p:txBody>
        </p:sp>
        <p:sp>
          <p:nvSpPr>
            <p:cNvPr id="9" name="object 8"/>
            <p:cNvSpPr/>
            <p:nvPr/>
          </p:nvSpPr>
          <p:spPr>
            <a:xfrm>
              <a:off x="1478654" y="2150933"/>
              <a:ext cx="7158990" cy="1560830"/>
            </a:xfrm>
            <a:custGeom>
              <a:avLst/>
              <a:gdLst/>
              <a:ahLst/>
              <a:cxnLst/>
              <a:rect l="l" t="t" r="r" b="b"/>
              <a:pathLst>
                <a:path w="7158990" h="1560829">
                  <a:moveTo>
                    <a:pt x="0" y="0"/>
                  </a:moveTo>
                  <a:lnTo>
                    <a:pt x="7158679" y="0"/>
                  </a:lnTo>
                  <a:lnTo>
                    <a:pt x="7158679" y="1560276"/>
                  </a:lnTo>
                  <a:lnTo>
                    <a:pt x="0" y="1560276"/>
                  </a:lnTo>
                  <a:lnTo>
                    <a:pt x="0" y="0"/>
                  </a:lnTo>
                  <a:close/>
                </a:path>
              </a:pathLst>
            </a:custGeom>
            <a:ln w="13619">
              <a:solidFill>
                <a:srgbClr val="000000"/>
              </a:solidFill>
              <a:prstDash val="dash"/>
            </a:ln>
          </p:spPr>
          <p:txBody>
            <a:bodyPr wrap="square" lIns="0" tIns="0" rIns="0" bIns="0" rtlCol="0"/>
            <a:lstStyle/>
            <a:p>
              <a:endParaRPr/>
            </a:p>
          </p:txBody>
        </p:sp>
        <p:sp>
          <p:nvSpPr>
            <p:cNvPr id="10" name="object 9"/>
            <p:cNvSpPr/>
            <p:nvPr/>
          </p:nvSpPr>
          <p:spPr>
            <a:xfrm>
              <a:off x="2159536" y="2610848"/>
              <a:ext cx="1250315" cy="528320"/>
            </a:xfrm>
            <a:custGeom>
              <a:avLst/>
              <a:gdLst/>
              <a:ahLst/>
              <a:cxnLst/>
              <a:rect l="l" t="t" r="r" b="b"/>
              <a:pathLst>
                <a:path w="1250314" h="528319">
                  <a:moveTo>
                    <a:pt x="0" y="0"/>
                  </a:moveTo>
                  <a:lnTo>
                    <a:pt x="3798" y="26918"/>
                  </a:lnTo>
                  <a:lnTo>
                    <a:pt x="7195" y="54066"/>
                  </a:lnTo>
                  <a:lnTo>
                    <a:pt x="10371" y="81340"/>
                  </a:lnTo>
                  <a:lnTo>
                    <a:pt x="13503" y="108639"/>
                  </a:lnTo>
                  <a:lnTo>
                    <a:pt x="16771" y="135862"/>
                  </a:lnTo>
                  <a:lnTo>
                    <a:pt x="24425" y="189669"/>
                  </a:lnTo>
                  <a:lnTo>
                    <a:pt x="34763" y="241945"/>
                  </a:lnTo>
                  <a:lnTo>
                    <a:pt x="49213" y="291875"/>
                  </a:lnTo>
                  <a:lnTo>
                    <a:pt x="69204" y="338645"/>
                  </a:lnTo>
                  <a:lnTo>
                    <a:pt x="96164" y="381438"/>
                  </a:lnTo>
                  <a:lnTo>
                    <a:pt x="131522" y="419439"/>
                  </a:lnTo>
                  <a:lnTo>
                    <a:pt x="176706" y="451833"/>
                  </a:lnTo>
                  <a:lnTo>
                    <a:pt x="236798" y="479175"/>
                  </a:lnTo>
                  <a:lnTo>
                    <a:pt x="273664" y="490683"/>
                  </a:lnTo>
                  <a:lnTo>
                    <a:pt x="313775" y="500340"/>
                  </a:lnTo>
                  <a:lnTo>
                    <a:pt x="356883" y="508289"/>
                  </a:lnTo>
                  <a:lnTo>
                    <a:pt x="402736" y="514673"/>
                  </a:lnTo>
                  <a:lnTo>
                    <a:pt x="451086" y="519634"/>
                  </a:lnTo>
                  <a:lnTo>
                    <a:pt x="501681" y="523315"/>
                  </a:lnTo>
                  <a:lnTo>
                    <a:pt x="554272" y="525858"/>
                  </a:lnTo>
                  <a:lnTo>
                    <a:pt x="608609" y="527406"/>
                  </a:lnTo>
                  <a:lnTo>
                    <a:pt x="664440" y="528101"/>
                  </a:lnTo>
                  <a:lnTo>
                    <a:pt x="721517" y="528087"/>
                  </a:lnTo>
                  <a:lnTo>
                    <a:pt x="779588" y="527505"/>
                  </a:lnTo>
                  <a:lnTo>
                    <a:pt x="838404" y="526498"/>
                  </a:lnTo>
                  <a:lnTo>
                    <a:pt x="897715" y="525209"/>
                  </a:lnTo>
                  <a:lnTo>
                    <a:pt x="957270" y="523781"/>
                  </a:lnTo>
                  <a:lnTo>
                    <a:pt x="1016819" y="522356"/>
                  </a:lnTo>
                  <a:lnTo>
                    <a:pt x="1076112" y="521077"/>
                  </a:lnTo>
                  <a:lnTo>
                    <a:pt x="1134899" y="520085"/>
                  </a:lnTo>
                  <a:lnTo>
                    <a:pt x="1192930" y="519525"/>
                  </a:lnTo>
                  <a:lnTo>
                    <a:pt x="1249954" y="519538"/>
                  </a:lnTo>
                </a:path>
              </a:pathLst>
            </a:custGeom>
            <a:ln w="13620">
              <a:solidFill>
                <a:srgbClr val="000000"/>
              </a:solidFill>
            </a:ln>
          </p:spPr>
          <p:txBody>
            <a:bodyPr wrap="square" lIns="0" tIns="0" rIns="0" bIns="0" rtlCol="0"/>
            <a:lstStyle/>
            <a:p>
              <a:endParaRPr/>
            </a:p>
          </p:txBody>
        </p:sp>
        <p:sp>
          <p:nvSpPr>
            <p:cNvPr id="11" name="object 10"/>
            <p:cNvSpPr/>
            <p:nvPr/>
          </p:nvSpPr>
          <p:spPr>
            <a:xfrm>
              <a:off x="3408429" y="3089536"/>
              <a:ext cx="110489" cy="81915"/>
            </a:xfrm>
            <a:custGeom>
              <a:avLst/>
              <a:gdLst/>
              <a:ahLst/>
              <a:cxnLst/>
              <a:rect l="l" t="t" r="r" b="b"/>
              <a:pathLst>
                <a:path w="110489" h="81914">
                  <a:moveTo>
                    <a:pt x="2057" y="0"/>
                  </a:moveTo>
                  <a:lnTo>
                    <a:pt x="0" y="81686"/>
                  </a:lnTo>
                  <a:lnTo>
                    <a:pt x="110032" y="43586"/>
                  </a:lnTo>
                  <a:lnTo>
                    <a:pt x="2057" y="0"/>
                  </a:lnTo>
                  <a:close/>
                </a:path>
              </a:pathLst>
            </a:custGeom>
            <a:solidFill>
              <a:srgbClr val="000000"/>
            </a:solidFill>
          </p:spPr>
          <p:txBody>
            <a:bodyPr wrap="square" lIns="0" tIns="0" rIns="0" bIns="0" rtlCol="0"/>
            <a:lstStyle/>
            <a:p>
              <a:endParaRPr/>
            </a:p>
          </p:txBody>
        </p:sp>
        <p:sp>
          <p:nvSpPr>
            <p:cNvPr id="12" name="object 11"/>
            <p:cNvSpPr/>
            <p:nvPr/>
          </p:nvSpPr>
          <p:spPr>
            <a:xfrm>
              <a:off x="3408431" y="3089529"/>
              <a:ext cx="110489" cy="81915"/>
            </a:xfrm>
            <a:custGeom>
              <a:avLst/>
              <a:gdLst/>
              <a:ahLst/>
              <a:cxnLst/>
              <a:rect l="l" t="t" r="r" b="b"/>
              <a:pathLst>
                <a:path w="110489" h="81914">
                  <a:moveTo>
                    <a:pt x="110029" y="43595"/>
                  </a:moveTo>
                  <a:lnTo>
                    <a:pt x="2058" y="0"/>
                  </a:lnTo>
                  <a:lnTo>
                    <a:pt x="0" y="81702"/>
                  </a:lnTo>
                  <a:lnTo>
                    <a:pt x="110029" y="43595"/>
                  </a:lnTo>
                  <a:close/>
                </a:path>
              </a:pathLst>
            </a:custGeom>
            <a:ln w="13622">
              <a:solidFill>
                <a:srgbClr val="000000"/>
              </a:solidFill>
            </a:ln>
          </p:spPr>
          <p:txBody>
            <a:bodyPr wrap="square" lIns="0" tIns="0" rIns="0" bIns="0" rtlCol="0"/>
            <a:lstStyle/>
            <a:p>
              <a:endParaRPr/>
            </a:p>
          </p:txBody>
        </p:sp>
        <p:sp>
          <p:nvSpPr>
            <p:cNvPr id="13" name="object 12"/>
            <p:cNvSpPr/>
            <p:nvPr/>
          </p:nvSpPr>
          <p:spPr>
            <a:xfrm>
              <a:off x="2119864" y="2505157"/>
              <a:ext cx="79375" cy="116205"/>
            </a:xfrm>
            <a:custGeom>
              <a:avLst/>
              <a:gdLst/>
              <a:ahLst/>
              <a:cxnLst/>
              <a:rect l="l" t="t" r="r" b="b"/>
              <a:pathLst>
                <a:path w="79375" h="116205">
                  <a:moveTo>
                    <a:pt x="13411" y="0"/>
                  </a:moveTo>
                  <a:lnTo>
                    <a:pt x="0" y="115595"/>
                  </a:lnTo>
                  <a:lnTo>
                    <a:pt x="79362" y="95897"/>
                  </a:lnTo>
                  <a:lnTo>
                    <a:pt x="13411" y="0"/>
                  </a:lnTo>
                  <a:close/>
                </a:path>
              </a:pathLst>
            </a:custGeom>
            <a:solidFill>
              <a:srgbClr val="000000"/>
            </a:solidFill>
          </p:spPr>
          <p:txBody>
            <a:bodyPr wrap="square" lIns="0" tIns="0" rIns="0" bIns="0" rtlCol="0"/>
            <a:lstStyle/>
            <a:p>
              <a:endParaRPr/>
            </a:p>
          </p:txBody>
        </p:sp>
        <p:sp>
          <p:nvSpPr>
            <p:cNvPr id="14" name="object 13"/>
            <p:cNvSpPr/>
            <p:nvPr/>
          </p:nvSpPr>
          <p:spPr>
            <a:xfrm>
              <a:off x="2119863" y="2505159"/>
              <a:ext cx="79375" cy="116205"/>
            </a:xfrm>
            <a:custGeom>
              <a:avLst/>
              <a:gdLst/>
              <a:ahLst/>
              <a:cxnLst/>
              <a:rect l="l" t="t" r="r" b="b"/>
              <a:pathLst>
                <a:path w="79375" h="116205">
                  <a:moveTo>
                    <a:pt x="13411" y="0"/>
                  </a:moveTo>
                  <a:lnTo>
                    <a:pt x="0" y="115587"/>
                  </a:lnTo>
                  <a:lnTo>
                    <a:pt x="79363" y="95894"/>
                  </a:lnTo>
                  <a:lnTo>
                    <a:pt x="13411" y="0"/>
                  </a:lnTo>
                  <a:close/>
                </a:path>
              </a:pathLst>
            </a:custGeom>
            <a:ln w="13626">
              <a:solidFill>
                <a:srgbClr val="000000"/>
              </a:solidFill>
            </a:ln>
          </p:spPr>
          <p:txBody>
            <a:bodyPr wrap="square" lIns="0" tIns="0" rIns="0" bIns="0" rtlCol="0"/>
            <a:lstStyle/>
            <a:p>
              <a:endParaRPr/>
            </a:p>
          </p:txBody>
        </p:sp>
        <p:sp>
          <p:nvSpPr>
            <p:cNvPr id="15" name="object 14"/>
            <p:cNvSpPr/>
            <p:nvPr/>
          </p:nvSpPr>
          <p:spPr>
            <a:xfrm>
              <a:off x="3557982" y="2745621"/>
              <a:ext cx="2630805" cy="619760"/>
            </a:xfrm>
            <a:custGeom>
              <a:avLst/>
              <a:gdLst/>
              <a:ahLst/>
              <a:cxnLst/>
              <a:rect l="l" t="t" r="r" b="b"/>
              <a:pathLst>
                <a:path w="2630804" h="619760">
                  <a:moveTo>
                    <a:pt x="2235885" y="0"/>
                  </a:moveTo>
                  <a:lnTo>
                    <a:pt x="394563" y="0"/>
                  </a:lnTo>
                  <a:lnTo>
                    <a:pt x="362217" y="1027"/>
                  </a:lnTo>
                  <a:lnTo>
                    <a:pt x="299780" y="9009"/>
                  </a:lnTo>
                  <a:lnTo>
                    <a:pt x="241026" y="24361"/>
                  </a:lnTo>
                  <a:lnTo>
                    <a:pt x="186771" y="46442"/>
                  </a:lnTo>
                  <a:lnTo>
                    <a:pt x="137829" y="74614"/>
                  </a:lnTo>
                  <a:lnTo>
                    <a:pt x="95014" y="108236"/>
                  </a:lnTo>
                  <a:lnTo>
                    <a:pt x="59140" y="146670"/>
                  </a:lnTo>
                  <a:lnTo>
                    <a:pt x="31021" y="189275"/>
                  </a:lnTo>
                  <a:lnTo>
                    <a:pt x="11473" y="235412"/>
                  </a:lnTo>
                  <a:lnTo>
                    <a:pt x="1308" y="284442"/>
                  </a:lnTo>
                  <a:lnTo>
                    <a:pt x="0" y="309841"/>
                  </a:lnTo>
                  <a:lnTo>
                    <a:pt x="1308" y="335241"/>
                  </a:lnTo>
                  <a:lnTo>
                    <a:pt x="11473" y="384271"/>
                  </a:lnTo>
                  <a:lnTo>
                    <a:pt x="31021" y="430408"/>
                  </a:lnTo>
                  <a:lnTo>
                    <a:pt x="59140" y="473013"/>
                  </a:lnTo>
                  <a:lnTo>
                    <a:pt x="95014" y="511446"/>
                  </a:lnTo>
                  <a:lnTo>
                    <a:pt x="137829" y="545069"/>
                  </a:lnTo>
                  <a:lnTo>
                    <a:pt x="186771" y="573240"/>
                  </a:lnTo>
                  <a:lnTo>
                    <a:pt x="241026" y="595322"/>
                  </a:lnTo>
                  <a:lnTo>
                    <a:pt x="299780" y="610673"/>
                  </a:lnTo>
                  <a:lnTo>
                    <a:pt x="362217" y="618656"/>
                  </a:lnTo>
                  <a:lnTo>
                    <a:pt x="394563" y="619683"/>
                  </a:lnTo>
                  <a:lnTo>
                    <a:pt x="2235885" y="619683"/>
                  </a:lnTo>
                  <a:lnTo>
                    <a:pt x="2299857" y="615626"/>
                  </a:lnTo>
                  <a:lnTo>
                    <a:pt x="2360552" y="603879"/>
                  </a:lnTo>
                  <a:lnTo>
                    <a:pt x="2417157" y="585082"/>
                  </a:lnTo>
                  <a:lnTo>
                    <a:pt x="2468858" y="559876"/>
                  </a:lnTo>
                  <a:lnTo>
                    <a:pt x="2514839" y="528899"/>
                  </a:lnTo>
                  <a:lnTo>
                    <a:pt x="2554287" y="492791"/>
                  </a:lnTo>
                  <a:lnTo>
                    <a:pt x="2586386" y="452192"/>
                  </a:lnTo>
                  <a:lnTo>
                    <a:pt x="2610322" y="407741"/>
                  </a:lnTo>
                  <a:lnTo>
                    <a:pt x="2625282" y="360077"/>
                  </a:lnTo>
                  <a:lnTo>
                    <a:pt x="2630449" y="309841"/>
                  </a:lnTo>
                  <a:lnTo>
                    <a:pt x="2629140" y="284442"/>
                  </a:lnTo>
                  <a:lnTo>
                    <a:pt x="2618975" y="235412"/>
                  </a:lnTo>
                  <a:lnTo>
                    <a:pt x="2599425" y="189275"/>
                  </a:lnTo>
                  <a:lnTo>
                    <a:pt x="2571306" y="146670"/>
                  </a:lnTo>
                  <a:lnTo>
                    <a:pt x="2535431" y="108236"/>
                  </a:lnTo>
                  <a:lnTo>
                    <a:pt x="2492614" y="74614"/>
                  </a:lnTo>
                  <a:lnTo>
                    <a:pt x="2443672" y="46442"/>
                  </a:lnTo>
                  <a:lnTo>
                    <a:pt x="2389417" y="24361"/>
                  </a:lnTo>
                  <a:lnTo>
                    <a:pt x="2330665" y="9009"/>
                  </a:lnTo>
                  <a:lnTo>
                    <a:pt x="2268230" y="1027"/>
                  </a:lnTo>
                  <a:lnTo>
                    <a:pt x="2235885" y="0"/>
                  </a:lnTo>
                  <a:close/>
                </a:path>
              </a:pathLst>
            </a:custGeom>
            <a:solidFill>
              <a:srgbClr val="4F7EC0"/>
            </a:solidFill>
          </p:spPr>
          <p:txBody>
            <a:bodyPr wrap="square" lIns="0" tIns="0" rIns="0" bIns="0" rtlCol="0"/>
            <a:lstStyle/>
            <a:p>
              <a:endParaRPr/>
            </a:p>
          </p:txBody>
        </p:sp>
        <p:sp>
          <p:nvSpPr>
            <p:cNvPr id="16" name="object 15"/>
            <p:cNvSpPr/>
            <p:nvPr/>
          </p:nvSpPr>
          <p:spPr>
            <a:xfrm>
              <a:off x="3557977" y="2745623"/>
              <a:ext cx="2630805" cy="619760"/>
            </a:xfrm>
            <a:custGeom>
              <a:avLst/>
              <a:gdLst/>
              <a:ahLst/>
              <a:cxnLst/>
              <a:rect l="l" t="t" r="r" b="b"/>
              <a:pathLst>
                <a:path w="2630804" h="619760">
                  <a:moveTo>
                    <a:pt x="394567" y="0"/>
                  </a:moveTo>
                  <a:lnTo>
                    <a:pt x="2235882" y="0"/>
                  </a:lnTo>
                  <a:lnTo>
                    <a:pt x="2268226" y="1027"/>
                  </a:lnTo>
                  <a:lnTo>
                    <a:pt x="2330662" y="9009"/>
                  </a:lnTo>
                  <a:lnTo>
                    <a:pt x="2389415" y="24361"/>
                  </a:lnTo>
                  <a:lnTo>
                    <a:pt x="2443671" y="46442"/>
                  </a:lnTo>
                  <a:lnTo>
                    <a:pt x="2492614" y="74613"/>
                  </a:lnTo>
                  <a:lnTo>
                    <a:pt x="2535430" y="108235"/>
                  </a:lnTo>
                  <a:lnTo>
                    <a:pt x="2571306" y="146669"/>
                  </a:lnTo>
                  <a:lnTo>
                    <a:pt x="2599425" y="189274"/>
                  </a:lnTo>
                  <a:lnTo>
                    <a:pt x="2618975" y="235411"/>
                  </a:lnTo>
                  <a:lnTo>
                    <a:pt x="2629140" y="284441"/>
                  </a:lnTo>
                  <a:lnTo>
                    <a:pt x="2630449" y="309840"/>
                  </a:lnTo>
                  <a:lnTo>
                    <a:pt x="2629140" y="335240"/>
                  </a:lnTo>
                  <a:lnTo>
                    <a:pt x="2618975" y="384270"/>
                  </a:lnTo>
                  <a:lnTo>
                    <a:pt x="2599425" y="430407"/>
                  </a:lnTo>
                  <a:lnTo>
                    <a:pt x="2571306" y="473012"/>
                  </a:lnTo>
                  <a:lnTo>
                    <a:pt x="2535430" y="511445"/>
                  </a:lnTo>
                  <a:lnTo>
                    <a:pt x="2492614" y="545068"/>
                  </a:lnTo>
                  <a:lnTo>
                    <a:pt x="2443671" y="573239"/>
                  </a:lnTo>
                  <a:lnTo>
                    <a:pt x="2389415" y="595320"/>
                  </a:lnTo>
                  <a:lnTo>
                    <a:pt x="2330662" y="610671"/>
                  </a:lnTo>
                  <a:lnTo>
                    <a:pt x="2268226" y="618653"/>
                  </a:lnTo>
                  <a:lnTo>
                    <a:pt x="2235882" y="619681"/>
                  </a:lnTo>
                  <a:lnTo>
                    <a:pt x="394567" y="619681"/>
                  </a:lnTo>
                  <a:lnTo>
                    <a:pt x="330595" y="615624"/>
                  </a:lnTo>
                  <a:lnTo>
                    <a:pt x="269898" y="603877"/>
                  </a:lnTo>
                  <a:lnTo>
                    <a:pt x="213292" y="585081"/>
                  </a:lnTo>
                  <a:lnTo>
                    <a:pt x="161591" y="559874"/>
                  </a:lnTo>
                  <a:lnTo>
                    <a:pt x="115610" y="528898"/>
                  </a:lnTo>
                  <a:lnTo>
                    <a:pt x="76162" y="492790"/>
                  </a:lnTo>
                  <a:lnTo>
                    <a:pt x="44063" y="452191"/>
                  </a:lnTo>
                  <a:lnTo>
                    <a:pt x="20126" y="407740"/>
                  </a:lnTo>
                  <a:lnTo>
                    <a:pt x="5167" y="360077"/>
                  </a:lnTo>
                  <a:lnTo>
                    <a:pt x="0" y="309840"/>
                  </a:lnTo>
                  <a:lnTo>
                    <a:pt x="1308" y="284441"/>
                  </a:lnTo>
                  <a:lnTo>
                    <a:pt x="11473" y="235411"/>
                  </a:lnTo>
                  <a:lnTo>
                    <a:pt x="31023" y="189274"/>
                  </a:lnTo>
                  <a:lnTo>
                    <a:pt x="59143" y="146669"/>
                  </a:lnTo>
                  <a:lnTo>
                    <a:pt x="95018" y="108235"/>
                  </a:lnTo>
                  <a:lnTo>
                    <a:pt x="137835" y="74613"/>
                  </a:lnTo>
                  <a:lnTo>
                    <a:pt x="186778" y="46442"/>
                  </a:lnTo>
                  <a:lnTo>
                    <a:pt x="241033" y="24361"/>
                  </a:lnTo>
                  <a:lnTo>
                    <a:pt x="299786" y="9009"/>
                  </a:lnTo>
                  <a:lnTo>
                    <a:pt x="362222" y="1027"/>
                  </a:lnTo>
                  <a:lnTo>
                    <a:pt x="394567" y="0"/>
                  </a:lnTo>
                </a:path>
              </a:pathLst>
            </a:custGeom>
            <a:ln w="13619">
              <a:solidFill>
                <a:srgbClr val="000000"/>
              </a:solidFill>
            </a:ln>
          </p:spPr>
          <p:txBody>
            <a:bodyPr wrap="square" lIns="0" tIns="0" rIns="0" bIns="0" rtlCol="0"/>
            <a:lstStyle/>
            <a:p>
              <a:endParaRPr/>
            </a:p>
          </p:txBody>
        </p:sp>
        <p:sp>
          <p:nvSpPr>
            <p:cNvPr id="17" name="object 16"/>
            <p:cNvSpPr txBox="1"/>
            <p:nvPr/>
          </p:nvSpPr>
          <p:spPr>
            <a:xfrm>
              <a:off x="4326594" y="2253188"/>
              <a:ext cx="990600" cy="216535"/>
            </a:xfrm>
            <a:prstGeom prst="rect">
              <a:avLst/>
            </a:prstGeom>
          </p:spPr>
          <p:txBody>
            <a:bodyPr vert="horz" wrap="square" lIns="0" tIns="0" rIns="0" bIns="0" rtlCol="0">
              <a:spAutoFit/>
            </a:bodyPr>
            <a:lstStyle/>
            <a:p>
              <a:pPr marL="12700">
                <a:lnSpc>
                  <a:spcPct val="100000"/>
                </a:lnSpc>
              </a:pPr>
              <a:r>
                <a:rPr sz="1500" spc="-5" dirty="0">
                  <a:latin typeface="Arial"/>
                  <a:cs typeface="Arial"/>
                </a:rPr>
                <a:t>NameNode</a:t>
              </a:r>
              <a:endParaRPr sz="1500">
                <a:latin typeface="Arial"/>
                <a:cs typeface="Arial"/>
              </a:endParaRPr>
            </a:p>
          </p:txBody>
        </p:sp>
        <p:sp>
          <p:nvSpPr>
            <p:cNvPr id="18" name="object 17"/>
            <p:cNvSpPr txBox="1"/>
            <p:nvPr/>
          </p:nvSpPr>
          <p:spPr>
            <a:xfrm>
              <a:off x="3637198" y="2484663"/>
              <a:ext cx="2465070" cy="805180"/>
            </a:xfrm>
            <a:prstGeom prst="rect">
              <a:avLst/>
            </a:prstGeom>
          </p:spPr>
          <p:txBody>
            <a:bodyPr vert="horz" wrap="square" lIns="0" tIns="0" rIns="0" bIns="0" rtlCol="0">
              <a:spAutoFit/>
            </a:bodyPr>
            <a:lstStyle/>
            <a:p>
              <a:pPr marR="87630" algn="ctr">
                <a:lnSpc>
                  <a:spcPct val="100000"/>
                </a:lnSpc>
              </a:pPr>
              <a:r>
                <a:rPr sz="1500" dirty="0">
                  <a:latin typeface="Arial"/>
                  <a:cs typeface="Arial"/>
                </a:rPr>
                <a:t>[ f</a:t>
              </a:r>
              <a:r>
                <a:rPr sz="1500" spc="-5" dirty="0">
                  <a:latin typeface="Arial"/>
                  <a:cs typeface="Arial"/>
                </a:rPr>
                <a:t>il</a:t>
              </a:r>
              <a:r>
                <a:rPr sz="1500" dirty="0">
                  <a:latin typeface="Arial"/>
                  <a:cs typeface="Arial"/>
                </a:rPr>
                <a:t>e </a:t>
              </a:r>
              <a:r>
                <a:rPr sz="1500" spc="-5" dirty="0">
                  <a:latin typeface="Arial"/>
                  <a:cs typeface="Arial"/>
                </a:rPr>
                <a:t>locatio</a:t>
              </a:r>
              <a:r>
                <a:rPr sz="1500" dirty="0">
                  <a:latin typeface="Arial"/>
                  <a:cs typeface="Arial"/>
                </a:rPr>
                <a:t>n </a:t>
              </a:r>
              <a:r>
                <a:rPr sz="1500" spc="-5" dirty="0">
                  <a:latin typeface="Arial"/>
                  <a:cs typeface="Arial"/>
                </a:rPr>
                <a:t>inf</a:t>
              </a:r>
              <a:r>
                <a:rPr sz="1500" dirty="0">
                  <a:latin typeface="Arial"/>
                  <a:cs typeface="Arial"/>
                </a:rPr>
                <a:t>o ]</a:t>
              </a:r>
              <a:endParaRPr sz="1500">
                <a:latin typeface="Arial"/>
                <a:cs typeface="Arial"/>
              </a:endParaRPr>
            </a:p>
            <a:p>
              <a:pPr marR="60325" algn="ctr">
                <a:lnSpc>
                  <a:spcPct val="100000"/>
                </a:lnSpc>
                <a:spcBef>
                  <a:spcPts val="1015"/>
                </a:spcBef>
              </a:pPr>
              <a:r>
                <a:rPr sz="1500" dirty="0">
                  <a:latin typeface="Arial"/>
                  <a:cs typeface="Arial"/>
                </a:rPr>
                <a:t>Job</a:t>
              </a:r>
              <a:r>
                <a:rPr sz="1500" spc="-55" dirty="0">
                  <a:latin typeface="Arial"/>
                  <a:cs typeface="Arial"/>
                </a:rPr>
                <a:t>T</a:t>
              </a:r>
              <a:r>
                <a:rPr sz="1500" dirty="0">
                  <a:latin typeface="Arial"/>
                  <a:cs typeface="Arial"/>
                </a:rPr>
                <a:t>racker</a:t>
              </a:r>
              <a:endParaRPr sz="1500">
                <a:latin typeface="Arial"/>
                <a:cs typeface="Arial"/>
              </a:endParaRPr>
            </a:p>
            <a:p>
              <a:pPr algn="ctr">
                <a:lnSpc>
                  <a:spcPct val="100000"/>
                </a:lnSpc>
                <a:spcBef>
                  <a:spcPts val="20"/>
                </a:spcBef>
              </a:pPr>
              <a:r>
                <a:rPr sz="1500" dirty="0">
                  <a:latin typeface="Arial"/>
                  <a:cs typeface="Arial"/>
                </a:rPr>
                <a:t>[ </a:t>
              </a:r>
              <a:r>
                <a:rPr sz="1500" spc="-5" dirty="0">
                  <a:latin typeface="Arial"/>
                  <a:cs typeface="Arial"/>
                </a:rPr>
                <a:t>determine</a:t>
              </a:r>
              <a:r>
                <a:rPr sz="1500" dirty="0">
                  <a:latin typeface="Arial"/>
                  <a:cs typeface="Arial"/>
                </a:rPr>
                <a:t>s </a:t>
              </a:r>
              <a:r>
                <a:rPr sz="1500" spc="-5" dirty="0">
                  <a:latin typeface="Arial"/>
                  <a:cs typeface="Arial"/>
                </a:rPr>
                <a:t>executio</a:t>
              </a:r>
              <a:r>
                <a:rPr sz="1500" dirty="0">
                  <a:latin typeface="Arial"/>
                  <a:cs typeface="Arial"/>
                </a:rPr>
                <a:t>n </a:t>
              </a:r>
              <a:r>
                <a:rPr sz="1500" spc="-5" dirty="0">
                  <a:latin typeface="Arial"/>
                  <a:cs typeface="Arial"/>
                </a:rPr>
                <a:t>pla</a:t>
              </a:r>
              <a:r>
                <a:rPr sz="1500" dirty="0">
                  <a:latin typeface="Arial"/>
                  <a:cs typeface="Arial"/>
                </a:rPr>
                <a:t>n ]</a:t>
              </a:r>
              <a:endParaRPr sz="1500">
                <a:latin typeface="Arial"/>
                <a:cs typeface="Arial"/>
              </a:endParaRPr>
            </a:p>
          </p:txBody>
        </p:sp>
        <p:sp>
          <p:nvSpPr>
            <p:cNvPr id="19" name="object 18"/>
            <p:cNvSpPr/>
            <p:nvPr/>
          </p:nvSpPr>
          <p:spPr>
            <a:xfrm>
              <a:off x="1265085" y="1771700"/>
              <a:ext cx="1894839" cy="654050"/>
            </a:xfrm>
            <a:custGeom>
              <a:avLst/>
              <a:gdLst/>
              <a:ahLst/>
              <a:cxnLst/>
              <a:rect l="l" t="t" r="r" b="b"/>
              <a:pathLst>
                <a:path w="1894839" h="654050">
                  <a:moveTo>
                    <a:pt x="0" y="653732"/>
                  </a:moveTo>
                  <a:lnTo>
                    <a:pt x="1894471" y="653732"/>
                  </a:lnTo>
                  <a:lnTo>
                    <a:pt x="1894471" y="0"/>
                  </a:lnTo>
                  <a:lnTo>
                    <a:pt x="0" y="0"/>
                  </a:lnTo>
                  <a:lnTo>
                    <a:pt x="0" y="653732"/>
                  </a:lnTo>
                  <a:close/>
                </a:path>
              </a:pathLst>
            </a:custGeom>
            <a:solidFill>
              <a:srgbClr val="EAEBEE"/>
            </a:solidFill>
          </p:spPr>
          <p:txBody>
            <a:bodyPr wrap="square" lIns="0" tIns="0" rIns="0" bIns="0" rtlCol="0"/>
            <a:lstStyle/>
            <a:p>
              <a:endParaRPr/>
            </a:p>
          </p:txBody>
        </p:sp>
        <p:sp>
          <p:nvSpPr>
            <p:cNvPr id="20" name="object 19"/>
            <p:cNvSpPr/>
            <p:nvPr/>
          </p:nvSpPr>
          <p:spPr>
            <a:xfrm>
              <a:off x="1265083" y="1771701"/>
              <a:ext cx="1894839" cy="654050"/>
            </a:xfrm>
            <a:custGeom>
              <a:avLst/>
              <a:gdLst/>
              <a:ahLst/>
              <a:cxnLst/>
              <a:rect l="l" t="t" r="r" b="b"/>
              <a:pathLst>
                <a:path w="1894839" h="654050">
                  <a:moveTo>
                    <a:pt x="0" y="0"/>
                  </a:moveTo>
                  <a:lnTo>
                    <a:pt x="1894468" y="0"/>
                  </a:lnTo>
                  <a:lnTo>
                    <a:pt x="1894468" y="653730"/>
                  </a:lnTo>
                  <a:lnTo>
                    <a:pt x="0" y="653730"/>
                  </a:lnTo>
                  <a:lnTo>
                    <a:pt x="0" y="0"/>
                  </a:lnTo>
                  <a:close/>
                </a:path>
              </a:pathLst>
            </a:custGeom>
            <a:ln w="13620">
              <a:solidFill>
                <a:srgbClr val="000000"/>
              </a:solidFill>
            </a:ln>
          </p:spPr>
          <p:txBody>
            <a:bodyPr wrap="square" lIns="0" tIns="0" rIns="0" bIns="0" rtlCol="0"/>
            <a:lstStyle/>
            <a:p>
              <a:endParaRPr/>
            </a:p>
          </p:txBody>
        </p:sp>
        <p:sp>
          <p:nvSpPr>
            <p:cNvPr id="21" name="object 20"/>
            <p:cNvSpPr txBox="1"/>
            <p:nvPr/>
          </p:nvSpPr>
          <p:spPr>
            <a:xfrm>
              <a:off x="1952063" y="1847876"/>
              <a:ext cx="513715" cy="216535"/>
            </a:xfrm>
            <a:prstGeom prst="rect">
              <a:avLst/>
            </a:prstGeom>
          </p:spPr>
          <p:txBody>
            <a:bodyPr vert="horz" wrap="square" lIns="0" tIns="0" rIns="0" bIns="0" rtlCol="0">
              <a:spAutoFit/>
            </a:bodyPr>
            <a:lstStyle/>
            <a:p>
              <a:pPr marL="12700">
                <a:lnSpc>
                  <a:spcPct val="100000"/>
                </a:lnSpc>
              </a:pPr>
              <a:r>
                <a:rPr sz="1500" dirty="0">
                  <a:latin typeface="Arial"/>
                  <a:cs typeface="Arial"/>
                </a:rPr>
                <a:t>Client</a:t>
              </a:r>
              <a:endParaRPr sz="1500">
                <a:latin typeface="Arial"/>
                <a:cs typeface="Arial"/>
              </a:endParaRPr>
            </a:p>
          </p:txBody>
        </p:sp>
        <p:sp>
          <p:nvSpPr>
            <p:cNvPr id="22" name="object 21"/>
            <p:cNvSpPr txBox="1"/>
            <p:nvPr/>
          </p:nvSpPr>
          <p:spPr>
            <a:xfrm>
              <a:off x="1289190" y="2147421"/>
              <a:ext cx="1838960" cy="216535"/>
            </a:xfrm>
            <a:prstGeom prst="rect">
              <a:avLst/>
            </a:prstGeom>
          </p:spPr>
          <p:txBody>
            <a:bodyPr vert="horz" wrap="square" lIns="0" tIns="0" rIns="0" bIns="0" rtlCol="0">
              <a:spAutoFit/>
            </a:bodyPr>
            <a:lstStyle/>
            <a:p>
              <a:pPr marL="12700">
                <a:lnSpc>
                  <a:spcPct val="100000"/>
                </a:lnSpc>
              </a:pPr>
              <a:r>
                <a:rPr sz="1500" dirty="0">
                  <a:latin typeface="Arial"/>
                  <a:cs typeface="Arial"/>
                </a:rPr>
                <a:t>[ sends .jar</a:t>
              </a:r>
              <a:r>
                <a:rPr sz="1500" spc="-5" dirty="0">
                  <a:latin typeface="Arial"/>
                  <a:cs typeface="Arial"/>
                </a:rPr>
                <a:t> an</a:t>
              </a:r>
              <a:r>
                <a:rPr sz="1500" dirty="0">
                  <a:latin typeface="Arial"/>
                  <a:cs typeface="Arial"/>
                </a:rPr>
                <a:t>d .xml</a:t>
              </a:r>
              <a:r>
                <a:rPr sz="1500" spc="-5" dirty="0">
                  <a:latin typeface="Arial"/>
                  <a:cs typeface="Arial"/>
                </a:rPr>
                <a:t> </a:t>
              </a:r>
              <a:r>
                <a:rPr sz="1500" dirty="0">
                  <a:latin typeface="Arial"/>
                  <a:cs typeface="Arial"/>
                </a:rPr>
                <a:t>]</a:t>
              </a:r>
              <a:endParaRPr sz="1500">
                <a:latin typeface="Arial"/>
                <a:cs typeface="Arial"/>
              </a:endParaRPr>
            </a:p>
          </p:txBody>
        </p:sp>
        <p:sp>
          <p:nvSpPr>
            <p:cNvPr id="23" name="object 22"/>
            <p:cNvSpPr/>
            <p:nvPr/>
          </p:nvSpPr>
          <p:spPr>
            <a:xfrm>
              <a:off x="1653288" y="3414270"/>
              <a:ext cx="3158579" cy="2310704"/>
            </a:xfrm>
            <a:prstGeom prst="rect">
              <a:avLst/>
            </a:prstGeom>
            <a:blipFill>
              <a:blip r:embed="rId5" cstate="print"/>
              <a:stretch>
                <a:fillRect/>
              </a:stretch>
            </a:blipFill>
          </p:spPr>
          <p:txBody>
            <a:bodyPr wrap="square" lIns="0" tIns="0" rIns="0" bIns="0" rtlCol="0"/>
            <a:lstStyle/>
            <a:p>
              <a:endParaRPr/>
            </a:p>
          </p:txBody>
        </p:sp>
        <p:sp>
          <p:nvSpPr>
            <p:cNvPr id="24" name="object 23"/>
            <p:cNvSpPr txBox="1"/>
            <p:nvPr/>
          </p:nvSpPr>
          <p:spPr>
            <a:xfrm>
              <a:off x="1963770" y="5867034"/>
              <a:ext cx="885190" cy="216535"/>
            </a:xfrm>
            <a:prstGeom prst="rect">
              <a:avLst/>
            </a:prstGeom>
          </p:spPr>
          <p:txBody>
            <a:bodyPr vert="horz" wrap="square" lIns="0" tIns="0" rIns="0" bIns="0" rtlCol="0">
              <a:spAutoFit/>
            </a:bodyPr>
            <a:lstStyle/>
            <a:p>
              <a:pPr marL="12700">
                <a:lnSpc>
                  <a:spcPct val="100000"/>
                </a:lnSpc>
              </a:pPr>
              <a:r>
                <a:rPr sz="1500" dirty="0">
                  <a:latin typeface="Arial"/>
                  <a:cs typeface="Arial"/>
                </a:rPr>
                <a:t>DataNode</a:t>
              </a:r>
              <a:endParaRPr sz="1500">
                <a:latin typeface="Arial"/>
                <a:cs typeface="Arial"/>
              </a:endParaRPr>
            </a:p>
          </p:txBody>
        </p:sp>
        <p:sp>
          <p:nvSpPr>
            <p:cNvPr id="25" name="object 24"/>
            <p:cNvSpPr txBox="1"/>
            <p:nvPr/>
          </p:nvSpPr>
          <p:spPr>
            <a:xfrm>
              <a:off x="1850047" y="4200947"/>
              <a:ext cx="1057910" cy="216535"/>
            </a:xfrm>
            <a:prstGeom prst="rect">
              <a:avLst/>
            </a:prstGeom>
          </p:spPr>
          <p:txBody>
            <a:bodyPr vert="horz" wrap="square" lIns="0" tIns="0" rIns="0" bIns="0" rtlCol="0">
              <a:spAutoFit/>
            </a:bodyPr>
            <a:lstStyle/>
            <a:p>
              <a:pPr marL="12700">
                <a:lnSpc>
                  <a:spcPct val="100000"/>
                </a:lnSpc>
              </a:pPr>
              <a:r>
                <a:rPr sz="1500" spc="-170" dirty="0">
                  <a:latin typeface="Arial"/>
                  <a:cs typeface="Arial"/>
                </a:rPr>
                <a:t>T</a:t>
              </a:r>
              <a:r>
                <a:rPr sz="1500" spc="-5" dirty="0">
                  <a:latin typeface="Arial"/>
                  <a:cs typeface="Arial"/>
                </a:rPr>
                <a:t>ask</a:t>
              </a:r>
              <a:r>
                <a:rPr sz="1500" spc="-55" dirty="0">
                  <a:latin typeface="Arial"/>
                  <a:cs typeface="Arial"/>
                </a:rPr>
                <a:t>T</a:t>
              </a:r>
              <a:r>
                <a:rPr sz="1500" dirty="0">
                  <a:latin typeface="Arial"/>
                  <a:cs typeface="Arial"/>
                </a:rPr>
                <a:t>racker</a:t>
              </a:r>
              <a:endParaRPr sz="1500">
                <a:latin typeface="Arial"/>
                <a:cs typeface="Arial"/>
              </a:endParaRPr>
            </a:p>
          </p:txBody>
        </p:sp>
        <p:sp>
          <p:nvSpPr>
            <p:cNvPr id="26" name="object 25"/>
            <p:cNvSpPr txBox="1"/>
            <p:nvPr/>
          </p:nvSpPr>
          <p:spPr>
            <a:xfrm>
              <a:off x="2446291" y="4684355"/>
              <a:ext cx="396875" cy="216535"/>
            </a:xfrm>
            <a:prstGeom prst="rect">
              <a:avLst/>
            </a:prstGeom>
          </p:spPr>
          <p:txBody>
            <a:bodyPr vert="horz" wrap="square" lIns="0" tIns="0" rIns="0" bIns="0" rtlCol="0">
              <a:spAutoFit/>
            </a:bodyPr>
            <a:lstStyle/>
            <a:p>
              <a:pPr marL="12700">
                <a:lnSpc>
                  <a:spcPct val="100000"/>
                </a:lnSpc>
              </a:pPr>
              <a:r>
                <a:rPr sz="1500" dirty="0">
                  <a:latin typeface="Arial"/>
                  <a:cs typeface="Arial"/>
                </a:rPr>
                <a:t>Map</a:t>
              </a:r>
              <a:endParaRPr sz="1500">
                <a:latin typeface="Arial"/>
                <a:cs typeface="Arial"/>
              </a:endParaRPr>
            </a:p>
          </p:txBody>
        </p:sp>
        <p:sp>
          <p:nvSpPr>
            <p:cNvPr id="27" name="object 26"/>
            <p:cNvSpPr txBox="1"/>
            <p:nvPr/>
          </p:nvSpPr>
          <p:spPr>
            <a:xfrm>
              <a:off x="1962313" y="5276799"/>
              <a:ext cx="683260" cy="216535"/>
            </a:xfrm>
            <a:prstGeom prst="rect">
              <a:avLst/>
            </a:prstGeom>
          </p:spPr>
          <p:txBody>
            <a:bodyPr vert="horz" wrap="square" lIns="0" tIns="0" rIns="0" bIns="0" rtlCol="0">
              <a:spAutoFit/>
            </a:bodyPr>
            <a:lstStyle/>
            <a:p>
              <a:pPr marL="12700">
                <a:lnSpc>
                  <a:spcPct val="100000"/>
                </a:lnSpc>
              </a:pPr>
              <a:r>
                <a:rPr sz="1500" spc="-5" dirty="0">
                  <a:latin typeface="Arial"/>
                  <a:cs typeface="Arial"/>
                </a:rPr>
                <a:t>Reduce</a:t>
              </a:r>
              <a:endParaRPr sz="1500">
                <a:latin typeface="Arial"/>
                <a:cs typeface="Arial"/>
              </a:endParaRPr>
            </a:p>
          </p:txBody>
        </p:sp>
        <p:sp>
          <p:nvSpPr>
            <p:cNvPr id="28" name="object 27"/>
            <p:cNvSpPr txBox="1"/>
            <p:nvPr/>
          </p:nvSpPr>
          <p:spPr>
            <a:xfrm>
              <a:off x="3691282" y="5867034"/>
              <a:ext cx="2644775" cy="575310"/>
            </a:xfrm>
            <a:prstGeom prst="rect">
              <a:avLst/>
            </a:prstGeom>
          </p:spPr>
          <p:txBody>
            <a:bodyPr vert="horz" wrap="square" lIns="0" tIns="0" rIns="0" bIns="0" rtlCol="0">
              <a:spAutoFit/>
            </a:bodyPr>
            <a:lstStyle/>
            <a:p>
              <a:pPr marL="54610" marR="5080" indent="-42545">
                <a:lnSpc>
                  <a:spcPct val="156900"/>
                </a:lnSpc>
                <a:tabLst>
                  <a:tab pos="1739900" algn="l"/>
                </a:tabLst>
              </a:pPr>
              <a:r>
                <a:rPr sz="1500" dirty="0">
                  <a:latin typeface="Arial"/>
                  <a:cs typeface="Arial"/>
                </a:rPr>
                <a:t>DataNode	DataNode [ reads </a:t>
              </a:r>
              <a:r>
                <a:rPr sz="1500" spc="-5" dirty="0">
                  <a:latin typeface="Arial"/>
                  <a:cs typeface="Arial"/>
                </a:rPr>
                <a:t>an</a:t>
              </a:r>
              <a:r>
                <a:rPr sz="1500" dirty="0">
                  <a:latin typeface="Arial"/>
                  <a:cs typeface="Arial"/>
                </a:rPr>
                <a:t>d </a:t>
              </a:r>
              <a:r>
                <a:rPr sz="1500" spc="-5" dirty="0">
                  <a:latin typeface="Arial"/>
                  <a:cs typeface="Arial"/>
                </a:rPr>
                <a:t>write</a:t>
              </a:r>
              <a:r>
                <a:rPr sz="1500" dirty="0">
                  <a:latin typeface="Arial"/>
                  <a:cs typeface="Arial"/>
                </a:rPr>
                <a:t>s </a:t>
              </a:r>
              <a:r>
                <a:rPr sz="1500" spc="-5" dirty="0">
                  <a:latin typeface="Arial"/>
                  <a:cs typeface="Arial"/>
                </a:rPr>
                <a:t>HDF</a:t>
              </a:r>
              <a:r>
                <a:rPr sz="1500" dirty="0">
                  <a:latin typeface="Arial"/>
                  <a:cs typeface="Arial"/>
                </a:rPr>
                <a:t>S fi</a:t>
              </a:r>
              <a:r>
                <a:rPr sz="1500" spc="-5" dirty="0">
                  <a:latin typeface="Arial"/>
                  <a:cs typeface="Arial"/>
                </a:rPr>
                <a:t>le</a:t>
              </a:r>
              <a:r>
                <a:rPr sz="1500" dirty="0">
                  <a:latin typeface="Arial"/>
                  <a:cs typeface="Arial"/>
                </a:rPr>
                <a:t>s ]</a:t>
              </a:r>
              <a:endParaRPr sz="1500">
                <a:latin typeface="Arial"/>
                <a:cs typeface="Arial"/>
              </a:endParaRPr>
            </a:p>
          </p:txBody>
        </p:sp>
        <p:sp>
          <p:nvSpPr>
            <p:cNvPr id="29" name="object 28"/>
            <p:cNvSpPr txBox="1"/>
            <p:nvPr/>
          </p:nvSpPr>
          <p:spPr>
            <a:xfrm>
              <a:off x="3564012" y="4200947"/>
              <a:ext cx="1057910" cy="216535"/>
            </a:xfrm>
            <a:prstGeom prst="rect">
              <a:avLst/>
            </a:prstGeom>
          </p:spPr>
          <p:txBody>
            <a:bodyPr vert="horz" wrap="square" lIns="0" tIns="0" rIns="0" bIns="0" rtlCol="0">
              <a:spAutoFit/>
            </a:bodyPr>
            <a:lstStyle/>
            <a:p>
              <a:pPr marL="12700">
                <a:lnSpc>
                  <a:spcPct val="100000"/>
                </a:lnSpc>
              </a:pPr>
              <a:r>
                <a:rPr sz="1500" spc="-170" dirty="0">
                  <a:latin typeface="Arial"/>
                  <a:cs typeface="Arial"/>
                </a:rPr>
                <a:t>T</a:t>
              </a:r>
              <a:r>
                <a:rPr sz="1500" spc="-5" dirty="0">
                  <a:latin typeface="Arial"/>
                  <a:cs typeface="Arial"/>
                </a:rPr>
                <a:t>ask</a:t>
              </a:r>
              <a:r>
                <a:rPr sz="1500" spc="-55" dirty="0">
                  <a:latin typeface="Arial"/>
                  <a:cs typeface="Arial"/>
                </a:rPr>
                <a:t>T</a:t>
              </a:r>
              <a:r>
                <a:rPr sz="1500" dirty="0">
                  <a:latin typeface="Arial"/>
                  <a:cs typeface="Arial"/>
                </a:rPr>
                <a:t>racker</a:t>
              </a:r>
              <a:endParaRPr sz="1500">
                <a:latin typeface="Arial"/>
                <a:cs typeface="Arial"/>
              </a:endParaRPr>
            </a:p>
          </p:txBody>
        </p:sp>
        <p:sp>
          <p:nvSpPr>
            <p:cNvPr id="30" name="object 29"/>
            <p:cNvSpPr txBox="1"/>
            <p:nvPr/>
          </p:nvSpPr>
          <p:spPr>
            <a:xfrm>
              <a:off x="4160174" y="4684355"/>
              <a:ext cx="396875" cy="216535"/>
            </a:xfrm>
            <a:prstGeom prst="rect">
              <a:avLst/>
            </a:prstGeom>
          </p:spPr>
          <p:txBody>
            <a:bodyPr vert="horz" wrap="square" lIns="0" tIns="0" rIns="0" bIns="0" rtlCol="0">
              <a:spAutoFit/>
            </a:bodyPr>
            <a:lstStyle/>
            <a:p>
              <a:pPr marL="12700">
                <a:lnSpc>
                  <a:spcPct val="100000"/>
                </a:lnSpc>
              </a:pPr>
              <a:r>
                <a:rPr sz="1500" dirty="0">
                  <a:latin typeface="Arial"/>
                  <a:cs typeface="Arial"/>
                </a:rPr>
                <a:t>Map</a:t>
              </a:r>
              <a:endParaRPr sz="1500">
                <a:latin typeface="Arial"/>
                <a:cs typeface="Arial"/>
              </a:endParaRPr>
            </a:p>
          </p:txBody>
        </p:sp>
        <p:sp>
          <p:nvSpPr>
            <p:cNvPr id="31" name="object 30"/>
            <p:cNvSpPr txBox="1"/>
            <p:nvPr/>
          </p:nvSpPr>
          <p:spPr>
            <a:xfrm>
              <a:off x="3676195" y="5276799"/>
              <a:ext cx="683260" cy="216535"/>
            </a:xfrm>
            <a:prstGeom prst="rect">
              <a:avLst/>
            </a:prstGeom>
          </p:spPr>
          <p:txBody>
            <a:bodyPr vert="horz" wrap="square" lIns="0" tIns="0" rIns="0" bIns="0" rtlCol="0">
              <a:spAutoFit/>
            </a:bodyPr>
            <a:lstStyle/>
            <a:p>
              <a:pPr marL="12700">
                <a:lnSpc>
                  <a:spcPct val="100000"/>
                </a:lnSpc>
              </a:pPr>
              <a:r>
                <a:rPr sz="1500" spc="-5" dirty="0">
                  <a:latin typeface="Arial"/>
                  <a:cs typeface="Arial"/>
                </a:rPr>
                <a:t>Reduce</a:t>
              </a:r>
              <a:endParaRPr sz="1500">
                <a:latin typeface="Arial"/>
                <a:cs typeface="Arial"/>
              </a:endParaRPr>
            </a:p>
          </p:txBody>
        </p:sp>
        <p:sp>
          <p:nvSpPr>
            <p:cNvPr id="32" name="object 31"/>
            <p:cNvSpPr/>
            <p:nvPr/>
          </p:nvSpPr>
          <p:spPr>
            <a:xfrm>
              <a:off x="5081049" y="3420860"/>
              <a:ext cx="3158579" cy="2304114"/>
            </a:xfrm>
            <a:prstGeom prst="rect">
              <a:avLst/>
            </a:prstGeom>
            <a:blipFill>
              <a:blip r:embed="rId6" cstate="print"/>
              <a:stretch>
                <a:fillRect/>
              </a:stretch>
            </a:blipFill>
          </p:spPr>
          <p:txBody>
            <a:bodyPr wrap="square" lIns="0" tIns="0" rIns="0" bIns="0" rtlCol="0"/>
            <a:lstStyle/>
            <a:p>
              <a:endParaRPr/>
            </a:p>
          </p:txBody>
        </p:sp>
        <p:sp>
          <p:nvSpPr>
            <p:cNvPr id="33" name="object 32"/>
            <p:cNvSpPr txBox="1"/>
            <p:nvPr/>
          </p:nvSpPr>
          <p:spPr>
            <a:xfrm>
              <a:off x="5277784" y="4200947"/>
              <a:ext cx="1057910" cy="216535"/>
            </a:xfrm>
            <a:prstGeom prst="rect">
              <a:avLst/>
            </a:prstGeom>
          </p:spPr>
          <p:txBody>
            <a:bodyPr vert="horz" wrap="square" lIns="0" tIns="0" rIns="0" bIns="0" rtlCol="0">
              <a:spAutoFit/>
            </a:bodyPr>
            <a:lstStyle/>
            <a:p>
              <a:pPr marL="12700">
                <a:lnSpc>
                  <a:spcPct val="100000"/>
                </a:lnSpc>
              </a:pPr>
              <a:r>
                <a:rPr sz="1500" spc="-170" dirty="0">
                  <a:latin typeface="Arial"/>
                  <a:cs typeface="Arial"/>
                </a:rPr>
                <a:t>T</a:t>
              </a:r>
              <a:r>
                <a:rPr sz="1500" spc="-5" dirty="0">
                  <a:latin typeface="Arial"/>
                  <a:cs typeface="Arial"/>
                </a:rPr>
                <a:t>ask</a:t>
              </a:r>
              <a:r>
                <a:rPr sz="1500" spc="-55" dirty="0">
                  <a:latin typeface="Arial"/>
                  <a:cs typeface="Arial"/>
                </a:rPr>
                <a:t>T</a:t>
              </a:r>
              <a:r>
                <a:rPr sz="1500" dirty="0">
                  <a:latin typeface="Arial"/>
                  <a:cs typeface="Arial"/>
                </a:rPr>
                <a:t>racker</a:t>
              </a:r>
              <a:endParaRPr sz="1500">
                <a:latin typeface="Arial"/>
                <a:cs typeface="Arial"/>
              </a:endParaRPr>
            </a:p>
          </p:txBody>
        </p:sp>
        <p:sp>
          <p:nvSpPr>
            <p:cNvPr id="34" name="object 33"/>
            <p:cNvSpPr txBox="1"/>
            <p:nvPr/>
          </p:nvSpPr>
          <p:spPr>
            <a:xfrm>
              <a:off x="5874057" y="4684355"/>
              <a:ext cx="396875" cy="216535"/>
            </a:xfrm>
            <a:prstGeom prst="rect">
              <a:avLst/>
            </a:prstGeom>
          </p:spPr>
          <p:txBody>
            <a:bodyPr vert="horz" wrap="square" lIns="0" tIns="0" rIns="0" bIns="0" rtlCol="0">
              <a:spAutoFit/>
            </a:bodyPr>
            <a:lstStyle/>
            <a:p>
              <a:pPr marL="12700">
                <a:lnSpc>
                  <a:spcPct val="100000"/>
                </a:lnSpc>
              </a:pPr>
              <a:r>
                <a:rPr sz="1500" dirty="0">
                  <a:latin typeface="Arial"/>
                  <a:cs typeface="Arial"/>
                </a:rPr>
                <a:t>Map</a:t>
              </a:r>
              <a:endParaRPr sz="1500">
                <a:latin typeface="Arial"/>
                <a:cs typeface="Arial"/>
              </a:endParaRPr>
            </a:p>
          </p:txBody>
        </p:sp>
        <p:sp>
          <p:nvSpPr>
            <p:cNvPr id="35" name="object 34"/>
            <p:cNvSpPr txBox="1"/>
            <p:nvPr/>
          </p:nvSpPr>
          <p:spPr>
            <a:xfrm>
              <a:off x="5390076" y="5276799"/>
              <a:ext cx="683260" cy="216535"/>
            </a:xfrm>
            <a:prstGeom prst="rect">
              <a:avLst/>
            </a:prstGeom>
          </p:spPr>
          <p:txBody>
            <a:bodyPr vert="horz" wrap="square" lIns="0" tIns="0" rIns="0" bIns="0" rtlCol="0">
              <a:spAutoFit/>
            </a:bodyPr>
            <a:lstStyle/>
            <a:p>
              <a:pPr marL="12700">
                <a:lnSpc>
                  <a:spcPct val="100000"/>
                </a:lnSpc>
              </a:pPr>
              <a:r>
                <a:rPr sz="1500" spc="-5" dirty="0">
                  <a:latin typeface="Arial"/>
                  <a:cs typeface="Arial"/>
                </a:rPr>
                <a:t>Reduce</a:t>
              </a:r>
              <a:endParaRPr sz="1500">
                <a:latin typeface="Arial"/>
                <a:cs typeface="Arial"/>
              </a:endParaRPr>
            </a:p>
          </p:txBody>
        </p:sp>
        <p:sp>
          <p:nvSpPr>
            <p:cNvPr id="36" name="object 35"/>
            <p:cNvSpPr txBox="1"/>
            <p:nvPr/>
          </p:nvSpPr>
          <p:spPr>
            <a:xfrm>
              <a:off x="7105417" y="5823520"/>
              <a:ext cx="885190" cy="216535"/>
            </a:xfrm>
            <a:prstGeom prst="rect">
              <a:avLst/>
            </a:prstGeom>
          </p:spPr>
          <p:txBody>
            <a:bodyPr vert="horz" wrap="square" lIns="0" tIns="0" rIns="0" bIns="0" rtlCol="0">
              <a:spAutoFit/>
            </a:bodyPr>
            <a:lstStyle/>
            <a:p>
              <a:pPr marL="12700">
                <a:lnSpc>
                  <a:spcPct val="100000"/>
                </a:lnSpc>
              </a:pPr>
              <a:r>
                <a:rPr sz="1500" dirty="0">
                  <a:latin typeface="Arial"/>
                  <a:cs typeface="Arial"/>
                </a:rPr>
                <a:t>DataNode</a:t>
              </a:r>
              <a:endParaRPr sz="1500">
                <a:latin typeface="Arial"/>
                <a:cs typeface="Arial"/>
              </a:endParaRPr>
            </a:p>
          </p:txBody>
        </p:sp>
        <p:sp>
          <p:nvSpPr>
            <p:cNvPr id="37" name="object 36"/>
            <p:cNvSpPr txBox="1"/>
            <p:nvPr/>
          </p:nvSpPr>
          <p:spPr>
            <a:xfrm>
              <a:off x="6991694" y="4200906"/>
              <a:ext cx="1057910" cy="216535"/>
            </a:xfrm>
            <a:prstGeom prst="rect">
              <a:avLst/>
            </a:prstGeom>
          </p:spPr>
          <p:txBody>
            <a:bodyPr vert="horz" wrap="square" lIns="0" tIns="0" rIns="0" bIns="0" rtlCol="0">
              <a:spAutoFit/>
            </a:bodyPr>
            <a:lstStyle/>
            <a:p>
              <a:pPr marL="12700">
                <a:lnSpc>
                  <a:spcPct val="100000"/>
                </a:lnSpc>
              </a:pPr>
              <a:r>
                <a:rPr sz="1500" spc="-170" dirty="0">
                  <a:latin typeface="Arial"/>
                  <a:cs typeface="Arial"/>
                </a:rPr>
                <a:t>T</a:t>
              </a:r>
              <a:r>
                <a:rPr sz="1500" spc="-5" dirty="0">
                  <a:latin typeface="Arial"/>
                  <a:cs typeface="Arial"/>
                </a:rPr>
                <a:t>ask</a:t>
              </a:r>
              <a:r>
                <a:rPr sz="1500" spc="-55" dirty="0">
                  <a:latin typeface="Arial"/>
                  <a:cs typeface="Arial"/>
                </a:rPr>
                <a:t>T</a:t>
              </a:r>
              <a:r>
                <a:rPr sz="1500" dirty="0">
                  <a:latin typeface="Arial"/>
                  <a:cs typeface="Arial"/>
                </a:rPr>
                <a:t>racker</a:t>
              </a:r>
              <a:endParaRPr sz="1500">
                <a:latin typeface="Arial"/>
                <a:cs typeface="Arial"/>
              </a:endParaRPr>
            </a:p>
          </p:txBody>
        </p:sp>
        <p:sp>
          <p:nvSpPr>
            <p:cNvPr id="38" name="object 37"/>
            <p:cNvSpPr txBox="1"/>
            <p:nvPr/>
          </p:nvSpPr>
          <p:spPr>
            <a:xfrm>
              <a:off x="7587939" y="4684355"/>
              <a:ext cx="396875" cy="216535"/>
            </a:xfrm>
            <a:prstGeom prst="rect">
              <a:avLst/>
            </a:prstGeom>
          </p:spPr>
          <p:txBody>
            <a:bodyPr vert="horz" wrap="square" lIns="0" tIns="0" rIns="0" bIns="0" rtlCol="0">
              <a:spAutoFit/>
            </a:bodyPr>
            <a:lstStyle/>
            <a:p>
              <a:pPr marL="12700">
                <a:lnSpc>
                  <a:spcPct val="100000"/>
                </a:lnSpc>
              </a:pPr>
              <a:r>
                <a:rPr sz="1500" dirty="0">
                  <a:latin typeface="Arial"/>
                  <a:cs typeface="Arial"/>
                </a:rPr>
                <a:t>Map</a:t>
              </a:r>
              <a:endParaRPr sz="1500">
                <a:latin typeface="Arial"/>
                <a:cs typeface="Arial"/>
              </a:endParaRPr>
            </a:p>
          </p:txBody>
        </p:sp>
        <p:sp>
          <p:nvSpPr>
            <p:cNvPr id="39" name="object 38"/>
            <p:cNvSpPr txBox="1"/>
            <p:nvPr/>
          </p:nvSpPr>
          <p:spPr>
            <a:xfrm>
              <a:off x="7103959" y="5276799"/>
              <a:ext cx="683260" cy="216535"/>
            </a:xfrm>
            <a:prstGeom prst="rect">
              <a:avLst/>
            </a:prstGeom>
          </p:spPr>
          <p:txBody>
            <a:bodyPr vert="horz" wrap="square" lIns="0" tIns="0" rIns="0" bIns="0" rtlCol="0">
              <a:spAutoFit/>
            </a:bodyPr>
            <a:lstStyle/>
            <a:p>
              <a:pPr marL="12700">
                <a:lnSpc>
                  <a:spcPct val="100000"/>
                </a:lnSpc>
              </a:pPr>
              <a:r>
                <a:rPr sz="1500" spc="-5" dirty="0">
                  <a:latin typeface="Arial"/>
                  <a:cs typeface="Arial"/>
                </a:rPr>
                <a:t>Reduce</a:t>
              </a:r>
              <a:endParaRPr sz="1500">
                <a:latin typeface="Arial"/>
                <a:cs typeface="Arial"/>
              </a:endParaRPr>
            </a:p>
          </p:txBody>
        </p:sp>
        <p:sp>
          <p:nvSpPr>
            <p:cNvPr id="40" name="object 39"/>
            <p:cNvSpPr txBox="1"/>
            <p:nvPr/>
          </p:nvSpPr>
          <p:spPr>
            <a:xfrm>
              <a:off x="7365820" y="2253188"/>
              <a:ext cx="1117600" cy="216535"/>
            </a:xfrm>
            <a:prstGeom prst="rect">
              <a:avLst/>
            </a:prstGeom>
          </p:spPr>
          <p:txBody>
            <a:bodyPr vert="horz" wrap="square" lIns="0" tIns="0" rIns="0" bIns="0" rtlCol="0">
              <a:spAutoFit/>
            </a:bodyPr>
            <a:lstStyle/>
            <a:p>
              <a:pPr marL="12700">
                <a:lnSpc>
                  <a:spcPct val="100000"/>
                </a:lnSpc>
              </a:pPr>
              <a:r>
                <a:rPr sz="1500" dirty="0">
                  <a:latin typeface="Arial"/>
                  <a:cs typeface="Arial"/>
                </a:rPr>
                <a:t>Master </a:t>
              </a:r>
              <a:r>
                <a:rPr sz="1500" spc="-5" dirty="0">
                  <a:latin typeface="Arial"/>
                  <a:cs typeface="Arial"/>
                </a:rPr>
                <a:t>Node</a:t>
              </a:r>
              <a:endParaRPr sz="1500">
                <a:latin typeface="Arial"/>
                <a:cs typeface="Arial"/>
              </a:endParaRPr>
            </a:p>
          </p:txBody>
        </p:sp>
        <p:sp>
          <p:nvSpPr>
            <p:cNvPr id="41" name="object 40"/>
            <p:cNvSpPr txBox="1"/>
            <p:nvPr/>
          </p:nvSpPr>
          <p:spPr>
            <a:xfrm>
              <a:off x="7458936" y="6317731"/>
              <a:ext cx="1107440" cy="216535"/>
            </a:xfrm>
            <a:prstGeom prst="rect">
              <a:avLst/>
            </a:prstGeom>
          </p:spPr>
          <p:txBody>
            <a:bodyPr vert="horz" wrap="square" lIns="0" tIns="0" rIns="0" bIns="0" rtlCol="0">
              <a:spAutoFit/>
            </a:bodyPr>
            <a:lstStyle/>
            <a:p>
              <a:pPr marL="12700">
                <a:lnSpc>
                  <a:spcPct val="100000"/>
                </a:lnSpc>
              </a:pPr>
              <a:r>
                <a:rPr sz="1500" dirty="0">
                  <a:latin typeface="Arial"/>
                  <a:cs typeface="Arial"/>
                </a:rPr>
                <a:t>Slave</a:t>
              </a:r>
              <a:r>
                <a:rPr sz="1500" spc="-5" dirty="0">
                  <a:latin typeface="Arial"/>
                  <a:cs typeface="Arial"/>
                </a:rPr>
                <a:t> Nodes</a:t>
              </a:r>
              <a:endParaRPr sz="1500">
                <a:latin typeface="Arial"/>
                <a:cs typeface="Arial"/>
              </a:endParaRPr>
            </a:p>
          </p:txBody>
        </p:sp>
      </p:grpSp>
    </p:spTree>
    <p:extLst>
      <p:ext uri="{BB962C8B-B14F-4D97-AF65-F5344CB8AC3E}">
        <p14:creationId xmlns:p14="http://schemas.microsoft.com/office/powerpoint/2010/main" val="347097685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HDFS Architecture</a:t>
            </a:r>
          </a:p>
        </p:txBody>
      </p:sp>
      <p:pic>
        <p:nvPicPr>
          <p:cNvPr id="6146" name="Picture 2" descr="Apache Hadoop HDFS Architecture - Edureka"/>
          <p:cNvPicPr>
            <a:picLocks noChangeAspect="1" noChangeArrowheads="1"/>
          </p:cNvPicPr>
          <p:nvPr/>
        </p:nvPicPr>
        <p:blipFill rotWithShape="1">
          <a:blip r:embed="rId2">
            <a:extLst>
              <a:ext uri="{28A0092B-C50C-407E-A947-70E740481C1C}">
                <a14:useLocalDpi xmlns:a14="http://schemas.microsoft.com/office/drawing/2010/main" val="0"/>
              </a:ext>
            </a:extLst>
          </a:blip>
          <a:srcRect t="12287"/>
          <a:stretch/>
        </p:blipFill>
        <p:spPr bwMode="auto">
          <a:xfrm>
            <a:off x="167148" y="2057400"/>
            <a:ext cx="8755871" cy="3962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020467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Functions of Name Node</a:t>
            </a:r>
          </a:p>
        </p:txBody>
      </p:sp>
      <p:sp>
        <p:nvSpPr>
          <p:cNvPr id="3" name="Content Placeholder 2"/>
          <p:cNvSpPr>
            <a:spLocks noGrp="1"/>
          </p:cNvSpPr>
          <p:nvPr>
            <p:ph idx="1"/>
          </p:nvPr>
        </p:nvSpPr>
        <p:spPr/>
        <p:txBody>
          <a:bodyPr>
            <a:noAutofit/>
          </a:bodyPr>
          <a:lstStyle/>
          <a:p>
            <a:r>
              <a:rPr lang="en-US" sz="2400" dirty="0"/>
              <a:t>It is the master daemon that maintains and manages the </a:t>
            </a:r>
            <a:r>
              <a:rPr lang="en-US" sz="2400" dirty="0" err="1"/>
              <a:t>DataNodes</a:t>
            </a:r>
            <a:r>
              <a:rPr lang="en-US" sz="2400" dirty="0"/>
              <a:t> (slave nodes)</a:t>
            </a:r>
          </a:p>
          <a:p>
            <a:r>
              <a:rPr lang="en-US" sz="2400" dirty="0"/>
              <a:t>It records the metadata of all the files stored in the cluster, e.g. The location of blocks stored, the size of the files, permissions, hierarchy, etc. There are two files associated with the metadata:</a:t>
            </a:r>
          </a:p>
          <a:p>
            <a:pPr lvl="1"/>
            <a:r>
              <a:rPr lang="en-US" sz="2200" b="1" dirty="0" err="1"/>
              <a:t>FsImage</a:t>
            </a:r>
            <a:r>
              <a:rPr lang="en-US" sz="2200" b="1" dirty="0"/>
              <a:t>:</a:t>
            </a:r>
            <a:r>
              <a:rPr lang="en-US" sz="2200" dirty="0"/>
              <a:t> Complete state of the file system namespace since the start of the </a:t>
            </a:r>
            <a:r>
              <a:rPr lang="en-US" sz="2200" dirty="0" err="1"/>
              <a:t>NameNode</a:t>
            </a:r>
            <a:r>
              <a:rPr lang="en-US" sz="2200" dirty="0"/>
              <a:t>.</a:t>
            </a:r>
          </a:p>
          <a:p>
            <a:pPr lvl="1"/>
            <a:r>
              <a:rPr lang="en-US" sz="2200" b="1" dirty="0" err="1"/>
              <a:t>EditLogs</a:t>
            </a:r>
            <a:r>
              <a:rPr lang="en-US" sz="2200" b="1" dirty="0"/>
              <a:t>:</a:t>
            </a:r>
            <a:r>
              <a:rPr lang="en-US" sz="2200" dirty="0"/>
              <a:t> All the recent modifications made to the file system with respect to the most recent </a:t>
            </a:r>
            <a:r>
              <a:rPr lang="en-US" sz="2200" dirty="0" err="1"/>
              <a:t>FsImage</a:t>
            </a:r>
            <a:r>
              <a:rPr lang="en-US" sz="2200" dirty="0"/>
              <a:t>.</a:t>
            </a:r>
          </a:p>
          <a:p>
            <a:r>
              <a:rPr lang="en-US" sz="2400" dirty="0"/>
              <a:t>It records each change that takes place to the file system metadata. </a:t>
            </a:r>
          </a:p>
        </p:txBody>
      </p:sp>
    </p:spTree>
    <p:extLst>
      <p:ext uri="{BB962C8B-B14F-4D97-AF65-F5344CB8AC3E}">
        <p14:creationId xmlns:p14="http://schemas.microsoft.com/office/powerpoint/2010/main" val="420945148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Functions of Name Node</a:t>
            </a:r>
          </a:p>
        </p:txBody>
      </p:sp>
      <p:sp>
        <p:nvSpPr>
          <p:cNvPr id="3" name="Content Placeholder 2"/>
          <p:cNvSpPr>
            <a:spLocks noGrp="1"/>
          </p:cNvSpPr>
          <p:nvPr>
            <p:ph idx="1"/>
          </p:nvPr>
        </p:nvSpPr>
        <p:spPr/>
        <p:txBody>
          <a:bodyPr>
            <a:normAutofit/>
          </a:bodyPr>
          <a:lstStyle/>
          <a:p>
            <a:r>
              <a:rPr lang="en-US" sz="2400" dirty="0"/>
              <a:t>It regularly receives a Heartbeat and a block report from all the </a:t>
            </a:r>
            <a:r>
              <a:rPr lang="en-US" sz="2400" dirty="0" err="1"/>
              <a:t>DataNodes</a:t>
            </a:r>
            <a:r>
              <a:rPr lang="en-US" sz="2400" dirty="0"/>
              <a:t> in the cluster to ensure that the </a:t>
            </a:r>
            <a:r>
              <a:rPr lang="en-US" sz="2400" dirty="0" err="1"/>
              <a:t>DataNodes</a:t>
            </a:r>
            <a:r>
              <a:rPr lang="en-US" sz="2400" dirty="0"/>
              <a:t> are live.</a:t>
            </a:r>
          </a:p>
          <a:p>
            <a:r>
              <a:rPr lang="en-US" sz="2400" dirty="0"/>
              <a:t>It keeps a record of all the blocks in HDFS and in which nodes these blocks are located.</a:t>
            </a:r>
          </a:p>
          <a:p>
            <a:r>
              <a:rPr lang="en-US" sz="2400" dirty="0"/>
              <a:t>The </a:t>
            </a:r>
            <a:r>
              <a:rPr lang="en-US" sz="2400" dirty="0" err="1"/>
              <a:t>NameNode</a:t>
            </a:r>
            <a:r>
              <a:rPr lang="en-US" sz="2400" dirty="0"/>
              <a:t> is also responsible to take care of the </a:t>
            </a:r>
            <a:r>
              <a:rPr lang="en-US" sz="2400" b="1" dirty="0"/>
              <a:t>replication factor </a:t>
            </a:r>
            <a:r>
              <a:rPr lang="en-US" sz="2400" dirty="0"/>
              <a:t>.</a:t>
            </a:r>
          </a:p>
          <a:p>
            <a:r>
              <a:rPr lang="en-US" sz="2400" dirty="0"/>
              <a:t>In </a:t>
            </a:r>
            <a:r>
              <a:rPr lang="en-US" sz="2400" b="1" dirty="0"/>
              <a:t>case of the </a:t>
            </a:r>
            <a:r>
              <a:rPr lang="en-US" sz="2400" b="1" dirty="0" err="1"/>
              <a:t>DataNode</a:t>
            </a:r>
            <a:r>
              <a:rPr lang="en-US" sz="2400" b="1" dirty="0"/>
              <a:t> failure</a:t>
            </a:r>
            <a:r>
              <a:rPr lang="en-US" sz="2400" dirty="0"/>
              <a:t>, the </a:t>
            </a:r>
            <a:r>
              <a:rPr lang="en-US" sz="2400" dirty="0" err="1"/>
              <a:t>NameNode</a:t>
            </a:r>
            <a:r>
              <a:rPr lang="en-US" sz="2400" dirty="0"/>
              <a:t> chooses new </a:t>
            </a:r>
            <a:r>
              <a:rPr lang="en-US" sz="2400" dirty="0" err="1"/>
              <a:t>DataNodes</a:t>
            </a:r>
            <a:r>
              <a:rPr lang="en-US" sz="2400" dirty="0"/>
              <a:t> for new replicas, balance disk usage and manages the communication traffic to the </a:t>
            </a:r>
            <a:r>
              <a:rPr lang="en-US" sz="2400" dirty="0" err="1"/>
              <a:t>DataNodes</a:t>
            </a:r>
            <a:r>
              <a:rPr lang="en-US" sz="2400" dirty="0"/>
              <a:t>.</a:t>
            </a:r>
          </a:p>
          <a:p>
            <a:endParaRPr lang="en-US" sz="1600" dirty="0"/>
          </a:p>
        </p:txBody>
      </p:sp>
    </p:spTree>
    <p:extLst>
      <p:ext uri="{BB962C8B-B14F-4D97-AF65-F5344CB8AC3E}">
        <p14:creationId xmlns:p14="http://schemas.microsoft.com/office/powerpoint/2010/main" val="295402924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Functions of Data Node</a:t>
            </a:r>
          </a:p>
        </p:txBody>
      </p:sp>
      <p:sp>
        <p:nvSpPr>
          <p:cNvPr id="3" name="Content Placeholder 2"/>
          <p:cNvSpPr>
            <a:spLocks noGrp="1"/>
          </p:cNvSpPr>
          <p:nvPr>
            <p:ph idx="1"/>
          </p:nvPr>
        </p:nvSpPr>
        <p:spPr/>
        <p:txBody>
          <a:bodyPr/>
          <a:lstStyle/>
          <a:p>
            <a:r>
              <a:rPr lang="en-US" dirty="0"/>
              <a:t>These are slave daemons or process which runs on each slave machine.</a:t>
            </a:r>
          </a:p>
          <a:p>
            <a:r>
              <a:rPr lang="en-US" dirty="0"/>
              <a:t>The actual data is stored on </a:t>
            </a:r>
            <a:r>
              <a:rPr lang="en-US" dirty="0" err="1"/>
              <a:t>DataNodes</a:t>
            </a:r>
            <a:r>
              <a:rPr lang="en-US" dirty="0"/>
              <a:t>.</a:t>
            </a:r>
          </a:p>
          <a:p>
            <a:r>
              <a:rPr lang="en-US" dirty="0"/>
              <a:t>The </a:t>
            </a:r>
            <a:r>
              <a:rPr lang="en-US" dirty="0" err="1"/>
              <a:t>DataNodes</a:t>
            </a:r>
            <a:r>
              <a:rPr lang="en-US" dirty="0"/>
              <a:t> perform the low-level read and write requests from the file system’s clients.</a:t>
            </a:r>
          </a:p>
          <a:p>
            <a:r>
              <a:rPr lang="en-US" dirty="0"/>
              <a:t>They send heartbeats to the </a:t>
            </a:r>
            <a:r>
              <a:rPr lang="en-US" dirty="0" err="1"/>
              <a:t>NameNode</a:t>
            </a:r>
            <a:r>
              <a:rPr lang="en-US" dirty="0"/>
              <a:t> periodically to report the overall health of HDFS, by default, this frequency is set to 3 seconds.</a:t>
            </a:r>
          </a:p>
          <a:p>
            <a:endParaRPr lang="en-US" dirty="0"/>
          </a:p>
        </p:txBody>
      </p:sp>
    </p:spTree>
    <p:extLst>
      <p:ext uri="{BB962C8B-B14F-4D97-AF65-F5344CB8AC3E}">
        <p14:creationId xmlns:p14="http://schemas.microsoft.com/office/powerpoint/2010/main" val="182390267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Secondary Name Node</a:t>
            </a:r>
          </a:p>
        </p:txBody>
      </p:sp>
      <p:pic>
        <p:nvPicPr>
          <p:cNvPr id="7170" name="Picture 2" descr="Secondary NameNode Function - Apache Hadoop HDFS Architecture - Edurek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2286000"/>
            <a:ext cx="8046715" cy="2819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228005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Secondary Name Node</a:t>
            </a:r>
          </a:p>
        </p:txBody>
      </p:sp>
      <p:sp>
        <p:nvSpPr>
          <p:cNvPr id="3" name="Content Placeholder 2"/>
          <p:cNvSpPr>
            <a:spLocks noGrp="1"/>
          </p:cNvSpPr>
          <p:nvPr>
            <p:ph idx="1"/>
          </p:nvPr>
        </p:nvSpPr>
        <p:spPr/>
        <p:txBody>
          <a:bodyPr>
            <a:normAutofit/>
          </a:bodyPr>
          <a:lstStyle/>
          <a:p>
            <a:r>
              <a:rPr lang="en-US" sz="2400" dirty="0"/>
              <a:t>The Secondary </a:t>
            </a:r>
            <a:r>
              <a:rPr lang="en-US" sz="2400" dirty="0" err="1"/>
              <a:t>NameNode</a:t>
            </a:r>
            <a:r>
              <a:rPr lang="en-US" sz="2400" dirty="0"/>
              <a:t> is one which constantly reads all the file systems and metadata from the RAM of the </a:t>
            </a:r>
            <a:r>
              <a:rPr lang="en-US" sz="2400" dirty="0" err="1"/>
              <a:t>NameNode</a:t>
            </a:r>
            <a:r>
              <a:rPr lang="en-US" sz="2400" dirty="0"/>
              <a:t> and writes it into the hard disk or the file system.</a:t>
            </a:r>
          </a:p>
          <a:p>
            <a:r>
              <a:rPr lang="en-US" sz="2400" dirty="0"/>
              <a:t>It is responsible for combining the </a:t>
            </a:r>
            <a:r>
              <a:rPr lang="en-US" sz="2400" dirty="0" err="1"/>
              <a:t>EditLogs</a:t>
            </a:r>
            <a:r>
              <a:rPr lang="en-US" sz="2400" dirty="0"/>
              <a:t> with </a:t>
            </a:r>
            <a:r>
              <a:rPr lang="en-US" sz="2400" dirty="0" err="1"/>
              <a:t>FsImage</a:t>
            </a:r>
            <a:r>
              <a:rPr lang="en-US" sz="2400" dirty="0"/>
              <a:t> from the </a:t>
            </a:r>
            <a:r>
              <a:rPr lang="en-US" sz="2400" dirty="0" err="1"/>
              <a:t>NameNode</a:t>
            </a:r>
            <a:r>
              <a:rPr lang="en-US" sz="2400" dirty="0"/>
              <a:t>. </a:t>
            </a:r>
          </a:p>
          <a:p>
            <a:r>
              <a:rPr lang="en-US" sz="2400" dirty="0"/>
              <a:t>It downloads the </a:t>
            </a:r>
            <a:r>
              <a:rPr lang="en-US" sz="2400" dirty="0" err="1"/>
              <a:t>EditLogs</a:t>
            </a:r>
            <a:r>
              <a:rPr lang="en-US" sz="2400" dirty="0"/>
              <a:t> from the </a:t>
            </a:r>
            <a:r>
              <a:rPr lang="en-US" sz="2400" dirty="0" err="1"/>
              <a:t>NameNode</a:t>
            </a:r>
            <a:r>
              <a:rPr lang="en-US" sz="2400" dirty="0"/>
              <a:t> at regular intervals and applies to </a:t>
            </a:r>
            <a:r>
              <a:rPr lang="en-US" sz="2400" dirty="0" err="1"/>
              <a:t>FsImage</a:t>
            </a:r>
            <a:r>
              <a:rPr lang="en-US" sz="2400" dirty="0"/>
              <a:t>. </a:t>
            </a:r>
          </a:p>
          <a:p>
            <a:r>
              <a:rPr lang="en-US" sz="2400" dirty="0"/>
              <a:t>The new </a:t>
            </a:r>
            <a:r>
              <a:rPr lang="en-US" sz="2400" dirty="0" err="1"/>
              <a:t>FsImage</a:t>
            </a:r>
            <a:r>
              <a:rPr lang="en-US" sz="2400" dirty="0"/>
              <a:t> is copied back to the </a:t>
            </a:r>
            <a:r>
              <a:rPr lang="en-US" sz="2400" dirty="0" err="1"/>
              <a:t>NameNode</a:t>
            </a:r>
            <a:r>
              <a:rPr lang="en-US" sz="2400" dirty="0"/>
              <a:t>, which is used whenever the </a:t>
            </a:r>
            <a:r>
              <a:rPr lang="en-US" sz="2400" dirty="0" err="1"/>
              <a:t>NameNode</a:t>
            </a:r>
            <a:r>
              <a:rPr lang="en-US" sz="2400" dirty="0"/>
              <a:t> is started the next time</a:t>
            </a:r>
          </a:p>
          <a:p>
            <a:endParaRPr lang="en-US" dirty="0"/>
          </a:p>
        </p:txBody>
      </p:sp>
    </p:spTree>
    <p:extLst>
      <p:ext uri="{BB962C8B-B14F-4D97-AF65-F5344CB8AC3E}">
        <p14:creationId xmlns:p14="http://schemas.microsoft.com/office/powerpoint/2010/main" val="12076143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Blocks Replication</a:t>
            </a:r>
          </a:p>
        </p:txBody>
      </p:sp>
      <p:pic>
        <p:nvPicPr>
          <p:cNvPr id="9218"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9572" y="1447800"/>
            <a:ext cx="8057228" cy="53535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317990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Blocks Replication</a:t>
            </a:r>
          </a:p>
        </p:txBody>
      </p:sp>
      <p:pic>
        <p:nvPicPr>
          <p:cNvPr id="8194" name="Picture 2" descr="Replication Management - Apache Hadoop HDFS Architecture - Edureka"/>
          <p:cNvPicPr>
            <a:picLocks noChangeAspect="1" noChangeArrowheads="1"/>
          </p:cNvPicPr>
          <p:nvPr/>
        </p:nvPicPr>
        <p:blipFill rotWithShape="1">
          <a:blip r:embed="rId2">
            <a:extLst>
              <a:ext uri="{28A0092B-C50C-407E-A947-70E740481C1C}">
                <a14:useLocalDpi xmlns:a14="http://schemas.microsoft.com/office/drawing/2010/main" val="0"/>
              </a:ext>
            </a:extLst>
          </a:blip>
          <a:srcRect t="9132"/>
          <a:stretch/>
        </p:blipFill>
        <p:spPr bwMode="auto">
          <a:xfrm>
            <a:off x="304800" y="1524000"/>
            <a:ext cx="8553460" cy="4953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791518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idx="4294967295"/>
          </p:nvPr>
        </p:nvSpPr>
        <p:spPr/>
        <p:txBody>
          <a:bodyPr/>
          <a:lstStyle/>
          <a:p>
            <a:pPr eaLnBrk="1" hangingPunct="1"/>
            <a:r>
              <a:rPr lang="en-US" altLang="en-US"/>
              <a:t>HDFS File Read</a:t>
            </a:r>
          </a:p>
        </p:txBody>
      </p:sp>
      <p:pic>
        <p:nvPicPr>
          <p:cNvPr id="266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9450" y="1600200"/>
            <a:ext cx="785495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Tree>
    <p:extLst>
      <p:ext uri="{BB962C8B-B14F-4D97-AF65-F5344CB8AC3E}">
        <p14:creationId xmlns:p14="http://schemas.microsoft.com/office/powerpoint/2010/main" val="84073873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idx="4294967295"/>
          </p:nvPr>
        </p:nvSpPr>
        <p:spPr/>
        <p:txBody>
          <a:bodyPr/>
          <a:lstStyle/>
          <a:p>
            <a:pPr eaLnBrk="1" hangingPunct="1"/>
            <a:r>
              <a:rPr lang="en-US" altLang="en-US" dirty="0"/>
              <a:t>HDFS File Write</a:t>
            </a:r>
          </a:p>
        </p:txBody>
      </p:sp>
      <p:pic>
        <p:nvPicPr>
          <p:cNvPr id="27652"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676400"/>
            <a:ext cx="80010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8156407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DFS Pipeline Set Up - Apache Hadoop HDFS Architecture - Edureka"/>
          <p:cNvPicPr>
            <a:picLocks noChangeAspect="1" noChangeArrowheads="1"/>
          </p:cNvPicPr>
          <p:nvPr/>
        </p:nvPicPr>
        <p:blipFill rotWithShape="1">
          <a:blip r:embed="rId2">
            <a:extLst>
              <a:ext uri="{28A0092B-C50C-407E-A947-70E740481C1C}">
                <a14:useLocalDpi xmlns:a14="http://schemas.microsoft.com/office/drawing/2010/main" val="0"/>
              </a:ext>
            </a:extLst>
          </a:blip>
          <a:srcRect t="11122"/>
          <a:stretch/>
        </p:blipFill>
        <p:spPr bwMode="auto">
          <a:xfrm>
            <a:off x="695325" y="1524614"/>
            <a:ext cx="7762875" cy="502858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txBox="1">
            <a:spLocks noChangeArrowheads="1"/>
          </p:cNvSpPr>
          <p:nvPr/>
        </p:nvSpPr>
        <p:spPr>
          <a:xfrm>
            <a:off x="457200" y="381000"/>
            <a:ext cx="8229600" cy="83820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4000" b="1" kern="1200" spc="-100" baseline="0">
                <a:solidFill>
                  <a:schemeClr val="tx2"/>
                </a:solidFill>
                <a:latin typeface="+mj-lt"/>
                <a:ea typeface="+mj-ea"/>
                <a:cs typeface="+mj-cs"/>
              </a:defRPr>
            </a:lvl1pPr>
          </a:lstStyle>
          <a:p>
            <a:r>
              <a:rPr lang="en-US" altLang="en-US" dirty="0"/>
              <a:t>Setting up HDFS Pipeline</a:t>
            </a:r>
          </a:p>
        </p:txBody>
      </p:sp>
    </p:spTree>
    <p:extLst>
      <p:ext uri="{BB962C8B-B14F-4D97-AF65-F5344CB8AC3E}">
        <p14:creationId xmlns:p14="http://schemas.microsoft.com/office/powerpoint/2010/main" val="146524776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457200" y="381000"/>
            <a:ext cx="8229600" cy="83820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4000" b="1" kern="1200" spc="-100" baseline="0">
                <a:solidFill>
                  <a:schemeClr val="tx2"/>
                </a:solidFill>
                <a:latin typeface="+mj-lt"/>
                <a:ea typeface="+mj-ea"/>
                <a:cs typeface="+mj-cs"/>
              </a:defRPr>
            </a:lvl1pPr>
          </a:lstStyle>
          <a:p>
            <a:r>
              <a:rPr lang="en-US" altLang="en-US" dirty="0"/>
              <a:t>HDFS Write Pipeline</a:t>
            </a:r>
          </a:p>
        </p:txBody>
      </p:sp>
      <p:pic>
        <p:nvPicPr>
          <p:cNvPr id="2050" name="Picture 2" descr="HDFS Write - Apache Hadoop HDFS Architecture - Edureka"/>
          <p:cNvPicPr>
            <a:picLocks noChangeAspect="1" noChangeArrowheads="1"/>
          </p:cNvPicPr>
          <p:nvPr/>
        </p:nvPicPr>
        <p:blipFill rotWithShape="1">
          <a:blip r:embed="rId2">
            <a:extLst>
              <a:ext uri="{28A0092B-C50C-407E-A947-70E740481C1C}">
                <a14:useLocalDpi xmlns:a14="http://schemas.microsoft.com/office/drawing/2010/main" val="0"/>
              </a:ext>
            </a:extLst>
          </a:blip>
          <a:srcRect t="12558"/>
          <a:stretch/>
        </p:blipFill>
        <p:spPr bwMode="auto">
          <a:xfrm>
            <a:off x="432491" y="1447800"/>
            <a:ext cx="8482909" cy="50967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45011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457200" y="381000"/>
            <a:ext cx="8229600" cy="83820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4000" b="1" kern="1200" spc="-100" baseline="0">
                <a:solidFill>
                  <a:schemeClr val="tx2"/>
                </a:solidFill>
                <a:latin typeface="+mj-lt"/>
                <a:ea typeface="+mj-ea"/>
                <a:cs typeface="+mj-cs"/>
              </a:defRPr>
            </a:lvl1pPr>
          </a:lstStyle>
          <a:p>
            <a:r>
              <a:rPr lang="en-US" altLang="en-US" dirty="0"/>
              <a:t>Acknowledgement HDFS Write</a:t>
            </a:r>
          </a:p>
        </p:txBody>
      </p:sp>
      <p:pic>
        <p:nvPicPr>
          <p:cNvPr id="3074" name="Picture 2" descr="HDFS Write Acknowledgement - Apache Hadoop HDFS Architecture - Edureka"/>
          <p:cNvPicPr>
            <a:picLocks noChangeAspect="1" noChangeArrowheads="1"/>
          </p:cNvPicPr>
          <p:nvPr/>
        </p:nvPicPr>
        <p:blipFill rotWithShape="1">
          <a:blip r:embed="rId2">
            <a:extLst>
              <a:ext uri="{28A0092B-C50C-407E-A947-70E740481C1C}">
                <a14:useLocalDpi xmlns:a14="http://schemas.microsoft.com/office/drawing/2010/main" val="0"/>
              </a:ext>
            </a:extLst>
          </a:blip>
          <a:srcRect t="11382"/>
          <a:stretch/>
        </p:blipFill>
        <p:spPr bwMode="auto">
          <a:xfrm>
            <a:off x="516705" y="1504949"/>
            <a:ext cx="8170095" cy="52768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627897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457200" y="381000"/>
            <a:ext cx="8229600" cy="83820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4000" b="1" kern="1200" spc="-100" baseline="0">
                <a:solidFill>
                  <a:schemeClr val="tx2"/>
                </a:solidFill>
                <a:latin typeface="+mj-lt"/>
                <a:ea typeface="+mj-ea"/>
                <a:cs typeface="+mj-cs"/>
              </a:defRPr>
            </a:lvl1pPr>
          </a:lstStyle>
          <a:p>
            <a:r>
              <a:rPr lang="en-US" altLang="en-US" dirty="0"/>
              <a:t>HDFS Read</a:t>
            </a:r>
          </a:p>
        </p:txBody>
      </p:sp>
      <p:pic>
        <p:nvPicPr>
          <p:cNvPr id="4098" name="Picture 2" descr="HDFS Read - Apache Hadoop HDFS Architecture - Edureka"/>
          <p:cNvPicPr>
            <a:picLocks noChangeAspect="1" noChangeArrowheads="1"/>
          </p:cNvPicPr>
          <p:nvPr/>
        </p:nvPicPr>
        <p:blipFill rotWithShape="1">
          <a:blip r:embed="rId2">
            <a:extLst>
              <a:ext uri="{28A0092B-C50C-407E-A947-70E740481C1C}">
                <a14:useLocalDpi xmlns:a14="http://schemas.microsoft.com/office/drawing/2010/main" val="0"/>
              </a:ext>
            </a:extLst>
          </a:blip>
          <a:srcRect t="11371"/>
          <a:stretch/>
        </p:blipFill>
        <p:spPr bwMode="auto">
          <a:xfrm>
            <a:off x="457200" y="1447800"/>
            <a:ext cx="8153400" cy="52667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19276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229600" cy="838200"/>
          </a:xfrm>
        </p:spPr>
        <p:txBody>
          <a:bodyPr/>
          <a:lstStyle/>
          <a:p>
            <a:r>
              <a:rPr lang="en-US" dirty="0"/>
              <a:t>Hadoop MapReduce</a:t>
            </a:r>
          </a:p>
        </p:txBody>
      </p:sp>
      <p:sp>
        <p:nvSpPr>
          <p:cNvPr id="3" name="Content Placeholder 2"/>
          <p:cNvSpPr>
            <a:spLocks noGrp="1"/>
          </p:cNvSpPr>
          <p:nvPr>
            <p:ph idx="1"/>
          </p:nvPr>
        </p:nvSpPr>
        <p:spPr>
          <a:xfrm>
            <a:off x="304800" y="1447800"/>
            <a:ext cx="8229600" cy="5181600"/>
          </a:xfrm>
        </p:spPr>
        <p:txBody>
          <a:bodyPr/>
          <a:lstStyle/>
          <a:p>
            <a:pPr marL="355600" marR="396240" indent="-342900">
              <a:lnSpc>
                <a:spcPct val="101400"/>
              </a:lnSpc>
              <a:tabLst>
                <a:tab pos="204470" algn="l"/>
              </a:tabLst>
            </a:pPr>
            <a:r>
              <a:rPr lang="en-US" sz="2400" dirty="0"/>
              <a:t>MapReduce is the system used to process data in the Hadoop cluster</a:t>
            </a:r>
          </a:p>
          <a:p>
            <a:pPr marL="355600" marR="396240" indent="-342900">
              <a:lnSpc>
                <a:spcPct val="101400"/>
              </a:lnSpc>
              <a:tabLst>
                <a:tab pos="204470" algn="l"/>
              </a:tabLst>
            </a:pPr>
            <a:r>
              <a:rPr lang="en-US" sz="2400" dirty="0"/>
              <a:t>Consists of two phases: Map, and then Reduce</a:t>
            </a:r>
          </a:p>
          <a:p>
            <a:pPr marL="355600" marR="396240" indent="-342900">
              <a:lnSpc>
                <a:spcPct val="101400"/>
              </a:lnSpc>
              <a:tabLst>
                <a:tab pos="204470" algn="l"/>
              </a:tabLst>
            </a:pPr>
            <a:r>
              <a:rPr lang="en-US" sz="2400" dirty="0"/>
              <a:t>Each Map task operates on a discrete portion (one HDFS Block) of the overall dataset</a:t>
            </a:r>
          </a:p>
          <a:p>
            <a:pPr marL="355600" marR="396240" indent="-342900">
              <a:lnSpc>
                <a:spcPct val="101400"/>
              </a:lnSpc>
              <a:tabLst>
                <a:tab pos="204470" algn="l"/>
              </a:tabLst>
            </a:pPr>
            <a:r>
              <a:rPr lang="en-US" sz="2400" dirty="0"/>
              <a:t>MapReduce system distributes the intermediate data to nodes which perform the Reduce phase</a:t>
            </a:r>
          </a:p>
          <a:p>
            <a:endParaRPr lang="en-US" dirty="0"/>
          </a:p>
        </p:txBody>
      </p:sp>
    </p:spTree>
    <p:extLst>
      <p:ext uri="{BB962C8B-B14F-4D97-AF65-F5344CB8AC3E}">
        <p14:creationId xmlns:p14="http://schemas.microsoft.com/office/powerpoint/2010/main" val="247937398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752600"/>
            <a:ext cx="8723385" cy="4495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itle 1"/>
          <p:cNvSpPr>
            <a:spLocks noGrp="1"/>
          </p:cNvSpPr>
          <p:nvPr>
            <p:ph type="title"/>
          </p:nvPr>
        </p:nvSpPr>
        <p:spPr>
          <a:xfrm>
            <a:off x="304800" y="381000"/>
            <a:ext cx="8229600" cy="838200"/>
          </a:xfrm>
        </p:spPr>
        <p:txBody>
          <a:bodyPr/>
          <a:lstStyle/>
          <a:p>
            <a:r>
              <a:rPr lang="en-US" dirty="0"/>
              <a:t>Hadoop MapReduce</a:t>
            </a:r>
          </a:p>
        </p:txBody>
      </p:sp>
    </p:spTree>
    <p:extLst>
      <p:ext uri="{BB962C8B-B14F-4D97-AF65-F5344CB8AC3E}">
        <p14:creationId xmlns:p14="http://schemas.microsoft.com/office/powerpoint/2010/main" val="61817272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579034"/>
            <a:ext cx="7924800" cy="48979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itle 1"/>
          <p:cNvSpPr>
            <a:spLocks noGrp="1"/>
          </p:cNvSpPr>
          <p:nvPr>
            <p:ph type="title"/>
          </p:nvPr>
        </p:nvSpPr>
        <p:spPr>
          <a:xfrm>
            <a:off x="304800" y="381000"/>
            <a:ext cx="8229600" cy="838200"/>
          </a:xfrm>
        </p:spPr>
        <p:txBody>
          <a:bodyPr/>
          <a:lstStyle/>
          <a:p>
            <a:r>
              <a:rPr lang="en-US" dirty="0"/>
              <a:t>Hadoop MapReduce</a:t>
            </a:r>
          </a:p>
        </p:txBody>
      </p:sp>
    </p:spTree>
    <p:extLst>
      <p:ext uri="{BB962C8B-B14F-4D97-AF65-F5344CB8AC3E}">
        <p14:creationId xmlns:p14="http://schemas.microsoft.com/office/powerpoint/2010/main" val="181499636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628774"/>
            <a:ext cx="8861467" cy="49244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itle 1"/>
          <p:cNvSpPr>
            <a:spLocks noGrp="1"/>
          </p:cNvSpPr>
          <p:nvPr>
            <p:ph type="title"/>
          </p:nvPr>
        </p:nvSpPr>
        <p:spPr>
          <a:xfrm>
            <a:off x="304800" y="381000"/>
            <a:ext cx="8229600" cy="838200"/>
          </a:xfrm>
        </p:spPr>
        <p:txBody>
          <a:bodyPr/>
          <a:lstStyle/>
          <a:p>
            <a:r>
              <a:rPr lang="en-US" dirty="0"/>
              <a:t>Hadoop MapReduce</a:t>
            </a:r>
          </a:p>
        </p:txBody>
      </p:sp>
    </p:spTree>
    <p:extLst>
      <p:ext uri="{BB962C8B-B14F-4D97-AF65-F5344CB8AC3E}">
        <p14:creationId xmlns:p14="http://schemas.microsoft.com/office/powerpoint/2010/main" val="382697410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078" y="2452688"/>
            <a:ext cx="8654322" cy="26527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itle 1"/>
          <p:cNvSpPr>
            <a:spLocks noGrp="1"/>
          </p:cNvSpPr>
          <p:nvPr>
            <p:ph type="title"/>
          </p:nvPr>
        </p:nvSpPr>
        <p:spPr>
          <a:xfrm>
            <a:off x="304800" y="381000"/>
            <a:ext cx="8229600" cy="838200"/>
          </a:xfrm>
        </p:spPr>
        <p:txBody>
          <a:bodyPr/>
          <a:lstStyle/>
          <a:p>
            <a:r>
              <a:rPr lang="en-US" dirty="0"/>
              <a:t>Hadoop MapReduce</a:t>
            </a:r>
          </a:p>
        </p:txBody>
      </p:sp>
    </p:spTree>
    <p:extLst>
      <p:ext uri="{BB962C8B-B14F-4D97-AF65-F5344CB8AC3E}">
        <p14:creationId xmlns:p14="http://schemas.microsoft.com/office/powerpoint/2010/main" val="251638172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Hadoop MapReduce</a:t>
            </a:r>
          </a:p>
        </p:txBody>
      </p:sp>
      <p:pic>
        <p:nvPicPr>
          <p:cNvPr id="4" name="Picture 5" descr="map-redu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600200"/>
            <a:ext cx="7297738" cy="474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7256629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Hadoop MapReduce</a:t>
            </a:r>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9629" y="1352550"/>
            <a:ext cx="7436171" cy="542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2659999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374BD-B74E-45A2-9D14-DB431BCF1302}"/>
              </a:ext>
            </a:extLst>
          </p:cNvPr>
          <p:cNvSpPr>
            <a:spLocks noGrp="1"/>
          </p:cNvSpPr>
          <p:nvPr>
            <p:ph type="title"/>
          </p:nvPr>
        </p:nvSpPr>
        <p:spPr/>
        <p:txBody>
          <a:bodyPr/>
          <a:lstStyle/>
          <a:p>
            <a:r>
              <a:rPr lang="en-IN" dirty="0" err="1"/>
              <a:t>Sqoop</a:t>
            </a:r>
            <a:endParaRPr lang="en-IN" dirty="0"/>
          </a:p>
        </p:txBody>
      </p:sp>
      <p:sp>
        <p:nvSpPr>
          <p:cNvPr id="4" name="TextBox 3">
            <a:extLst>
              <a:ext uri="{FF2B5EF4-FFF2-40B4-BE49-F238E27FC236}">
                <a16:creationId xmlns:a16="http://schemas.microsoft.com/office/drawing/2014/main" id="{61740C0F-3D0E-4A5A-8301-9F16EF40C6E3}"/>
              </a:ext>
            </a:extLst>
          </p:cNvPr>
          <p:cNvSpPr txBox="1"/>
          <p:nvPr/>
        </p:nvSpPr>
        <p:spPr>
          <a:xfrm>
            <a:off x="381001" y="1695524"/>
            <a:ext cx="8534400" cy="2467342"/>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SQL to Hadoop</a:t>
            </a:r>
          </a:p>
          <a:p>
            <a:pPr marL="800100" marR="0" lvl="1" indent="-342900" algn="l" defTabSz="914400" rtl="0" eaLnBrk="1" fontAlgn="auto" latinLnBrk="0" hangingPunct="1">
              <a:lnSpc>
                <a:spcPct val="150000"/>
              </a:lnSpc>
              <a:spcBef>
                <a:spcPts val="0"/>
              </a:spcBef>
              <a:spcAft>
                <a:spcPts val="0"/>
              </a:spcAft>
              <a:buClrTx/>
              <a:buSzTx/>
              <a:buFont typeface="Wingdings" charset="2"/>
              <a:buChar char="v"/>
              <a:tabLst/>
              <a:defRPr/>
            </a:pPr>
            <a:r>
              <a:rPr kumimoji="0" lang="en-US" sz="2000" b="0" i="0" u="none" strike="noStrike" kern="1200" cap="none" spc="0" normalizeH="0" baseline="0" noProof="0" dirty="0">
                <a:ln>
                  <a:noFill/>
                </a:ln>
                <a:solidFill>
                  <a:prstClr val="black"/>
                </a:solidFill>
                <a:effectLst/>
                <a:uLnTx/>
                <a:uFillTx/>
                <a:latin typeface="Arial"/>
                <a:ea typeface="+mn-ea"/>
                <a:cs typeface="+mn-cs"/>
              </a:rPr>
              <a:t>Tool to import/export any JDBC-supported database into Hadoop</a:t>
            </a:r>
          </a:p>
          <a:p>
            <a:pPr marL="800100" marR="0" lvl="1" indent="-342900" algn="l" defTabSz="914400" rtl="0" eaLnBrk="1" fontAlgn="auto" latinLnBrk="0" hangingPunct="1">
              <a:lnSpc>
                <a:spcPct val="150000"/>
              </a:lnSpc>
              <a:spcBef>
                <a:spcPts val="0"/>
              </a:spcBef>
              <a:spcAft>
                <a:spcPts val="0"/>
              </a:spcAft>
              <a:buClrTx/>
              <a:buSzTx/>
              <a:buFont typeface="Wingdings" charset="2"/>
              <a:buChar char="v"/>
              <a:tabLst/>
              <a:defRPr/>
            </a:pPr>
            <a:r>
              <a:rPr kumimoji="0" lang="en-US" sz="2000" b="0" i="0" u="none" strike="noStrike" kern="1200" cap="none" spc="0" normalizeH="0" baseline="0" noProof="0" dirty="0">
                <a:ln>
                  <a:noFill/>
                </a:ln>
                <a:solidFill>
                  <a:prstClr val="black"/>
                </a:solidFill>
                <a:effectLst/>
                <a:uLnTx/>
                <a:uFillTx/>
                <a:latin typeface="Arial"/>
                <a:ea typeface="+mn-ea"/>
                <a:cs typeface="+mn-cs"/>
              </a:rPr>
              <a:t>Transfer data between Hadoop and external databases or EDW</a:t>
            </a:r>
          </a:p>
          <a:p>
            <a:pPr marL="800100" marR="0" lvl="1" indent="-342900" algn="l" defTabSz="914400" rtl="0" eaLnBrk="1" fontAlgn="auto" latinLnBrk="0" hangingPunct="1">
              <a:lnSpc>
                <a:spcPct val="150000"/>
              </a:lnSpc>
              <a:spcBef>
                <a:spcPts val="0"/>
              </a:spcBef>
              <a:spcAft>
                <a:spcPts val="0"/>
              </a:spcAft>
              <a:buClrTx/>
              <a:buSzTx/>
              <a:buFont typeface="Wingdings" charset="2"/>
              <a:buChar char="v"/>
              <a:tabLst/>
              <a:defRPr/>
            </a:pPr>
            <a:r>
              <a:rPr kumimoji="0" lang="en-US" sz="2000" b="0" i="0" u="none" strike="noStrike" kern="1200" cap="none" spc="0" normalizeH="0" baseline="0" noProof="0" dirty="0">
                <a:ln>
                  <a:noFill/>
                </a:ln>
                <a:solidFill>
                  <a:prstClr val="black"/>
                </a:solidFill>
                <a:effectLst/>
                <a:uLnTx/>
                <a:uFillTx/>
                <a:latin typeface="Arial"/>
                <a:ea typeface="+mn-ea"/>
                <a:cs typeface="+mn-cs"/>
              </a:rPr>
              <a:t>High performance connectors for some RDBMS</a:t>
            </a:r>
          </a:p>
          <a:p>
            <a:pPr marL="800100" marR="0" lvl="1" indent="-342900" algn="l" defTabSz="914400" rtl="0" eaLnBrk="1" fontAlgn="auto" latinLnBrk="0" hangingPunct="1">
              <a:lnSpc>
                <a:spcPct val="150000"/>
              </a:lnSpc>
              <a:spcBef>
                <a:spcPts val="0"/>
              </a:spcBef>
              <a:spcAft>
                <a:spcPts val="0"/>
              </a:spcAft>
              <a:buClrTx/>
              <a:buSzTx/>
              <a:buFont typeface="Wingdings" charset="2"/>
              <a:buChar char="v"/>
              <a:tabLst/>
              <a:defRPr/>
            </a:pPr>
            <a:r>
              <a:rPr kumimoji="0" lang="en-US" sz="2000" b="0" i="0" u="sng" strike="noStrike" kern="1200" cap="none" spc="0" normalizeH="0" baseline="0" noProof="0" dirty="0">
                <a:ln>
                  <a:noFill/>
                </a:ln>
                <a:solidFill>
                  <a:prstClr val="black"/>
                </a:solidFill>
                <a:effectLst/>
                <a:uLnTx/>
                <a:uFillTx/>
                <a:latin typeface="Arial"/>
                <a:ea typeface="+mn-ea"/>
                <a:cs typeface="+mn-cs"/>
              </a:rPr>
              <a:t>Developed at Cloudera</a:t>
            </a:r>
          </a:p>
        </p:txBody>
      </p:sp>
      <p:pic>
        <p:nvPicPr>
          <p:cNvPr id="5" name="Picture 4">
            <a:extLst>
              <a:ext uri="{FF2B5EF4-FFF2-40B4-BE49-F238E27FC236}">
                <a16:creationId xmlns:a16="http://schemas.microsoft.com/office/drawing/2014/main" id="{2263A9A0-96B1-42C9-87DB-7E70871D3ED9}"/>
              </a:ext>
            </a:extLst>
          </p:cNvPr>
          <p:cNvPicPr>
            <a:picLocks noChangeAspect="1"/>
          </p:cNvPicPr>
          <p:nvPr/>
        </p:nvPicPr>
        <p:blipFill>
          <a:blip r:embed="rId2"/>
          <a:stretch>
            <a:fillRect/>
          </a:stretch>
        </p:blipFill>
        <p:spPr>
          <a:xfrm>
            <a:off x="914400" y="4357811"/>
            <a:ext cx="7200313" cy="2119189"/>
          </a:xfrm>
          <a:prstGeom prst="rect">
            <a:avLst/>
          </a:prstGeom>
        </p:spPr>
      </p:pic>
      <p:pic>
        <p:nvPicPr>
          <p:cNvPr id="6" name="Picture 5" descr="sqoop.jpeg">
            <a:extLst>
              <a:ext uri="{FF2B5EF4-FFF2-40B4-BE49-F238E27FC236}">
                <a16:creationId xmlns:a16="http://schemas.microsoft.com/office/drawing/2014/main" id="{54227D35-CAEE-4476-AD06-3FFC7EEDA428}"/>
              </a:ext>
            </a:extLst>
          </p:cNvPr>
          <p:cNvPicPr>
            <a:picLocks noChangeAspect="1"/>
          </p:cNvPicPr>
          <p:nvPr/>
        </p:nvPicPr>
        <p:blipFill rotWithShape="1">
          <a:blip r:embed="rId3">
            <a:extLst>
              <a:ext uri="{28A0092B-C50C-407E-A947-70E740481C1C}">
                <a14:useLocalDpi xmlns:a14="http://schemas.microsoft.com/office/drawing/2010/main" val="0"/>
              </a:ext>
            </a:extLst>
          </a:blip>
          <a:srcRect r="54995"/>
          <a:stretch/>
        </p:blipFill>
        <p:spPr>
          <a:xfrm>
            <a:off x="2895600" y="467591"/>
            <a:ext cx="1556079" cy="838200"/>
          </a:xfrm>
          <a:prstGeom prst="rect">
            <a:avLst/>
          </a:prstGeom>
        </p:spPr>
      </p:pic>
    </p:spTree>
    <p:extLst>
      <p:ext uri="{BB962C8B-B14F-4D97-AF65-F5344CB8AC3E}">
        <p14:creationId xmlns:p14="http://schemas.microsoft.com/office/powerpoint/2010/main" val="229440322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298CD-0094-42D4-A1E9-B146013C1655}"/>
              </a:ext>
            </a:extLst>
          </p:cNvPr>
          <p:cNvSpPr>
            <a:spLocks noGrp="1"/>
          </p:cNvSpPr>
          <p:nvPr>
            <p:ph type="title"/>
          </p:nvPr>
        </p:nvSpPr>
        <p:spPr/>
        <p:txBody>
          <a:bodyPr/>
          <a:lstStyle/>
          <a:p>
            <a:r>
              <a:rPr lang="en-IN" dirty="0"/>
              <a:t>Flume</a:t>
            </a:r>
          </a:p>
        </p:txBody>
      </p:sp>
      <p:sp>
        <p:nvSpPr>
          <p:cNvPr id="4" name="TextBox 3">
            <a:extLst>
              <a:ext uri="{FF2B5EF4-FFF2-40B4-BE49-F238E27FC236}">
                <a16:creationId xmlns:a16="http://schemas.microsoft.com/office/drawing/2014/main" id="{B17EB500-49EF-4178-A5FF-B7CD5E74943A}"/>
              </a:ext>
            </a:extLst>
          </p:cNvPr>
          <p:cNvSpPr txBox="1"/>
          <p:nvPr/>
        </p:nvSpPr>
        <p:spPr>
          <a:xfrm>
            <a:off x="381001" y="2172751"/>
            <a:ext cx="8534400" cy="357020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Distributed, reliable, available service for efficiently moving large amounts of data as it is produced</a:t>
            </a:r>
          </a:p>
          <a:p>
            <a:pPr marL="800100" marR="0" lvl="1" indent="-342900" algn="l" defTabSz="914400" rtl="0" eaLnBrk="1" fontAlgn="auto" latinLnBrk="0" hangingPunct="1">
              <a:lnSpc>
                <a:spcPct val="150000"/>
              </a:lnSpc>
              <a:spcBef>
                <a:spcPts val="0"/>
              </a:spcBef>
              <a:spcAft>
                <a:spcPts val="0"/>
              </a:spcAft>
              <a:buClrTx/>
              <a:buSzTx/>
              <a:buFont typeface="Wingdings" charset="2"/>
              <a:buChar char="v"/>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Suited for gathering logs from multiple systems</a:t>
            </a:r>
          </a:p>
          <a:p>
            <a:pPr marL="800100" marR="0" lvl="1" indent="-342900" algn="l" defTabSz="914400" rtl="0" eaLnBrk="1" fontAlgn="auto" latinLnBrk="0" hangingPunct="1">
              <a:lnSpc>
                <a:spcPct val="150000"/>
              </a:lnSpc>
              <a:spcBef>
                <a:spcPts val="0"/>
              </a:spcBef>
              <a:spcAft>
                <a:spcPts val="0"/>
              </a:spcAft>
              <a:buClrTx/>
              <a:buSzTx/>
              <a:buFont typeface="Wingdings" charset="2"/>
              <a:buChar char="v"/>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Inserting them into HDFS as they are generated</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Design goals</a:t>
            </a:r>
          </a:p>
          <a:p>
            <a:pPr marL="800100" marR="0" lvl="1" indent="-342900" algn="l" defTabSz="914400" rtl="0" eaLnBrk="1" fontAlgn="auto" latinLnBrk="0" hangingPunct="1">
              <a:lnSpc>
                <a:spcPct val="150000"/>
              </a:lnSpc>
              <a:spcBef>
                <a:spcPts val="0"/>
              </a:spcBef>
              <a:spcAft>
                <a:spcPts val="0"/>
              </a:spcAft>
              <a:buClrTx/>
              <a:buSzTx/>
              <a:buFont typeface="Wingdings" charset="2"/>
              <a:buChar char="v"/>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Reliability, Scalability, Manageability, Extensibility</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400" b="0" i="0" u="sng" strike="noStrike" kern="1200" cap="none" spc="0" normalizeH="0" baseline="0" noProof="0" dirty="0">
                <a:ln>
                  <a:noFill/>
                </a:ln>
                <a:solidFill>
                  <a:prstClr val="black"/>
                </a:solidFill>
                <a:effectLst/>
                <a:uLnTx/>
                <a:uFillTx/>
                <a:latin typeface="Arial"/>
                <a:ea typeface="+mn-ea"/>
                <a:cs typeface="+mn-cs"/>
              </a:rPr>
              <a:t>Developed at Cloudera</a:t>
            </a:r>
          </a:p>
        </p:txBody>
      </p:sp>
      <p:pic>
        <p:nvPicPr>
          <p:cNvPr id="5" name="Picture 4">
            <a:extLst>
              <a:ext uri="{FF2B5EF4-FFF2-40B4-BE49-F238E27FC236}">
                <a16:creationId xmlns:a16="http://schemas.microsoft.com/office/drawing/2014/main" id="{A34CA327-67F0-493E-943C-4A41E051C779}"/>
              </a:ext>
            </a:extLst>
          </p:cNvPr>
          <p:cNvPicPr>
            <a:picLocks noChangeAspect="1"/>
          </p:cNvPicPr>
          <p:nvPr/>
        </p:nvPicPr>
        <p:blipFill>
          <a:blip r:embed="rId2"/>
          <a:stretch>
            <a:fillRect/>
          </a:stretch>
        </p:blipFill>
        <p:spPr>
          <a:xfrm>
            <a:off x="2819400" y="457200"/>
            <a:ext cx="1143000" cy="1143000"/>
          </a:xfrm>
          <a:prstGeom prst="rect">
            <a:avLst/>
          </a:prstGeom>
        </p:spPr>
      </p:pic>
    </p:spTree>
    <p:extLst>
      <p:ext uri="{BB962C8B-B14F-4D97-AF65-F5344CB8AC3E}">
        <p14:creationId xmlns:p14="http://schemas.microsoft.com/office/powerpoint/2010/main" val="355253548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49D54-3037-473C-A7E2-1BA85DF726B8}"/>
              </a:ext>
            </a:extLst>
          </p:cNvPr>
          <p:cNvSpPr>
            <a:spLocks noGrp="1"/>
          </p:cNvSpPr>
          <p:nvPr>
            <p:ph type="title"/>
          </p:nvPr>
        </p:nvSpPr>
        <p:spPr/>
        <p:txBody>
          <a:bodyPr/>
          <a:lstStyle/>
          <a:p>
            <a:r>
              <a:rPr lang="en-IN" dirty="0"/>
              <a:t>Flume Architecture</a:t>
            </a:r>
          </a:p>
        </p:txBody>
      </p:sp>
      <p:grpSp>
        <p:nvGrpSpPr>
          <p:cNvPr id="63" name="Group 62">
            <a:extLst>
              <a:ext uri="{FF2B5EF4-FFF2-40B4-BE49-F238E27FC236}">
                <a16:creationId xmlns:a16="http://schemas.microsoft.com/office/drawing/2014/main" id="{9E26C22A-87D2-45E2-A4B4-FF9CE1148D53}"/>
              </a:ext>
            </a:extLst>
          </p:cNvPr>
          <p:cNvGrpSpPr/>
          <p:nvPr/>
        </p:nvGrpSpPr>
        <p:grpSpPr>
          <a:xfrm>
            <a:off x="228600" y="1600200"/>
            <a:ext cx="9067800" cy="4876800"/>
            <a:chOff x="228600" y="1600200"/>
            <a:chExt cx="9067800" cy="4876800"/>
          </a:xfrm>
        </p:grpSpPr>
        <p:sp>
          <p:nvSpPr>
            <p:cNvPr id="4" name="Rectangle 3">
              <a:extLst>
                <a:ext uri="{FF2B5EF4-FFF2-40B4-BE49-F238E27FC236}">
                  <a16:creationId xmlns:a16="http://schemas.microsoft.com/office/drawing/2014/main" id="{A64B34D6-1A40-4B08-B4BD-0235419EB33A}"/>
                </a:ext>
              </a:extLst>
            </p:cNvPr>
            <p:cNvSpPr>
              <a:spLocks noChangeArrowheads="1"/>
            </p:cNvSpPr>
            <p:nvPr/>
          </p:nvSpPr>
          <p:spPr bwMode="auto">
            <a:xfrm>
              <a:off x="3640138" y="4637088"/>
              <a:ext cx="844550" cy="534987"/>
            </a:xfrm>
            <a:prstGeom prst="rect">
              <a:avLst/>
            </a:prstGeom>
            <a:solidFill>
              <a:srgbClr val="FFC000"/>
            </a:solidFill>
            <a:ln w="9525">
              <a:solidFill>
                <a:srgbClr val="00B7FF"/>
              </a:solidFill>
              <a:miter lim="800000"/>
              <a:headEnd/>
              <a:tailEnd/>
            </a:ln>
            <a:effectLst>
              <a:outerShdw blurRad="63500" dist="23000" dir="5400000" rotWithShape="0">
                <a:srgbClr val="000000">
                  <a:alpha val="34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cxnSp>
          <p:nvCxnSpPr>
            <p:cNvPr id="5" name="Straight Arrow Connector 4">
              <a:extLst>
                <a:ext uri="{FF2B5EF4-FFF2-40B4-BE49-F238E27FC236}">
                  <a16:creationId xmlns:a16="http://schemas.microsoft.com/office/drawing/2014/main" id="{A8B11D72-1817-4927-9BAA-23C1AC3C0C5A}"/>
                </a:ext>
              </a:extLst>
            </p:cNvPr>
            <p:cNvCxnSpPr>
              <a:cxnSpLocks noChangeShapeType="1"/>
            </p:cNvCxnSpPr>
            <p:nvPr/>
          </p:nvCxnSpPr>
          <p:spPr bwMode="auto">
            <a:xfrm rot="16200000" flipH="1">
              <a:off x="3279775" y="4048126"/>
              <a:ext cx="835025" cy="527050"/>
            </a:xfrm>
            <a:prstGeom prst="straightConnector1">
              <a:avLst/>
            </a:prstGeom>
            <a:noFill/>
            <a:ln w="25400">
              <a:solidFill>
                <a:schemeClr val="accent1"/>
              </a:solidFill>
              <a:round/>
              <a:headEnd/>
              <a:tailEnd type="stealth" w="med" len="med"/>
            </a:ln>
            <a:effectLst>
              <a:outerShdw blurRad="63500" dist="20000" dir="5400000" rotWithShape="0">
                <a:srgbClr val="000000">
                  <a:alpha val="37999"/>
                </a:srgbClr>
              </a:outerShdw>
            </a:effectLst>
            <a:extLst>
              <a:ext uri="{909E8E84-426E-40dd-AFC4-6F175D3DCCD1}">
                <a14:hiddenFill xmlns:a14="http://schemas.microsoft.com/office/drawing/2010/main" xmlns="">
                  <a:noFill/>
                </a14:hiddenFill>
              </a:ext>
            </a:extLst>
          </p:spPr>
        </p:cxnSp>
        <p:sp>
          <p:nvSpPr>
            <p:cNvPr id="6" name="Rounded Rectangle 9">
              <a:extLst>
                <a:ext uri="{FF2B5EF4-FFF2-40B4-BE49-F238E27FC236}">
                  <a16:creationId xmlns:a16="http://schemas.microsoft.com/office/drawing/2014/main" id="{A951221A-7CDA-4618-A4EC-E5AE1834E978}"/>
                </a:ext>
              </a:extLst>
            </p:cNvPr>
            <p:cNvSpPr>
              <a:spLocks noChangeArrowheads="1"/>
            </p:cNvSpPr>
            <p:nvPr/>
          </p:nvSpPr>
          <p:spPr bwMode="auto">
            <a:xfrm>
              <a:off x="3048000" y="3886200"/>
              <a:ext cx="758825" cy="225425"/>
            </a:xfrm>
            <a:prstGeom prst="roundRect">
              <a:avLst>
                <a:gd name="adj" fmla="val 16667"/>
              </a:avLst>
            </a:prstGeom>
            <a:gradFill rotWithShape="1">
              <a:gsLst>
                <a:gs pos="0">
                  <a:srgbClr val="00C9FF"/>
                </a:gs>
                <a:gs pos="100000">
                  <a:srgbClr val="67E4FF"/>
                </a:gs>
              </a:gsLst>
              <a:lin ang="16200000"/>
            </a:gradFill>
            <a:ln w="9525">
              <a:solidFill>
                <a:srgbClr val="00B7FF"/>
              </a:solidFill>
              <a:round/>
              <a:headEnd/>
              <a:tailEnd/>
            </a:ln>
            <a:effectLst>
              <a:outerShdw blurRad="63500" dist="23000" dir="5400000" rotWithShape="0">
                <a:srgbClr val="000000">
                  <a:alpha val="34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7" name="Rectangle 6">
              <a:extLst>
                <a:ext uri="{FF2B5EF4-FFF2-40B4-BE49-F238E27FC236}">
                  <a16:creationId xmlns:a16="http://schemas.microsoft.com/office/drawing/2014/main" id="{B7B323D2-AFDE-4CFD-BCAE-ABF255AE8B26}"/>
                </a:ext>
              </a:extLst>
            </p:cNvPr>
            <p:cNvSpPr>
              <a:spLocks noChangeArrowheads="1"/>
            </p:cNvSpPr>
            <p:nvPr/>
          </p:nvSpPr>
          <p:spPr bwMode="auto">
            <a:xfrm>
              <a:off x="2551113" y="2413000"/>
              <a:ext cx="611187" cy="319088"/>
            </a:xfrm>
            <a:prstGeom prst="rect">
              <a:avLst/>
            </a:prstGeom>
            <a:solidFill>
              <a:srgbClr val="FFC000"/>
            </a:solidFill>
            <a:ln w="9525">
              <a:solidFill>
                <a:srgbClr val="00B7FF"/>
              </a:solidFill>
              <a:miter lim="800000"/>
              <a:headEnd/>
              <a:tailEnd/>
            </a:ln>
            <a:effectLst>
              <a:outerShdw blurRad="63500" dist="23000" dir="5400000" rotWithShape="0">
                <a:srgbClr val="000000">
                  <a:alpha val="34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8" name="TextBox 11">
              <a:extLst>
                <a:ext uri="{FF2B5EF4-FFF2-40B4-BE49-F238E27FC236}">
                  <a16:creationId xmlns:a16="http://schemas.microsoft.com/office/drawing/2014/main" id="{239D1471-029C-4A45-B786-23CEB93B1C4D}"/>
                </a:ext>
              </a:extLst>
            </p:cNvPr>
            <p:cNvSpPr txBox="1">
              <a:spLocks noChangeArrowheads="1"/>
            </p:cNvSpPr>
            <p:nvPr/>
          </p:nvSpPr>
          <p:spPr bwMode="auto">
            <a:xfrm>
              <a:off x="2578100" y="2474913"/>
              <a:ext cx="552450" cy="2460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rgbClr val="000000"/>
                  </a:solidFill>
                  <a:latin typeface="Arial" charset="0"/>
                  <a:ea typeface="ヒラギノ角ゴ ProN W3" charset="0"/>
                  <a:cs typeface="ヒラギノ角ゴ ProN W3" charset="0"/>
                  <a:sym typeface="Arial" charset="0"/>
                </a:defRPr>
              </a:lvl1pPr>
              <a:lvl2pPr marL="742950" indent="-285750" eaLnBrk="0" hangingPunct="0">
                <a:defRPr>
                  <a:solidFill>
                    <a:srgbClr val="000000"/>
                  </a:solidFill>
                  <a:latin typeface="Arial" charset="0"/>
                  <a:ea typeface="ヒラギノ角ゴ ProN W3" charset="0"/>
                  <a:cs typeface="ヒラギノ角ゴ ProN W3" charset="0"/>
                  <a:sym typeface="Arial" charset="0"/>
                </a:defRPr>
              </a:lvl2pPr>
              <a:lvl3pPr marL="1143000" indent="-228600" eaLnBrk="0" hangingPunct="0">
                <a:defRPr>
                  <a:solidFill>
                    <a:srgbClr val="000000"/>
                  </a:solidFill>
                  <a:latin typeface="Arial" charset="0"/>
                  <a:ea typeface="ヒラギノ角ゴ ProN W3" charset="0"/>
                  <a:cs typeface="ヒラギノ角ゴ ProN W3" charset="0"/>
                  <a:sym typeface="Arial" charset="0"/>
                </a:defRPr>
              </a:lvl3pPr>
              <a:lvl4pPr marL="1600200" indent="-228600" eaLnBrk="0" hangingPunct="0">
                <a:defRPr>
                  <a:solidFill>
                    <a:srgbClr val="000000"/>
                  </a:solidFill>
                  <a:latin typeface="Arial" charset="0"/>
                  <a:ea typeface="ヒラギノ角ゴ ProN W3" charset="0"/>
                  <a:cs typeface="ヒラギノ角ゴ ProN W3" charset="0"/>
                  <a:sym typeface="Arial" charset="0"/>
                </a:defRPr>
              </a:lvl4pPr>
              <a:lvl5pPr marL="2057400" indent="-228600" eaLnBrk="0" hangingPunct="0">
                <a:defRPr>
                  <a:solidFill>
                    <a:srgbClr val="000000"/>
                  </a:solidFill>
                  <a:latin typeface="Arial" charset="0"/>
                  <a:ea typeface="ヒラギノ角ゴ ProN W3" charset="0"/>
                  <a:cs typeface="ヒラギノ角ゴ ProN W3" charset="0"/>
                  <a:sym typeface="Arial" charset="0"/>
                </a:defRPr>
              </a:lvl5pPr>
              <a:lvl6pPr marL="25146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6pPr>
              <a:lvl7pPr marL="29718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7pPr>
              <a:lvl8pPr marL="34290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8pPr>
              <a:lvl9pPr marL="38862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charset="0"/>
                  <a:sym typeface="Arial" charset="0"/>
                </a:rPr>
                <a:t>Agent </a:t>
              </a:r>
            </a:p>
          </p:txBody>
        </p:sp>
        <p:pic>
          <p:nvPicPr>
            <p:cNvPr id="9" name="Picture 2" descr="C:\Users\Charles\AppData\Local\Microsoft\Windows\Temporary Internet Files\Content.IE5\D0MNVM4G\MC900434845[1].png">
              <a:extLst>
                <a:ext uri="{FF2B5EF4-FFF2-40B4-BE49-F238E27FC236}">
                  <a16:creationId xmlns:a16="http://schemas.microsoft.com/office/drawing/2014/main" id="{348968E7-1CB8-45AA-8B41-FF75CC1B52B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84450" y="1643063"/>
              <a:ext cx="704850" cy="7048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 name="Picture 3" descr="C:\Users\Charles\AppData\Local\Microsoft\Windows\Temporary Internet Files\Content.IE5\Y0WKFHQ5\MC900435242[1].png">
              <a:extLst>
                <a:ext uri="{FF2B5EF4-FFF2-40B4-BE49-F238E27FC236}">
                  <a16:creationId xmlns:a16="http://schemas.microsoft.com/office/drawing/2014/main" id="{48925A77-D276-46F3-8E19-A5A7D8AF1B5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16275" y="1643063"/>
              <a:ext cx="431800" cy="857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1" name="Picture 2" descr="C:\Users\Charles\AppData\Local\Microsoft\Windows\Temporary Internet Files\Content.IE5\D0MNVM4G\MC900434845[1].png">
              <a:extLst>
                <a:ext uri="{FF2B5EF4-FFF2-40B4-BE49-F238E27FC236}">
                  <a16:creationId xmlns:a16="http://schemas.microsoft.com/office/drawing/2014/main" id="{34B7FD39-2280-483A-90EB-394687306C7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16338" y="1644650"/>
              <a:ext cx="704850" cy="7048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2" name="Rectangle 11">
              <a:extLst>
                <a:ext uri="{FF2B5EF4-FFF2-40B4-BE49-F238E27FC236}">
                  <a16:creationId xmlns:a16="http://schemas.microsoft.com/office/drawing/2014/main" id="{E0F99971-A70D-4C6F-B7CE-05DF72509142}"/>
                </a:ext>
              </a:extLst>
            </p:cNvPr>
            <p:cNvSpPr>
              <a:spLocks noChangeArrowheads="1"/>
            </p:cNvSpPr>
            <p:nvPr/>
          </p:nvSpPr>
          <p:spPr bwMode="auto">
            <a:xfrm>
              <a:off x="3716338" y="2413000"/>
              <a:ext cx="611187" cy="319088"/>
            </a:xfrm>
            <a:prstGeom prst="rect">
              <a:avLst/>
            </a:prstGeom>
            <a:solidFill>
              <a:srgbClr val="FFC000"/>
            </a:solidFill>
            <a:ln w="9525">
              <a:solidFill>
                <a:srgbClr val="00B7FF"/>
              </a:solidFill>
              <a:miter lim="800000"/>
              <a:headEnd/>
              <a:tailEnd/>
            </a:ln>
            <a:effectLst>
              <a:outerShdw blurRad="63500" dist="23000" dir="5400000" rotWithShape="0">
                <a:srgbClr val="000000">
                  <a:alpha val="34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13" name="TextBox 16">
              <a:extLst>
                <a:ext uri="{FF2B5EF4-FFF2-40B4-BE49-F238E27FC236}">
                  <a16:creationId xmlns:a16="http://schemas.microsoft.com/office/drawing/2014/main" id="{050D148F-4168-4EF4-8BC7-73AFB25677C1}"/>
                </a:ext>
              </a:extLst>
            </p:cNvPr>
            <p:cNvSpPr txBox="1">
              <a:spLocks noChangeArrowheads="1"/>
            </p:cNvSpPr>
            <p:nvPr/>
          </p:nvSpPr>
          <p:spPr bwMode="auto">
            <a:xfrm>
              <a:off x="3751263" y="2462213"/>
              <a:ext cx="546100" cy="246062"/>
            </a:xfrm>
            <a:prstGeom prst="rect">
              <a:avLst/>
            </a:prstGeom>
            <a:solidFill>
              <a:srgbClr val="FFC0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rgbClr val="000000"/>
                  </a:solidFill>
                  <a:latin typeface="Arial" charset="0"/>
                  <a:ea typeface="ヒラギノ角ゴ ProN W3" charset="0"/>
                  <a:cs typeface="ヒラギノ角ゴ ProN W3" charset="0"/>
                  <a:sym typeface="Arial" charset="0"/>
                </a:defRPr>
              </a:lvl1pPr>
              <a:lvl2pPr marL="742950" indent="-285750" eaLnBrk="0" hangingPunct="0">
                <a:defRPr>
                  <a:solidFill>
                    <a:srgbClr val="000000"/>
                  </a:solidFill>
                  <a:latin typeface="Arial" charset="0"/>
                  <a:ea typeface="ヒラギノ角ゴ ProN W3" charset="0"/>
                  <a:cs typeface="ヒラギノ角ゴ ProN W3" charset="0"/>
                  <a:sym typeface="Arial" charset="0"/>
                </a:defRPr>
              </a:lvl2pPr>
              <a:lvl3pPr marL="1143000" indent="-228600" eaLnBrk="0" hangingPunct="0">
                <a:defRPr>
                  <a:solidFill>
                    <a:srgbClr val="000000"/>
                  </a:solidFill>
                  <a:latin typeface="Arial" charset="0"/>
                  <a:ea typeface="ヒラギノ角ゴ ProN W3" charset="0"/>
                  <a:cs typeface="ヒラギノ角ゴ ProN W3" charset="0"/>
                  <a:sym typeface="Arial" charset="0"/>
                </a:defRPr>
              </a:lvl3pPr>
              <a:lvl4pPr marL="1600200" indent="-228600" eaLnBrk="0" hangingPunct="0">
                <a:defRPr>
                  <a:solidFill>
                    <a:srgbClr val="000000"/>
                  </a:solidFill>
                  <a:latin typeface="Arial" charset="0"/>
                  <a:ea typeface="ヒラギノ角ゴ ProN W3" charset="0"/>
                  <a:cs typeface="ヒラギノ角ゴ ProN W3" charset="0"/>
                  <a:sym typeface="Arial" charset="0"/>
                </a:defRPr>
              </a:lvl4pPr>
              <a:lvl5pPr marL="2057400" indent="-228600" eaLnBrk="0" hangingPunct="0">
                <a:defRPr>
                  <a:solidFill>
                    <a:srgbClr val="000000"/>
                  </a:solidFill>
                  <a:latin typeface="Arial" charset="0"/>
                  <a:ea typeface="ヒラギノ角ゴ ProN W3" charset="0"/>
                  <a:cs typeface="ヒラギノ角ゴ ProN W3" charset="0"/>
                  <a:sym typeface="Arial" charset="0"/>
                </a:defRPr>
              </a:lvl5pPr>
              <a:lvl6pPr marL="25146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6pPr>
              <a:lvl7pPr marL="29718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7pPr>
              <a:lvl8pPr marL="34290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8pPr>
              <a:lvl9pPr marL="38862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charset="0"/>
                  <a:sym typeface="Arial" charset="0"/>
                </a:rPr>
                <a:t>Agent</a:t>
              </a:r>
            </a:p>
          </p:txBody>
        </p:sp>
        <p:sp>
          <p:nvSpPr>
            <p:cNvPr id="14" name="Rectangle 13">
              <a:extLst>
                <a:ext uri="{FF2B5EF4-FFF2-40B4-BE49-F238E27FC236}">
                  <a16:creationId xmlns:a16="http://schemas.microsoft.com/office/drawing/2014/main" id="{F53FAE11-55B9-4B9C-BC05-0FF3568F97FE}"/>
                </a:ext>
              </a:extLst>
            </p:cNvPr>
            <p:cNvSpPr>
              <a:spLocks noChangeArrowheads="1"/>
            </p:cNvSpPr>
            <p:nvPr/>
          </p:nvSpPr>
          <p:spPr bwMode="auto">
            <a:xfrm>
              <a:off x="4505325" y="2419350"/>
              <a:ext cx="612775" cy="320675"/>
            </a:xfrm>
            <a:prstGeom prst="rect">
              <a:avLst/>
            </a:prstGeom>
            <a:solidFill>
              <a:srgbClr val="FFC000"/>
            </a:solidFill>
            <a:ln w="9525">
              <a:solidFill>
                <a:srgbClr val="00B7FF"/>
              </a:solidFill>
              <a:miter lim="800000"/>
              <a:headEnd/>
              <a:tailEnd/>
            </a:ln>
            <a:effectLst>
              <a:outerShdw blurRad="63500" dist="23000" dir="5400000" rotWithShape="0">
                <a:srgbClr val="000000">
                  <a:alpha val="34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15" name="TextBox 18">
              <a:extLst>
                <a:ext uri="{FF2B5EF4-FFF2-40B4-BE49-F238E27FC236}">
                  <a16:creationId xmlns:a16="http://schemas.microsoft.com/office/drawing/2014/main" id="{807E0ECB-5947-4ADC-9843-26C725076EAE}"/>
                </a:ext>
              </a:extLst>
            </p:cNvPr>
            <p:cNvSpPr txBox="1">
              <a:spLocks noChangeArrowheads="1"/>
            </p:cNvSpPr>
            <p:nvPr/>
          </p:nvSpPr>
          <p:spPr bwMode="auto">
            <a:xfrm>
              <a:off x="4506913" y="2470150"/>
              <a:ext cx="608012" cy="2460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rgbClr val="000000"/>
                  </a:solidFill>
                  <a:latin typeface="Arial" charset="0"/>
                  <a:ea typeface="ヒラギノ角ゴ ProN W3" charset="0"/>
                  <a:cs typeface="ヒラギノ角ゴ ProN W3" charset="0"/>
                  <a:sym typeface="Arial" charset="0"/>
                </a:defRPr>
              </a:lvl1pPr>
              <a:lvl2pPr marL="742950" indent="-285750" eaLnBrk="0" hangingPunct="0">
                <a:defRPr>
                  <a:solidFill>
                    <a:srgbClr val="000000"/>
                  </a:solidFill>
                  <a:latin typeface="Arial" charset="0"/>
                  <a:ea typeface="ヒラギノ角ゴ ProN W3" charset="0"/>
                  <a:cs typeface="ヒラギノ角ゴ ProN W3" charset="0"/>
                  <a:sym typeface="Arial" charset="0"/>
                </a:defRPr>
              </a:lvl2pPr>
              <a:lvl3pPr marL="1143000" indent="-228600" eaLnBrk="0" hangingPunct="0">
                <a:defRPr>
                  <a:solidFill>
                    <a:srgbClr val="000000"/>
                  </a:solidFill>
                  <a:latin typeface="Arial" charset="0"/>
                  <a:ea typeface="ヒラギノ角ゴ ProN W3" charset="0"/>
                  <a:cs typeface="ヒラギノ角ゴ ProN W3" charset="0"/>
                  <a:sym typeface="Arial" charset="0"/>
                </a:defRPr>
              </a:lvl3pPr>
              <a:lvl4pPr marL="1600200" indent="-228600" eaLnBrk="0" hangingPunct="0">
                <a:defRPr>
                  <a:solidFill>
                    <a:srgbClr val="000000"/>
                  </a:solidFill>
                  <a:latin typeface="Arial" charset="0"/>
                  <a:ea typeface="ヒラギノ角ゴ ProN W3" charset="0"/>
                  <a:cs typeface="ヒラギノ角ゴ ProN W3" charset="0"/>
                  <a:sym typeface="Arial" charset="0"/>
                </a:defRPr>
              </a:lvl4pPr>
              <a:lvl5pPr marL="2057400" indent="-228600" eaLnBrk="0" hangingPunct="0">
                <a:defRPr>
                  <a:solidFill>
                    <a:srgbClr val="000000"/>
                  </a:solidFill>
                  <a:latin typeface="Arial" charset="0"/>
                  <a:ea typeface="ヒラギノ角ゴ ProN W3" charset="0"/>
                  <a:cs typeface="ヒラギノ角ゴ ProN W3" charset="0"/>
                  <a:sym typeface="Arial" charset="0"/>
                </a:defRPr>
              </a:lvl5pPr>
              <a:lvl6pPr marL="25146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6pPr>
              <a:lvl7pPr marL="29718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7pPr>
              <a:lvl8pPr marL="34290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8pPr>
              <a:lvl9pPr marL="38862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charset="0"/>
                  <a:sym typeface="Arial" charset="0"/>
                </a:rPr>
                <a:t>Agent</a:t>
              </a:r>
            </a:p>
          </p:txBody>
        </p:sp>
        <p:sp>
          <p:nvSpPr>
            <p:cNvPr id="16" name="Rectangle 15">
              <a:extLst>
                <a:ext uri="{FF2B5EF4-FFF2-40B4-BE49-F238E27FC236}">
                  <a16:creationId xmlns:a16="http://schemas.microsoft.com/office/drawing/2014/main" id="{DFF9E61F-A88A-4DA1-B597-026871B6C65D}"/>
                </a:ext>
              </a:extLst>
            </p:cNvPr>
            <p:cNvSpPr>
              <a:spLocks noChangeArrowheads="1"/>
            </p:cNvSpPr>
            <p:nvPr/>
          </p:nvSpPr>
          <p:spPr bwMode="auto">
            <a:xfrm>
              <a:off x="3011488" y="3354388"/>
              <a:ext cx="846137" cy="536575"/>
            </a:xfrm>
            <a:prstGeom prst="rect">
              <a:avLst/>
            </a:prstGeom>
            <a:solidFill>
              <a:srgbClr val="FFC000"/>
            </a:solidFill>
            <a:ln w="9525">
              <a:solidFill>
                <a:srgbClr val="00B7FF"/>
              </a:solidFill>
              <a:miter lim="800000"/>
              <a:headEnd/>
              <a:tailEnd/>
            </a:ln>
            <a:effectLst>
              <a:outerShdw blurRad="63500" dist="23000" dir="5400000" rotWithShape="0">
                <a:srgbClr val="000000">
                  <a:alpha val="34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17" name="TextBox 20">
              <a:extLst>
                <a:ext uri="{FF2B5EF4-FFF2-40B4-BE49-F238E27FC236}">
                  <a16:creationId xmlns:a16="http://schemas.microsoft.com/office/drawing/2014/main" id="{5859C5E3-A20E-470A-AD95-D476075FAC55}"/>
                </a:ext>
              </a:extLst>
            </p:cNvPr>
            <p:cNvSpPr txBox="1">
              <a:spLocks noChangeArrowheads="1"/>
            </p:cNvSpPr>
            <p:nvPr/>
          </p:nvSpPr>
          <p:spPr bwMode="auto">
            <a:xfrm>
              <a:off x="2962275" y="3500438"/>
              <a:ext cx="955675" cy="2460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rgbClr val="000000"/>
                  </a:solidFill>
                  <a:latin typeface="Arial" charset="0"/>
                  <a:ea typeface="ヒラギノ角ゴ ProN W3" charset="0"/>
                  <a:cs typeface="ヒラギノ角ゴ ProN W3" charset="0"/>
                  <a:sym typeface="Arial" charset="0"/>
                </a:defRPr>
              </a:lvl1pPr>
              <a:lvl2pPr marL="742950" indent="-285750" eaLnBrk="0" hangingPunct="0">
                <a:defRPr>
                  <a:solidFill>
                    <a:srgbClr val="000000"/>
                  </a:solidFill>
                  <a:latin typeface="Arial" charset="0"/>
                  <a:ea typeface="ヒラギノ角ゴ ProN W3" charset="0"/>
                  <a:cs typeface="ヒラギノ角ゴ ProN W3" charset="0"/>
                  <a:sym typeface="Arial" charset="0"/>
                </a:defRPr>
              </a:lvl2pPr>
              <a:lvl3pPr marL="1143000" indent="-228600" eaLnBrk="0" hangingPunct="0">
                <a:defRPr>
                  <a:solidFill>
                    <a:srgbClr val="000000"/>
                  </a:solidFill>
                  <a:latin typeface="Arial" charset="0"/>
                  <a:ea typeface="ヒラギノ角ゴ ProN W3" charset="0"/>
                  <a:cs typeface="ヒラギノ角ゴ ProN W3" charset="0"/>
                  <a:sym typeface="Arial" charset="0"/>
                </a:defRPr>
              </a:lvl3pPr>
              <a:lvl4pPr marL="1600200" indent="-228600" eaLnBrk="0" hangingPunct="0">
                <a:defRPr>
                  <a:solidFill>
                    <a:srgbClr val="000000"/>
                  </a:solidFill>
                  <a:latin typeface="Arial" charset="0"/>
                  <a:ea typeface="ヒラギノ角ゴ ProN W3" charset="0"/>
                  <a:cs typeface="ヒラギノ角ゴ ProN W3" charset="0"/>
                  <a:sym typeface="Arial" charset="0"/>
                </a:defRPr>
              </a:lvl4pPr>
              <a:lvl5pPr marL="2057400" indent="-228600" eaLnBrk="0" hangingPunct="0">
                <a:defRPr>
                  <a:solidFill>
                    <a:srgbClr val="000000"/>
                  </a:solidFill>
                  <a:latin typeface="Arial" charset="0"/>
                  <a:ea typeface="ヒラギノ角ゴ ProN W3" charset="0"/>
                  <a:cs typeface="ヒラギノ角ゴ ProN W3" charset="0"/>
                  <a:sym typeface="Arial" charset="0"/>
                </a:defRPr>
              </a:lvl5pPr>
              <a:lvl6pPr marL="25146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6pPr>
              <a:lvl7pPr marL="29718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7pPr>
              <a:lvl8pPr marL="34290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8pPr>
              <a:lvl9pPr marL="38862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charset="0"/>
                  <a:sym typeface="Arial" charset="0"/>
                </a:rPr>
                <a:t>Processor</a:t>
              </a:r>
            </a:p>
          </p:txBody>
        </p:sp>
        <p:sp>
          <p:nvSpPr>
            <p:cNvPr id="18" name="Rectangle 17">
              <a:extLst>
                <a:ext uri="{FF2B5EF4-FFF2-40B4-BE49-F238E27FC236}">
                  <a16:creationId xmlns:a16="http://schemas.microsoft.com/office/drawing/2014/main" id="{8A49C577-0058-48E3-93C9-23036ABA2B0C}"/>
                </a:ext>
              </a:extLst>
            </p:cNvPr>
            <p:cNvSpPr>
              <a:spLocks noChangeArrowheads="1"/>
            </p:cNvSpPr>
            <p:nvPr/>
          </p:nvSpPr>
          <p:spPr bwMode="auto">
            <a:xfrm>
              <a:off x="4795838" y="3359150"/>
              <a:ext cx="844550" cy="534988"/>
            </a:xfrm>
            <a:prstGeom prst="rect">
              <a:avLst/>
            </a:prstGeom>
            <a:solidFill>
              <a:srgbClr val="FFC000"/>
            </a:solidFill>
            <a:ln w="9525">
              <a:solidFill>
                <a:srgbClr val="00B7FF"/>
              </a:solidFill>
              <a:miter lim="800000"/>
              <a:headEnd/>
              <a:tailEnd/>
            </a:ln>
            <a:effectLst>
              <a:outerShdw blurRad="63500" dist="23000" dir="5400000" rotWithShape="0">
                <a:srgbClr val="000000">
                  <a:alpha val="34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19" name="TextBox 22">
              <a:extLst>
                <a:ext uri="{FF2B5EF4-FFF2-40B4-BE49-F238E27FC236}">
                  <a16:creationId xmlns:a16="http://schemas.microsoft.com/office/drawing/2014/main" id="{0BCF8B9B-5B21-4C76-BFA7-FA00754BF0AB}"/>
                </a:ext>
              </a:extLst>
            </p:cNvPr>
            <p:cNvSpPr txBox="1">
              <a:spLocks noChangeArrowheads="1"/>
            </p:cNvSpPr>
            <p:nvPr/>
          </p:nvSpPr>
          <p:spPr bwMode="auto">
            <a:xfrm>
              <a:off x="4746625" y="3503613"/>
              <a:ext cx="954088" cy="2460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rgbClr val="000000"/>
                  </a:solidFill>
                  <a:latin typeface="Arial" charset="0"/>
                  <a:ea typeface="ヒラギノ角ゴ ProN W3" charset="0"/>
                  <a:cs typeface="ヒラギノ角ゴ ProN W3" charset="0"/>
                  <a:sym typeface="Arial" charset="0"/>
                </a:defRPr>
              </a:lvl1pPr>
              <a:lvl2pPr marL="742950" indent="-285750" eaLnBrk="0" hangingPunct="0">
                <a:defRPr>
                  <a:solidFill>
                    <a:srgbClr val="000000"/>
                  </a:solidFill>
                  <a:latin typeface="Arial" charset="0"/>
                  <a:ea typeface="ヒラギノ角ゴ ProN W3" charset="0"/>
                  <a:cs typeface="ヒラギノ角ゴ ProN W3" charset="0"/>
                  <a:sym typeface="Arial" charset="0"/>
                </a:defRPr>
              </a:lvl2pPr>
              <a:lvl3pPr marL="1143000" indent="-228600" eaLnBrk="0" hangingPunct="0">
                <a:defRPr>
                  <a:solidFill>
                    <a:srgbClr val="000000"/>
                  </a:solidFill>
                  <a:latin typeface="Arial" charset="0"/>
                  <a:ea typeface="ヒラギノ角ゴ ProN W3" charset="0"/>
                  <a:cs typeface="ヒラギノ角ゴ ProN W3" charset="0"/>
                  <a:sym typeface="Arial" charset="0"/>
                </a:defRPr>
              </a:lvl3pPr>
              <a:lvl4pPr marL="1600200" indent="-228600" eaLnBrk="0" hangingPunct="0">
                <a:defRPr>
                  <a:solidFill>
                    <a:srgbClr val="000000"/>
                  </a:solidFill>
                  <a:latin typeface="Arial" charset="0"/>
                  <a:ea typeface="ヒラギノ角ゴ ProN W3" charset="0"/>
                  <a:cs typeface="ヒラギノ角ゴ ProN W3" charset="0"/>
                  <a:sym typeface="Arial" charset="0"/>
                </a:defRPr>
              </a:lvl4pPr>
              <a:lvl5pPr marL="2057400" indent="-228600" eaLnBrk="0" hangingPunct="0">
                <a:defRPr>
                  <a:solidFill>
                    <a:srgbClr val="000000"/>
                  </a:solidFill>
                  <a:latin typeface="Arial" charset="0"/>
                  <a:ea typeface="ヒラギノ角ゴ ProN W3" charset="0"/>
                  <a:cs typeface="ヒラギノ角ゴ ProN W3" charset="0"/>
                  <a:sym typeface="Arial" charset="0"/>
                </a:defRPr>
              </a:lvl5pPr>
              <a:lvl6pPr marL="25146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6pPr>
              <a:lvl7pPr marL="29718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7pPr>
              <a:lvl8pPr marL="34290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8pPr>
              <a:lvl9pPr marL="38862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charset="0"/>
                  <a:sym typeface="Arial" charset="0"/>
                </a:rPr>
                <a:t>Processor</a:t>
              </a:r>
            </a:p>
          </p:txBody>
        </p:sp>
        <p:sp>
          <p:nvSpPr>
            <p:cNvPr id="20" name="Rectangle 19">
              <a:extLst>
                <a:ext uri="{FF2B5EF4-FFF2-40B4-BE49-F238E27FC236}">
                  <a16:creationId xmlns:a16="http://schemas.microsoft.com/office/drawing/2014/main" id="{AB4DA13A-0A2D-4C1E-A743-27C512AD751D}"/>
                </a:ext>
              </a:extLst>
            </p:cNvPr>
            <p:cNvSpPr>
              <a:spLocks noChangeArrowheads="1"/>
            </p:cNvSpPr>
            <p:nvPr/>
          </p:nvSpPr>
          <p:spPr bwMode="auto">
            <a:xfrm>
              <a:off x="3711575" y="4729163"/>
              <a:ext cx="844550" cy="534987"/>
            </a:xfrm>
            <a:prstGeom prst="rect">
              <a:avLst/>
            </a:prstGeom>
            <a:solidFill>
              <a:srgbClr val="FFC000"/>
            </a:solidFill>
            <a:ln w="9525">
              <a:solidFill>
                <a:srgbClr val="00B7FF"/>
              </a:solidFill>
              <a:miter lim="800000"/>
              <a:headEnd/>
              <a:tailEnd/>
            </a:ln>
            <a:effectLst>
              <a:outerShdw blurRad="63500" dist="23000" dir="5400000" rotWithShape="0">
                <a:srgbClr val="000000">
                  <a:alpha val="34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21" name="TextBox 24">
              <a:extLst>
                <a:ext uri="{FF2B5EF4-FFF2-40B4-BE49-F238E27FC236}">
                  <a16:creationId xmlns:a16="http://schemas.microsoft.com/office/drawing/2014/main" id="{738F832C-3C6E-496E-A8D3-65582714EF60}"/>
                </a:ext>
              </a:extLst>
            </p:cNvPr>
            <p:cNvSpPr txBox="1">
              <a:spLocks noChangeArrowheads="1"/>
            </p:cNvSpPr>
            <p:nvPr/>
          </p:nvSpPr>
          <p:spPr bwMode="auto">
            <a:xfrm>
              <a:off x="3662363" y="4873625"/>
              <a:ext cx="954087" cy="2460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rgbClr val="000000"/>
                  </a:solidFill>
                  <a:latin typeface="Arial" charset="0"/>
                  <a:ea typeface="ヒラギノ角ゴ ProN W3" charset="0"/>
                  <a:cs typeface="ヒラギノ角ゴ ProN W3" charset="0"/>
                  <a:sym typeface="Arial" charset="0"/>
                </a:defRPr>
              </a:lvl1pPr>
              <a:lvl2pPr marL="742950" indent="-285750" eaLnBrk="0" hangingPunct="0">
                <a:defRPr>
                  <a:solidFill>
                    <a:srgbClr val="000000"/>
                  </a:solidFill>
                  <a:latin typeface="Arial" charset="0"/>
                  <a:ea typeface="ヒラギノ角ゴ ProN W3" charset="0"/>
                  <a:cs typeface="ヒラギノ角ゴ ProN W3" charset="0"/>
                  <a:sym typeface="Arial" charset="0"/>
                </a:defRPr>
              </a:lvl2pPr>
              <a:lvl3pPr marL="1143000" indent="-228600" eaLnBrk="0" hangingPunct="0">
                <a:defRPr>
                  <a:solidFill>
                    <a:srgbClr val="000000"/>
                  </a:solidFill>
                  <a:latin typeface="Arial" charset="0"/>
                  <a:ea typeface="ヒラギノ角ゴ ProN W3" charset="0"/>
                  <a:cs typeface="ヒラギノ角ゴ ProN W3" charset="0"/>
                  <a:sym typeface="Arial" charset="0"/>
                </a:defRPr>
              </a:lvl3pPr>
              <a:lvl4pPr marL="1600200" indent="-228600" eaLnBrk="0" hangingPunct="0">
                <a:defRPr>
                  <a:solidFill>
                    <a:srgbClr val="000000"/>
                  </a:solidFill>
                  <a:latin typeface="Arial" charset="0"/>
                  <a:ea typeface="ヒラギノ角ゴ ProN W3" charset="0"/>
                  <a:cs typeface="ヒラギノ角ゴ ProN W3" charset="0"/>
                  <a:sym typeface="Arial" charset="0"/>
                </a:defRPr>
              </a:lvl4pPr>
              <a:lvl5pPr marL="2057400" indent="-228600" eaLnBrk="0" hangingPunct="0">
                <a:defRPr>
                  <a:solidFill>
                    <a:srgbClr val="000000"/>
                  </a:solidFill>
                  <a:latin typeface="Arial" charset="0"/>
                  <a:ea typeface="ヒラギノ角ゴ ProN W3" charset="0"/>
                  <a:cs typeface="ヒラギノ角ゴ ProN W3" charset="0"/>
                  <a:sym typeface="Arial" charset="0"/>
                </a:defRPr>
              </a:lvl5pPr>
              <a:lvl6pPr marL="25146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6pPr>
              <a:lvl7pPr marL="29718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7pPr>
              <a:lvl8pPr marL="34290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8pPr>
              <a:lvl9pPr marL="38862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charset="0"/>
                  <a:sym typeface="Arial" charset="0"/>
                </a:rPr>
                <a:t>Collector(s)</a:t>
              </a:r>
            </a:p>
          </p:txBody>
        </p:sp>
        <p:pic>
          <p:nvPicPr>
            <p:cNvPr id="22" name="Picture 2" descr="http://static.seekingalpha.com/uploads/2009/4/2/saupload_hadoop_logo.png">
              <a:extLst>
                <a:ext uri="{FF2B5EF4-FFF2-40B4-BE49-F238E27FC236}">
                  <a16:creationId xmlns:a16="http://schemas.microsoft.com/office/drawing/2014/main" id="{F5963868-51CD-4401-ABCA-E3255295C3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9000" y="5562600"/>
              <a:ext cx="2147887" cy="665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3" name="Picture 5" descr="http://t1.gstatic.com/images?q=tbn:svNZDJXRT_Aw3M:http://www.softra.com/images/server.jpg">
              <a:extLst>
                <a:ext uri="{FF2B5EF4-FFF2-40B4-BE49-F238E27FC236}">
                  <a16:creationId xmlns:a16="http://schemas.microsoft.com/office/drawing/2014/main" id="{9AC2B366-2AB5-4967-87D9-1C9E4FF19BF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59400" y="1644650"/>
              <a:ext cx="527050" cy="5953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4" name="Picture 11" descr="http://t1.gstatic.com/images?q=tbn:YOilySF8nLx54M:http://www.rebelnetworks.com/webhosting-talk/images/web-server.jpg">
              <a:extLst>
                <a:ext uri="{FF2B5EF4-FFF2-40B4-BE49-F238E27FC236}">
                  <a16:creationId xmlns:a16="http://schemas.microsoft.com/office/drawing/2014/main" id="{6CD69E30-CC28-4C6D-8550-B98642A9504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48163" y="1757363"/>
              <a:ext cx="885825" cy="5318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5" name="Rectangle 24">
              <a:extLst>
                <a:ext uri="{FF2B5EF4-FFF2-40B4-BE49-F238E27FC236}">
                  <a16:creationId xmlns:a16="http://schemas.microsoft.com/office/drawing/2014/main" id="{1C6438A4-0AC4-45E0-A305-6EEBBA5996BF}"/>
                </a:ext>
              </a:extLst>
            </p:cNvPr>
            <p:cNvSpPr>
              <a:spLocks noChangeArrowheads="1"/>
            </p:cNvSpPr>
            <p:nvPr/>
          </p:nvSpPr>
          <p:spPr bwMode="auto">
            <a:xfrm>
              <a:off x="5327650" y="2420938"/>
              <a:ext cx="611188" cy="319087"/>
            </a:xfrm>
            <a:prstGeom prst="rect">
              <a:avLst/>
            </a:prstGeom>
            <a:solidFill>
              <a:srgbClr val="FFC000"/>
            </a:solidFill>
            <a:ln w="9525">
              <a:solidFill>
                <a:srgbClr val="00B7FF"/>
              </a:solidFill>
              <a:miter lim="800000"/>
              <a:headEnd/>
              <a:tailEnd/>
            </a:ln>
            <a:effectLst>
              <a:outerShdw blurRad="63500" dist="23000" dir="5400000" rotWithShape="0">
                <a:srgbClr val="000000">
                  <a:alpha val="34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26" name="TextBox 30">
              <a:extLst>
                <a:ext uri="{FF2B5EF4-FFF2-40B4-BE49-F238E27FC236}">
                  <a16:creationId xmlns:a16="http://schemas.microsoft.com/office/drawing/2014/main" id="{82F73100-E976-40A6-9859-953EB368A239}"/>
                </a:ext>
              </a:extLst>
            </p:cNvPr>
            <p:cNvSpPr txBox="1">
              <a:spLocks noChangeArrowheads="1"/>
            </p:cNvSpPr>
            <p:nvPr/>
          </p:nvSpPr>
          <p:spPr bwMode="auto">
            <a:xfrm>
              <a:off x="5300663" y="2452688"/>
              <a:ext cx="646112" cy="246062"/>
            </a:xfrm>
            <a:prstGeom prst="rect">
              <a:avLst/>
            </a:prstGeom>
            <a:solidFill>
              <a:srgbClr val="FFC0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rgbClr val="000000"/>
                  </a:solidFill>
                  <a:latin typeface="Arial" charset="0"/>
                  <a:ea typeface="ヒラギノ角ゴ ProN W3" charset="0"/>
                  <a:cs typeface="ヒラギノ角ゴ ProN W3" charset="0"/>
                  <a:sym typeface="Arial" charset="0"/>
                </a:defRPr>
              </a:lvl1pPr>
              <a:lvl2pPr marL="742950" indent="-285750" eaLnBrk="0" hangingPunct="0">
                <a:defRPr>
                  <a:solidFill>
                    <a:srgbClr val="000000"/>
                  </a:solidFill>
                  <a:latin typeface="Arial" charset="0"/>
                  <a:ea typeface="ヒラギノ角ゴ ProN W3" charset="0"/>
                  <a:cs typeface="ヒラギノ角ゴ ProN W3" charset="0"/>
                  <a:sym typeface="Arial" charset="0"/>
                </a:defRPr>
              </a:lvl2pPr>
              <a:lvl3pPr marL="1143000" indent="-228600" eaLnBrk="0" hangingPunct="0">
                <a:defRPr>
                  <a:solidFill>
                    <a:srgbClr val="000000"/>
                  </a:solidFill>
                  <a:latin typeface="Arial" charset="0"/>
                  <a:ea typeface="ヒラギノ角ゴ ProN W3" charset="0"/>
                  <a:cs typeface="ヒラギノ角ゴ ProN W3" charset="0"/>
                  <a:sym typeface="Arial" charset="0"/>
                </a:defRPr>
              </a:lvl3pPr>
              <a:lvl4pPr marL="1600200" indent="-228600" eaLnBrk="0" hangingPunct="0">
                <a:defRPr>
                  <a:solidFill>
                    <a:srgbClr val="000000"/>
                  </a:solidFill>
                  <a:latin typeface="Arial" charset="0"/>
                  <a:ea typeface="ヒラギノ角ゴ ProN W3" charset="0"/>
                  <a:cs typeface="ヒラギノ角ゴ ProN W3" charset="0"/>
                  <a:sym typeface="Arial" charset="0"/>
                </a:defRPr>
              </a:lvl4pPr>
              <a:lvl5pPr marL="2057400" indent="-228600" eaLnBrk="0" hangingPunct="0">
                <a:defRPr>
                  <a:solidFill>
                    <a:srgbClr val="000000"/>
                  </a:solidFill>
                  <a:latin typeface="Arial" charset="0"/>
                  <a:ea typeface="ヒラギノ角ゴ ProN W3" charset="0"/>
                  <a:cs typeface="ヒラギノ角ゴ ProN W3" charset="0"/>
                  <a:sym typeface="Arial" charset="0"/>
                </a:defRPr>
              </a:lvl5pPr>
              <a:lvl6pPr marL="25146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6pPr>
              <a:lvl7pPr marL="29718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7pPr>
              <a:lvl8pPr marL="34290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8pPr>
              <a:lvl9pPr marL="38862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charset="0"/>
                  <a:sym typeface="Arial" charset="0"/>
                </a:rPr>
                <a:t>Agent</a:t>
              </a:r>
            </a:p>
          </p:txBody>
        </p:sp>
        <p:cxnSp>
          <p:nvCxnSpPr>
            <p:cNvPr id="27" name="Straight Arrow Connector 26">
              <a:extLst>
                <a:ext uri="{FF2B5EF4-FFF2-40B4-BE49-F238E27FC236}">
                  <a16:creationId xmlns:a16="http://schemas.microsoft.com/office/drawing/2014/main" id="{E06D4CFF-16E6-4431-9627-9CA03D53E83E}"/>
                </a:ext>
              </a:extLst>
            </p:cNvPr>
            <p:cNvCxnSpPr>
              <a:cxnSpLocks noChangeShapeType="1"/>
              <a:stCxn id="7" idx="2"/>
            </p:cNvCxnSpPr>
            <p:nvPr/>
          </p:nvCxnSpPr>
          <p:spPr bwMode="auto">
            <a:xfrm rot="16200000" flipH="1">
              <a:off x="2724944" y="2863057"/>
              <a:ext cx="622300" cy="360362"/>
            </a:xfrm>
            <a:prstGeom prst="straightConnector1">
              <a:avLst/>
            </a:prstGeom>
            <a:noFill/>
            <a:ln w="25400">
              <a:solidFill>
                <a:schemeClr val="accent1"/>
              </a:solidFill>
              <a:round/>
              <a:headEnd/>
              <a:tailEnd type="stealth" w="med" len="med"/>
            </a:ln>
            <a:effectLst>
              <a:outerShdw blurRad="63500" dist="20000" dir="5400000" rotWithShape="0">
                <a:srgbClr val="000000">
                  <a:alpha val="37999"/>
                </a:srgbClr>
              </a:outerShdw>
            </a:effectLst>
            <a:extLst>
              <a:ext uri="{909E8E84-426E-40dd-AFC4-6F175D3DCCD1}">
                <a14:hiddenFill xmlns:a14="http://schemas.microsoft.com/office/drawing/2010/main" xmlns="">
                  <a:noFill/>
                </a14:hiddenFill>
              </a:ext>
            </a:extLst>
          </p:spPr>
        </p:cxnSp>
        <p:cxnSp>
          <p:nvCxnSpPr>
            <p:cNvPr id="28" name="Straight Arrow Connector 27">
              <a:extLst>
                <a:ext uri="{FF2B5EF4-FFF2-40B4-BE49-F238E27FC236}">
                  <a16:creationId xmlns:a16="http://schemas.microsoft.com/office/drawing/2014/main" id="{7BEF1F22-BDA9-450A-A6A2-D6A25320735E}"/>
                </a:ext>
              </a:extLst>
            </p:cNvPr>
            <p:cNvCxnSpPr>
              <a:cxnSpLocks noChangeShapeType="1"/>
            </p:cNvCxnSpPr>
            <p:nvPr/>
          </p:nvCxnSpPr>
          <p:spPr bwMode="auto">
            <a:xfrm rot="16200000" flipH="1">
              <a:off x="3056731" y="2926557"/>
              <a:ext cx="854075" cy="1588"/>
            </a:xfrm>
            <a:prstGeom prst="straightConnector1">
              <a:avLst/>
            </a:prstGeom>
            <a:noFill/>
            <a:ln w="25400">
              <a:solidFill>
                <a:schemeClr val="accent1"/>
              </a:solidFill>
              <a:round/>
              <a:headEnd/>
              <a:tailEnd type="stealth" w="med" len="med"/>
            </a:ln>
            <a:effectLst>
              <a:outerShdw blurRad="63500" dist="20000" dir="5400000" rotWithShape="0">
                <a:srgbClr val="000000">
                  <a:alpha val="37999"/>
                </a:srgbClr>
              </a:outerShdw>
            </a:effectLst>
            <a:extLst>
              <a:ext uri="{909E8E84-426E-40dd-AFC4-6F175D3DCCD1}">
                <a14:hiddenFill xmlns:a14="http://schemas.microsoft.com/office/drawing/2010/main" xmlns="">
                  <a:noFill/>
                </a14:hiddenFill>
              </a:ext>
            </a:extLst>
          </p:spPr>
        </p:cxnSp>
        <p:cxnSp>
          <p:nvCxnSpPr>
            <p:cNvPr id="29" name="Straight Arrow Connector 28">
              <a:extLst>
                <a:ext uri="{FF2B5EF4-FFF2-40B4-BE49-F238E27FC236}">
                  <a16:creationId xmlns:a16="http://schemas.microsoft.com/office/drawing/2014/main" id="{1F5C0BED-9A0F-410D-A107-C0172655D823}"/>
                </a:ext>
              </a:extLst>
            </p:cNvPr>
            <p:cNvCxnSpPr>
              <a:cxnSpLocks noChangeShapeType="1"/>
              <a:endCxn id="4" idx="0"/>
            </p:cNvCxnSpPr>
            <p:nvPr/>
          </p:nvCxnSpPr>
          <p:spPr bwMode="auto">
            <a:xfrm rot="5400000">
              <a:off x="3113881" y="3688557"/>
              <a:ext cx="1897063" cy="0"/>
            </a:xfrm>
            <a:prstGeom prst="straightConnector1">
              <a:avLst/>
            </a:prstGeom>
            <a:noFill/>
            <a:ln w="25400">
              <a:solidFill>
                <a:schemeClr val="accent1"/>
              </a:solidFill>
              <a:round/>
              <a:headEnd/>
              <a:tailEnd type="stealth" w="med" len="med"/>
            </a:ln>
            <a:effectLst>
              <a:outerShdw blurRad="63500" dist="20000" dir="5400000" rotWithShape="0">
                <a:srgbClr val="000000">
                  <a:alpha val="37999"/>
                </a:srgbClr>
              </a:outerShdw>
            </a:effectLst>
            <a:extLst>
              <a:ext uri="{909E8E84-426E-40dd-AFC4-6F175D3DCCD1}">
                <a14:hiddenFill xmlns:a14="http://schemas.microsoft.com/office/drawing/2010/main" xmlns="">
                  <a:noFill/>
                </a14:hiddenFill>
              </a:ext>
            </a:extLst>
          </p:spPr>
        </p:cxnSp>
        <p:cxnSp>
          <p:nvCxnSpPr>
            <p:cNvPr id="30" name="Straight Arrow Connector 29">
              <a:extLst>
                <a:ext uri="{FF2B5EF4-FFF2-40B4-BE49-F238E27FC236}">
                  <a16:creationId xmlns:a16="http://schemas.microsoft.com/office/drawing/2014/main" id="{0A428550-824D-440C-8939-141E4071C73A}"/>
                </a:ext>
              </a:extLst>
            </p:cNvPr>
            <p:cNvCxnSpPr>
              <a:cxnSpLocks noChangeShapeType="1"/>
            </p:cNvCxnSpPr>
            <p:nvPr/>
          </p:nvCxnSpPr>
          <p:spPr bwMode="auto">
            <a:xfrm rot="5400000">
              <a:off x="3582194" y="3455194"/>
              <a:ext cx="1897063" cy="466725"/>
            </a:xfrm>
            <a:prstGeom prst="straightConnector1">
              <a:avLst/>
            </a:prstGeom>
            <a:noFill/>
            <a:ln w="25400">
              <a:solidFill>
                <a:schemeClr val="accent1"/>
              </a:solidFill>
              <a:round/>
              <a:headEnd/>
              <a:tailEnd type="stealth" w="med" len="med"/>
            </a:ln>
            <a:effectLst>
              <a:outerShdw blurRad="63500" dist="20000" dir="5400000" rotWithShape="0">
                <a:srgbClr val="000000">
                  <a:alpha val="37999"/>
                </a:srgbClr>
              </a:outerShdw>
            </a:effectLst>
            <a:extLst>
              <a:ext uri="{909E8E84-426E-40dd-AFC4-6F175D3DCCD1}">
                <a14:hiddenFill xmlns:a14="http://schemas.microsoft.com/office/drawing/2010/main" xmlns="">
                  <a:noFill/>
                </a14:hiddenFill>
              </a:ext>
            </a:extLst>
          </p:spPr>
        </p:cxnSp>
        <p:cxnSp>
          <p:nvCxnSpPr>
            <p:cNvPr id="31" name="Straight Arrow Connector 30">
              <a:extLst>
                <a:ext uri="{FF2B5EF4-FFF2-40B4-BE49-F238E27FC236}">
                  <a16:creationId xmlns:a16="http://schemas.microsoft.com/office/drawing/2014/main" id="{04FDB3F4-F4F5-4659-8A0B-27A056B3A377}"/>
                </a:ext>
              </a:extLst>
            </p:cNvPr>
            <p:cNvCxnSpPr>
              <a:cxnSpLocks noChangeShapeType="1"/>
            </p:cNvCxnSpPr>
            <p:nvPr/>
          </p:nvCxnSpPr>
          <p:spPr bwMode="auto">
            <a:xfrm rot="5400000">
              <a:off x="5225257" y="2878931"/>
              <a:ext cx="614362" cy="346075"/>
            </a:xfrm>
            <a:prstGeom prst="straightConnector1">
              <a:avLst/>
            </a:prstGeom>
            <a:noFill/>
            <a:ln w="25400">
              <a:solidFill>
                <a:schemeClr val="accent1"/>
              </a:solidFill>
              <a:round/>
              <a:headEnd/>
              <a:tailEnd type="stealth" w="med" len="med"/>
            </a:ln>
            <a:effectLst>
              <a:outerShdw blurRad="63500" dist="20000" dir="5400000" rotWithShape="0">
                <a:srgbClr val="000000">
                  <a:alpha val="37999"/>
                </a:srgbClr>
              </a:outerShdw>
            </a:effectLst>
            <a:extLst>
              <a:ext uri="{909E8E84-426E-40dd-AFC4-6F175D3DCCD1}">
                <a14:hiddenFill xmlns:a14="http://schemas.microsoft.com/office/drawing/2010/main" xmlns="">
                  <a:noFill/>
                </a14:hiddenFill>
              </a:ext>
            </a:extLst>
          </p:spPr>
        </p:cxnSp>
        <p:cxnSp>
          <p:nvCxnSpPr>
            <p:cNvPr id="32" name="Straight Arrow Connector 31">
              <a:extLst>
                <a:ext uri="{FF2B5EF4-FFF2-40B4-BE49-F238E27FC236}">
                  <a16:creationId xmlns:a16="http://schemas.microsoft.com/office/drawing/2014/main" id="{AB62031F-06DC-4E61-92BF-4D5CAD128B68}"/>
                </a:ext>
              </a:extLst>
            </p:cNvPr>
            <p:cNvCxnSpPr>
              <a:cxnSpLocks noChangeShapeType="1"/>
            </p:cNvCxnSpPr>
            <p:nvPr/>
          </p:nvCxnSpPr>
          <p:spPr bwMode="auto">
            <a:xfrm rot="10800000" flipV="1">
              <a:off x="4297363" y="3894138"/>
              <a:ext cx="846137" cy="835025"/>
            </a:xfrm>
            <a:prstGeom prst="straightConnector1">
              <a:avLst/>
            </a:prstGeom>
            <a:noFill/>
            <a:ln w="25400">
              <a:solidFill>
                <a:schemeClr val="accent1"/>
              </a:solidFill>
              <a:round/>
              <a:headEnd/>
              <a:tailEnd type="stealth" w="med" len="med"/>
            </a:ln>
            <a:effectLst>
              <a:outerShdw blurRad="63500" dist="20000" dir="5400000" rotWithShape="0">
                <a:srgbClr val="000000">
                  <a:alpha val="37999"/>
                </a:srgbClr>
              </a:outerShdw>
            </a:effectLst>
            <a:extLst>
              <a:ext uri="{909E8E84-426E-40dd-AFC4-6F175D3DCCD1}">
                <a14:hiddenFill xmlns:a14="http://schemas.microsoft.com/office/drawing/2010/main" xmlns="">
                  <a:noFill/>
                </a14:hiddenFill>
              </a:ext>
            </a:extLst>
          </p:spPr>
        </p:cxnSp>
        <p:cxnSp>
          <p:nvCxnSpPr>
            <p:cNvPr id="33" name="Straight Arrow Connector 32">
              <a:extLst>
                <a:ext uri="{FF2B5EF4-FFF2-40B4-BE49-F238E27FC236}">
                  <a16:creationId xmlns:a16="http://schemas.microsoft.com/office/drawing/2014/main" id="{D1C318CB-4B8A-4636-9B64-D249AF9F1B12}"/>
                </a:ext>
              </a:extLst>
            </p:cNvPr>
            <p:cNvCxnSpPr>
              <a:cxnSpLocks noChangeShapeType="1"/>
              <a:stCxn id="20" idx="2"/>
            </p:cNvCxnSpPr>
            <p:nvPr/>
          </p:nvCxnSpPr>
          <p:spPr bwMode="auto">
            <a:xfrm rot="16200000" flipH="1">
              <a:off x="4136231" y="5261769"/>
              <a:ext cx="366713" cy="371475"/>
            </a:xfrm>
            <a:prstGeom prst="straightConnector1">
              <a:avLst/>
            </a:prstGeom>
            <a:noFill/>
            <a:ln w="25400">
              <a:solidFill>
                <a:schemeClr val="accent1"/>
              </a:solidFill>
              <a:round/>
              <a:headEnd/>
              <a:tailEnd type="stealth" w="med" len="med"/>
            </a:ln>
            <a:effectLst>
              <a:outerShdw blurRad="63500" dist="20000" dir="5400000" rotWithShape="0">
                <a:srgbClr val="000000">
                  <a:alpha val="37999"/>
                </a:srgbClr>
              </a:outerShdw>
            </a:effectLst>
            <a:extLst>
              <a:ext uri="{909E8E84-426E-40dd-AFC4-6F175D3DCCD1}">
                <a14:hiddenFill xmlns:a14="http://schemas.microsoft.com/office/drawing/2010/main" xmlns="">
                  <a:noFill/>
                </a14:hiddenFill>
              </a:ext>
            </a:extLst>
          </p:spPr>
        </p:cxnSp>
        <p:sp>
          <p:nvSpPr>
            <p:cNvPr id="34" name="Rectangle 2">
              <a:extLst>
                <a:ext uri="{FF2B5EF4-FFF2-40B4-BE49-F238E27FC236}">
                  <a16:creationId xmlns:a16="http://schemas.microsoft.com/office/drawing/2014/main" id="{5CF1FC7E-3B77-4256-867D-F556478E68BE}"/>
                </a:ext>
              </a:extLst>
            </p:cNvPr>
            <p:cNvSpPr txBox="1">
              <a:spLocks noChangeArrowheads="1"/>
            </p:cNvSpPr>
            <p:nvPr/>
          </p:nvSpPr>
          <p:spPr bwMode="auto">
            <a:xfrm>
              <a:off x="6248400" y="1806575"/>
              <a:ext cx="2992437" cy="13938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marL="119063" indent="-119063" eaLnBrk="0" hangingPunct="0">
                <a:defRPr>
                  <a:solidFill>
                    <a:srgbClr val="000000"/>
                  </a:solidFill>
                  <a:latin typeface="Arial" charset="0"/>
                  <a:ea typeface="ヒラギノ角ゴ ProN W3" charset="0"/>
                  <a:cs typeface="ヒラギノ角ゴ ProN W3" charset="0"/>
                  <a:sym typeface="Arial" charset="0"/>
                </a:defRPr>
              </a:lvl1pPr>
              <a:lvl2pPr marL="742950" indent="-285750" eaLnBrk="0" hangingPunct="0">
                <a:defRPr>
                  <a:solidFill>
                    <a:srgbClr val="000000"/>
                  </a:solidFill>
                  <a:latin typeface="Arial" charset="0"/>
                  <a:ea typeface="ヒラギノ角ゴ ProN W3" charset="0"/>
                  <a:cs typeface="ヒラギノ角ゴ ProN W3" charset="0"/>
                  <a:sym typeface="Arial" charset="0"/>
                </a:defRPr>
              </a:lvl2pPr>
              <a:lvl3pPr marL="1143000" indent="-228600" eaLnBrk="0" hangingPunct="0">
                <a:defRPr>
                  <a:solidFill>
                    <a:srgbClr val="000000"/>
                  </a:solidFill>
                  <a:latin typeface="Arial" charset="0"/>
                  <a:ea typeface="ヒラギノ角ゴ ProN W3" charset="0"/>
                  <a:cs typeface="ヒラギノ角ゴ ProN W3" charset="0"/>
                  <a:sym typeface="Arial" charset="0"/>
                </a:defRPr>
              </a:lvl3pPr>
              <a:lvl4pPr marL="1600200" indent="-228600" eaLnBrk="0" hangingPunct="0">
                <a:defRPr>
                  <a:solidFill>
                    <a:srgbClr val="000000"/>
                  </a:solidFill>
                  <a:latin typeface="Arial" charset="0"/>
                  <a:ea typeface="ヒラギノ角ゴ ProN W3" charset="0"/>
                  <a:cs typeface="ヒラギノ角ゴ ProN W3" charset="0"/>
                  <a:sym typeface="Arial" charset="0"/>
                </a:defRPr>
              </a:lvl4pPr>
              <a:lvl5pPr marL="2057400" indent="-228600" eaLnBrk="0" hangingPunct="0">
                <a:defRPr>
                  <a:solidFill>
                    <a:srgbClr val="000000"/>
                  </a:solidFill>
                  <a:latin typeface="Arial" charset="0"/>
                  <a:ea typeface="ヒラギノ角ゴ ProN W3" charset="0"/>
                  <a:cs typeface="ヒラギノ角ゴ ProN W3" charset="0"/>
                  <a:sym typeface="Arial" charset="0"/>
                </a:defRPr>
              </a:lvl5pPr>
              <a:lvl6pPr marL="25146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6pPr>
              <a:lvl7pPr marL="29718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7pPr>
              <a:lvl8pPr marL="34290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8pPr>
              <a:lvl9pPr marL="38862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9pPr>
            </a:lstStyle>
            <a:p>
              <a:pPr marL="0" marR="0" lvl="0" indent="0" algn="l" defTabSz="914400" rtl="0" eaLnBrk="1" fontAlgn="auto" latinLnBrk="0" hangingPunct="1">
                <a:lnSpc>
                  <a:spcPct val="100000"/>
                </a:lnSpc>
                <a:spcBef>
                  <a:spcPct val="20000"/>
                </a:spcBef>
                <a:spcAft>
                  <a:spcPts val="0"/>
                </a:spcAft>
                <a:buClr>
                  <a:srgbClr val="006AAE"/>
                </a:buClr>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sym typeface="Arial" charset="0"/>
                </a:rPr>
                <a:t>Configurable levels of reliability</a:t>
              </a:r>
            </a:p>
            <a:p>
              <a:pPr marL="0" marR="0" lvl="0" indent="0" algn="l" defTabSz="914400" rtl="0" eaLnBrk="1" fontAlgn="auto" latinLnBrk="0" hangingPunct="1">
                <a:lnSpc>
                  <a:spcPct val="100000"/>
                </a:lnSpc>
                <a:spcBef>
                  <a:spcPct val="20000"/>
                </a:spcBef>
                <a:spcAft>
                  <a:spcPts val="0"/>
                </a:spcAft>
                <a:buClr>
                  <a:srgbClr val="006AAE"/>
                </a:buClr>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sym typeface="Arial" charset="0"/>
                </a:rPr>
                <a:t>Guarantee delivery in event of failure</a:t>
              </a:r>
            </a:p>
            <a:p>
              <a:pPr marL="0" marR="0" lvl="0" indent="0" algn="l" defTabSz="914400" rtl="0" eaLnBrk="1" fontAlgn="auto" latinLnBrk="0" hangingPunct="1">
                <a:lnSpc>
                  <a:spcPct val="100000"/>
                </a:lnSpc>
                <a:spcBef>
                  <a:spcPct val="20000"/>
                </a:spcBef>
                <a:spcAft>
                  <a:spcPts val="0"/>
                </a:spcAft>
                <a:buClr>
                  <a:srgbClr val="006AAE"/>
                </a:buClr>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sym typeface="Arial" charset="0"/>
                </a:rPr>
                <a:t>Deployable, centrally administered</a:t>
              </a:r>
            </a:p>
          </p:txBody>
        </p:sp>
        <p:cxnSp>
          <p:nvCxnSpPr>
            <p:cNvPr id="35" name="Straight Arrow Connector 34">
              <a:extLst>
                <a:ext uri="{FF2B5EF4-FFF2-40B4-BE49-F238E27FC236}">
                  <a16:creationId xmlns:a16="http://schemas.microsoft.com/office/drawing/2014/main" id="{D4108DB8-040B-4F43-8BA3-CBBC2B171E6D}"/>
                </a:ext>
              </a:extLst>
            </p:cNvPr>
            <p:cNvCxnSpPr>
              <a:cxnSpLocks noChangeShapeType="1"/>
            </p:cNvCxnSpPr>
            <p:nvPr/>
          </p:nvCxnSpPr>
          <p:spPr bwMode="auto">
            <a:xfrm rot="10800000" flipV="1">
              <a:off x="5943600" y="2057400"/>
              <a:ext cx="346075" cy="306387"/>
            </a:xfrm>
            <a:prstGeom prst="straightConnector1">
              <a:avLst/>
            </a:prstGeom>
            <a:noFill/>
            <a:ln w="6350">
              <a:solidFill>
                <a:srgbClr val="000000"/>
              </a:solidFill>
              <a:prstDash val="dash"/>
              <a:round/>
              <a:headEnd/>
              <a:tailEnd type="stealth" w="med" len="med"/>
            </a:ln>
            <a:effectLst>
              <a:outerShdw blurRad="63500" dist="20000" dir="5400000" rotWithShape="0">
                <a:srgbClr val="000000">
                  <a:alpha val="37999"/>
                </a:srgbClr>
              </a:outerShdw>
            </a:effectLst>
            <a:extLst>
              <a:ext uri="{909E8E84-426E-40dd-AFC4-6F175D3DCCD1}">
                <a14:hiddenFill xmlns:a14="http://schemas.microsoft.com/office/drawing/2010/main" xmlns="">
                  <a:noFill/>
                </a14:hiddenFill>
              </a:ext>
            </a:extLst>
          </p:spPr>
        </p:cxnSp>
        <p:sp>
          <p:nvSpPr>
            <p:cNvPr id="36" name="TextBox 40">
              <a:extLst>
                <a:ext uri="{FF2B5EF4-FFF2-40B4-BE49-F238E27FC236}">
                  <a16:creationId xmlns:a16="http://schemas.microsoft.com/office/drawing/2014/main" id="{5B16A7AF-749B-4C85-8886-46FD9D3C5696}"/>
                </a:ext>
              </a:extLst>
            </p:cNvPr>
            <p:cNvSpPr txBox="1">
              <a:spLocks noChangeArrowheads="1"/>
            </p:cNvSpPr>
            <p:nvPr/>
          </p:nvSpPr>
          <p:spPr bwMode="auto">
            <a:xfrm>
              <a:off x="3048000" y="3886200"/>
              <a:ext cx="855663" cy="2460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rgbClr val="000000"/>
                  </a:solidFill>
                  <a:latin typeface="Arial" charset="0"/>
                  <a:ea typeface="ヒラギノ角ゴ ProN W3" charset="0"/>
                  <a:cs typeface="ヒラギノ角ゴ ProN W3" charset="0"/>
                  <a:sym typeface="Arial" charset="0"/>
                </a:defRPr>
              </a:lvl1pPr>
              <a:lvl2pPr marL="742950" indent="-285750" eaLnBrk="0" hangingPunct="0">
                <a:defRPr>
                  <a:solidFill>
                    <a:srgbClr val="000000"/>
                  </a:solidFill>
                  <a:latin typeface="Arial" charset="0"/>
                  <a:ea typeface="ヒラギノ角ゴ ProN W3" charset="0"/>
                  <a:cs typeface="ヒラギノ角ゴ ProN W3" charset="0"/>
                  <a:sym typeface="Arial" charset="0"/>
                </a:defRPr>
              </a:lvl2pPr>
              <a:lvl3pPr marL="1143000" indent="-228600" eaLnBrk="0" hangingPunct="0">
                <a:defRPr>
                  <a:solidFill>
                    <a:srgbClr val="000000"/>
                  </a:solidFill>
                  <a:latin typeface="Arial" charset="0"/>
                  <a:ea typeface="ヒラギノ角ゴ ProN W3" charset="0"/>
                  <a:cs typeface="ヒラギノ角ゴ ProN W3" charset="0"/>
                  <a:sym typeface="Arial" charset="0"/>
                </a:defRPr>
              </a:lvl3pPr>
              <a:lvl4pPr marL="1600200" indent="-228600" eaLnBrk="0" hangingPunct="0">
                <a:defRPr>
                  <a:solidFill>
                    <a:srgbClr val="000000"/>
                  </a:solidFill>
                  <a:latin typeface="Arial" charset="0"/>
                  <a:ea typeface="ヒラギノ角ゴ ProN W3" charset="0"/>
                  <a:cs typeface="ヒラギノ角ゴ ProN W3" charset="0"/>
                  <a:sym typeface="Arial" charset="0"/>
                </a:defRPr>
              </a:lvl4pPr>
              <a:lvl5pPr marL="2057400" indent="-228600" eaLnBrk="0" hangingPunct="0">
                <a:defRPr>
                  <a:solidFill>
                    <a:srgbClr val="000000"/>
                  </a:solidFill>
                  <a:latin typeface="Arial" charset="0"/>
                  <a:ea typeface="ヒラギノ角ゴ ProN W3" charset="0"/>
                  <a:cs typeface="ヒラギノ角ゴ ProN W3" charset="0"/>
                  <a:sym typeface="Arial" charset="0"/>
                </a:defRPr>
              </a:lvl5pPr>
              <a:lvl6pPr marL="25146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6pPr>
              <a:lvl7pPr marL="29718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7pPr>
              <a:lvl8pPr marL="34290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8pPr>
              <a:lvl9pPr marL="38862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charset="0"/>
                  <a:sym typeface="Arial" charset="0"/>
                </a:rPr>
                <a:t>compress</a:t>
              </a:r>
            </a:p>
          </p:txBody>
        </p:sp>
        <p:sp>
          <p:nvSpPr>
            <p:cNvPr id="37" name="Rounded Rectangle 41">
              <a:extLst>
                <a:ext uri="{FF2B5EF4-FFF2-40B4-BE49-F238E27FC236}">
                  <a16:creationId xmlns:a16="http://schemas.microsoft.com/office/drawing/2014/main" id="{43133C4F-61CC-47F0-90A4-ED3812D16EBD}"/>
                </a:ext>
              </a:extLst>
            </p:cNvPr>
            <p:cNvSpPr>
              <a:spLocks noChangeArrowheads="1"/>
            </p:cNvSpPr>
            <p:nvPr/>
          </p:nvSpPr>
          <p:spPr bwMode="auto">
            <a:xfrm>
              <a:off x="2670175" y="2727325"/>
              <a:ext cx="585788" cy="212725"/>
            </a:xfrm>
            <a:prstGeom prst="roundRect">
              <a:avLst>
                <a:gd name="adj" fmla="val 16667"/>
              </a:avLst>
            </a:prstGeom>
            <a:gradFill rotWithShape="1">
              <a:gsLst>
                <a:gs pos="0">
                  <a:srgbClr val="00C9FF"/>
                </a:gs>
                <a:gs pos="100000">
                  <a:srgbClr val="67E4FF"/>
                </a:gs>
              </a:gsLst>
              <a:lin ang="16200000"/>
            </a:gradFill>
            <a:ln w="9525">
              <a:solidFill>
                <a:srgbClr val="00B7FF"/>
              </a:solidFill>
              <a:round/>
              <a:headEnd/>
              <a:tailEnd/>
            </a:ln>
            <a:effectLst>
              <a:outerShdw blurRad="63500" dist="23000" dir="5400000" rotWithShape="0">
                <a:srgbClr val="000000">
                  <a:alpha val="34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38" name="TextBox 42">
              <a:extLst>
                <a:ext uri="{FF2B5EF4-FFF2-40B4-BE49-F238E27FC236}">
                  <a16:creationId xmlns:a16="http://schemas.microsoft.com/office/drawing/2014/main" id="{E6D3FEF4-F04E-48EA-A0BE-BE02375D8B27}"/>
                </a:ext>
              </a:extLst>
            </p:cNvPr>
            <p:cNvSpPr txBox="1">
              <a:spLocks noChangeArrowheads="1"/>
            </p:cNvSpPr>
            <p:nvPr/>
          </p:nvSpPr>
          <p:spPr bwMode="auto">
            <a:xfrm>
              <a:off x="2611438" y="2709863"/>
              <a:ext cx="703262" cy="2460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rgbClr val="000000"/>
                  </a:solidFill>
                  <a:latin typeface="Arial" charset="0"/>
                  <a:ea typeface="ヒラギノ角ゴ ProN W3" charset="0"/>
                  <a:cs typeface="ヒラギノ角ゴ ProN W3" charset="0"/>
                  <a:sym typeface="Arial" charset="0"/>
                </a:defRPr>
              </a:lvl1pPr>
              <a:lvl2pPr marL="742950" indent="-285750" eaLnBrk="0" hangingPunct="0">
                <a:defRPr>
                  <a:solidFill>
                    <a:srgbClr val="000000"/>
                  </a:solidFill>
                  <a:latin typeface="Arial" charset="0"/>
                  <a:ea typeface="ヒラギノ角ゴ ProN W3" charset="0"/>
                  <a:cs typeface="ヒラギノ角ゴ ProN W3" charset="0"/>
                  <a:sym typeface="Arial" charset="0"/>
                </a:defRPr>
              </a:lvl2pPr>
              <a:lvl3pPr marL="1143000" indent="-228600" eaLnBrk="0" hangingPunct="0">
                <a:defRPr>
                  <a:solidFill>
                    <a:srgbClr val="000000"/>
                  </a:solidFill>
                  <a:latin typeface="Arial" charset="0"/>
                  <a:ea typeface="ヒラギノ角ゴ ProN W3" charset="0"/>
                  <a:cs typeface="ヒラギノ角ゴ ProN W3" charset="0"/>
                  <a:sym typeface="Arial" charset="0"/>
                </a:defRPr>
              </a:lvl3pPr>
              <a:lvl4pPr marL="1600200" indent="-228600" eaLnBrk="0" hangingPunct="0">
                <a:defRPr>
                  <a:solidFill>
                    <a:srgbClr val="000000"/>
                  </a:solidFill>
                  <a:latin typeface="Arial" charset="0"/>
                  <a:ea typeface="ヒラギノ角ゴ ProN W3" charset="0"/>
                  <a:cs typeface="ヒラギノ角ゴ ProN W3" charset="0"/>
                  <a:sym typeface="Arial" charset="0"/>
                </a:defRPr>
              </a:lvl4pPr>
              <a:lvl5pPr marL="2057400" indent="-228600" eaLnBrk="0" hangingPunct="0">
                <a:defRPr>
                  <a:solidFill>
                    <a:srgbClr val="000000"/>
                  </a:solidFill>
                  <a:latin typeface="Arial" charset="0"/>
                  <a:ea typeface="ヒラギノ角ゴ ProN W3" charset="0"/>
                  <a:cs typeface="ヒラギノ角ゴ ProN W3" charset="0"/>
                  <a:sym typeface="Arial" charset="0"/>
                </a:defRPr>
              </a:lvl5pPr>
              <a:lvl6pPr marL="25146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6pPr>
              <a:lvl7pPr marL="29718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7pPr>
              <a:lvl8pPr marL="34290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8pPr>
              <a:lvl9pPr marL="38862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charset="0"/>
                  <a:sym typeface="Arial" charset="0"/>
                </a:rPr>
                <a:t>encrypt</a:t>
              </a:r>
            </a:p>
          </p:txBody>
        </p:sp>
        <p:sp>
          <p:nvSpPr>
            <p:cNvPr id="39" name="Rounded Rectangle 43">
              <a:extLst>
                <a:ext uri="{FF2B5EF4-FFF2-40B4-BE49-F238E27FC236}">
                  <a16:creationId xmlns:a16="http://schemas.microsoft.com/office/drawing/2014/main" id="{E1BCEC79-DB13-4C1C-81AD-F28E2C843210}"/>
                </a:ext>
              </a:extLst>
            </p:cNvPr>
            <p:cNvSpPr>
              <a:spLocks noChangeArrowheads="1"/>
            </p:cNvSpPr>
            <p:nvPr/>
          </p:nvSpPr>
          <p:spPr bwMode="auto">
            <a:xfrm>
              <a:off x="4908550" y="3890963"/>
              <a:ext cx="585788" cy="211137"/>
            </a:xfrm>
            <a:prstGeom prst="roundRect">
              <a:avLst>
                <a:gd name="adj" fmla="val 16667"/>
              </a:avLst>
            </a:prstGeom>
            <a:gradFill rotWithShape="1">
              <a:gsLst>
                <a:gs pos="0">
                  <a:srgbClr val="00C9FF"/>
                </a:gs>
                <a:gs pos="100000">
                  <a:srgbClr val="67E4FF"/>
                </a:gs>
              </a:gsLst>
              <a:lin ang="16200000"/>
            </a:gradFill>
            <a:ln w="9525">
              <a:solidFill>
                <a:srgbClr val="00B7FF"/>
              </a:solidFill>
              <a:round/>
              <a:headEnd/>
              <a:tailEnd/>
            </a:ln>
            <a:effectLst>
              <a:outerShdw blurRad="63500" dist="23000" dir="5400000" rotWithShape="0">
                <a:srgbClr val="000000">
                  <a:alpha val="34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40" name="TextBox 44">
              <a:extLst>
                <a:ext uri="{FF2B5EF4-FFF2-40B4-BE49-F238E27FC236}">
                  <a16:creationId xmlns:a16="http://schemas.microsoft.com/office/drawing/2014/main" id="{D5784366-23EC-4908-BA8E-E860C3AADDC3}"/>
                </a:ext>
              </a:extLst>
            </p:cNvPr>
            <p:cNvSpPr txBox="1">
              <a:spLocks noChangeArrowheads="1"/>
            </p:cNvSpPr>
            <p:nvPr/>
          </p:nvSpPr>
          <p:spPr bwMode="auto">
            <a:xfrm>
              <a:off x="4851400" y="3873500"/>
              <a:ext cx="703263" cy="2460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rgbClr val="000000"/>
                  </a:solidFill>
                  <a:latin typeface="Arial" charset="0"/>
                  <a:ea typeface="ヒラギノ角ゴ ProN W3" charset="0"/>
                  <a:cs typeface="ヒラギノ角ゴ ProN W3" charset="0"/>
                  <a:sym typeface="Arial" charset="0"/>
                </a:defRPr>
              </a:lvl1pPr>
              <a:lvl2pPr marL="742950" indent="-285750" eaLnBrk="0" hangingPunct="0">
                <a:defRPr>
                  <a:solidFill>
                    <a:srgbClr val="000000"/>
                  </a:solidFill>
                  <a:latin typeface="Arial" charset="0"/>
                  <a:ea typeface="ヒラギノ角ゴ ProN W3" charset="0"/>
                  <a:cs typeface="ヒラギノ角ゴ ProN W3" charset="0"/>
                  <a:sym typeface="Arial" charset="0"/>
                </a:defRPr>
              </a:lvl2pPr>
              <a:lvl3pPr marL="1143000" indent="-228600" eaLnBrk="0" hangingPunct="0">
                <a:defRPr>
                  <a:solidFill>
                    <a:srgbClr val="000000"/>
                  </a:solidFill>
                  <a:latin typeface="Arial" charset="0"/>
                  <a:ea typeface="ヒラギノ角ゴ ProN W3" charset="0"/>
                  <a:cs typeface="ヒラギノ角ゴ ProN W3" charset="0"/>
                  <a:sym typeface="Arial" charset="0"/>
                </a:defRPr>
              </a:lvl3pPr>
              <a:lvl4pPr marL="1600200" indent="-228600" eaLnBrk="0" hangingPunct="0">
                <a:defRPr>
                  <a:solidFill>
                    <a:srgbClr val="000000"/>
                  </a:solidFill>
                  <a:latin typeface="Arial" charset="0"/>
                  <a:ea typeface="ヒラギノ角ゴ ProN W3" charset="0"/>
                  <a:cs typeface="ヒラギノ角ゴ ProN W3" charset="0"/>
                  <a:sym typeface="Arial" charset="0"/>
                </a:defRPr>
              </a:lvl4pPr>
              <a:lvl5pPr marL="2057400" indent="-228600" eaLnBrk="0" hangingPunct="0">
                <a:defRPr>
                  <a:solidFill>
                    <a:srgbClr val="000000"/>
                  </a:solidFill>
                  <a:latin typeface="Arial" charset="0"/>
                  <a:ea typeface="ヒラギノ角ゴ ProN W3" charset="0"/>
                  <a:cs typeface="ヒラギノ角ゴ ProN W3" charset="0"/>
                  <a:sym typeface="Arial" charset="0"/>
                </a:defRPr>
              </a:lvl5pPr>
              <a:lvl6pPr marL="25146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6pPr>
              <a:lvl7pPr marL="29718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7pPr>
              <a:lvl8pPr marL="34290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8pPr>
              <a:lvl9pPr marL="38862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charset="0"/>
                  <a:sym typeface="Arial" charset="0"/>
                </a:rPr>
                <a:t>batch</a:t>
              </a:r>
            </a:p>
          </p:txBody>
        </p:sp>
        <p:sp>
          <p:nvSpPr>
            <p:cNvPr id="41" name="Rounded Rectangle 45">
              <a:extLst>
                <a:ext uri="{FF2B5EF4-FFF2-40B4-BE49-F238E27FC236}">
                  <a16:creationId xmlns:a16="http://schemas.microsoft.com/office/drawing/2014/main" id="{BFAD42A5-D2A3-4E07-8903-D5539C8C5362}"/>
                </a:ext>
              </a:extLst>
            </p:cNvPr>
            <p:cNvSpPr>
              <a:spLocks noChangeArrowheads="1"/>
            </p:cNvSpPr>
            <p:nvPr/>
          </p:nvSpPr>
          <p:spPr bwMode="auto">
            <a:xfrm>
              <a:off x="4906963" y="4111625"/>
              <a:ext cx="585787" cy="212725"/>
            </a:xfrm>
            <a:prstGeom prst="roundRect">
              <a:avLst>
                <a:gd name="adj" fmla="val 16667"/>
              </a:avLst>
            </a:prstGeom>
            <a:gradFill rotWithShape="1">
              <a:gsLst>
                <a:gs pos="0">
                  <a:srgbClr val="00C9FF"/>
                </a:gs>
                <a:gs pos="100000">
                  <a:srgbClr val="67E4FF"/>
                </a:gs>
              </a:gsLst>
              <a:lin ang="16200000"/>
            </a:gradFill>
            <a:ln w="9525">
              <a:solidFill>
                <a:srgbClr val="00B7FF"/>
              </a:solidFill>
              <a:round/>
              <a:headEnd/>
              <a:tailEnd/>
            </a:ln>
            <a:effectLst>
              <a:outerShdw blurRad="63500" dist="23000" dir="5400000" rotWithShape="0">
                <a:srgbClr val="000000">
                  <a:alpha val="34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42" name="TextBox 46">
              <a:extLst>
                <a:ext uri="{FF2B5EF4-FFF2-40B4-BE49-F238E27FC236}">
                  <a16:creationId xmlns:a16="http://schemas.microsoft.com/office/drawing/2014/main" id="{22D062EE-68AF-4A45-9638-23FCD6CEB083}"/>
                </a:ext>
              </a:extLst>
            </p:cNvPr>
            <p:cNvSpPr txBox="1">
              <a:spLocks noChangeArrowheads="1"/>
            </p:cNvSpPr>
            <p:nvPr/>
          </p:nvSpPr>
          <p:spPr bwMode="auto">
            <a:xfrm>
              <a:off x="4849813" y="4094163"/>
              <a:ext cx="703262" cy="2460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rgbClr val="000000"/>
                  </a:solidFill>
                  <a:latin typeface="Arial" charset="0"/>
                  <a:ea typeface="ヒラギノ角ゴ ProN W3" charset="0"/>
                  <a:cs typeface="ヒラギノ角ゴ ProN W3" charset="0"/>
                  <a:sym typeface="Arial" charset="0"/>
                </a:defRPr>
              </a:lvl1pPr>
              <a:lvl2pPr marL="742950" indent="-285750" eaLnBrk="0" hangingPunct="0">
                <a:defRPr>
                  <a:solidFill>
                    <a:srgbClr val="000000"/>
                  </a:solidFill>
                  <a:latin typeface="Arial" charset="0"/>
                  <a:ea typeface="ヒラギノ角ゴ ProN W3" charset="0"/>
                  <a:cs typeface="ヒラギノ角ゴ ProN W3" charset="0"/>
                  <a:sym typeface="Arial" charset="0"/>
                </a:defRPr>
              </a:lvl2pPr>
              <a:lvl3pPr marL="1143000" indent="-228600" eaLnBrk="0" hangingPunct="0">
                <a:defRPr>
                  <a:solidFill>
                    <a:srgbClr val="000000"/>
                  </a:solidFill>
                  <a:latin typeface="Arial" charset="0"/>
                  <a:ea typeface="ヒラギノ角ゴ ProN W3" charset="0"/>
                  <a:cs typeface="ヒラギノ角ゴ ProN W3" charset="0"/>
                  <a:sym typeface="Arial" charset="0"/>
                </a:defRPr>
              </a:lvl3pPr>
              <a:lvl4pPr marL="1600200" indent="-228600" eaLnBrk="0" hangingPunct="0">
                <a:defRPr>
                  <a:solidFill>
                    <a:srgbClr val="000000"/>
                  </a:solidFill>
                  <a:latin typeface="Arial" charset="0"/>
                  <a:ea typeface="ヒラギノ角ゴ ProN W3" charset="0"/>
                  <a:cs typeface="ヒラギノ角ゴ ProN W3" charset="0"/>
                  <a:sym typeface="Arial" charset="0"/>
                </a:defRPr>
              </a:lvl4pPr>
              <a:lvl5pPr marL="2057400" indent="-228600" eaLnBrk="0" hangingPunct="0">
                <a:defRPr>
                  <a:solidFill>
                    <a:srgbClr val="000000"/>
                  </a:solidFill>
                  <a:latin typeface="Arial" charset="0"/>
                  <a:ea typeface="ヒラギノ角ゴ ProN W3" charset="0"/>
                  <a:cs typeface="ヒラギノ角ゴ ProN W3" charset="0"/>
                  <a:sym typeface="Arial" charset="0"/>
                </a:defRPr>
              </a:lvl5pPr>
              <a:lvl6pPr marL="25146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6pPr>
              <a:lvl7pPr marL="29718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7pPr>
              <a:lvl8pPr marL="34290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8pPr>
              <a:lvl9pPr marL="38862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charset="0"/>
                  <a:sym typeface="Arial" charset="0"/>
                </a:rPr>
                <a:t>encrypt</a:t>
              </a:r>
            </a:p>
          </p:txBody>
        </p:sp>
        <p:sp>
          <p:nvSpPr>
            <p:cNvPr id="43" name="Rectangle 2">
              <a:extLst>
                <a:ext uri="{FF2B5EF4-FFF2-40B4-BE49-F238E27FC236}">
                  <a16:creationId xmlns:a16="http://schemas.microsoft.com/office/drawing/2014/main" id="{2398C10A-BC54-4372-B90E-986D37BC59DB}"/>
                </a:ext>
              </a:extLst>
            </p:cNvPr>
            <p:cNvSpPr txBox="1">
              <a:spLocks noChangeArrowheads="1"/>
            </p:cNvSpPr>
            <p:nvPr/>
          </p:nvSpPr>
          <p:spPr bwMode="auto">
            <a:xfrm>
              <a:off x="6096000" y="4876800"/>
              <a:ext cx="2895600" cy="13303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marL="119063" indent="-119063" eaLnBrk="0" hangingPunct="0">
                <a:defRPr>
                  <a:solidFill>
                    <a:srgbClr val="000000"/>
                  </a:solidFill>
                  <a:latin typeface="Arial" charset="0"/>
                  <a:ea typeface="ヒラギノ角ゴ ProN W3" charset="0"/>
                  <a:cs typeface="ヒラギノ角ゴ ProN W3" charset="0"/>
                  <a:sym typeface="Arial" charset="0"/>
                </a:defRPr>
              </a:lvl1pPr>
              <a:lvl2pPr marL="742950" indent="-285750" eaLnBrk="0" hangingPunct="0">
                <a:defRPr>
                  <a:solidFill>
                    <a:srgbClr val="000000"/>
                  </a:solidFill>
                  <a:latin typeface="Arial" charset="0"/>
                  <a:ea typeface="ヒラギノ角ゴ ProN W3" charset="0"/>
                  <a:cs typeface="ヒラギノ角ゴ ProN W3" charset="0"/>
                  <a:sym typeface="Arial" charset="0"/>
                </a:defRPr>
              </a:lvl2pPr>
              <a:lvl3pPr marL="1143000" indent="-228600" eaLnBrk="0" hangingPunct="0">
                <a:defRPr>
                  <a:solidFill>
                    <a:srgbClr val="000000"/>
                  </a:solidFill>
                  <a:latin typeface="Arial" charset="0"/>
                  <a:ea typeface="ヒラギノ角ゴ ProN W3" charset="0"/>
                  <a:cs typeface="ヒラギノ角ゴ ProN W3" charset="0"/>
                  <a:sym typeface="Arial" charset="0"/>
                </a:defRPr>
              </a:lvl3pPr>
              <a:lvl4pPr marL="1600200" indent="-228600" eaLnBrk="0" hangingPunct="0">
                <a:defRPr>
                  <a:solidFill>
                    <a:srgbClr val="000000"/>
                  </a:solidFill>
                  <a:latin typeface="Arial" charset="0"/>
                  <a:ea typeface="ヒラギノ角ゴ ProN W3" charset="0"/>
                  <a:cs typeface="ヒラギノ角ゴ ProN W3" charset="0"/>
                  <a:sym typeface="Arial" charset="0"/>
                </a:defRPr>
              </a:lvl4pPr>
              <a:lvl5pPr marL="2057400" indent="-228600" eaLnBrk="0" hangingPunct="0">
                <a:defRPr>
                  <a:solidFill>
                    <a:srgbClr val="000000"/>
                  </a:solidFill>
                  <a:latin typeface="Arial" charset="0"/>
                  <a:ea typeface="ヒラギノ角ゴ ProN W3" charset="0"/>
                  <a:cs typeface="ヒラギノ角ゴ ProN W3" charset="0"/>
                  <a:sym typeface="Arial" charset="0"/>
                </a:defRPr>
              </a:lvl5pPr>
              <a:lvl6pPr marL="25146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6pPr>
              <a:lvl7pPr marL="29718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7pPr>
              <a:lvl8pPr marL="34290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8pPr>
              <a:lvl9pPr marL="38862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9pPr>
            </a:lstStyle>
            <a:p>
              <a:pPr marL="0" marR="0" lvl="0" indent="0" algn="l" defTabSz="914400" rtl="0" eaLnBrk="1" fontAlgn="auto" latinLnBrk="0" hangingPunct="1">
                <a:lnSpc>
                  <a:spcPct val="100000"/>
                </a:lnSpc>
                <a:spcBef>
                  <a:spcPct val="20000"/>
                </a:spcBef>
                <a:spcAft>
                  <a:spcPts val="0"/>
                </a:spcAft>
                <a:buClr>
                  <a:srgbClr val="006AAE"/>
                </a:buClr>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sym typeface="Arial" charset="0"/>
                </a:rPr>
                <a:t>Flexibly deploy decorators at any step to improve performance,  reliability or security</a:t>
              </a:r>
            </a:p>
          </p:txBody>
        </p:sp>
        <p:cxnSp>
          <p:nvCxnSpPr>
            <p:cNvPr id="44" name="Straight Arrow Connector 43">
              <a:extLst>
                <a:ext uri="{FF2B5EF4-FFF2-40B4-BE49-F238E27FC236}">
                  <a16:creationId xmlns:a16="http://schemas.microsoft.com/office/drawing/2014/main" id="{8F8E5D04-CDEF-42C7-B4B2-432BAA81859A}"/>
                </a:ext>
              </a:extLst>
            </p:cNvPr>
            <p:cNvCxnSpPr>
              <a:cxnSpLocks noChangeShapeType="1"/>
            </p:cNvCxnSpPr>
            <p:nvPr/>
          </p:nvCxnSpPr>
          <p:spPr bwMode="auto">
            <a:xfrm rot="10800000">
              <a:off x="5659438" y="4129088"/>
              <a:ext cx="858837" cy="600075"/>
            </a:xfrm>
            <a:prstGeom prst="straightConnector1">
              <a:avLst/>
            </a:prstGeom>
            <a:noFill/>
            <a:ln w="6350">
              <a:solidFill>
                <a:srgbClr val="000000"/>
              </a:solidFill>
              <a:prstDash val="dash"/>
              <a:round/>
              <a:headEnd/>
              <a:tailEnd type="stealth" w="med" len="med"/>
            </a:ln>
            <a:effectLst>
              <a:outerShdw blurRad="63500" dist="20000" dir="5400000" rotWithShape="0">
                <a:srgbClr val="000000">
                  <a:alpha val="37999"/>
                </a:srgbClr>
              </a:outerShdw>
            </a:effectLst>
            <a:extLst>
              <a:ext uri="{909E8E84-426E-40dd-AFC4-6F175D3DCCD1}">
                <a14:hiddenFill xmlns:a14="http://schemas.microsoft.com/office/drawing/2010/main" xmlns="">
                  <a:noFill/>
                </a14:hiddenFill>
              </a:ext>
            </a:extLst>
          </p:spPr>
        </p:cxnSp>
        <p:sp>
          <p:nvSpPr>
            <p:cNvPr id="45" name="Rectangle 2">
              <a:extLst>
                <a:ext uri="{FF2B5EF4-FFF2-40B4-BE49-F238E27FC236}">
                  <a16:creationId xmlns:a16="http://schemas.microsoft.com/office/drawing/2014/main" id="{65E015D6-9FD1-414F-AFD0-E44E182CF306}"/>
                </a:ext>
              </a:extLst>
            </p:cNvPr>
            <p:cNvSpPr txBox="1">
              <a:spLocks noChangeArrowheads="1"/>
            </p:cNvSpPr>
            <p:nvPr/>
          </p:nvSpPr>
          <p:spPr bwMode="auto">
            <a:xfrm>
              <a:off x="6172200" y="3276600"/>
              <a:ext cx="3124200" cy="990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marL="119063" indent="-119063" eaLnBrk="0" hangingPunct="0">
                <a:defRPr>
                  <a:solidFill>
                    <a:srgbClr val="000000"/>
                  </a:solidFill>
                  <a:latin typeface="Arial" charset="0"/>
                  <a:ea typeface="ヒラギノ角ゴ ProN W3" charset="0"/>
                  <a:cs typeface="ヒラギノ角ゴ ProN W3" charset="0"/>
                  <a:sym typeface="Arial" charset="0"/>
                </a:defRPr>
              </a:lvl1pPr>
              <a:lvl2pPr marL="742950" indent="-285750" eaLnBrk="0" hangingPunct="0">
                <a:defRPr>
                  <a:solidFill>
                    <a:srgbClr val="000000"/>
                  </a:solidFill>
                  <a:latin typeface="Arial" charset="0"/>
                  <a:ea typeface="ヒラギノ角ゴ ProN W3" charset="0"/>
                  <a:cs typeface="ヒラギノ角ゴ ProN W3" charset="0"/>
                  <a:sym typeface="Arial" charset="0"/>
                </a:defRPr>
              </a:lvl2pPr>
              <a:lvl3pPr marL="1143000" indent="-228600" eaLnBrk="0" hangingPunct="0">
                <a:defRPr>
                  <a:solidFill>
                    <a:srgbClr val="000000"/>
                  </a:solidFill>
                  <a:latin typeface="Arial" charset="0"/>
                  <a:ea typeface="ヒラギノ角ゴ ProN W3" charset="0"/>
                  <a:cs typeface="ヒラギノ角ゴ ProN W3" charset="0"/>
                  <a:sym typeface="Arial" charset="0"/>
                </a:defRPr>
              </a:lvl3pPr>
              <a:lvl4pPr marL="1600200" indent="-228600" eaLnBrk="0" hangingPunct="0">
                <a:defRPr>
                  <a:solidFill>
                    <a:srgbClr val="000000"/>
                  </a:solidFill>
                  <a:latin typeface="Arial" charset="0"/>
                  <a:ea typeface="ヒラギノ角ゴ ProN W3" charset="0"/>
                  <a:cs typeface="ヒラギノ角ゴ ProN W3" charset="0"/>
                  <a:sym typeface="Arial" charset="0"/>
                </a:defRPr>
              </a:lvl4pPr>
              <a:lvl5pPr marL="2057400" indent="-228600" eaLnBrk="0" hangingPunct="0">
                <a:defRPr>
                  <a:solidFill>
                    <a:srgbClr val="000000"/>
                  </a:solidFill>
                  <a:latin typeface="Arial" charset="0"/>
                  <a:ea typeface="ヒラギノ角ゴ ProN W3" charset="0"/>
                  <a:cs typeface="ヒラギノ角ゴ ProN W3" charset="0"/>
                  <a:sym typeface="Arial" charset="0"/>
                </a:defRPr>
              </a:lvl5pPr>
              <a:lvl6pPr marL="25146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6pPr>
              <a:lvl7pPr marL="29718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7pPr>
              <a:lvl8pPr marL="34290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8pPr>
              <a:lvl9pPr marL="38862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9pPr>
            </a:lstStyle>
            <a:p>
              <a:pPr marL="0" marR="0" lvl="0" indent="0" algn="l" defTabSz="914400" rtl="0" eaLnBrk="1" fontAlgn="auto" latinLnBrk="0" hangingPunct="1">
                <a:lnSpc>
                  <a:spcPct val="100000"/>
                </a:lnSpc>
                <a:spcBef>
                  <a:spcPct val="20000"/>
                </a:spcBef>
                <a:spcAft>
                  <a:spcPts val="0"/>
                </a:spcAft>
                <a:buClr>
                  <a:srgbClr val="006AAE"/>
                </a:buClr>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sym typeface="Arial" charset="0"/>
                </a:rPr>
                <a:t>Optionally pre-process incoming data: perform transformations, suppressions, metadata enrichment</a:t>
              </a:r>
            </a:p>
          </p:txBody>
        </p:sp>
        <p:cxnSp>
          <p:nvCxnSpPr>
            <p:cNvPr id="46" name="Straight Arrow Connector 45">
              <a:extLst>
                <a:ext uri="{FF2B5EF4-FFF2-40B4-BE49-F238E27FC236}">
                  <a16:creationId xmlns:a16="http://schemas.microsoft.com/office/drawing/2014/main" id="{6B6D77BD-8BD8-4322-AA03-6B902A45C4D6}"/>
                </a:ext>
              </a:extLst>
            </p:cNvPr>
            <p:cNvCxnSpPr>
              <a:cxnSpLocks noChangeShapeType="1"/>
            </p:cNvCxnSpPr>
            <p:nvPr/>
          </p:nvCxnSpPr>
          <p:spPr bwMode="auto">
            <a:xfrm rot="10800000" flipV="1">
              <a:off x="5668963" y="3665538"/>
              <a:ext cx="217487" cy="0"/>
            </a:xfrm>
            <a:prstGeom prst="straightConnector1">
              <a:avLst/>
            </a:prstGeom>
            <a:noFill/>
            <a:ln w="6350">
              <a:solidFill>
                <a:srgbClr val="000000"/>
              </a:solidFill>
              <a:prstDash val="dash"/>
              <a:round/>
              <a:headEnd/>
              <a:tailEnd type="stealth" w="med" len="med"/>
            </a:ln>
            <a:effectLst>
              <a:outerShdw blurRad="63500" dist="20000" dir="5400000" rotWithShape="0">
                <a:srgbClr val="000000">
                  <a:alpha val="37999"/>
                </a:srgbClr>
              </a:outerShdw>
            </a:effectLst>
            <a:extLst>
              <a:ext uri="{909E8E84-426E-40dd-AFC4-6F175D3DCCD1}">
                <a14:hiddenFill xmlns:a14="http://schemas.microsoft.com/office/drawing/2010/main" xmlns="">
                  <a:noFill/>
                </a14:hiddenFill>
              </a:ext>
            </a:extLst>
          </p:spPr>
        </p:cxnSp>
        <p:cxnSp>
          <p:nvCxnSpPr>
            <p:cNvPr id="47" name="Straight Arrow Connector 46">
              <a:extLst>
                <a:ext uri="{FF2B5EF4-FFF2-40B4-BE49-F238E27FC236}">
                  <a16:creationId xmlns:a16="http://schemas.microsoft.com/office/drawing/2014/main" id="{CD318978-B7F2-4F7A-847C-8F5533E13C56}"/>
                </a:ext>
              </a:extLst>
            </p:cNvPr>
            <p:cNvCxnSpPr>
              <a:cxnSpLocks noChangeShapeType="1"/>
            </p:cNvCxnSpPr>
            <p:nvPr/>
          </p:nvCxnSpPr>
          <p:spPr bwMode="auto">
            <a:xfrm rot="5400000">
              <a:off x="3979069" y="2350294"/>
              <a:ext cx="123825" cy="1587"/>
            </a:xfrm>
            <a:prstGeom prst="straightConnector1">
              <a:avLst/>
            </a:prstGeom>
            <a:noFill/>
            <a:ln w="12700">
              <a:solidFill>
                <a:schemeClr val="accent1"/>
              </a:solidFill>
              <a:round/>
              <a:headEnd/>
              <a:tailEnd type="stealth" w="med" len="med"/>
            </a:ln>
            <a:effectLst>
              <a:outerShdw blurRad="63500" dist="20000" dir="5400000" rotWithShape="0">
                <a:srgbClr val="000000">
                  <a:alpha val="37999"/>
                </a:srgbClr>
              </a:outerShdw>
            </a:effectLst>
            <a:extLst>
              <a:ext uri="{909E8E84-426E-40dd-AFC4-6F175D3DCCD1}">
                <a14:hiddenFill xmlns:a14="http://schemas.microsoft.com/office/drawing/2010/main" xmlns="">
                  <a:noFill/>
                </a14:hiddenFill>
              </a:ext>
            </a:extLst>
          </p:spPr>
        </p:cxnSp>
        <p:cxnSp>
          <p:nvCxnSpPr>
            <p:cNvPr id="48" name="Straight Arrow Connector 47">
              <a:extLst>
                <a:ext uri="{FF2B5EF4-FFF2-40B4-BE49-F238E27FC236}">
                  <a16:creationId xmlns:a16="http://schemas.microsoft.com/office/drawing/2014/main" id="{793912BF-381C-45C5-9428-2F007637B8A3}"/>
                </a:ext>
              </a:extLst>
            </p:cNvPr>
            <p:cNvCxnSpPr>
              <a:cxnSpLocks noChangeShapeType="1"/>
            </p:cNvCxnSpPr>
            <p:nvPr/>
          </p:nvCxnSpPr>
          <p:spPr bwMode="auto">
            <a:xfrm rot="5400000">
              <a:off x="4749006" y="2358232"/>
              <a:ext cx="123825" cy="1588"/>
            </a:xfrm>
            <a:prstGeom prst="straightConnector1">
              <a:avLst/>
            </a:prstGeom>
            <a:noFill/>
            <a:ln w="12700">
              <a:solidFill>
                <a:schemeClr val="accent1"/>
              </a:solidFill>
              <a:round/>
              <a:headEnd/>
              <a:tailEnd type="stealth" w="med" len="med"/>
            </a:ln>
            <a:effectLst>
              <a:outerShdw blurRad="63500" dist="20000" dir="5400000" rotWithShape="0">
                <a:srgbClr val="000000">
                  <a:alpha val="37999"/>
                </a:srgbClr>
              </a:outerShdw>
            </a:effectLst>
            <a:extLst>
              <a:ext uri="{909E8E84-426E-40dd-AFC4-6F175D3DCCD1}">
                <a14:hiddenFill xmlns:a14="http://schemas.microsoft.com/office/drawing/2010/main" xmlns="">
                  <a:noFill/>
                </a14:hiddenFill>
              </a:ext>
            </a:extLst>
          </p:spPr>
        </p:cxnSp>
        <p:cxnSp>
          <p:nvCxnSpPr>
            <p:cNvPr id="49" name="Straight Arrow Connector 48">
              <a:extLst>
                <a:ext uri="{FF2B5EF4-FFF2-40B4-BE49-F238E27FC236}">
                  <a16:creationId xmlns:a16="http://schemas.microsoft.com/office/drawing/2014/main" id="{5CFE61C4-8DC6-4D39-9F45-7B51FEE74BFD}"/>
                </a:ext>
              </a:extLst>
            </p:cNvPr>
            <p:cNvCxnSpPr>
              <a:cxnSpLocks noChangeShapeType="1"/>
            </p:cNvCxnSpPr>
            <p:nvPr/>
          </p:nvCxnSpPr>
          <p:spPr bwMode="auto">
            <a:xfrm rot="5400000">
              <a:off x="5604669" y="2367757"/>
              <a:ext cx="123825" cy="1587"/>
            </a:xfrm>
            <a:prstGeom prst="straightConnector1">
              <a:avLst/>
            </a:prstGeom>
            <a:noFill/>
            <a:ln w="12700">
              <a:solidFill>
                <a:schemeClr val="accent1"/>
              </a:solidFill>
              <a:round/>
              <a:headEnd/>
              <a:tailEnd type="stealth" w="med" len="med"/>
            </a:ln>
            <a:effectLst>
              <a:outerShdw blurRad="63500" dist="20000" dir="5400000" rotWithShape="0">
                <a:srgbClr val="000000">
                  <a:alpha val="37999"/>
                </a:srgbClr>
              </a:outerShdw>
            </a:effectLst>
            <a:extLst>
              <a:ext uri="{909E8E84-426E-40dd-AFC4-6F175D3DCCD1}">
                <a14:hiddenFill xmlns:a14="http://schemas.microsoft.com/office/drawing/2010/main" xmlns="">
                  <a:noFill/>
                </a14:hiddenFill>
              </a:ext>
            </a:extLst>
          </p:spPr>
        </p:cxnSp>
        <p:cxnSp>
          <p:nvCxnSpPr>
            <p:cNvPr id="50" name="Straight Arrow Connector 49">
              <a:extLst>
                <a:ext uri="{FF2B5EF4-FFF2-40B4-BE49-F238E27FC236}">
                  <a16:creationId xmlns:a16="http://schemas.microsoft.com/office/drawing/2014/main" id="{AA4D1B8B-6520-4F88-BCE0-3ED05B8CAA9F}"/>
                </a:ext>
              </a:extLst>
            </p:cNvPr>
            <p:cNvCxnSpPr>
              <a:cxnSpLocks noChangeShapeType="1"/>
            </p:cNvCxnSpPr>
            <p:nvPr/>
          </p:nvCxnSpPr>
          <p:spPr bwMode="auto">
            <a:xfrm rot="5400000">
              <a:off x="2793206" y="2350294"/>
              <a:ext cx="123825" cy="1588"/>
            </a:xfrm>
            <a:prstGeom prst="straightConnector1">
              <a:avLst/>
            </a:prstGeom>
            <a:noFill/>
            <a:ln w="12700">
              <a:solidFill>
                <a:schemeClr val="accent1"/>
              </a:solidFill>
              <a:round/>
              <a:headEnd/>
              <a:tailEnd type="stealth" w="med" len="med"/>
            </a:ln>
            <a:effectLst>
              <a:outerShdw blurRad="63500" dist="20000" dir="5400000" rotWithShape="0">
                <a:srgbClr val="000000">
                  <a:alpha val="37999"/>
                </a:srgbClr>
              </a:outerShdw>
            </a:effectLst>
            <a:extLst>
              <a:ext uri="{909E8E84-426E-40dd-AFC4-6F175D3DCCD1}">
                <a14:hiddenFill xmlns:a14="http://schemas.microsoft.com/office/drawing/2010/main" xmlns="">
                  <a:noFill/>
                </a14:hiddenFill>
              </a:ext>
            </a:extLst>
          </p:spPr>
        </p:cxnSp>
        <p:sp>
          <p:nvSpPr>
            <p:cNvPr id="51" name="Rectangle 2">
              <a:extLst>
                <a:ext uri="{FF2B5EF4-FFF2-40B4-BE49-F238E27FC236}">
                  <a16:creationId xmlns:a16="http://schemas.microsoft.com/office/drawing/2014/main" id="{D3B9F5C6-0B3B-4E26-B50E-150F3067D087}"/>
                </a:ext>
              </a:extLst>
            </p:cNvPr>
            <p:cNvSpPr txBox="1">
              <a:spLocks noChangeArrowheads="1"/>
            </p:cNvSpPr>
            <p:nvPr/>
          </p:nvSpPr>
          <p:spPr>
            <a:xfrm>
              <a:off x="228600" y="4495800"/>
              <a:ext cx="3171825" cy="1981200"/>
            </a:xfrm>
            <a:prstGeom prst="rect">
              <a:avLst/>
            </a:prstGeom>
            <a:ln>
              <a:noFill/>
            </a:ln>
          </p:spPr>
          <p:txBody>
            <a:bodyPr/>
            <a:lstStyle>
              <a:lvl1pPr marL="342900" indent="-342900" defTabSz="457200" eaLnBrk="0" hangingPunct="0">
                <a:defRPr>
                  <a:solidFill>
                    <a:srgbClr val="000000"/>
                  </a:solidFill>
                  <a:latin typeface="Arial" charset="0"/>
                  <a:ea typeface="ヒラギノ角ゴ ProN W3" charset="0"/>
                  <a:cs typeface="ヒラギノ角ゴ ProN W3" charset="0"/>
                  <a:sym typeface="Arial" charset="0"/>
                </a:defRPr>
              </a:lvl1pPr>
              <a:lvl2pPr marL="742950" indent="-285750" defTabSz="457200" eaLnBrk="0" hangingPunct="0">
                <a:defRPr>
                  <a:solidFill>
                    <a:srgbClr val="000000"/>
                  </a:solidFill>
                  <a:latin typeface="Arial" charset="0"/>
                  <a:ea typeface="ヒラギノ角ゴ ProN W3" charset="0"/>
                  <a:cs typeface="ヒラギノ角ゴ ProN W3" charset="0"/>
                  <a:sym typeface="Arial" charset="0"/>
                </a:defRPr>
              </a:lvl2pPr>
              <a:lvl3pPr marL="1143000" indent="-228600" defTabSz="457200" eaLnBrk="0" hangingPunct="0">
                <a:defRPr>
                  <a:solidFill>
                    <a:srgbClr val="000000"/>
                  </a:solidFill>
                  <a:latin typeface="Arial" charset="0"/>
                  <a:ea typeface="ヒラギノ角ゴ ProN W3" charset="0"/>
                  <a:cs typeface="ヒラギノ角ゴ ProN W3" charset="0"/>
                  <a:sym typeface="Arial" charset="0"/>
                </a:defRPr>
              </a:lvl3pPr>
              <a:lvl4pPr marL="1600200" indent="-228600" defTabSz="457200" eaLnBrk="0" hangingPunct="0">
                <a:defRPr>
                  <a:solidFill>
                    <a:srgbClr val="000000"/>
                  </a:solidFill>
                  <a:latin typeface="Arial" charset="0"/>
                  <a:ea typeface="ヒラギノ角ゴ ProN W3" charset="0"/>
                  <a:cs typeface="ヒラギノ角ゴ ProN W3" charset="0"/>
                  <a:sym typeface="Arial" charset="0"/>
                </a:defRPr>
              </a:lvl4pPr>
              <a:lvl5pPr marL="2057400" indent="-228600" defTabSz="457200" eaLnBrk="0" hangingPunct="0">
                <a:defRPr>
                  <a:solidFill>
                    <a:srgbClr val="000000"/>
                  </a:solidFill>
                  <a:latin typeface="Arial" charset="0"/>
                  <a:ea typeface="ヒラギノ角ゴ ProN W3" charset="0"/>
                  <a:cs typeface="ヒラギノ角ゴ ProN W3" charset="0"/>
                  <a:sym typeface="Arial" charset="0"/>
                </a:defRPr>
              </a:lvl5pPr>
              <a:lvl6pPr marL="25146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6pPr>
              <a:lvl7pPr marL="29718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7pPr>
              <a:lvl8pPr marL="34290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8pPr>
              <a:lvl9pPr marL="38862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9pPr>
            </a:lstStyle>
            <a:p>
              <a:pPr marL="0" marR="0" lvl="0" indent="0" algn="l" defTabSz="457200" rtl="0" eaLnBrk="1" fontAlgn="auto" latinLnBrk="0" hangingPunct="1">
                <a:lnSpc>
                  <a:spcPct val="100000"/>
                </a:lnSpc>
                <a:spcBef>
                  <a:spcPct val="20000"/>
                </a:spcBef>
                <a:spcAft>
                  <a:spcPts val="0"/>
                </a:spcAft>
                <a:buClr>
                  <a:srgbClr val="006AAE"/>
                </a:buClr>
                <a:buSzTx/>
                <a:buFontTx/>
                <a:buNone/>
                <a:tabLst/>
                <a:defRPr/>
              </a:pPr>
              <a:endParaRPr kumimoji="0" lang="en-US" sz="1400" b="0" i="0" u="none" strike="noStrike" kern="1200" cap="none" spc="0" normalizeH="0" baseline="0" noProof="0" dirty="0">
                <a:ln>
                  <a:noFill/>
                </a:ln>
                <a:solidFill>
                  <a:prstClr val="black"/>
                </a:solidFill>
                <a:effectLst/>
                <a:uLnTx/>
                <a:uFillTx/>
                <a:latin typeface="Monaco" charset="0"/>
                <a:cs typeface="Verdana" charset="0"/>
                <a:sym typeface="Arial" charset="0"/>
              </a:endParaRPr>
            </a:p>
            <a:p>
              <a:pPr marL="0" marR="0" lvl="0" indent="0" algn="l" defTabSz="457200" rtl="0" eaLnBrk="1" fontAlgn="auto" latinLnBrk="0" hangingPunct="1">
                <a:lnSpc>
                  <a:spcPct val="100000"/>
                </a:lnSpc>
                <a:spcBef>
                  <a:spcPct val="20000"/>
                </a:spcBef>
                <a:spcAft>
                  <a:spcPts val="0"/>
                </a:spcAft>
                <a:buClr>
                  <a:srgbClr val="006AAE"/>
                </a:buClr>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cs typeface="Verdana" charset="0"/>
                  <a:sym typeface="Arial" charset="0"/>
                </a:rPr>
                <a:t>Writes to multiple HDFS file formats (text, sequence, JSON, Avro, others)</a:t>
              </a:r>
            </a:p>
            <a:p>
              <a:pPr marL="0" marR="0" lvl="0" indent="0" algn="l" defTabSz="457200" rtl="0" eaLnBrk="1" fontAlgn="auto" latinLnBrk="0" hangingPunct="1">
                <a:lnSpc>
                  <a:spcPct val="100000"/>
                </a:lnSpc>
                <a:spcBef>
                  <a:spcPct val="20000"/>
                </a:spcBef>
                <a:spcAft>
                  <a:spcPts val="0"/>
                </a:spcAft>
                <a:buClr>
                  <a:srgbClr val="006AAE"/>
                </a:buClr>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cs typeface="Verdana" charset="0"/>
                  <a:sym typeface="Arial" charset="0"/>
                </a:rPr>
                <a:t>Parallelized writes across many collectors – as much write throughput as </a:t>
              </a:r>
            </a:p>
          </p:txBody>
        </p:sp>
        <p:cxnSp>
          <p:nvCxnSpPr>
            <p:cNvPr id="52" name="Straight Arrow Connector 51">
              <a:extLst>
                <a:ext uri="{FF2B5EF4-FFF2-40B4-BE49-F238E27FC236}">
                  <a16:creationId xmlns:a16="http://schemas.microsoft.com/office/drawing/2014/main" id="{F797FC41-4A41-4F22-9A15-2C37C6B738C4}"/>
                </a:ext>
              </a:extLst>
            </p:cNvPr>
            <p:cNvCxnSpPr>
              <a:cxnSpLocks noChangeShapeType="1"/>
              <a:endCxn id="21" idx="1"/>
            </p:cNvCxnSpPr>
            <p:nvPr/>
          </p:nvCxnSpPr>
          <p:spPr bwMode="auto">
            <a:xfrm>
              <a:off x="3395663" y="4995863"/>
              <a:ext cx="266700" cy="1587"/>
            </a:xfrm>
            <a:prstGeom prst="straightConnector1">
              <a:avLst/>
            </a:prstGeom>
            <a:noFill/>
            <a:ln w="6350">
              <a:solidFill>
                <a:srgbClr val="000000"/>
              </a:solidFill>
              <a:prstDash val="dash"/>
              <a:round/>
              <a:headEnd/>
              <a:tailEnd type="stealth" w="med" len="med"/>
            </a:ln>
            <a:effectLst>
              <a:outerShdw blurRad="63500" dist="20000" dir="5400000" rotWithShape="0">
                <a:srgbClr val="000000">
                  <a:alpha val="37999"/>
                </a:srgbClr>
              </a:outerShdw>
            </a:effectLst>
            <a:extLst>
              <a:ext uri="{909E8E84-426E-40dd-AFC4-6F175D3DCCD1}">
                <a14:hiddenFill xmlns:a14="http://schemas.microsoft.com/office/drawing/2010/main" xmlns="">
                  <a:noFill/>
                </a14:hiddenFill>
              </a:ext>
            </a:extLst>
          </p:spPr>
        </p:cxnSp>
        <p:sp>
          <p:nvSpPr>
            <p:cNvPr id="53" name="Rectangle 52">
              <a:extLst>
                <a:ext uri="{FF2B5EF4-FFF2-40B4-BE49-F238E27FC236}">
                  <a16:creationId xmlns:a16="http://schemas.microsoft.com/office/drawing/2014/main" id="{FB181A65-E81C-48DE-B360-DA677DF4B914}"/>
                </a:ext>
              </a:extLst>
            </p:cNvPr>
            <p:cNvSpPr>
              <a:spLocks noChangeArrowheads="1"/>
            </p:cNvSpPr>
            <p:nvPr/>
          </p:nvSpPr>
          <p:spPr bwMode="auto">
            <a:xfrm>
              <a:off x="676275" y="3224213"/>
              <a:ext cx="850900" cy="319087"/>
            </a:xfrm>
            <a:prstGeom prst="rect">
              <a:avLst/>
            </a:prstGeom>
            <a:solidFill>
              <a:srgbClr val="800000"/>
            </a:solidFill>
            <a:ln w="9525">
              <a:solidFill>
                <a:srgbClr val="00B7FF"/>
              </a:solidFill>
              <a:miter lim="800000"/>
              <a:headEnd/>
              <a:tailEnd/>
            </a:ln>
            <a:effectLst>
              <a:outerShdw blurRad="63500" dist="23000" dir="5400000" rotWithShape="0">
                <a:srgbClr val="000000">
                  <a:alpha val="34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54" name="TextBox 58">
              <a:extLst>
                <a:ext uri="{FF2B5EF4-FFF2-40B4-BE49-F238E27FC236}">
                  <a16:creationId xmlns:a16="http://schemas.microsoft.com/office/drawing/2014/main" id="{D42ECE30-9C47-4276-8655-105104C7542B}"/>
                </a:ext>
              </a:extLst>
            </p:cNvPr>
            <p:cNvSpPr txBox="1">
              <a:spLocks noChangeArrowheads="1"/>
            </p:cNvSpPr>
            <p:nvPr/>
          </p:nvSpPr>
          <p:spPr bwMode="auto">
            <a:xfrm>
              <a:off x="711200" y="3238500"/>
              <a:ext cx="790575" cy="2460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rgbClr val="000000"/>
                  </a:solidFill>
                  <a:latin typeface="Arial" charset="0"/>
                  <a:ea typeface="ヒラギノ角ゴ ProN W3" charset="0"/>
                  <a:cs typeface="ヒラギノ角ゴ ProN W3" charset="0"/>
                  <a:sym typeface="Arial" charset="0"/>
                </a:defRPr>
              </a:lvl1pPr>
              <a:lvl2pPr marL="742950" indent="-285750" eaLnBrk="0" hangingPunct="0">
                <a:defRPr>
                  <a:solidFill>
                    <a:srgbClr val="000000"/>
                  </a:solidFill>
                  <a:latin typeface="Arial" charset="0"/>
                  <a:ea typeface="ヒラギノ角ゴ ProN W3" charset="0"/>
                  <a:cs typeface="ヒラギノ角ゴ ProN W3" charset="0"/>
                  <a:sym typeface="Arial" charset="0"/>
                </a:defRPr>
              </a:lvl2pPr>
              <a:lvl3pPr marL="1143000" indent="-228600" eaLnBrk="0" hangingPunct="0">
                <a:defRPr>
                  <a:solidFill>
                    <a:srgbClr val="000000"/>
                  </a:solidFill>
                  <a:latin typeface="Arial" charset="0"/>
                  <a:ea typeface="ヒラギノ角ゴ ProN W3" charset="0"/>
                  <a:cs typeface="ヒラギノ角ゴ ProN W3" charset="0"/>
                  <a:sym typeface="Arial" charset="0"/>
                </a:defRPr>
              </a:lvl3pPr>
              <a:lvl4pPr marL="1600200" indent="-228600" eaLnBrk="0" hangingPunct="0">
                <a:defRPr>
                  <a:solidFill>
                    <a:srgbClr val="000000"/>
                  </a:solidFill>
                  <a:latin typeface="Arial" charset="0"/>
                  <a:ea typeface="ヒラギノ角ゴ ProN W3" charset="0"/>
                  <a:cs typeface="ヒラギノ角ゴ ProN W3" charset="0"/>
                  <a:sym typeface="Arial" charset="0"/>
                </a:defRPr>
              </a:lvl4pPr>
              <a:lvl5pPr marL="2057400" indent="-228600" eaLnBrk="0" hangingPunct="0">
                <a:defRPr>
                  <a:solidFill>
                    <a:srgbClr val="000000"/>
                  </a:solidFill>
                  <a:latin typeface="Arial" charset="0"/>
                  <a:ea typeface="ヒラギノ角ゴ ProN W3" charset="0"/>
                  <a:cs typeface="ヒラギノ角ゴ ProN W3" charset="0"/>
                  <a:sym typeface="Arial" charset="0"/>
                </a:defRPr>
              </a:lvl5pPr>
              <a:lvl6pPr marL="25146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6pPr>
              <a:lvl7pPr marL="29718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7pPr>
              <a:lvl8pPr marL="34290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8pPr>
              <a:lvl9pPr marL="38862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white"/>
                  </a:solidFill>
                  <a:effectLst/>
                  <a:uLnTx/>
                  <a:uFillTx/>
                  <a:latin typeface="Arial" charset="0"/>
                  <a:sym typeface="Arial" charset="0"/>
                </a:rPr>
                <a:t>MASTER</a:t>
              </a:r>
            </a:p>
          </p:txBody>
        </p:sp>
        <p:cxnSp>
          <p:nvCxnSpPr>
            <p:cNvPr id="55" name="Curved Connector 59">
              <a:extLst>
                <a:ext uri="{FF2B5EF4-FFF2-40B4-BE49-F238E27FC236}">
                  <a16:creationId xmlns:a16="http://schemas.microsoft.com/office/drawing/2014/main" id="{6DAE9C80-29C4-4AE3-8FBA-898F44FE86A1}"/>
                </a:ext>
              </a:extLst>
            </p:cNvPr>
            <p:cNvCxnSpPr>
              <a:cxnSpLocks noChangeShapeType="1"/>
              <a:stCxn id="53" idx="3"/>
            </p:cNvCxnSpPr>
            <p:nvPr/>
          </p:nvCxnSpPr>
          <p:spPr bwMode="auto">
            <a:xfrm flipV="1">
              <a:off x="1527175" y="2546350"/>
              <a:ext cx="1023938" cy="838200"/>
            </a:xfrm>
            <a:prstGeom prst="curvedConnector3">
              <a:avLst>
                <a:gd name="adj1" fmla="val 50000"/>
              </a:avLst>
            </a:prstGeom>
            <a:noFill/>
            <a:ln w="12700">
              <a:solidFill>
                <a:srgbClr val="A6A6A6"/>
              </a:solidFill>
              <a:prstDash val="sysDot"/>
              <a:round/>
              <a:headEnd type="arrow" w="med" len="med"/>
              <a:tailEnd type="arrow" w="med" len="med"/>
            </a:ln>
            <a:effectLst>
              <a:outerShdw blurRad="63500" dist="20000" dir="5400000" rotWithShape="0">
                <a:srgbClr val="000000">
                  <a:alpha val="37999"/>
                </a:srgbClr>
              </a:outerShdw>
            </a:effectLst>
            <a:extLst>
              <a:ext uri="{909E8E84-426E-40dd-AFC4-6F175D3DCCD1}">
                <a14:hiddenFill xmlns:a14="http://schemas.microsoft.com/office/drawing/2010/main" xmlns="">
                  <a:noFill/>
                </a14:hiddenFill>
              </a:ext>
            </a:extLst>
          </p:spPr>
        </p:cxnSp>
        <p:cxnSp>
          <p:nvCxnSpPr>
            <p:cNvPr id="56" name="Curved Connector 60">
              <a:extLst>
                <a:ext uri="{FF2B5EF4-FFF2-40B4-BE49-F238E27FC236}">
                  <a16:creationId xmlns:a16="http://schemas.microsoft.com/office/drawing/2014/main" id="{115BDD4D-37E5-4F84-8F62-BAFC79A33BA6}"/>
                </a:ext>
              </a:extLst>
            </p:cNvPr>
            <p:cNvCxnSpPr>
              <a:cxnSpLocks noChangeShapeType="1"/>
              <a:stCxn id="54" idx="3"/>
              <a:endCxn id="12" idx="2"/>
            </p:cNvCxnSpPr>
            <p:nvPr/>
          </p:nvCxnSpPr>
          <p:spPr bwMode="auto">
            <a:xfrm flipV="1">
              <a:off x="1501775" y="2732088"/>
              <a:ext cx="2520950" cy="628650"/>
            </a:xfrm>
            <a:prstGeom prst="curvedConnector2">
              <a:avLst/>
            </a:prstGeom>
            <a:noFill/>
            <a:ln w="12700">
              <a:solidFill>
                <a:srgbClr val="A6A6A6"/>
              </a:solidFill>
              <a:prstDash val="sysDot"/>
              <a:round/>
              <a:headEnd type="arrow" w="med" len="med"/>
              <a:tailEnd type="arrow" w="med" len="med"/>
            </a:ln>
            <a:effectLst>
              <a:outerShdw blurRad="63500" dist="20000" dir="5400000" rotWithShape="0">
                <a:srgbClr val="000000">
                  <a:alpha val="37999"/>
                </a:srgbClr>
              </a:outerShdw>
            </a:effectLst>
            <a:extLst>
              <a:ext uri="{909E8E84-426E-40dd-AFC4-6F175D3DCCD1}">
                <a14:hiddenFill xmlns:a14="http://schemas.microsoft.com/office/drawing/2010/main" xmlns="">
                  <a:noFill/>
                </a14:hiddenFill>
              </a:ext>
            </a:extLst>
          </p:spPr>
        </p:cxnSp>
        <p:cxnSp>
          <p:nvCxnSpPr>
            <p:cNvPr id="57" name="Curved Connector 60">
              <a:extLst>
                <a:ext uri="{FF2B5EF4-FFF2-40B4-BE49-F238E27FC236}">
                  <a16:creationId xmlns:a16="http://schemas.microsoft.com/office/drawing/2014/main" id="{1EF187BF-ABC8-42AE-A059-D2FB399809E7}"/>
                </a:ext>
              </a:extLst>
            </p:cNvPr>
            <p:cNvCxnSpPr>
              <a:cxnSpLocks noChangeShapeType="1"/>
              <a:stCxn id="53" idx="3"/>
              <a:endCxn id="14" idx="2"/>
            </p:cNvCxnSpPr>
            <p:nvPr/>
          </p:nvCxnSpPr>
          <p:spPr bwMode="auto">
            <a:xfrm flipV="1">
              <a:off x="1527175" y="2740025"/>
              <a:ext cx="3284538" cy="644525"/>
            </a:xfrm>
            <a:prstGeom prst="curvedConnector2">
              <a:avLst/>
            </a:prstGeom>
            <a:noFill/>
            <a:ln w="12700">
              <a:solidFill>
                <a:srgbClr val="A6A6A6"/>
              </a:solidFill>
              <a:prstDash val="sysDot"/>
              <a:round/>
              <a:headEnd type="arrow" w="med" len="med"/>
              <a:tailEnd type="arrow" w="med" len="med"/>
            </a:ln>
            <a:effectLst>
              <a:outerShdw blurRad="63500" dist="20000" dir="5400000" rotWithShape="0">
                <a:srgbClr val="000000">
                  <a:alpha val="37999"/>
                </a:srgbClr>
              </a:outerShdw>
            </a:effectLst>
            <a:extLst>
              <a:ext uri="{909E8E84-426E-40dd-AFC4-6F175D3DCCD1}">
                <a14:hiddenFill xmlns:a14="http://schemas.microsoft.com/office/drawing/2010/main" xmlns="">
                  <a:noFill/>
                </a14:hiddenFill>
              </a:ext>
            </a:extLst>
          </p:spPr>
        </p:cxnSp>
        <p:cxnSp>
          <p:nvCxnSpPr>
            <p:cNvPr id="58" name="Curved Connector 60">
              <a:extLst>
                <a:ext uri="{FF2B5EF4-FFF2-40B4-BE49-F238E27FC236}">
                  <a16:creationId xmlns:a16="http://schemas.microsoft.com/office/drawing/2014/main" id="{5AA3DE54-92B4-43D2-8B0C-3A7C22FD578F}"/>
                </a:ext>
              </a:extLst>
            </p:cNvPr>
            <p:cNvCxnSpPr>
              <a:cxnSpLocks noChangeShapeType="1"/>
              <a:stCxn id="53" idx="3"/>
              <a:endCxn id="25" idx="2"/>
            </p:cNvCxnSpPr>
            <p:nvPr/>
          </p:nvCxnSpPr>
          <p:spPr bwMode="auto">
            <a:xfrm flipV="1">
              <a:off x="1527175" y="2740025"/>
              <a:ext cx="4106863" cy="644525"/>
            </a:xfrm>
            <a:prstGeom prst="curvedConnector2">
              <a:avLst/>
            </a:prstGeom>
            <a:noFill/>
            <a:ln w="12700">
              <a:solidFill>
                <a:srgbClr val="A6A6A6"/>
              </a:solidFill>
              <a:prstDash val="sysDot"/>
              <a:round/>
              <a:headEnd type="arrow" w="med" len="med"/>
              <a:tailEnd type="arrow" w="med" len="med"/>
            </a:ln>
            <a:effectLst>
              <a:outerShdw blurRad="63500" dist="20000" dir="5400000" rotWithShape="0">
                <a:srgbClr val="000000">
                  <a:alpha val="37999"/>
                </a:srgbClr>
              </a:outerShdw>
            </a:effectLst>
            <a:extLst>
              <a:ext uri="{909E8E84-426E-40dd-AFC4-6F175D3DCCD1}">
                <a14:hiddenFill xmlns:a14="http://schemas.microsoft.com/office/drawing/2010/main" xmlns="">
                  <a:noFill/>
                </a14:hiddenFill>
              </a:ext>
            </a:extLst>
          </p:spPr>
        </p:cxnSp>
        <p:cxnSp>
          <p:nvCxnSpPr>
            <p:cNvPr id="59" name="Curved Connector 60">
              <a:extLst>
                <a:ext uri="{FF2B5EF4-FFF2-40B4-BE49-F238E27FC236}">
                  <a16:creationId xmlns:a16="http://schemas.microsoft.com/office/drawing/2014/main" id="{860A6FBE-1E59-435D-8FE5-96AAA99C9C12}"/>
                </a:ext>
              </a:extLst>
            </p:cNvPr>
            <p:cNvCxnSpPr>
              <a:cxnSpLocks noChangeShapeType="1"/>
              <a:stCxn id="54" idx="3"/>
              <a:endCxn id="17" idx="1"/>
            </p:cNvCxnSpPr>
            <p:nvPr/>
          </p:nvCxnSpPr>
          <p:spPr bwMode="auto">
            <a:xfrm>
              <a:off x="1501775" y="3360738"/>
              <a:ext cx="1460500" cy="261937"/>
            </a:xfrm>
            <a:prstGeom prst="curvedConnector3">
              <a:avLst>
                <a:gd name="adj1" fmla="val 50000"/>
              </a:avLst>
            </a:prstGeom>
            <a:noFill/>
            <a:ln w="12700">
              <a:solidFill>
                <a:srgbClr val="A6A6A6"/>
              </a:solidFill>
              <a:prstDash val="sysDot"/>
              <a:round/>
              <a:headEnd type="arrow" w="med" len="med"/>
              <a:tailEnd type="arrow" w="med" len="med"/>
            </a:ln>
            <a:effectLst>
              <a:outerShdw blurRad="63500" dist="20000" dir="5400000" rotWithShape="0">
                <a:srgbClr val="000000">
                  <a:alpha val="37999"/>
                </a:srgbClr>
              </a:outerShdw>
            </a:effectLst>
            <a:extLst>
              <a:ext uri="{909E8E84-426E-40dd-AFC4-6F175D3DCCD1}">
                <a14:hiddenFill xmlns:a14="http://schemas.microsoft.com/office/drawing/2010/main" xmlns="">
                  <a:noFill/>
                </a14:hiddenFill>
              </a:ext>
            </a:extLst>
          </p:spPr>
        </p:cxnSp>
        <p:cxnSp>
          <p:nvCxnSpPr>
            <p:cNvPr id="60" name="Curved Connector 60">
              <a:extLst>
                <a:ext uri="{FF2B5EF4-FFF2-40B4-BE49-F238E27FC236}">
                  <a16:creationId xmlns:a16="http://schemas.microsoft.com/office/drawing/2014/main" id="{51E67AF8-3BA0-47E9-AB0D-D495B7483C29}"/>
                </a:ext>
              </a:extLst>
            </p:cNvPr>
            <p:cNvCxnSpPr>
              <a:cxnSpLocks noChangeShapeType="1"/>
              <a:stCxn id="54" idx="3"/>
              <a:endCxn id="18" idx="1"/>
            </p:cNvCxnSpPr>
            <p:nvPr/>
          </p:nvCxnSpPr>
          <p:spPr bwMode="auto">
            <a:xfrm>
              <a:off x="1501775" y="3360738"/>
              <a:ext cx="3294063" cy="265112"/>
            </a:xfrm>
            <a:prstGeom prst="curvedConnector3">
              <a:avLst>
                <a:gd name="adj1" fmla="val 50000"/>
              </a:avLst>
            </a:prstGeom>
            <a:noFill/>
            <a:ln w="12700">
              <a:solidFill>
                <a:srgbClr val="A6A6A6"/>
              </a:solidFill>
              <a:prstDash val="sysDot"/>
              <a:round/>
              <a:headEnd type="arrow" w="med" len="med"/>
              <a:tailEnd type="arrow" w="med" len="med"/>
            </a:ln>
            <a:effectLst>
              <a:outerShdw blurRad="63500" dist="20000" dir="5400000" rotWithShape="0">
                <a:srgbClr val="000000">
                  <a:alpha val="37999"/>
                </a:srgbClr>
              </a:outerShdw>
            </a:effectLst>
            <a:extLst>
              <a:ext uri="{909E8E84-426E-40dd-AFC4-6F175D3DCCD1}">
                <a14:hiddenFill xmlns:a14="http://schemas.microsoft.com/office/drawing/2010/main" xmlns="">
                  <a:noFill/>
                </a14:hiddenFill>
              </a:ext>
            </a:extLst>
          </p:spPr>
        </p:cxnSp>
        <p:cxnSp>
          <p:nvCxnSpPr>
            <p:cNvPr id="61" name="Curved Connector 60">
              <a:extLst>
                <a:ext uri="{FF2B5EF4-FFF2-40B4-BE49-F238E27FC236}">
                  <a16:creationId xmlns:a16="http://schemas.microsoft.com/office/drawing/2014/main" id="{6AC62AF1-38EE-492C-819A-F39E4FB4DE5D}"/>
                </a:ext>
              </a:extLst>
            </p:cNvPr>
            <p:cNvCxnSpPr>
              <a:cxnSpLocks noChangeShapeType="1"/>
              <a:stCxn id="53" idx="3"/>
              <a:endCxn id="4" idx="1"/>
            </p:cNvCxnSpPr>
            <p:nvPr/>
          </p:nvCxnSpPr>
          <p:spPr bwMode="auto">
            <a:xfrm>
              <a:off x="1527175" y="3384550"/>
              <a:ext cx="2112963" cy="1520825"/>
            </a:xfrm>
            <a:prstGeom prst="curvedConnector3">
              <a:avLst>
                <a:gd name="adj1" fmla="val 59106"/>
              </a:avLst>
            </a:prstGeom>
            <a:noFill/>
            <a:ln w="12700">
              <a:solidFill>
                <a:srgbClr val="A6A6A6"/>
              </a:solidFill>
              <a:prstDash val="sysDot"/>
              <a:round/>
              <a:headEnd type="arrow" w="med" len="med"/>
              <a:tailEnd type="arrow" w="med" len="med"/>
            </a:ln>
            <a:effectLst>
              <a:outerShdw blurRad="63500" dist="20000" dir="5400000" rotWithShape="0">
                <a:srgbClr val="000000">
                  <a:alpha val="37999"/>
                </a:srgbClr>
              </a:outerShdw>
            </a:effectLst>
            <a:extLst>
              <a:ext uri="{909E8E84-426E-40dd-AFC4-6F175D3DCCD1}">
                <a14:hiddenFill xmlns:a14="http://schemas.microsoft.com/office/drawing/2010/main" xmlns="">
                  <a:noFill/>
                </a14:hiddenFill>
              </a:ext>
            </a:extLst>
          </p:spPr>
        </p:cxnSp>
        <p:sp>
          <p:nvSpPr>
            <p:cNvPr id="62" name="Rectangle 2">
              <a:extLst>
                <a:ext uri="{FF2B5EF4-FFF2-40B4-BE49-F238E27FC236}">
                  <a16:creationId xmlns:a16="http://schemas.microsoft.com/office/drawing/2014/main" id="{B82FB468-E593-4DF1-BF77-6283310AA9B5}"/>
                </a:ext>
              </a:extLst>
            </p:cNvPr>
            <p:cNvSpPr txBox="1">
              <a:spLocks noChangeArrowheads="1"/>
            </p:cNvSpPr>
            <p:nvPr/>
          </p:nvSpPr>
          <p:spPr bwMode="auto">
            <a:xfrm>
              <a:off x="228600" y="1600200"/>
              <a:ext cx="2133600" cy="1066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marL="119063" indent="-119063" eaLnBrk="0" hangingPunct="0">
                <a:defRPr>
                  <a:solidFill>
                    <a:srgbClr val="000000"/>
                  </a:solidFill>
                  <a:latin typeface="Arial" charset="0"/>
                  <a:ea typeface="ヒラギノ角ゴ ProN W3" charset="0"/>
                  <a:cs typeface="ヒラギノ角ゴ ProN W3" charset="0"/>
                  <a:sym typeface="Arial" charset="0"/>
                </a:defRPr>
              </a:lvl1pPr>
              <a:lvl2pPr marL="742950" indent="-285750" eaLnBrk="0" hangingPunct="0">
                <a:defRPr>
                  <a:solidFill>
                    <a:srgbClr val="000000"/>
                  </a:solidFill>
                  <a:latin typeface="Arial" charset="0"/>
                  <a:ea typeface="ヒラギノ角ゴ ProN W3" charset="0"/>
                  <a:cs typeface="ヒラギノ角ゴ ProN W3" charset="0"/>
                  <a:sym typeface="Arial" charset="0"/>
                </a:defRPr>
              </a:lvl2pPr>
              <a:lvl3pPr marL="1143000" indent="-228600" eaLnBrk="0" hangingPunct="0">
                <a:defRPr>
                  <a:solidFill>
                    <a:srgbClr val="000000"/>
                  </a:solidFill>
                  <a:latin typeface="Arial" charset="0"/>
                  <a:ea typeface="ヒラギノ角ゴ ProN W3" charset="0"/>
                  <a:cs typeface="ヒラギノ角ゴ ProN W3" charset="0"/>
                  <a:sym typeface="Arial" charset="0"/>
                </a:defRPr>
              </a:lvl3pPr>
              <a:lvl4pPr marL="1600200" indent="-228600" eaLnBrk="0" hangingPunct="0">
                <a:defRPr>
                  <a:solidFill>
                    <a:srgbClr val="000000"/>
                  </a:solidFill>
                  <a:latin typeface="Arial" charset="0"/>
                  <a:ea typeface="ヒラギノ角ゴ ProN W3" charset="0"/>
                  <a:cs typeface="ヒラギノ角ゴ ProN W3" charset="0"/>
                  <a:sym typeface="Arial" charset="0"/>
                </a:defRPr>
              </a:lvl4pPr>
              <a:lvl5pPr marL="2057400" indent="-228600" eaLnBrk="0" hangingPunct="0">
                <a:defRPr>
                  <a:solidFill>
                    <a:srgbClr val="000000"/>
                  </a:solidFill>
                  <a:latin typeface="Arial" charset="0"/>
                  <a:ea typeface="ヒラギノ角ゴ ProN W3" charset="0"/>
                  <a:cs typeface="ヒラギノ角ゴ ProN W3" charset="0"/>
                  <a:sym typeface="Arial" charset="0"/>
                </a:defRPr>
              </a:lvl5pPr>
              <a:lvl6pPr marL="25146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6pPr>
              <a:lvl7pPr marL="29718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7pPr>
              <a:lvl8pPr marL="34290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8pPr>
              <a:lvl9pPr marL="3886200" indent="-228600" eaLnBrk="0" fontAlgn="base" hangingPunct="0">
                <a:spcBef>
                  <a:spcPct val="0"/>
                </a:spcBef>
                <a:spcAft>
                  <a:spcPct val="0"/>
                </a:spcAft>
                <a:defRPr>
                  <a:solidFill>
                    <a:srgbClr val="000000"/>
                  </a:solidFill>
                  <a:latin typeface="Arial" charset="0"/>
                  <a:ea typeface="ヒラギノ角ゴ ProN W3" charset="0"/>
                  <a:cs typeface="ヒラギノ角ゴ ProN W3" charset="0"/>
                  <a:sym typeface="Arial" charset="0"/>
                </a:defRPr>
              </a:lvl9pPr>
            </a:lstStyle>
            <a:p>
              <a:pPr marL="0" marR="0" lvl="0" indent="0" algn="l" defTabSz="914400" rtl="0" eaLnBrk="1" fontAlgn="auto" latinLnBrk="0" hangingPunct="1">
                <a:lnSpc>
                  <a:spcPct val="100000"/>
                </a:lnSpc>
                <a:spcBef>
                  <a:spcPct val="20000"/>
                </a:spcBef>
                <a:spcAft>
                  <a:spcPts val="0"/>
                </a:spcAft>
                <a:buClr>
                  <a:srgbClr val="006AAE"/>
                </a:buClr>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sym typeface="Arial" charset="0"/>
                </a:rPr>
                <a:t>Master send configuration to all Agents</a:t>
              </a:r>
            </a:p>
          </p:txBody>
        </p:sp>
      </p:grpSp>
    </p:spTree>
    <p:extLst>
      <p:ext uri="{BB962C8B-B14F-4D97-AF65-F5344CB8AC3E}">
        <p14:creationId xmlns:p14="http://schemas.microsoft.com/office/powerpoint/2010/main" val="263499049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D0C40-D338-408D-80DF-CB931B0D84A1}"/>
              </a:ext>
            </a:extLst>
          </p:cNvPr>
          <p:cNvSpPr>
            <a:spLocks noGrp="1"/>
          </p:cNvSpPr>
          <p:nvPr>
            <p:ph type="title"/>
          </p:nvPr>
        </p:nvSpPr>
        <p:spPr/>
        <p:txBody>
          <a:bodyPr/>
          <a:lstStyle/>
          <a:p>
            <a:r>
              <a:rPr lang="en-IN" dirty="0"/>
              <a:t>HBase</a:t>
            </a:r>
          </a:p>
        </p:txBody>
      </p:sp>
      <p:sp>
        <p:nvSpPr>
          <p:cNvPr id="4" name="TextBox 3">
            <a:extLst>
              <a:ext uri="{FF2B5EF4-FFF2-40B4-BE49-F238E27FC236}">
                <a16:creationId xmlns:a16="http://schemas.microsoft.com/office/drawing/2014/main" id="{421EB4F2-8BF7-407F-B823-F0394EB24F22}"/>
              </a:ext>
            </a:extLst>
          </p:cNvPr>
          <p:cNvSpPr txBox="1"/>
          <p:nvPr/>
        </p:nvSpPr>
        <p:spPr>
          <a:xfrm>
            <a:off x="381001" y="2308861"/>
            <a:ext cx="8534400" cy="3385542"/>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Column-family store.  Based on design of Google </a:t>
            </a:r>
            <a:r>
              <a:rPr kumimoji="0" lang="en-US" sz="2400" b="0" i="0" u="none" strike="noStrike" kern="1200" cap="none" spc="0" normalizeH="0" baseline="0" noProof="0" dirty="0" err="1">
                <a:ln>
                  <a:noFill/>
                </a:ln>
                <a:solidFill>
                  <a:prstClr val="black"/>
                </a:solidFill>
                <a:effectLst/>
                <a:uLnTx/>
                <a:uFillTx/>
                <a:latin typeface="Arial"/>
                <a:ea typeface="+mn-ea"/>
                <a:cs typeface="+mn-cs"/>
              </a:rPr>
              <a:t>BigTable</a:t>
            </a:r>
            <a:endParaRPr kumimoji="0" lang="en-US" sz="2400" b="0" i="0" u="none" strike="noStrike" kern="1200" cap="none" spc="0" normalizeH="0" baseline="0" noProof="0" dirty="0">
              <a:ln>
                <a:noFill/>
              </a:ln>
              <a:solidFill>
                <a:prstClr val="black"/>
              </a:solidFill>
              <a:effectLst/>
              <a:uLnTx/>
              <a:uFillTx/>
              <a:latin typeface="Arial"/>
              <a:ea typeface="+mn-ea"/>
              <a:cs typeface="+mn-cs"/>
            </a:endParaRPr>
          </a:p>
          <a:p>
            <a:pPr marL="800100" marR="0" lvl="1" indent="-342900" algn="l" defTabSz="914400" rtl="0" eaLnBrk="1" fontAlgn="auto" latinLnBrk="0" hangingPunct="1">
              <a:lnSpc>
                <a:spcPct val="150000"/>
              </a:lnSpc>
              <a:spcBef>
                <a:spcPts val="0"/>
              </a:spcBef>
              <a:spcAft>
                <a:spcPts val="0"/>
              </a:spcAft>
              <a:buClrTx/>
              <a:buSzTx/>
              <a:buFont typeface="Wingdings" charset="2"/>
              <a:buChar char="v"/>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Provides interactive access to information</a:t>
            </a:r>
          </a:p>
          <a:p>
            <a:pPr marL="800100" marR="0" lvl="1" indent="-342900" algn="l" defTabSz="914400" rtl="0" eaLnBrk="1" fontAlgn="auto" latinLnBrk="0" hangingPunct="1">
              <a:lnSpc>
                <a:spcPct val="150000"/>
              </a:lnSpc>
              <a:spcBef>
                <a:spcPts val="0"/>
              </a:spcBef>
              <a:spcAft>
                <a:spcPts val="0"/>
              </a:spcAft>
              <a:buClrTx/>
              <a:buSzTx/>
              <a:buFont typeface="Wingdings" charset="2"/>
              <a:buChar char="v"/>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Holds extremely large datasets (multi-TB)</a:t>
            </a:r>
          </a:p>
          <a:p>
            <a:pPr marL="800100" marR="0" lvl="1" indent="-342900" algn="l" defTabSz="914400" rtl="0" eaLnBrk="1" fontAlgn="auto" latinLnBrk="0" hangingPunct="1">
              <a:lnSpc>
                <a:spcPct val="150000"/>
              </a:lnSpc>
              <a:spcBef>
                <a:spcPts val="0"/>
              </a:spcBef>
              <a:spcAft>
                <a:spcPts val="0"/>
              </a:spcAft>
              <a:buClrTx/>
              <a:buSzTx/>
              <a:buFont typeface="Wingdings" charset="2"/>
              <a:buChar char="v"/>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Constrained access model</a:t>
            </a:r>
          </a:p>
          <a:p>
            <a:pPr marL="800100" marR="0" lvl="1" indent="-342900" algn="l" defTabSz="914400" rtl="0" eaLnBrk="1" fontAlgn="auto" latinLnBrk="0" hangingPunct="1">
              <a:lnSpc>
                <a:spcPct val="150000"/>
              </a:lnSpc>
              <a:spcBef>
                <a:spcPts val="0"/>
              </a:spcBef>
              <a:spcAft>
                <a:spcPts val="0"/>
              </a:spcAft>
              <a:buClrTx/>
              <a:buSzTx/>
              <a:buFont typeface="Wingdings" charset="2"/>
              <a:buChar char="v"/>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(key, value) lookup</a:t>
            </a:r>
          </a:p>
          <a:p>
            <a:pPr marL="800100" marR="0" lvl="1" indent="-342900" algn="l" defTabSz="914400" rtl="0" eaLnBrk="1" fontAlgn="auto" latinLnBrk="0" hangingPunct="1">
              <a:lnSpc>
                <a:spcPct val="150000"/>
              </a:lnSpc>
              <a:spcBef>
                <a:spcPts val="0"/>
              </a:spcBef>
              <a:spcAft>
                <a:spcPts val="0"/>
              </a:spcAft>
              <a:buClrTx/>
              <a:buSzTx/>
              <a:buFont typeface="Wingdings" charset="2"/>
              <a:buChar char="v"/>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Limited transactions (only one row)</a:t>
            </a:r>
          </a:p>
        </p:txBody>
      </p:sp>
      <p:pic>
        <p:nvPicPr>
          <p:cNvPr id="5" name="Picture 4" descr="Hbase.gif">
            <a:extLst>
              <a:ext uri="{FF2B5EF4-FFF2-40B4-BE49-F238E27FC236}">
                <a16:creationId xmlns:a16="http://schemas.microsoft.com/office/drawing/2014/main" id="{2F5099CD-1B34-4454-AEC7-34D3C100EF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83985" y="701571"/>
            <a:ext cx="1358900" cy="924052"/>
          </a:xfrm>
          <a:prstGeom prst="rect">
            <a:avLst/>
          </a:prstGeom>
        </p:spPr>
      </p:pic>
    </p:spTree>
    <p:extLst>
      <p:ext uri="{BB962C8B-B14F-4D97-AF65-F5344CB8AC3E}">
        <p14:creationId xmlns:p14="http://schemas.microsoft.com/office/powerpoint/2010/main" val="144606496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A2661-7883-453D-A7D4-8827DCC97C6A}"/>
              </a:ext>
            </a:extLst>
          </p:cNvPr>
          <p:cNvSpPr>
            <a:spLocks noGrp="1"/>
          </p:cNvSpPr>
          <p:nvPr>
            <p:ph type="title"/>
          </p:nvPr>
        </p:nvSpPr>
        <p:spPr/>
        <p:txBody>
          <a:bodyPr/>
          <a:lstStyle/>
          <a:p>
            <a:r>
              <a:rPr lang="en-IN" dirty="0"/>
              <a:t>HBase Architecture</a:t>
            </a:r>
          </a:p>
        </p:txBody>
      </p:sp>
      <p:pic>
        <p:nvPicPr>
          <p:cNvPr id="4" name="Content Placeholder 5">
            <a:extLst>
              <a:ext uri="{FF2B5EF4-FFF2-40B4-BE49-F238E27FC236}">
                <a16:creationId xmlns:a16="http://schemas.microsoft.com/office/drawing/2014/main" id="{2233FBA7-2693-4EC6-83E1-4119229F8300}"/>
              </a:ext>
            </a:extLst>
          </p:cNvPr>
          <p:cNvPicPr>
            <a:picLocks noGrp="1" noChangeAspect="1"/>
          </p:cNvPicPr>
          <p:nvPr>
            <p:ph idx="1"/>
          </p:nvPr>
        </p:nvPicPr>
        <p:blipFill rotWithShape="1">
          <a:blip r:embed="rId2"/>
          <a:srcRect l="-381" t="20158" r="381" b="8395"/>
          <a:stretch/>
        </p:blipFill>
        <p:spPr>
          <a:xfrm>
            <a:off x="76200" y="1981200"/>
            <a:ext cx="8958737" cy="4800600"/>
          </a:xfrm>
        </p:spPr>
      </p:pic>
    </p:spTree>
    <p:extLst>
      <p:ext uri="{BB962C8B-B14F-4D97-AF65-F5344CB8AC3E}">
        <p14:creationId xmlns:p14="http://schemas.microsoft.com/office/powerpoint/2010/main" val="129783009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487A5-F9BD-4907-9432-A69E9C38766B}"/>
              </a:ext>
            </a:extLst>
          </p:cNvPr>
          <p:cNvSpPr>
            <a:spLocks noGrp="1"/>
          </p:cNvSpPr>
          <p:nvPr>
            <p:ph type="title"/>
          </p:nvPr>
        </p:nvSpPr>
        <p:spPr/>
        <p:txBody>
          <a:bodyPr/>
          <a:lstStyle/>
          <a:p>
            <a:r>
              <a:rPr lang="en-IN" dirty="0"/>
              <a:t>Hive</a:t>
            </a:r>
          </a:p>
        </p:txBody>
      </p:sp>
      <p:sp>
        <p:nvSpPr>
          <p:cNvPr id="4" name="TextBox 3">
            <a:extLst>
              <a:ext uri="{FF2B5EF4-FFF2-40B4-BE49-F238E27FC236}">
                <a16:creationId xmlns:a16="http://schemas.microsoft.com/office/drawing/2014/main" id="{81913508-7D50-4D85-BC8E-C2961318F343}"/>
              </a:ext>
            </a:extLst>
          </p:cNvPr>
          <p:cNvSpPr txBox="1"/>
          <p:nvPr/>
        </p:nvSpPr>
        <p:spPr>
          <a:xfrm>
            <a:off x="381001" y="1980283"/>
            <a:ext cx="8534400" cy="4191917"/>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SQL-based data warehousing application</a:t>
            </a:r>
          </a:p>
          <a:p>
            <a:pPr marL="800100" marR="0" lvl="1" indent="-342900" algn="l" defTabSz="914400" rtl="0" eaLnBrk="1" fontAlgn="auto" latinLnBrk="0" hangingPunct="1">
              <a:lnSpc>
                <a:spcPct val="130000"/>
              </a:lnSpc>
              <a:spcBef>
                <a:spcPts val="0"/>
              </a:spcBef>
              <a:spcAft>
                <a:spcPts val="0"/>
              </a:spcAft>
              <a:buClrTx/>
              <a:buSzTx/>
              <a:buFont typeface="Wingdings" charset="2"/>
              <a:buChar char="v"/>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Language is SQL-like</a:t>
            </a:r>
          </a:p>
          <a:p>
            <a:pPr marL="800100" marR="0" lvl="1" indent="-342900" algn="l" defTabSz="914400" rtl="0" eaLnBrk="1" fontAlgn="auto" latinLnBrk="0" hangingPunct="1">
              <a:lnSpc>
                <a:spcPct val="130000"/>
              </a:lnSpc>
              <a:spcBef>
                <a:spcPts val="0"/>
              </a:spcBef>
              <a:spcAft>
                <a:spcPts val="0"/>
              </a:spcAft>
              <a:buClrTx/>
              <a:buSzTx/>
              <a:buFont typeface="Wingdings" charset="2"/>
              <a:buChar char="v"/>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Supports SELECT, JOIN, GROUP BY, etc.</a:t>
            </a:r>
          </a:p>
          <a:p>
            <a:pPr marL="800100" marR="0" lvl="1" indent="-342900" algn="l" defTabSz="914400" rtl="0" eaLnBrk="1" fontAlgn="auto" latinLnBrk="0" hangingPunct="1">
              <a:lnSpc>
                <a:spcPct val="130000"/>
              </a:lnSpc>
              <a:spcBef>
                <a:spcPts val="0"/>
              </a:spcBef>
              <a:spcAft>
                <a:spcPts val="0"/>
              </a:spcAft>
              <a:buClrTx/>
              <a:buSzTx/>
              <a:buFont typeface="Wingdings" charset="2"/>
              <a:buChar char="v"/>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Features for analyzing very large data sets</a:t>
            </a:r>
          </a:p>
          <a:p>
            <a:pPr marL="1257300" marR="0" lvl="2" indent="-342900" algn="l" defTabSz="914400" rtl="0" eaLnBrk="1" fontAlgn="auto" latinLnBrk="0" hangingPunct="1">
              <a:lnSpc>
                <a:spcPct val="130000"/>
              </a:lnSpc>
              <a:spcBef>
                <a:spcPts val="0"/>
              </a:spcBef>
              <a:spcAft>
                <a:spcPts val="0"/>
              </a:spcAft>
              <a:buClrTx/>
              <a:buSzTx/>
              <a:buFont typeface="Wingdings" charset="2"/>
              <a:buChar char="v"/>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Partition columns, Sampling,  Buckets</a:t>
            </a:r>
          </a:p>
          <a:p>
            <a:pPr marL="914400" marR="0" lvl="2" indent="0" algn="l" defTabSz="914400" rtl="0" eaLnBrk="1" fontAlgn="auto" latinLnBrk="0" hangingPunct="1">
              <a:lnSpc>
                <a:spcPct val="13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rial"/>
              <a:ea typeface="+mn-ea"/>
              <a:cs typeface="+mn-cs"/>
            </a:endParaRPr>
          </a:p>
          <a:p>
            <a:pPr marL="800100" marR="0" lvl="1" indent="-342900" algn="l" defTabSz="914400" rtl="0" eaLnBrk="1" fontAlgn="auto" latinLnBrk="0" hangingPunct="1">
              <a:lnSpc>
                <a:spcPct val="130000"/>
              </a:lnSpc>
              <a:spcBef>
                <a:spcPts val="0"/>
              </a:spcBef>
              <a:spcAft>
                <a:spcPts val="0"/>
              </a:spcAft>
              <a:buClrTx/>
              <a:buSzTx/>
              <a:buFont typeface="Wingdings" charset="2"/>
              <a:buChar char="v"/>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Example: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	SELECT </a:t>
            </a:r>
            <a:r>
              <a:rPr kumimoji="0" lang="en-US" sz="2400" b="0" i="0" u="none" strike="noStrike" kern="1200" cap="none" spc="0" normalizeH="0" baseline="0" noProof="0" dirty="0" err="1">
                <a:ln>
                  <a:noFill/>
                </a:ln>
                <a:solidFill>
                  <a:prstClr val="black"/>
                </a:solidFill>
                <a:effectLst/>
                <a:uLnTx/>
                <a:uFillTx/>
                <a:latin typeface="Arial"/>
                <a:ea typeface="+mn-ea"/>
                <a:cs typeface="+mn-cs"/>
              </a:rPr>
              <a:t>s.word</a:t>
            </a:r>
            <a:r>
              <a:rPr kumimoji="0" lang="en-US" sz="2400" b="0" i="0" u="none" strike="noStrike" kern="1200" cap="none" spc="0" normalizeH="0" baseline="0" noProof="0" dirty="0">
                <a:ln>
                  <a:noFill/>
                </a:ln>
                <a:solidFill>
                  <a:prstClr val="black"/>
                </a:solidFill>
                <a:effectLst/>
                <a:uLnTx/>
                <a:uFillTx/>
                <a:latin typeface="Arial"/>
                <a:ea typeface="+mn-ea"/>
                <a:cs typeface="+mn-cs"/>
              </a:rPr>
              <a:t>, </a:t>
            </a:r>
            <a:r>
              <a:rPr kumimoji="0" lang="en-US" sz="2400" b="0" i="0" u="none" strike="noStrike" kern="1200" cap="none" spc="0" normalizeH="0" baseline="0" noProof="0" dirty="0" err="1">
                <a:ln>
                  <a:noFill/>
                </a:ln>
                <a:solidFill>
                  <a:prstClr val="black"/>
                </a:solidFill>
                <a:effectLst/>
                <a:uLnTx/>
                <a:uFillTx/>
                <a:latin typeface="Arial"/>
                <a:ea typeface="+mn-ea"/>
                <a:cs typeface="+mn-cs"/>
              </a:rPr>
              <a:t>s.freq</a:t>
            </a:r>
            <a:r>
              <a:rPr kumimoji="0" lang="en-US" sz="2400" b="0" i="0" u="none" strike="noStrike" kern="1200" cap="none" spc="0" normalizeH="0" baseline="0" noProof="0" dirty="0">
                <a:ln>
                  <a:noFill/>
                </a:ln>
                <a:solidFill>
                  <a:prstClr val="black"/>
                </a:solidFill>
                <a:effectLst/>
                <a:uLnTx/>
                <a:uFillTx/>
                <a:latin typeface="Arial"/>
                <a:ea typeface="+mn-ea"/>
                <a:cs typeface="+mn-cs"/>
              </a:rPr>
              <a:t>, </a:t>
            </a:r>
            <a:r>
              <a:rPr kumimoji="0" lang="en-US" sz="2400" b="0" i="0" u="none" strike="noStrike" kern="1200" cap="none" spc="0" normalizeH="0" baseline="0" noProof="0" dirty="0" err="1">
                <a:ln>
                  <a:noFill/>
                </a:ln>
                <a:solidFill>
                  <a:prstClr val="black"/>
                </a:solidFill>
                <a:effectLst/>
                <a:uLnTx/>
                <a:uFillTx/>
                <a:latin typeface="Arial"/>
                <a:ea typeface="+mn-ea"/>
                <a:cs typeface="+mn-cs"/>
              </a:rPr>
              <a:t>k.freq</a:t>
            </a:r>
            <a:r>
              <a:rPr kumimoji="0" lang="en-US" sz="2400" b="0" i="0" u="none" strike="noStrike" kern="1200" cap="none" spc="0" normalizeH="0" baseline="0" noProof="0" dirty="0">
                <a:ln>
                  <a:noFill/>
                </a:ln>
                <a:solidFill>
                  <a:prstClr val="black"/>
                </a:solidFill>
                <a:effectLst/>
                <a:uLnTx/>
                <a:uFillTx/>
                <a:latin typeface="Arial"/>
                <a:ea typeface="+mn-ea"/>
                <a:cs typeface="+mn-cs"/>
              </a:rPr>
              <a:t> FROM </a:t>
            </a:r>
            <a:r>
              <a:rPr kumimoji="0" lang="en-US" sz="2400" b="0" i="0" u="none" strike="noStrike" kern="1200" cap="none" spc="0" normalizeH="0" baseline="0" noProof="0" dirty="0" err="1">
                <a:ln>
                  <a:noFill/>
                </a:ln>
                <a:solidFill>
                  <a:prstClr val="black"/>
                </a:solidFill>
                <a:effectLst/>
                <a:uLnTx/>
                <a:uFillTx/>
                <a:latin typeface="Arial"/>
                <a:ea typeface="+mn-ea"/>
                <a:cs typeface="+mn-cs"/>
              </a:rPr>
              <a:t>shakespeares</a:t>
            </a:r>
            <a:r>
              <a:rPr kumimoji="0" lang="en-US" sz="2400" b="0" i="0" u="none" strike="noStrike" kern="1200" cap="none" spc="0" normalizeH="0" baseline="0" noProof="0" dirty="0">
                <a:ln>
                  <a:noFill/>
                </a:ln>
                <a:solidFill>
                  <a:prstClr val="black"/>
                </a:solidFill>
                <a:effectLst/>
                <a:uLnTx/>
                <a:uFillTx/>
                <a:latin typeface="Arial"/>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	JOIN ON (</a:t>
            </a:r>
            <a:r>
              <a:rPr kumimoji="0" lang="en-US" sz="2400" b="0" i="0" u="none" strike="noStrike" kern="1200" cap="none" spc="0" normalizeH="0" baseline="0" noProof="0" dirty="0" err="1">
                <a:ln>
                  <a:noFill/>
                </a:ln>
                <a:solidFill>
                  <a:prstClr val="black"/>
                </a:solidFill>
                <a:effectLst/>
                <a:uLnTx/>
                <a:uFillTx/>
                <a:latin typeface="Arial"/>
                <a:ea typeface="+mn-ea"/>
                <a:cs typeface="+mn-cs"/>
              </a:rPr>
              <a:t>s.word</a:t>
            </a:r>
            <a:r>
              <a:rPr kumimoji="0" lang="en-US" sz="2400" b="0" i="0" u="none" strike="noStrike" kern="1200" cap="none" spc="0" normalizeH="0" baseline="0" noProof="0" dirty="0">
                <a:ln>
                  <a:noFill/>
                </a:ln>
                <a:solidFill>
                  <a:prstClr val="black"/>
                </a:solidFill>
                <a:effectLst/>
                <a:uLnTx/>
                <a:uFillTx/>
                <a:latin typeface="Arial"/>
                <a:ea typeface="+mn-ea"/>
                <a:cs typeface="+mn-cs"/>
              </a:rPr>
              <a:t>= </a:t>
            </a:r>
            <a:r>
              <a:rPr kumimoji="0" lang="en-US" sz="2400" b="0" i="0" u="none" strike="noStrike" kern="1200" cap="none" spc="0" normalizeH="0" baseline="0" noProof="0" dirty="0" err="1">
                <a:ln>
                  <a:noFill/>
                </a:ln>
                <a:solidFill>
                  <a:prstClr val="black"/>
                </a:solidFill>
                <a:effectLst/>
                <a:uLnTx/>
                <a:uFillTx/>
                <a:latin typeface="Arial"/>
                <a:ea typeface="+mn-ea"/>
                <a:cs typeface="+mn-cs"/>
              </a:rPr>
              <a:t>k.word</a:t>
            </a:r>
            <a:r>
              <a:rPr kumimoji="0" lang="en-US" sz="2400" b="0" i="0" u="none" strike="noStrike" kern="1200" cap="none" spc="0" normalizeH="0" baseline="0" noProof="0" dirty="0">
                <a:ln>
                  <a:noFill/>
                </a:ln>
                <a:solidFill>
                  <a:prstClr val="black"/>
                </a:solidFill>
                <a:effectLst/>
                <a:uLnTx/>
                <a:uFillTx/>
                <a:latin typeface="Arial"/>
                <a:ea typeface="+mn-ea"/>
                <a:cs typeface="+mn-cs"/>
              </a:rPr>
              <a:t>) WHERE </a:t>
            </a:r>
            <a:r>
              <a:rPr kumimoji="0" lang="en-US" sz="2400" b="0" i="0" u="none" strike="noStrike" kern="1200" cap="none" spc="0" normalizeH="0" baseline="0" noProof="0" dirty="0" err="1">
                <a:ln>
                  <a:noFill/>
                </a:ln>
                <a:solidFill>
                  <a:prstClr val="black"/>
                </a:solidFill>
                <a:effectLst/>
                <a:uLnTx/>
                <a:uFillTx/>
                <a:latin typeface="Arial"/>
                <a:ea typeface="+mn-ea"/>
                <a:cs typeface="+mn-cs"/>
              </a:rPr>
              <a:t>s.freq</a:t>
            </a:r>
            <a:r>
              <a:rPr kumimoji="0" lang="en-US" sz="2400" b="0" i="0" u="none" strike="noStrike" kern="1200" cap="none" spc="0" normalizeH="0" baseline="0" noProof="0" dirty="0">
                <a:ln>
                  <a:noFill/>
                </a:ln>
                <a:solidFill>
                  <a:prstClr val="black"/>
                </a:solidFill>
                <a:effectLst/>
                <a:uLnTx/>
                <a:uFillTx/>
                <a:latin typeface="Arial"/>
                <a:ea typeface="+mn-ea"/>
                <a:cs typeface="+mn-cs"/>
              </a:rPr>
              <a:t> &gt;= 5; </a:t>
            </a:r>
          </a:p>
        </p:txBody>
      </p:sp>
      <p:pic>
        <p:nvPicPr>
          <p:cNvPr id="5" name="Picture 4" descr="Hive.jpeg">
            <a:extLst>
              <a:ext uri="{FF2B5EF4-FFF2-40B4-BE49-F238E27FC236}">
                <a16:creationId xmlns:a16="http://schemas.microsoft.com/office/drawing/2014/main" id="{35BF92C9-3237-4FF4-9D98-E412F9E32A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6600" y="753792"/>
            <a:ext cx="946517" cy="845949"/>
          </a:xfrm>
          <a:prstGeom prst="rect">
            <a:avLst/>
          </a:prstGeom>
        </p:spPr>
      </p:pic>
    </p:spTree>
    <p:extLst>
      <p:ext uri="{BB962C8B-B14F-4D97-AF65-F5344CB8AC3E}">
        <p14:creationId xmlns:p14="http://schemas.microsoft.com/office/powerpoint/2010/main" val="328929570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83FFE-9BAC-47A3-8043-5F2306FE61A4}"/>
              </a:ext>
            </a:extLst>
          </p:cNvPr>
          <p:cNvSpPr>
            <a:spLocks noGrp="1"/>
          </p:cNvSpPr>
          <p:nvPr>
            <p:ph type="title"/>
          </p:nvPr>
        </p:nvSpPr>
        <p:spPr/>
        <p:txBody>
          <a:bodyPr/>
          <a:lstStyle/>
          <a:p>
            <a:r>
              <a:rPr lang="en-IN" dirty="0"/>
              <a:t>Pig</a:t>
            </a:r>
          </a:p>
        </p:txBody>
      </p:sp>
      <p:sp>
        <p:nvSpPr>
          <p:cNvPr id="4" name="TextBox 3">
            <a:extLst>
              <a:ext uri="{FF2B5EF4-FFF2-40B4-BE49-F238E27FC236}">
                <a16:creationId xmlns:a16="http://schemas.microsoft.com/office/drawing/2014/main" id="{4AD3EA4B-9CDE-4D14-86F0-04CD06E51BE9}"/>
              </a:ext>
            </a:extLst>
          </p:cNvPr>
          <p:cNvSpPr txBox="1"/>
          <p:nvPr/>
        </p:nvSpPr>
        <p:spPr>
          <a:xfrm>
            <a:off x="381001" y="2057400"/>
            <a:ext cx="8534400" cy="4339650"/>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Data-flow oriented language – “Pig </a:t>
            </a:r>
            <a:r>
              <a:rPr kumimoji="0" lang="en-US" sz="2400" b="0" i="0" u="none" strike="noStrike" kern="1200" cap="none" spc="0" normalizeH="0" baseline="0" noProof="0" dirty="0" err="1">
                <a:ln>
                  <a:noFill/>
                </a:ln>
                <a:solidFill>
                  <a:prstClr val="black"/>
                </a:solidFill>
                <a:effectLst/>
                <a:uLnTx/>
                <a:uFillTx/>
                <a:latin typeface="Arial"/>
                <a:ea typeface="+mn-ea"/>
                <a:cs typeface="+mn-cs"/>
              </a:rPr>
              <a:t>latin</a:t>
            </a:r>
            <a:r>
              <a:rPr kumimoji="0" lang="en-US" sz="2400" b="0" i="0" u="none" strike="noStrike" kern="1200" cap="none" spc="0" normalizeH="0" baseline="0" noProof="0" dirty="0">
                <a:ln>
                  <a:noFill/>
                </a:ln>
                <a:solidFill>
                  <a:prstClr val="black"/>
                </a:solidFill>
                <a:effectLst/>
                <a:uLnTx/>
                <a:uFillTx/>
                <a:latin typeface="Arial"/>
                <a:ea typeface="+mn-ea"/>
                <a:cs typeface="+mn-cs"/>
              </a:rPr>
              <a:t>”</a:t>
            </a:r>
          </a:p>
          <a:p>
            <a:pPr marL="800100" marR="0" lvl="1" indent="-342900" algn="l" defTabSz="914400" rtl="0" eaLnBrk="1" fontAlgn="auto" latinLnBrk="0" hangingPunct="1">
              <a:lnSpc>
                <a:spcPct val="130000"/>
              </a:lnSpc>
              <a:spcBef>
                <a:spcPts val="0"/>
              </a:spcBef>
              <a:spcAft>
                <a:spcPts val="0"/>
              </a:spcAft>
              <a:buClrTx/>
              <a:buSzTx/>
              <a:buFont typeface="Wingdings" charset="2"/>
              <a:buChar char="v"/>
              <a:tabLst/>
              <a:defRPr/>
            </a:pPr>
            <a:r>
              <a:rPr kumimoji="0" lang="en-US" sz="2400" b="0" i="0" u="none" strike="noStrike" kern="1200" cap="none" spc="0" normalizeH="0" baseline="0" noProof="0" dirty="0" err="1">
                <a:ln>
                  <a:noFill/>
                </a:ln>
                <a:solidFill>
                  <a:prstClr val="black"/>
                </a:solidFill>
                <a:effectLst/>
                <a:uLnTx/>
                <a:uFillTx/>
                <a:latin typeface="Arial"/>
                <a:ea typeface="+mn-ea"/>
                <a:cs typeface="+mn-cs"/>
              </a:rPr>
              <a:t>Datatypes</a:t>
            </a:r>
            <a:r>
              <a:rPr kumimoji="0" lang="en-US" sz="2400" b="0" i="0" u="none" strike="noStrike" kern="1200" cap="none" spc="0" normalizeH="0" baseline="0" noProof="0" dirty="0">
                <a:ln>
                  <a:noFill/>
                </a:ln>
                <a:solidFill>
                  <a:prstClr val="black"/>
                </a:solidFill>
                <a:effectLst/>
                <a:uLnTx/>
                <a:uFillTx/>
                <a:latin typeface="Arial"/>
                <a:ea typeface="+mn-ea"/>
                <a:cs typeface="+mn-cs"/>
              </a:rPr>
              <a:t> include sets, associative arrays, tuples</a:t>
            </a:r>
          </a:p>
          <a:p>
            <a:pPr marL="800100" marR="0" lvl="1" indent="-342900" algn="l" defTabSz="914400" rtl="0" eaLnBrk="1" fontAlgn="auto" latinLnBrk="0" hangingPunct="1">
              <a:lnSpc>
                <a:spcPct val="130000"/>
              </a:lnSpc>
              <a:spcBef>
                <a:spcPts val="0"/>
              </a:spcBef>
              <a:spcAft>
                <a:spcPts val="0"/>
              </a:spcAft>
              <a:buClrTx/>
              <a:buSzTx/>
              <a:buFont typeface="Wingdings" charset="2"/>
              <a:buChar char="v"/>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 High-level language for routing data, allows easy integration of Java for complex tasks</a:t>
            </a:r>
          </a:p>
          <a:p>
            <a:pPr marL="457200" marR="0" lvl="1" indent="0" algn="l" defTabSz="914400" rtl="0" eaLnBrk="1" fontAlgn="auto" latinLnBrk="0" hangingPunct="1">
              <a:lnSpc>
                <a:spcPct val="13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rial"/>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Wingdings" charset="2"/>
              <a:buChar char="v"/>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Example: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	</a:t>
            </a:r>
            <a:r>
              <a:rPr kumimoji="0" lang="en-US" sz="2400" b="0" i="0" u="none" strike="noStrike" kern="1200" cap="none" spc="0" normalizeH="0" baseline="0" noProof="0" dirty="0" err="1">
                <a:ln>
                  <a:noFill/>
                </a:ln>
                <a:solidFill>
                  <a:prstClr val="black"/>
                </a:solidFill>
                <a:effectLst/>
                <a:uLnTx/>
                <a:uFillTx/>
                <a:latin typeface="Arial"/>
                <a:ea typeface="+mn-ea"/>
                <a:cs typeface="+mn-cs"/>
              </a:rPr>
              <a:t>emps</a:t>
            </a:r>
            <a:r>
              <a:rPr kumimoji="0" lang="en-US" sz="2400" b="0" i="0" u="none" strike="noStrike" kern="1200" cap="none" spc="0" normalizeH="0" baseline="0" noProof="0" dirty="0">
                <a:ln>
                  <a:noFill/>
                </a:ln>
                <a:solidFill>
                  <a:prstClr val="black"/>
                </a:solidFill>
                <a:effectLst/>
                <a:uLnTx/>
                <a:uFillTx/>
                <a:latin typeface="Arial"/>
                <a:ea typeface="+mn-ea"/>
                <a:cs typeface="+mn-cs"/>
              </a:rPr>
              <a:t>=LOAD '</a:t>
            </a:r>
            <a:r>
              <a:rPr kumimoji="0" lang="en-US" sz="2400" b="0" i="0" u="none" strike="noStrike" kern="1200" cap="none" spc="0" normalizeH="0" baseline="0" noProof="0" dirty="0" err="1">
                <a:ln>
                  <a:noFill/>
                </a:ln>
                <a:solidFill>
                  <a:prstClr val="black"/>
                </a:solidFill>
                <a:effectLst/>
                <a:uLnTx/>
                <a:uFillTx/>
                <a:latin typeface="Arial"/>
                <a:ea typeface="+mn-ea"/>
                <a:cs typeface="+mn-cs"/>
              </a:rPr>
              <a:t>people.txt</a:t>
            </a:r>
            <a:r>
              <a:rPr kumimoji="0" lang="en-US" sz="2400" b="0" i="0" u="none" strike="noStrike" kern="1200" cap="none" spc="0" normalizeH="0" baseline="0" noProof="0" dirty="0">
                <a:ln>
                  <a:noFill/>
                </a:ln>
                <a:solidFill>
                  <a:prstClr val="black"/>
                </a:solidFill>
                <a:effectLst/>
                <a:uLnTx/>
                <a:uFillTx/>
                <a:latin typeface="Arial"/>
                <a:ea typeface="+mn-ea"/>
                <a:cs typeface="+mn-cs"/>
              </a:rPr>
              <a:t>’ AS(</a:t>
            </a:r>
            <a:r>
              <a:rPr kumimoji="0" lang="en-US" sz="2400" b="0" i="0" u="none" strike="noStrike" kern="1200" cap="none" spc="0" normalizeH="0" baseline="0" noProof="0" dirty="0" err="1">
                <a:ln>
                  <a:noFill/>
                </a:ln>
                <a:solidFill>
                  <a:prstClr val="black"/>
                </a:solidFill>
                <a:effectLst/>
                <a:uLnTx/>
                <a:uFillTx/>
                <a:latin typeface="Arial"/>
                <a:ea typeface="+mn-ea"/>
                <a:cs typeface="+mn-cs"/>
              </a:rPr>
              <a:t>id,name,salary</a:t>
            </a:r>
            <a:r>
              <a:rPr kumimoji="0" lang="en-US" sz="2400" b="0" i="0" u="none" strike="noStrike" kern="1200" cap="none" spc="0" normalizeH="0" baseline="0" noProof="0" dirty="0">
                <a:ln>
                  <a:noFill/>
                </a:ln>
                <a:solidFill>
                  <a:prstClr val="black"/>
                </a:solidFill>
                <a:effectLst/>
                <a:uLnTx/>
                <a:uFillTx/>
                <a:latin typeface="Arial"/>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	rich = FILTER </a:t>
            </a:r>
            <a:r>
              <a:rPr kumimoji="0" lang="en-US" sz="2400" b="0" i="0" u="none" strike="noStrike" kern="1200" cap="none" spc="0" normalizeH="0" baseline="0" noProof="0" dirty="0" err="1">
                <a:ln>
                  <a:noFill/>
                </a:ln>
                <a:solidFill>
                  <a:prstClr val="black"/>
                </a:solidFill>
                <a:effectLst/>
                <a:uLnTx/>
                <a:uFillTx/>
                <a:latin typeface="Arial"/>
                <a:ea typeface="+mn-ea"/>
                <a:cs typeface="+mn-cs"/>
              </a:rPr>
              <a:t>emps</a:t>
            </a:r>
            <a:r>
              <a:rPr kumimoji="0" lang="en-US" sz="2400" b="0" i="0" u="none" strike="noStrike" kern="1200" cap="none" spc="0" normalizeH="0" baseline="0" noProof="0" dirty="0">
                <a:ln>
                  <a:noFill/>
                </a:ln>
                <a:solidFill>
                  <a:prstClr val="black"/>
                </a:solidFill>
                <a:effectLst/>
                <a:uLnTx/>
                <a:uFillTx/>
                <a:latin typeface="Arial"/>
                <a:ea typeface="+mn-ea"/>
                <a:cs typeface="+mn-cs"/>
              </a:rPr>
              <a:t> BY salary &gt; 100000; </a:t>
            </a:r>
            <a:r>
              <a:rPr kumimoji="0" lang="en-US" sz="2400" b="0" i="0" u="none" strike="noStrike" kern="1200" cap="none" spc="0" normalizeH="0" baseline="0" noProof="0" dirty="0" err="1">
                <a:ln>
                  <a:noFill/>
                </a:ln>
                <a:solidFill>
                  <a:prstClr val="black"/>
                </a:solidFill>
                <a:effectLst/>
                <a:uLnTx/>
                <a:uFillTx/>
                <a:latin typeface="Arial"/>
                <a:ea typeface="+mn-ea"/>
                <a:cs typeface="+mn-cs"/>
              </a:rPr>
              <a:t>srtd</a:t>
            </a:r>
            <a:r>
              <a:rPr kumimoji="0" lang="en-US" sz="2400" b="0" i="0" u="none" strike="noStrike" kern="1200" cap="none" spc="0" normalizeH="0" baseline="0" noProof="0" dirty="0">
                <a:ln>
                  <a:noFill/>
                </a:ln>
                <a:solidFill>
                  <a:prstClr val="black"/>
                </a:solidFill>
                <a:effectLst/>
                <a:uLnTx/>
                <a:uFillTx/>
                <a:latin typeface="Arial"/>
                <a:ea typeface="+mn-ea"/>
                <a:cs typeface="+mn-cs"/>
              </a:rPr>
              <a:t> = 	ORDER rich BY salary DESC; STORE </a:t>
            </a:r>
            <a:r>
              <a:rPr kumimoji="0" lang="en-US" sz="2400" b="0" i="0" u="none" strike="noStrike" kern="1200" cap="none" spc="0" normalizeH="0" baseline="0" noProof="0" dirty="0" err="1">
                <a:ln>
                  <a:noFill/>
                </a:ln>
                <a:solidFill>
                  <a:prstClr val="black"/>
                </a:solidFill>
                <a:effectLst/>
                <a:uLnTx/>
                <a:uFillTx/>
                <a:latin typeface="Arial"/>
                <a:ea typeface="+mn-ea"/>
                <a:cs typeface="+mn-cs"/>
              </a:rPr>
              <a:t>srtd</a:t>
            </a:r>
            <a:r>
              <a:rPr kumimoji="0" lang="en-US" sz="2400" b="0" i="0" u="none" strike="noStrike" kern="1200" cap="none" spc="0" normalizeH="0" baseline="0" noProof="0" dirty="0">
                <a:ln>
                  <a:noFill/>
                </a:ln>
                <a:solidFill>
                  <a:prstClr val="black"/>
                </a:solidFill>
                <a:effectLst/>
                <a:uLnTx/>
                <a:uFillTx/>
                <a:latin typeface="Arial"/>
                <a:ea typeface="+mn-ea"/>
                <a:cs typeface="+mn-cs"/>
              </a:rPr>
              <a:t> INTO ’	</a:t>
            </a:r>
            <a:r>
              <a:rPr kumimoji="0" lang="en-US" sz="2400" b="0" i="0" u="none" strike="noStrike" kern="1200" cap="none" spc="0" normalizeH="0" baseline="0" noProof="0" dirty="0" err="1">
                <a:ln>
                  <a:noFill/>
                </a:ln>
                <a:solidFill>
                  <a:prstClr val="black"/>
                </a:solidFill>
                <a:effectLst/>
                <a:uLnTx/>
                <a:uFillTx/>
                <a:latin typeface="Arial"/>
                <a:ea typeface="+mn-ea"/>
                <a:cs typeface="+mn-cs"/>
              </a:rPr>
              <a:t>rich_people.txt</a:t>
            </a:r>
            <a:r>
              <a:rPr kumimoji="0" lang="en-US" sz="2400" b="0" i="0" u="none" strike="noStrike" kern="1200" cap="none" spc="0" normalizeH="0" baseline="0" noProof="0" dirty="0">
                <a:ln>
                  <a:noFill/>
                </a:ln>
                <a:solidFill>
                  <a:prstClr val="black"/>
                </a:solidFill>
                <a:effectLst/>
                <a:uLnTx/>
                <a:uFillTx/>
                <a:latin typeface="Arial"/>
                <a:ea typeface="+mn-ea"/>
                <a:cs typeface="+mn-cs"/>
              </a:rPr>
              <a:t>'; </a:t>
            </a:r>
          </a:p>
        </p:txBody>
      </p:sp>
      <p:pic>
        <p:nvPicPr>
          <p:cNvPr id="5" name="Picture 4" descr="Pig.jpeg">
            <a:extLst>
              <a:ext uri="{FF2B5EF4-FFF2-40B4-BE49-F238E27FC236}">
                <a16:creationId xmlns:a16="http://schemas.microsoft.com/office/drawing/2014/main" id="{539DFEB6-53A9-4B3C-AB48-EA37ACE36E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86200" y="800100"/>
            <a:ext cx="1143000" cy="762000"/>
          </a:xfrm>
          <a:prstGeom prst="rect">
            <a:avLst/>
          </a:prstGeom>
        </p:spPr>
      </p:pic>
    </p:spTree>
    <p:extLst>
      <p:ext uri="{BB962C8B-B14F-4D97-AF65-F5344CB8AC3E}">
        <p14:creationId xmlns:p14="http://schemas.microsoft.com/office/powerpoint/2010/main" val="35457709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AC9F6-9DCB-47AD-8E42-01394F14C8A5}"/>
              </a:ext>
            </a:extLst>
          </p:cNvPr>
          <p:cNvSpPr>
            <a:spLocks noGrp="1"/>
          </p:cNvSpPr>
          <p:nvPr>
            <p:ph type="title"/>
          </p:nvPr>
        </p:nvSpPr>
        <p:spPr/>
        <p:txBody>
          <a:bodyPr/>
          <a:lstStyle/>
          <a:p>
            <a:r>
              <a:rPr lang="en-IN" dirty="0" err="1"/>
              <a:t>Oozie</a:t>
            </a:r>
            <a:r>
              <a:rPr lang="en-IN" dirty="0"/>
              <a:t> </a:t>
            </a:r>
          </a:p>
        </p:txBody>
      </p:sp>
      <p:pic>
        <p:nvPicPr>
          <p:cNvPr id="4" name="Content Placeholder 5">
            <a:extLst>
              <a:ext uri="{FF2B5EF4-FFF2-40B4-BE49-F238E27FC236}">
                <a16:creationId xmlns:a16="http://schemas.microsoft.com/office/drawing/2014/main" id="{AB9EB7B7-2776-49BA-BE35-A258496F39BB}"/>
              </a:ext>
            </a:extLst>
          </p:cNvPr>
          <p:cNvPicPr>
            <a:picLocks noGrp="1" noChangeAspect="1"/>
          </p:cNvPicPr>
          <p:nvPr>
            <p:ph idx="1"/>
          </p:nvPr>
        </p:nvPicPr>
        <p:blipFill rotWithShape="1">
          <a:blip r:embed="rId2"/>
          <a:srcRect t="26449" b="9029"/>
          <a:stretch/>
        </p:blipFill>
        <p:spPr>
          <a:xfrm>
            <a:off x="148404" y="1917989"/>
            <a:ext cx="8995596" cy="4883410"/>
          </a:xfrm>
        </p:spPr>
      </p:pic>
      <p:sp>
        <p:nvSpPr>
          <p:cNvPr id="5" name="Rectangle 4">
            <a:extLst>
              <a:ext uri="{FF2B5EF4-FFF2-40B4-BE49-F238E27FC236}">
                <a16:creationId xmlns:a16="http://schemas.microsoft.com/office/drawing/2014/main" id="{D68B5815-A9B3-4246-A05B-B91F92D2F51C}"/>
              </a:ext>
            </a:extLst>
          </p:cNvPr>
          <p:cNvSpPr/>
          <p:nvPr/>
        </p:nvSpPr>
        <p:spPr>
          <a:xfrm>
            <a:off x="457200" y="1765589"/>
            <a:ext cx="8229600" cy="83099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30000" noProof="0" dirty="0" err="1">
                <a:ln>
                  <a:noFill/>
                </a:ln>
                <a:solidFill>
                  <a:prstClr val="black"/>
                </a:solidFill>
                <a:effectLst/>
                <a:uLnTx/>
                <a:uFillTx/>
                <a:latin typeface="Arial"/>
                <a:ea typeface="+mn-ea"/>
                <a:cs typeface="+mn-cs"/>
              </a:rPr>
              <a:t>Oozie</a:t>
            </a:r>
            <a:r>
              <a:rPr kumimoji="0" lang="en-US" sz="3600" b="0" i="0" u="none" strike="noStrike" kern="1200" cap="none" spc="0" normalizeH="0" baseline="30000" noProof="0" dirty="0">
                <a:ln>
                  <a:noFill/>
                </a:ln>
                <a:solidFill>
                  <a:prstClr val="black"/>
                </a:solidFill>
                <a:effectLst/>
                <a:uLnTx/>
                <a:uFillTx/>
                <a:latin typeface="Arial"/>
                <a:ea typeface="+mn-ea"/>
                <a:cs typeface="+mn-cs"/>
              </a:rPr>
              <a:t> is a workflow/</a:t>
            </a:r>
            <a:r>
              <a:rPr kumimoji="0" lang="en-US" sz="3600" b="0" i="0" u="none" strike="noStrike" kern="1200" cap="none" spc="0" normalizeH="0" baseline="30000" noProof="0" dirty="0" err="1">
                <a:ln>
                  <a:noFill/>
                </a:ln>
                <a:solidFill>
                  <a:prstClr val="black"/>
                </a:solidFill>
                <a:effectLst/>
                <a:uLnTx/>
                <a:uFillTx/>
                <a:latin typeface="Arial"/>
                <a:ea typeface="+mn-ea"/>
                <a:cs typeface="+mn-cs"/>
              </a:rPr>
              <a:t>cordination</a:t>
            </a:r>
            <a:r>
              <a:rPr kumimoji="0" lang="en-US" sz="3600" b="0" i="0" u="none" strike="noStrike" kern="1200" cap="none" spc="0" normalizeH="0" baseline="30000" noProof="0" dirty="0">
                <a:ln>
                  <a:noFill/>
                </a:ln>
                <a:solidFill>
                  <a:prstClr val="black"/>
                </a:solidFill>
                <a:effectLst/>
                <a:uLnTx/>
                <a:uFillTx/>
                <a:latin typeface="Arial"/>
                <a:ea typeface="+mn-ea"/>
                <a:cs typeface="+mn-cs"/>
              </a:rPr>
              <a:t> service to manage data processing jobs for </a:t>
            </a:r>
            <a:r>
              <a:rPr kumimoji="0" lang="en-US" sz="3600" b="0" i="0" u="none" strike="noStrike" kern="1200" cap="none" spc="0" normalizeH="0" baseline="30000" noProof="0" dirty="0" err="1">
                <a:ln>
                  <a:noFill/>
                </a:ln>
                <a:solidFill>
                  <a:prstClr val="black"/>
                </a:solidFill>
                <a:effectLst/>
                <a:uLnTx/>
                <a:uFillTx/>
                <a:latin typeface="Arial"/>
                <a:ea typeface="+mn-ea"/>
                <a:cs typeface="+mn-cs"/>
              </a:rPr>
              <a:t>Hadoop</a:t>
            </a:r>
            <a:endParaRPr kumimoji="0" lang="en-US" sz="3600" b="0" i="0" u="none" strike="noStrike" kern="1200" cap="none" spc="0" normalizeH="0" baseline="0" noProof="0" dirty="0">
              <a:ln>
                <a:noFill/>
              </a:ln>
              <a:solidFill>
                <a:prstClr val="black"/>
              </a:solidFill>
              <a:effectLst/>
              <a:uLnTx/>
              <a:uFillTx/>
              <a:latin typeface="Arial"/>
              <a:ea typeface="+mn-ea"/>
              <a:cs typeface="+mn-cs"/>
            </a:endParaRPr>
          </a:p>
        </p:txBody>
      </p:sp>
      <p:pic>
        <p:nvPicPr>
          <p:cNvPr id="6" name="Picture 5" descr="oozie.jpeg">
            <a:extLst>
              <a:ext uri="{FF2B5EF4-FFF2-40B4-BE49-F238E27FC236}">
                <a16:creationId xmlns:a16="http://schemas.microsoft.com/office/drawing/2014/main" id="{44DE0857-F8F1-457C-AF54-1B4819B90A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23714" y="897438"/>
            <a:ext cx="2081686" cy="474162"/>
          </a:xfrm>
          <a:prstGeom prst="rect">
            <a:avLst/>
          </a:prstGeom>
        </p:spPr>
      </p:pic>
    </p:spTree>
    <p:extLst>
      <p:ext uri="{BB962C8B-B14F-4D97-AF65-F5344CB8AC3E}">
        <p14:creationId xmlns:p14="http://schemas.microsoft.com/office/powerpoint/2010/main" val="233379764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3F728-DF32-4569-A1EF-6DF61A6903A9}"/>
              </a:ext>
            </a:extLst>
          </p:cNvPr>
          <p:cNvSpPr>
            <a:spLocks noGrp="1"/>
          </p:cNvSpPr>
          <p:nvPr>
            <p:ph type="title"/>
          </p:nvPr>
        </p:nvSpPr>
        <p:spPr/>
        <p:txBody>
          <a:bodyPr/>
          <a:lstStyle/>
          <a:p>
            <a:r>
              <a:rPr lang="en-IN" dirty="0"/>
              <a:t>Zookeeper</a:t>
            </a:r>
          </a:p>
        </p:txBody>
      </p:sp>
      <p:sp>
        <p:nvSpPr>
          <p:cNvPr id="4" name="TextBox 3">
            <a:extLst>
              <a:ext uri="{FF2B5EF4-FFF2-40B4-BE49-F238E27FC236}">
                <a16:creationId xmlns:a16="http://schemas.microsoft.com/office/drawing/2014/main" id="{A292DA41-32C1-4108-8DBB-9E0C1EB42E26}"/>
              </a:ext>
            </a:extLst>
          </p:cNvPr>
          <p:cNvSpPr txBox="1"/>
          <p:nvPr/>
        </p:nvSpPr>
        <p:spPr>
          <a:xfrm>
            <a:off x="381000" y="2514600"/>
            <a:ext cx="8534400" cy="3385542"/>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Zookeeper is a distributed consensus engine</a:t>
            </a:r>
          </a:p>
          <a:p>
            <a:pPr marL="342900" marR="0" lvl="0" indent="-342900" algn="l" defTabSz="914400" rtl="0" eaLnBrk="1" fontAlgn="auto" latinLnBrk="0" hangingPunct="1">
              <a:lnSpc>
                <a:spcPct val="150000"/>
              </a:lnSpc>
              <a:spcBef>
                <a:spcPts val="0"/>
              </a:spcBef>
              <a:spcAft>
                <a:spcPts val="0"/>
              </a:spcAft>
              <a:buClrTx/>
              <a:buSzTx/>
              <a:buFont typeface="Wingdings" charset="2"/>
              <a:buChar char="v"/>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Provides well-defined concurrent access semantics:</a:t>
            </a:r>
          </a:p>
          <a:p>
            <a:pPr marL="800100" marR="0" lvl="1" indent="-342900" algn="l" defTabSz="914400" rtl="0" eaLnBrk="1" fontAlgn="auto" latinLnBrk="0" hangingPunct="1">
              <a:lnSpc>
                <a:spcPct val="150000"/>
              </a:lnSpc>
              <a:spcBef>
                <a:spcPts val="0"/>
              </a:spcBef>
              <a:spcAft>
                <a:spcPts val="0"/>
              </a:spcAft>
              <a:buClrTx/>
              <a:buSzTx/>
              <a:buFont typeface="Wingdings" charset="2"/>
              <a:buChar char="v"/>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Leader election</a:t>
            </a:r>
          </a:p>
          <a:p>
            <a:pPr marL="800100" marR="0" lvl="1" indent="-342900" algn="l" defTabSz="914400" rtl="0" eaLnBrk="1" fontAlgn="auto" latinLnBrk="0" hangingPunct="1">
              <a:lnSpc>
                <a:spcPct val="150000"/>
              </a:lnSpc>
              <a:spcBef>
                <a:spcPts val="0"/>
              </a:spcBef>
              <a:spcAft>
                <a:spcPts val="0"/>
              </a:spcAft>
              <a:buClrTx/>
              <a:buSzTx/>
              <a:buFont typeface="Wingdings" charset="2"/>
              <a:buChar char="v"/>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Service discovery</a:t>
            </a:r>
          </a:p>
          <a:p>
            <a:pPr marL="800100" marR="0" lvl="1" indent="-342900" algn="l" defTabSz="914400" rtl="0" eaLnBrk="1" fontAlgn="auto" latinLnBrk="0" hangingPunct="1">
              <a:lnSpc>
                <a:spcPct val="150000"/>
              </a:lnSpc>
              <a:spcBef>
                <a:spcPts val="0"/>
              </a:spcBef>
              <a:spcAft>
                <a:spcPts val="0"/>
              </a:spcAft>
              <a:buClrTx/>
              <a:buSzTx/>
              <a:buFont typeface="Wingdings" charset="2"/>
              <a:buChar char="v"/>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Distributed locking / mutual exclusion</a:t>
            </a:r>
          </a:p>
          <a:p>
            <a:pPr marL="800100" marR="0" lvl="1" indent="-342900" algn="l" defTabSz="914400" rtl="0" eaLnBrk="1" fontAlgn="auto" latinLnBrk="0" hangingPunct="1">
              <a:lnSpc>
                <a:spcPct val="150000"/>
              </a:lnSpc>
              <a:spcBef>
                <a:spcPts val="0"/>
              </a:spcBef>
              <a:spcAft>
                <a:spcPts val="0"/>
              </a:spcAft>
              <a:buClrTx/>
              <a:buSzTx/>
              <a:buFont typeface="Wingdings" charset="2"/>
              <a:buChar char="v"/>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Message board / mailboxes</a:t>
            </a:r>
          </a:p>
        </p:txBody>
      </p:sp>
      <p:pic>
        <p:nvPicPr>
          <p:cNvPr id="5" name="Picture 4" descr="Zookeeper.jpeg">
            <a:extLst>
              <a:ext uri="{FF2B5EF4-FFF2-40B4-BE49-F238E27FC236}">
                <a16:creationId xmlns:a16="http://schemas.microsoft.com/office/drawing/2014/main" id="{C0A771B2-DDCD-4B9F-8403-2C68B950CD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13178" y="894907"/>
            <a:ext cx="839822" cy="1196110"/>
          </a:xfrm>
          <a:prstGeom prst="rect">
            <a:avLst/>
          </a:prstGeom>
        </p:spPr>
      </p:pic>
    </p:spTree>
    <p:extLst>
      <p:ext uri="{BB962C8B-B14F-4D97-AF65-F5344CB8AC3E}">
        <p14:creationId xmlns:p14="http://schemas.microsoft.com/office/powerpoint/2010/main" val="311793386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3581400" cy="990600"/>
          </a:xfrm>
        </p:spPr>
        <p:txBody>
          <a:bodyPr>
            <a:normAutofit fontScale="90000"/>
          </a:bodyPr>
          <a:lstStyle/>
          <a:p>
            <a:r>
              <a:rPr lang="en-US" dirty="0"/>
              <a:t>Any Questions </a:t>
            </a:r>
          </a:p>
        </p:txBody>
      </p:sp>
      <p:sp>
        <p:nvSpPr>
          <p:cNvPr id="3" name="Content Placeholder 2"/>
          <p:cNvSpPr>
            <a:spLocks noGrp="1"/>
          </p:cNvSpPr>
          <p:nvPr>
            <p:ph idx="1"/>
          </p:nvPr>
        </p:nvSpPr>
        <p:spPr/>
        <p:txBody>
          <a:bodyPr/>
          <a:lstStyle/>
          <a:p>
            <a:endParaRPr lang="en-US" dirty="0"/>
          </a:p>
          <a:p>
            <a:endParaRPr lang="en-US" dirty="0"/>
          </a:p>
          <a:p>
            <a:endParaRPr lang="en-US" dirty="0"/>
          </a:p>
          <a:p>
            <a:endParaRPr lang="en-US" dirty="0"/>
          </a:p>
          <a:p>
            <a:endParaRPr lang="en-US" dirty="0"/>
          </a:p>
        </p:txBody>
      </p:sp>
      <p:pic>
        <p:nvPicPr>
          <p:cNvPr id="1030" name="Picture 6" descr="C:\Users\EmmShub\AppData\Local\Microsoft\Windows\INetCache\IE\K17V5NXQ\giveThanks300[1].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2362200"/>
            <a:ext cx="3352800" cy="3352800"/>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
          <p:cNvSpPr txBox="1">
            <a:spLocks/>
          </p:cNvSpPr>
          <p:nvPr/>
        </p:nvSpPr>
        <p:spPr>
          <a:xfrm>
            <a:off x="5334000" y="489156"/>
            <a:ext cx="2895600" cy="108966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4000" b="1" kern="1200" spc="-100" baseline="0">
                <a:solidFill>
                  <a:schemeClr val="tx2"/>
                </a:solidFill>
                <a:latin typeface="+mj-lt"/>
                <a:ea typeface="+mj-ea"/>
                <a:cs typeface="+mj-cs"/>
              </a:defRPr>
            </a:lvl1pPr>
          </a:lstStyle>
          <a:p>
            <a:r>
              <a:rPr lang="en-US" sz="3600" dirty="0"/>
              <a:t>and Thanks </a:t>
            </a:r>
          </a:p>
        </p:txBody>
      </p:sp>
      <p:pic>
        <p:nvPicPr>
          <p:cNvPr id="1031" name="Picture 7" descr="C:\Users\EmmShub\AppData\Local\Microsoft\Windows\INetCache\IE\QMO5TF2E\Twitter_question_mark[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783537"/>
            <a:ext cx="2895600" cy="39939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6327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31"/>
                                        </p:tgtEl>
                                        <p:attrNameLst>
                                          <p:attrName>style.visibility</p:attrName>
                                        </p:attrNameLst>
                                      </p:cBhvr>
                                      <p:to>
                                        <p:strVal val="visible"/>
                                      </p:to>
                                    </p:set>
                                    <p:animEffect transition="in" filter="fade">
                                      <p:cBhvr>
                                        <p:cTn id="12" dur="1000"/>
                                        <p:tgtEl>
                                          <p:spTgt spid="1031"/>
                                        </p:tgtEl>
                                      </p:cBhvr>
                                    </p:animEffect>
                                    <p:anim calcmode="lin" valueType="num">
                                      <p:cBhvr>
                                        <p:cTn id="13" dur="1000" fill="hold"/>
                                        <p:tgtEl>
                                          <p:spTgt spid="1031"/>
                                        </p:tgtEl>
                                        <p:attrNameLst>
                                          <p:attrName>ppt_x</p:attrName>
                                        </p:attrNameLst>
                                      </p:cBhvr>
                                      <p:tavLst>
                                        <p:tav tm="0">
                                          <p:val>
                                            <p:strVal val="#ppt_x"/>
                                          </p:val>
                                        </p:tav>
                                        <p:tav tm="100000">
                                          <p:val>
                                            <p:strVal val="#ppt_x"/>
                                          </p:val>
                                        </p:tav>
                                      </p:tavLst>
                                    </p:anim>
                                    <p:anim calcmode="lin" valueType="num">
                                      <p:cBhvr>
                                        <p:cTn id="14" dur="1000" fill="hold"/>
                                        <p:tgtEl>
                                          <p:spTgt spid="1031"/>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030"/>
                                        </p:tgtEl>
                                        <p:attrNameLst>
                                          <p:attrName>style.visibility</p:attrName>
                                        </p:attrNameLst>
                                      </p:cBhvr>
                                      <p:to>
                                        <p:strVal val="visible"/>
                                      </p:to>
                                    </p:set>
                                    <p:animEffect transition="in" filter="fade">
                                      <p:cBhvr>
                                        <p:cTn id="24" dur="1000"/>
                                        <p:tgtEl>
                                          <p:spTgt spid="1030"/>
                                        </p:tgtEl>
                                      </p:cBhvr>
                                    </p:animEffect>
                                    <p:anim calcmode="lin" valueType="num">
                                      <p:cBhvr>
                                        <p:cTn id="25" dur="1000" fill="hold"/>
                                        <p:tgtEl>
                                          <p:spTgt spid="1030"/>
                                        </p:tgtEl>
                                        <p:attrNameLst>
                                          <p:attrName>ppt_x</p:attrName>
                                        </p:attrNameLst>
                                      </p:cBhvr>
                                      <p:tavLst>
                                        <p:tav tm="0">
                                          <p:val>
                                            <p:strVal val="#ppt_x"/>
                                          </p:val>
                                        </p:tav>
                                        <p:tav tm="100000">
                                          <p:val>
                                            <p:strVal val="#ppt_x"/>
                                          </p:val>
                                        </p:tav>
                                      </p:tavLst>
                                    </p:anim>
                                    <p:anim calcmode="lin" valueType="num">
                                      <p:cBhvr>
                                        <p:cTn id="26" dur="1000" fill="hold"/>
                                        <p:tgtEl>
                                          <p:spTgt spid="10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1943</TotalTime>
  <Words>2261</Words>
  <Application>Microsoft Office PowerPoint</Application>
  <PresentationFormat>On-screen Show (4:3)</PresentationFormat>
  <Paragraphs>400</Paragraphs>
  <Slides>90</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90</vt:i4>
      </vt:variant>
    </vt:vector>
  </HeadingPairs>
  <TitlesOfParts>
    <vt:vector size="99" baseType="lpstr">
      <vt:lpstr>Arial</vt:lpstr>
      <vt:lpstr>Arial Black</vt:lpstr>
      <vt:lpstr>Calibri</vt:lpstr>
      <vt:lpstr>Gill Sans</vt:lpstr>
      <vt:lpstr>Lucida Sans</vt:lpstr>
      <vt:lpstr>Monaco</vt:lpstr>
      <vt:lpstr>Times New Roman</vt:lpstr>
      <vt:lpstr>Wingdings</vt:lpstr>
      <vt:lpstr>Clarity</vt:lpstr>
      <vt:lpstr>DATA ANALYTICS  &amp; MACHINE LEARNING</vt:lpstr>
      <vt:lpstr>Data</vt:lpstr>
      <vt:lpstr>Data 2020 – 2021 </vt:lpstr>
      <vt:lpstr>Data 2021</vt:lpstr>
      <vt:lpstr>Data 2020</vt:lpstr>
      <vt:lpstr>Data 2021</vt:lpstr>
      <vt:lpstr>Gartner Hype Cycle 2014</vt:lpstr>
      <vt:lpstr>Gartner Hype Cycle 2015</vt:lpstr>
      <vt:lpstr>Gartner Hype Cycle 2016</vt:lpstr>
      <vt:lpstr>Gartner Hype Cycle 2017</vt:lpstr>
      <vt:lpstr>Gartner Hype Cycle 2018</vt:lpstr>
      <vt:lpstr>PowerPoint Presentation</vt:lpstr>
      <vt:lpstr>PowerPoint Presentation</vt:lpstr>
      <vt:lpstr>Gartner Hype Cycle 2021</vt:lpstr>
      <vt:lpstr>3 V’s of Big Data</vt:lpstr>
      <vt:lpstr>5 V’s of Big Data</vt:lpstr>
      <vt:lpstr>Another 5 ?</vt:lpstr>
      <vt:lpstr>DIKW</vt:lpstr>
      <vt:lpstr>DIKUW</vt:lpstr>
      <vt:lpstr>Motivation</vt:lpstr>
      <vt:lpstr>Motivation</vt:lpstr>
      <vt:lpstr>Motivation</vt:lpstr>
      <vt:lpstr>Core Principles</vt:lpstr>
      <vt:lpstr>Scale-Out rather than Scale-Up</vt:lpstr>
      <vt:lpstr>Bring Code to Data rather than Data to Code</vt:lpstr>
      <vt:lpstr>Hadoop is designed to cope with node failures</vt:lpstr>
      <vt:lpstr>Hadoop Distributed File System</vt:lpstr>
      <vt:lpstr>Abstract complexity</vt:lpstr>
      <vt:lpstr>Hadoop Use Cases</vt:lpstr>
      <vt:lpstr>Three papers by Google</vt:lpstr>
      <vt:lpstr>Apache Hadoop</vt:lpstr>
      <vt:lpstr>Hadoop Ecosystem</vt:lpstr>
      <vt:lpstr>Research Periodic Table</vt:lpstr>
      <vt:lpstr>Hadoop Ecosystem</vt:lpstr>
      <vt:lpstr>Hadoop Ecosystem</vt:lpstr>
      <vt:lpstr>Hadoop Ecosystem</vt:lpstr>
      <vt:lpstr>Hadoop Ecosystem</vt:lpstr>
      <vt:lpstr>Hadoop Ecosystem</vt:lpstr>
      <vt:lpstr>Hadoop Eco System</vt:lpstr>
      <vt:lpstr>Hadoop Core Components</vt:lpstr>
      <vt:lpstr>High Level Data Processing</vt:lpstr>
      <vt:lpstr>NoSQL</vt:lpstr>
      <vt:lpstr>Data Analytic Components</vt:lpstr>
      <vt:lpstr>Data Analytic Components</vt:lpstr>
      <vt:lpstr>Data Serialization Components</vt:lpstr>
      <vt:lpstr>Data Transfer Components</vt:lpstr>
      <vt:lpstr>Management Components</vt:lpstr>
      <vt:lpstr>Monitoring Components</vt:lpstr>
      <vt:lpstr>Benefit of Agility / Flexibility</vt:lpstr>
      <vt:lpstr>Original Raw Data</vt:lpstr>
      <vt:lpstr>Scalable: Grows without changes</vt:lpstr>
      <vt:lpstr>Data beats Algorithms</vt:lpstr>
      <vt:lpstr>Keep All Data Alive Forever</vt:lpstr>
      <vt:lpstr>Right Tool for the Right Job</vt:lpstr>
      <vt:lpstr>Hadoop HDFS</vt:lpstr>
      <vt:lpstr>Hadoop HDFS</vt:lpstr>
      <vt:lpstr>Hadoop HDFS</vt:lpstr>
      <vt:lpstr>Hadoop Daemons</vt:lpstr>
      <vt:lpstr>Five Hadoop Daemons</vt:lpstr>
      <vt:lpstr>HDFS Architecture</vt:lpstr>
      <vt:lpstr>Functions of Name Node</vt:lpstr>
      <vt:lpstr>Functions of Name Node</vt:lpstr>
      <vt:lpstr>Functions of Data Node</vt:lpstr>
      <vt:lpstr>Secondary Name Node</vt:lpstr>
      <vt:lpstr>Secondary Name Node</vt:lpstr>
      <vt:lpstr>Blocks Replication</vt:lpstr>
      <vt:lpstr>Blocks Replication</vt:lpstr>
      <vt:lpstr>HDFS File Read</vt:lpstr>
      <vt:lpstr>HDFS File Write</vt:lpstr>
      <vt:lpstr>PowerPoint Presentation</vt:lpstr>
      <vt:lpstr>PowerPoint Presentation</vt:lpstr>
      <vt:lpstr>PowerPoint Presentation</vt:lpstr>
      <vt:lpstr>PowerPoint Presentation</vt:lpstr>
      <vt:lpstr>Hadoop MapReduce</vt:lpstr>
      <vt:lpstr>Hadoop MapReduce</vt:lpstr>
      <vt:lpstr>Hadoop MapReduce</vt:lpstr>
      <vt:lpstr>Hadoop MapReduce</vt:lpstr>
      <vt:lpstr>Hadoop MapReduce</vt:lpstr>
      <vt:lpstr>Hadoop MapReduce</vt:lpstr>
      <vt:lpstr>Hadoop MapReduce</vt:lpstr>
      <vt:lpstr>Sqoop</vt:lpstr>
      <vt:lpstr>Flume</vt:lpstr>
      <vt:lpstr>Flume Architecture</vt:lpstr>
      <vt:lpstr>HBase</vt:lpstr>
      <vt:lpstr>HBase Architecture</vt:lpstr>
      <vt:lpstr>Hive</vt:lpstr>
      <vt:lpstr>Pig</vt:lpstr>
      <vt:lpstr>Oozie </vt:lpstr>
      <vt:lpstr>Zookeeper</vt:lpstr>
      <vt:lpstr>Any Questions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Big Data ANALYTICS – Research CASE STUDIES</dc:title>
  <dc:creator>Emmanuel S</dc:creator>
  <cp:lastModifiedBy>Emmanuel Pilli</cp:lastModifiedBy>
  <cp:revision>83</cp:revision>
  <dcterms:created xsi:type="dcterms:W3CDTF">2015-12-22T23:52:01Z</dcterms:created>
  <dcterms:modified xsi:type="dcterms:W3CDTF">2024-05-14T04:38:33Z</dcterms:modified>
</cp:coreProperties>
</file>