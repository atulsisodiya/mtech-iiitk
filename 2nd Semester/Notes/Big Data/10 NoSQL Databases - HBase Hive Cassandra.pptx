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6"/>
  </p:notesMasterIdLst>
  <p:sldIdLst>
    <p:sldId id="257" r:id="rId2"/>
    <p:sldId id="320" r:id="rId3"/>
    <p:sldId id="321" r:id="rId4"/>
    <p:sldId id="322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359" r:id="rId17"/>
    <p:sldId id="360" r:id="rId18"/>
    <p:sldId id="334" r:id="rId19"/>
    <p:sldId id="356" r:id="rId20"/>
    <p:sldId id="336" r:id="rId21"/>
    <p:sldId id="337" r:id="rId22"/>
    <p:sldId id="338" r:id="rId23"/>
    <p:sldId id="395" r:id="rId24"/>
    <p:sldId id="339" r:id="rId25"/>
    <p:sldId id="340" r:id="rId26"/>
    <p:sldId id="341" r:id="rId27"/>
    <p:sldId id="342" r:id="rId28"/>
    <p:sldId id="343" r:id="rId29"/>
    <p:sldId id="344" r:id="rId30"/>
    <p:sldId id="346" r:id="rId31"/>
    <p:sldId id="347" r:id="rId32"/>
    <p:sldId id="348" r:id="rId33"/>
    <p:sldId id="349" r:id="rId34"/>
    <p:sldId id="350" r:id="rId35"/>
    <p:sldId id="351" r:id="rId36"/>
    <p:sldId id="352" r:id="rId37"/>
    <p:sldId id="353" r:id="rId38"/>
    <p:sldId id="354" r:id="rId39"/>
    <p:sldId id="396" r:id="rId40"/>
    <p:sldId id="355" r:id="rId41"/>
    <p:sldId id="398" r:id="rId42"/>
    <p:sldId id="399" r:id="rId43"/>
    <p:sldId id="400" r:id="rId44"/>
    <p:sldId id="401" r:id="rId45"/>
    <p:sldId id="402" r:id="rId46"/>
    <p:sldId id="403" r:id="rId47"/>
    <p:sldId id="404" r:id="rId48"/>
    <p:sldId id="405" r:id="rId49"/>
    <p:sldId id="406" r:id="rId50"/>
    <p:sldId id="407" r:id="rId51"/>
    <p:sldId id="408" r:id="rId52"/>
    <p:sldId id="409" r:id="rId53"/>
    <p:sldId id="410" r:id="rId54"/>
    <p:sldId id="411" r:id="rId55"/>
    <p:sldId id="412" r:id="rId56"/>
    <p:sldId id="413" r:id="rId57"/>
    <p:sldId id="362" r:id="rId58"/>
    <p:sldId id="363" r:id="rId59"/>
    <p:sldId id="364" r:id="rId60"/>
    <p:sldId id="365" r:id="rId61"/>
    <p:sldId id="366" r:id="rId62"/>
    <p:sldId id="367" r:id="rId63"/>
    <p:sldId id="368" r:id="rId64"/>
    <p:sldId id="369" r:id="rId65"/>
    <p:sldId id="370" r:id="rId66"/>
    <p:sldId id="371" r:id="rId67"/>
    <p:sldId id="372" r:id="rId68"/>
    <p:sldId id="373" r:id="rId69"/>
    <p:sldId id="374" r:id="rId70"/>
    <p:sldId id="375" r:id="rId71"/>
    <p:sldId id="376" r:id="rId72"/>
    <p:sldId id="377" r:id="rId73"/>
    <p:sldId id="378" r:id="rId74"/>
    <p:sldId id="397" r:id="rId7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3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FF23A1-FCAC-4B9F-8877-9E2EE5320228}" type="datetimeFigureOut">
              <a:rPr lang="en-US" smtClean="0"/>
              <a:t>9/17/2018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EA265-A1FA-4134-BB75-F6FEA19C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034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31286" indent="-281264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5055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5077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25099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75121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25143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75165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25187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84DACDB-06D3-4EA1-A2D3-99C9DA69128C}" type="slidenum">
              <a:rPr lang="en-US" altLang="en-US" sz="1200"/>
              <a:pPr eaLnBrk="1" hangingPunct="1"/>
              <a:t>2</a:t>
            </a:fld>
            <a:endParaRPr lang="en-US" altLang="en-US" sz="1200"/>
          </a:p>
        </p:txBody>
      </p:sp>
      <p:sp>
        <p:nvSpPr>
          <p:cNvPr id="50179" name="Rectangle 7"/>
          <p:cNvSpPr txBox="1">
            <a:spLocks noGrp="1" noChangeArrowheads="1"/>
          </p:cNvSpPr>
          <p:nvPr/>
        </p:nvSpPr>
        <p:spPr bwMode="auto">
          <a:xfrm>
            <a:off x="3884122" y="8685235"/>
            <a:ext cx="297232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3" rIns="91427" bIns="45713" anchor="b"/>
          <a:lstStyle>
            <a:lvl1pPr defTabSz="92868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defTabSz="92868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defTabSz="92868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defTabSz="92868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defTabSz="92868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C075677-8EF7-40BF-A419-C9250C1B3E48}" type="slidenum">
              <a:rPr lang="en-US" altLang="en-US" sz="1200">
                <a:latin typeface="Calibri" pitchFamily="34" charset="0"/>
              </a:rPr>
              <a:pPr algn="r" eaLnBrk="1" hangingPunct="1">
                <a:spcBef>
                  <a:spcPct val="0"/>
                </a:spcBef>
              </a:pPr>
              <a:t>2</a:t>
            </a:fld>
            <a:endParaRPr lang="en-US" altLang="en-US" sz="1200">
              <a:latin typeface="Calibri" pitchFamily="34" charset="0"/>
            </a:endParaRPr>
          </a:p>
        </p:txBody>
      </p:sp>
      <p:sp>
        <p:nvSpPr>
          <p:cNvPr id="501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1427" tIns="45713" rIns="91427" bIns="45713"/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NoSQL was a term coined by Eric Evans.  He states that ‘… but the whole point of seeking alternatives is that you need to solve a problem that relational databases are a bad fit for. …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This is why people are continually interpreting nosql to be </a:t>
            </a:r>
            <a:r>
              <a:rPr lang="en-US" altLang="en-US" i="1"/>
              <a:t>anti-RDBMS</a:t>
            </a:r>
            <a:r>
              <a:rPr lang="en-US" altLang="en-US"/>
              <a:t>, it's the only rational conclusion when the only thing some of these projects share in common is that they are </a:t>
            </a:r>
            <a:r>
              <a:rPr lang="en-US" altLang="en-US" i="1"/>
              <a:t>not relational databases</a:t>
            </a:r>
            <a:r>
              <a:rPr lang="en-US" altLang="en-US"/>
              <a:t>.’  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Emil Elfrem stated it is not a ‘NO’ SQL but more of a ‘Not Only” SQL. </a:t>
            </a:r>
          </a:p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31286" indent="-281264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5055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5077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25099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75121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25143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75165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25187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9CAF7F0F-1573-4FDD-9422-0B5AAF0DEDC0}" type="slidenum">
              <a:rPr lang="en-US" altLang="en-US" sz="1200"/>
              <a:pPr eaLnBrk="1" hangingPunct="1"/>
              <a:t>3</a:t>
            </a:fld>
            <a:endParaRPr lang="en-US" altLang="en-US" sz="1200"/>
          </a:p>
        </p:txBody>
      </p:sp>
      <p:sp>
        <p:nvSpPr>
          <p:cNvPr id="51203" name="Rectangle 7"/>
          <p:cNvSpPr txBox="1">
            <a:spLocks noGrp="1" noChangeArrowheads="1"/>
          </p:cNvSpPr>
          <p:nvPr/>
        </p:nvSpPr>
        <p:spPr bwMode="auto">
          <a:xfrm>
            <a:off x="3884122" y="8685235"/>
            <a:ext cx="297232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3" rIns="91427" bIns="45713" anchor="b"/>
          <a:lstStyle>
            <a:lvl1pPr defTabSz="92868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defTabSz="92868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defTabSz="92868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defTabSz="92868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defTabSz="92868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9B52198-DA2C-445B-B3FC-BC89544316D5}" type="slidenum">
              <a:rPr lang="en-US" altLang="en-US" sz="1200">
                <a:latin typeface="Calibri" pitchFamily="34" charset="0"/>
              </a:rPr>
              <a:pPr algn="r" eaLnBrk="1" hangingPunct="1">
                <a:spcBef>
                  <a:spcPct val="0"/>
                </a:spcBef>
              </a:pPr>
              <a:t>3</a:t>
            </a:fld>
            <a:endParaRPr lang="en-US" altLang="en-US" sz="1200">
              <a:latin typeface="Calibri" pitchFamily="34" charset="0"/>
            </a:endParaRPr>
          </a:p>
        </p:txBody>
      </p:sp>
      <p:sp>
        <p:nvSpPr>
          <p:cNvPr id="512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1427" tIns="45713" rIns="91427" bIns="45713"/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-&gt; Too often as consultants, when we talk about data storage, we immediately reach for a relational database.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-&gt; Relational databases offer a very good general purpose solution to many different data storage needs.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-&gt; In other words, it is the safe choice and will work in many situations.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-&gt; Need to have some knowledge of alternatives, if nothing else to know when a NoSQL solution needs further investigation.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31286" indent="-281264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5055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5077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25099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75121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25143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75165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25187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BB456D5C-4E85-4C3F-A29D-F671FE6F4FF2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4122" y="8685235"/>
            <a:ext cx="297232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3" rIns="91427" bIns="45713" anchor="b"/>
          <a:lstStyle>
            <a:lvl1pPr defTabSz="92868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defTabSz="92868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defTabSz="92868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defTabSz="92868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defTabSz="92868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AD96BD3-1F69-4F73-AA6B-598294ADC292}" type="slidenum">
              <a:rPr lang="en-US" altLang="zh-CN" sz="1200">
                <a:latin typeface="Calibri" pitchFamily="34" charset="0"/>
              </a:rPr>
              <a:pPr algn="r" eaLnBrk="1" hangingPunct="1">
                <a:spcBef>
                  <a:spcPct val="0"/>
                </a:spcBef>
              </a:pPr>
              <a:t>4</a:t>
            </a:fld>
            <a:endParaRPr lang="en-US" altLang="zh-CN" sz="1200">
              <a:latin typeface="Calibri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1427" tIns="45713" rIns="91427" bIns="45713"/>
          <a:lstStyle/>
          <a:p>
            <a:pPr eaLnBrk="1" hangingPunct="1">
              <a:spcBef>
                <a:spcPct val="0"/>
              </a:spcBef>
            </a:pPr>
            <a:r>
              <a:rPr lang="en-US" altLang="zh-CN"/>
              <a:t>PODC:ACM Symposium on Principles of Distributed Computing(PODC)International Conference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31286" indent="-281264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5055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5077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25099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75121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25143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75165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25187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BF9C0C84-A4FC-4663-AFD7-8EEB13AC46FC}" type="slidenum">
              <a:rPr lang="en-US" altLang="en-US" sz="1200"/>
              <a:pPr eaLnBrk="1" hangingPunct="1"/>
              <a:t>11</a:t>
            </a:fld>
            <a:endParaRPr lang="en-US" alt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See-</a:t>
            </a:r>
          </a:p>
          <a:p>
            <a:pPr eaLnBrk="1" hangingPunct="1"/>
            <a:r>
              <a:rPr lang="en-US" altLang="en-US"/>
              <a:t>http://link.springer.com/chapter/10.1007%2F978-3-642-35542-4_2  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for getting more insights in CAP theorem and NoSQL databases.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31286" indent="-281264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5055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5077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25099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75121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25143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75165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25187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4C0A21D6-B1EF-47ED-81BE-BCC01E3274CE}" type="slidenum">
              <a:rPr lang="en-US" altLang="en-US" sz="1200"/>
              <a:pPr eaLnBrk="1" hangingPunct="1"/>
              <a:t>12</a:t>
            </a:fld>
            <a:endParaRPr lang="en-US" altLang="en-US" sz="1200"/>
          </a:p>
        </p:txBody>
      </p:sp>
      <p:sp>
        <p:nvSpPr>
          <p:cNvPr id="5427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lIns="90004" tIns="45002" rIns="90004" bIns="45002"/>
          <a:lstStyle/>
          <a:p>
            <a:pPr eaLnBrk="1" hangingPunct="1"/>
            <a:endParaRPr lang="en-ZA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122" y="8685235"/>
            <a:ext cx="2972320" cy="457200"/>
          </a:xfrm>
          <a:prstGeom prst="rect">
            <a:avLst/>
          </a:prstGeom>
          <a:noFill/>
        </p:spPr>
        <p:txBody>
          <a:bodyPr lIns="90004" tIns="45002" rIns="90004" bIns="45002" anchor="b"/>
          <a:lstStyle/>
          <a:p>
            <a:pPr algn="r">
              <a:defRPr/>
            </a:pPr>
            <a:fld id="{B3B63B4F-DA99-46F1-AE8A-885CB9E461A8}" type="slidenum">
              <a:rPr lang="en-ZA" sz="1200"/>
              <a:pPr algn="r">
                <a:defRPr/>
              </a:pPr>
              <a:t>12</a:t>
            </a:fld>
            <a:endParaRPr lang="en-ZA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31286" indent="-281264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5055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5077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25099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75121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25143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75165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25187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8C0C70AC-33BF-4155-802C-3DF74868D117}" type="slidenum">
              <a:rPr lang="en-US" altLang="en-US" sz="1200"/>
              <a:pPr eaLnBrk="1" hangingPunct="1"/>
              <a:t>14</a:t>
            </a:fld>
            <a:endParaRPr lang="en-US" altLang="en-US" sz="1200"/>
          </a:p>
        </p:txBody>
      </p:sp>
      <p:sp>
        <p:nvSpPr>
          <p:cNvPr id="5529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30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lIns="90004" tIns="45002" rIns="90004" bIns="45002"/>
          <a:lstStyle/>
          <a:p>
            <a:pPr eaLnBrk="1" hangingPunct="1"/>
            <a:endParaRPr lang="en-ZA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122" y="8685235"/>
            <a:ext cx="2972320" cy="457200"/>
          </a:xfrm>
          <a:prstGeom prst="rect">
            <a:avLst/>
          </a:prstGeom>
          <a:noFill/>
        </p:spPr>
        <p:txBody>
          <a:bodyPr lIns="90004" tIns="45002" rIns="90004" bIns="45002" anchor="b"/>
          <a:lstStyle/>
          <a:p>
            <a:pPr algn="r">
              <a:defRPr/>
            </a:pPr>
            <a:fld id="{769CBE09-9A32-4B3A-A328-5BB494EEC962}" type="slidenum">
              <a:rPr lang="en-ZA" sz="1200"/>
              <a:pPr algn="r">
                <a:defRPr/>
              </a:pPr>
              <a:t>14</a:t>
            </a:fld>
            <a:endParaRPr lang="en-ZA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31286" indent="-281264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5055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5077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25099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75121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25143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75165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25187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CEFFC0B-EC4E-4AF6-872F-057095869A64}" type="slidenum">
              <a:rPr lang="en-US" altLang="en-US" sz="1200"/>
              <a:pPr eaLnBrk="1" hangingPunct="1"/>
              <a:t>15</a:t>
            </a:fld>
            <a:endParaRPr lang="en-US" altLang="en-US" sz="1200"/>
          </a:p>
        </p:txBody>
      </p:sp>
      <p:sp>
        <p:nvSpPr>
          <p:cNvPr id="5632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lIns="90004" tIns="45002" rIns="90004" bIns="45002"/>
          <a:lstStyle/>
          <a:p>
            <a:pPr eaLnBrk="1" hangingPunct="1"/>
            <a:r>
              <a:rPr lang="en-ZA" altLang="en-US"/>
              <a:t>Short article to understand different nosql data models and how to convert them to graph.</a:t>
            </a:r>
          </a:p>
          <a:p>
            <a:pPr eaLnBrk="1" hangingPunct="1"/>
            <a:endParaRPr lang="en-ZA" altLang="en-US"/>
          </a:p>
          <a:p>
            <a:pPr eaLnBrk="1" hangingPunct="1"/>
            <a:r>
              <a:rPr lang="en-ZA" altLang="en-US"/>
              <a:t>http://www.neo4j.org/learn/nosql</a:t>
            </a:r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122" y="8685235"/>
            <a:ext cx="2972320" cy="457200"/>
          </a:xfrm>
          <a:prstGeom prst="rect">
            <a:avLst/>
          </a:prstGeom>
          <a:noFill/>
        </p:spPr>
        <p:txBody>
          <a:bodyPr lIns="90004" tIns="45002" rIns="90004" bIns="45002" anchor="b"/>
          <a:lstStyle/>
          <a:p>
            <a:pPr algn="r">
              <a:defRPr/>
            </a:pPr>
            <a:fld id="{FFEE7CA8-FF8D-48F2-9C85-CA879D447310}" type="slidenum">
              <a:rPr lang="en-ZA" sz="1200"/>
              <a:pPr algn="r">
                <a:defRPr/>
              </a:pPr>
              <a:t>15</a:t>
            </a:fld>
            <a:endParaRPr lang="en-ZA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31286" indent="-281264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5055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5077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25099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75121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25143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75165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25187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CEFFC0B-EC4E-4AF6-872F-057095869A64}" type="slidenum">
              <a:rPr lang="en-US" altLang="en-US" sz="1200"/>
              <a:pPr eaLnBrk="1" hangingPunct="1"/>
              <a:t>16</a:t>
            </a:fld>
            <a:endParaRPr lang="en-US" altLang="en-US" sz="1200"/>
          </a:p>
        </p:txBody>
      </p:sp>
      <p:sp>
        <p:nvSpPr>
          <p:cNvPr id="5632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lIns="90004" tIns="45002" rIns="90004" bIns="45002"/>
          <a:lstStyle/>
          <a:p>
            <a:pPr eaLnBrk="1" hangingPunct="1"/>
            <a:r>
              <a:rPr lang="en-ZA" altLang="en-US"/>
              <a:t>Short article to understand different nosql data models and how to convert them to graph.</a:t>
            </a:r>
          </a:p>
          <a:p>
            <a:pPr eaLnBrk="1" hangingPunct="1"/>
            <a:endParaRPr lang="en-ZA" altLang="en-US"/>
          </a:p>
          <a:p>
            <a:pPr eaLnBrk="1" hangingPunct="1"/>
            <a:r>
              <a:rPr lang="en-ZA" altLang="en-US"/>
              <a:t>http://www.neo4j.org/learn/nosql</a:t>
            </a:r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122" y="8685235"/>
            <a:ext cx="2972320" cy="457200"/>
          </a:xfrm>
          <a:prstGeom prst="rect">
            <a:avLst/>
          </a:prstGeom>
          <a:noFill/>
        </p:spPr>
        <p:txBody>
          <a:bodyPr lIns="90004" tIns="45002" rIns="90004" bIns="45002" anchor="b"/>
          <a:lstStyle/>
          <a:p>
            <a:pPr algn="r">
              <a:defRPr/>
            </a:pPr>
            <a:fld id="{FFEE7CA8-FF8D-48F2-9C85-CA879D447310}" type="slidenum">
              <a:rPr lang="en-ZA" sz="1200"/>
              <a:pPr algn="r">
                <a:defRPr/>
              </a:pPr>
              <a:t>16</a:t>
            </a:fld>
            <a:endParaRPr lang="en-ZA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31286" indent="-281264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5055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5077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25099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75121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25143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75165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25187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CEFFC0B-EC4E-4AF6-872F-057095869A64}" type="slidenum">
              <a:rPr lang="en-US" altLang="en-US" sz="1200"/>
              <a:pPr eaLnBrk="1" hangingPunct="1"/>
              <a:t>17</a:t>
            </a:fld>
            <a:endParaRPr lang="en-US" altLang="en-US" sz="1200"/>
          </a:p>
        </p:txBody>
      </p:sp>
      <p:sp>
        <p:nvSpPr>
          <p:cNvPr id="5632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lIns="90004" tIns="45002" rIns="90004" bIns="45002"/>
          <a:lstStyle/>
          <a:p>
            <a:pPr eaLnBrk="1" hangingPunct="1"/>
            <a:r>
              <a:rPr lang="en-ZA" altLang="en-US"/>
              <a:t>Short article to understand different nosql data models and how to convert them to graph.</a:t>
            </a:r>
          </a:p>
          <a:p>
            <a:pPr eaLnBrk="1" hangingPunct="1"/>
            <a:endParaRPr lang="en-ZA" altLang="en-US"/>
          </a:p>
          <a:p>
            <a:pPr eaLnBrk="1" hangingPunct="1"/>
            <a:r>
              <a:rPr lang="en-ZA" altLang="en-US"/>
              <a:t>http://www.neo4j.org/learn/nosql</a:t>
            </a:r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122" y="8685235"/>
            <a:ext cx="2972320" cy="457200"/>
          </a:xfrm>
          <a:prstGeom prst="rect">
            <a:avLst/>
          </a:prstGeom>
          <a:noFill/>
        </p:spPr>
        <p:txBody>
          <a:bodyPr lIns="90004" tIns="45002" rIns="90004" bIns="45002" anchor="b"/>
          <a:lstStyle/>
          <a:p>
            <a:pPr algn="r">
              <a:defRPr/>
            </a:pPr>
            <a:fld id="{FFEE7CA8-FF8D-48F2-9C85-CA879D447310}" type="slidenum">
              <a:rPr lang="en-ZA" sz="1200"/>
              <a:pPr algn="r">
                <a:defRPr/>
              </a:pPr>
              <a:t>17</a:t>
            </a:fld>
            <a:endParaRPr lang="en-ZA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31286" indent="-281264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5055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5077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25099" indent="-225011" defTabSz="914108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75121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25143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75165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25187" indent="-225011" algn="ctr" defTabSz="914108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F665A71-333B-4C97-A56D-91372D328BE1}" type="slidenum">
              <a:rPr lang="en-US" altLang="en-US" sz="1200"/>
              <a:pPr eaLnBrk="1" hangingPunct="1"/>
              <a:t>18</a:t>
            </a:fld>
            <a:endParaRPr lang="en-US" altLang="en-US" sz="1200"/>
          </a:p>
        </p:txBody>
      </p:sp>
      <p:sp>
        <p:nvSpPr>
          <p:cNvPr id="5734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lIns="90004" tIns="45002" rIns="90004" bIns="45002"/>
          <a:lstStyle/>
          <a:p>
            <a:pPr eaLnBrk="1" hangingPunct="1"/>
            <a:endParaRPr lang="en-ZA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122" y="8685235"/>
            <a:ext cx="2972320" cy="457200"/>
          </a:xfrm>
          <a:prstGeom prst="rect">
            <a:avLst/>
          </a:prstGeom>
          <a:noFill/>
        </p:spPr>
        <p:txBody>
          <a:bodyPr lIns="90004" tIns="45002" rIns="90004" bIns="45002" anchor="b"/>
          <a:lstStyle/>
          <a:p>
            <a:pPr algn="r">
              <a:defRPr/>
            </a:pPr>
            <a:fld id="{4E5C3486-5B77-464F-97C7-27DC4333CDD1}" type="slidenum">
              <a:rPr lang="en-ZA" sz="1200"/>
              <a:pPr algn="r">
                <a:defRPr/>
              </a:pPr>
              <a:t>18</a:t>
            </a:fld>
            <a:endParaRPr lang="en-ZA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4225588" y="-11798300"/>
            <a:ext cx="16651288" cy="12490450"/>
          </a:xfrm>
          <a:solidFill>
            <a:srgbClr val="FFFFFF"/>
          </a:solidFill>
          <a:ln/>
        </p:spPr>
      </p:sp>
      <p:sp>
        <p:nvSpPr>
          <p:cNvPr id="4301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1"/>
            <a:ext cx="5481725" cy="41116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pPr eaLnBrk="1" hangingPunct="1"/>
            <a:endParaRPr lang="en-US" altLang="en-US">
              <a:latin typeface="Times New Roman" pitchFamily="18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88" y="0"/>
            <a:ext cx="1587" cy="1588"/>
          </a:xfrm>
          <a:solidFill>
            <a:srgbClr val="FFFFFF"/>
          </a:solidFill>
          <a:ln/>
        </p:spPr>
      </p:sp>
      <p:sp>
        <p:nvSpPr>
          <p:cNvPr id="44035" name="Text Box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spcBef>
                <a:spcPts val="456"/>
              </a:spcBef>
              <a:tabLst>
                <a:tab pos="0" algn="l"/>
                <a:tab pos="456272" algn="l"/>
                <a:tab pos="914108" algn="l"/>
                <a:tab pos="1370380" algn="l"/>
                <a:tab pos="1828214" algn="l"/>
                <a:tab pos="2284486" algn="l"/>
                <a:tab pos="2742322" algn="l"/>
                <a:tab pos="3198594" algn="l"/>
                <a:tab pos="3656428" algn="l"/>
                <a:tab pos="4112701" algn="l"/>
                <a:tab pos="4570536" algn="l"/>
                <a:tab pos="5028370" algn="l"/>
                <a:tab pos="5484643" algn="l"/>
                <a:tab pos="5942478" algn="l"/>
                <a:tab pos="6398750" algn="l"/>
                <a:tab pos="6856585" algn="l"/>
                <a:tab pos="7312857" algn="l"/>
                <a:tab pos="7770692" algn="l"/>
                <a:tab pos="8226964" algn="l"/>
                <a:tab pos="8684799" algn="l"/>
                <a:tab pos="9142634" algn="l"/>
              </a:tabLst>
            </a:pPr>
            <a:r>
              <a:rPr lang="en-US" altLang="en-US">
                <a:latin typeface="Calibri" pitchFamily="34" charset="0"/>
                <a:ea typeface="WenQuanYi Micro Hei"/>
                <a:cs typeface="WenQuanYi Micro Hei"/>
              </a:rPr>
              <a:t>*Creates a table called invites with two columns and a partition column called ds. The partition column is a virtual column. It is not part of the data itself but is derived from the partition that a particular dataset is loaded into. By default, tables are assumed to be of text input format and the delimiters are assumed to be ^A(ctrl-a).</a:t>
            </a:r>
          </a:p>
          <a:p>
            <a:pPr>
              <a:spcBef>
                <a:spcPts val="456"/>
              </a:spcBef>
              <a:tabLst>
                <a:tab pos="0" algn="l"/>
                <a:tab pos="456272" algn="l"/>
                <a:tab pos="914108" algn="l"/>
                <a:tab pos="1370380" algn="l"/>
                <a:tab pos="1828214" algn="l"/>
                <a:tab pos="2284486" algn="l"/>
                <a:tab pos="2742322" algn="l"/>
                <a:tab pos="3198594" algn="l"/>
                <a:tab pos="3656428" algn="l"/>
                <a:tab pos="4112701" algn="l"/>
                <a:tab pos="4570536" algn="l"/>
                <a:tab pos="5028370" algn="l"/>
                <a:tab pos="5484643" algn="l"/>
                <a:tab pos="5942478" algn="l"/>
                <a:tab pos="6398750" algn="l"/>
                <a:tab pos="6856585" algn="l"/>
                <a:tab pos="7312857" algn="l"/>
                <a:tab pos="7770692" algn="l"/>
                <a:tab pos="8226964" algn="l"/>
                <a:tab pos="8684799" algn="l"/>
                <a:tab pos="9142634" algn="l"/>
              </a:tabLst>
            </a:pPr>
            <a:endParaRPr lang="en-US" altLang="en-US">
              <a:latin typeface="Calibri" pitchFamily="34" charset="0"/>
              <a:ea typeface="WenQuanYi Micro Hei"/>
              <a:cs typeface="WenQuanYi Micro Hei"/>
            </a:endParaRPr>
          </a:p>
          <a:p>
            <a:pPr>
              <a:spcBef>
                <a:spcPts val="456"/>
              </a:spcBef>
              <a:tabLst>
                <a:tab pos="0" algn="l"/>
                <a:tab pos="456272" algn="l"/>
                <a:tab pos="914108" algn="l"/>
                <a:tab pos="1370380" algn="l"/>
                <a:tab pos="1828214" algn="l"/>
                <a:tab pos="2284486" algn="l"/>
                <a:tab pos="2742322" algn="l"/>
                <a:tab pos="3198594" algn="l"/>
                <a:tab pos="3656428" algn="l"/>
                <a:tab pos="4112701" algn="l"/>
                <a:tab pos="4570536" algn="l"/>
                <a:tab pos="5028370" algn="l"/>
                <a:tab pos="5484643" algn="l"/>
                <a:tab pos="5942478" algn="l"/>
                <a:tab pos="6398750" algn="l"/>
                <a:tab pos="6856585" algn="l"/>
                <a:tab pos="7312857" algn="l"/>
                <a:tab pos="7770692" algn="l"/>
                <a:tab pos="8226964" algn="l"/>
                <a:tab pos="8684799" algn="l"/>
                <a:tab pos="9142634" algn="l"/>
              </a:tabLst>
            </a:pPr>
            <a:r>
              <a:rPr lang="en-US" altLang="en-US">
                <a:latin typeface="Calibri" pitchFamily="34" charset="0"/>
                <a:ea typeface="WenQuanYi Micro Hei"/>
                <a:cs typeface="WenQuanYi Micro Hei"/>
              </a:rPr>
              <a:t>*lists all the table that end with 's'. The pattern matching follows Java regular expressions.</a:t>
            </a:r>
          </a:p>
          <a:p>
            <a:pPr>
              <a:spcBef>
                <a:spcPts val="456"/>
              </a:spcBef>
              <a:tabLst>
                <a:tab pos="0" algn="l"/>
                <a:tab pos="456272" algn="l"/>
                <a:tab pos="914108" algn="l"/>
                <a:tab pos="1370380" algn="l"/>
                <a:tab pos="1828214" algn="l"/>
                <a:tab pos="2284486" algn="l"/>
                <a:tab pos="2742322" algn="l"/>
                <a:tab pos="3198594" algn="l"/>
                <a:tab pos="3656428" algn="l"/>
                <a:tab pos="4112701" algn="l"/>
                <a:tab pos="4570536" algn="l"/>
                <a:tab pos="5028370" algn="l"/>
                <a:tab pos="5484643" algn="l"/>
                <a:tab pos="5942478" algn="l"/>
                <a:tab pos="6398750" algn="l"/>
                <a:tab pos="6856585" algn="l"/>
                <a:tab pos="7312857" algn="l"/>
                <a:tab pos="7770692" algn="l"/>
                <a:tab pos="8226964" algn="l"/>
                <a:tab pos="8684799" algn="l"/>
                <a:tab pos="9142634" algn="l"/>
              </a:tabLst>
            </a:pPr>
            <a:endParaRPr lang="en-US" altLang="en-US">
              <a:latin typeface="Calibri" pitchFamily="34" charset="0"/>
              <a:ea typeface="WenQuanYi Micro Hei"/>
              <a:cs typeface="WenQuanYi Micro Hei"/>
            </a:endParaRPr>
          </a:p>
          <a:p>
            <a:pPr>
              <a:spcBef>
                <a:spcPts val="456"/>
              </a:spcBef>
              <a:tabLst>
                <a:tab pos="0" algn="l"/>
                <a:tab pos="456272" algn="l"/>
                <a:tab pos="914108" algn="l"/>
                <a:tab pos="1370380" algn="l"/>
                <a:tab pos="1828214" algn="l"/>
                <a:tab pos="2284486" algn="l"/>
                <a:tab pos="2742322" algn="l"/>
                <a:tab pos="3198594" algn="l"/>
                <a:tab pos="3656428" algn="l"/>
                <a:tab pos="4112701" algn="l"/>
                <a:tab pos="4570536" algn="l"/>
                <a:tab pos="5028370" algn="l"/>
                <a:tab pos="5484643" algn="l"/>
                <a:tab pos="5942478" algn="l"/>
                <a:tab pos="6398750" algn="l"/>
                <a:tab pos="6856585" algn="l"/>
                <a:tab pos="7312857" algn="l"/>
                <a:tab pos="7770692" algn="l"/>
                <a:tab pos="8226964" algn="l"/>
                <a:tab pos="8684799" algn="l"/>
                <a:tab pos="9142634" algn="l"/>
              </a:tabLst>
            </a:pPr>
            <a:endParaRPr lang="en-US" altLang="en-US">
              <a:latin typeface="Calibri" pitchFamily="34" charset="0"/>
              <a:ea typeface="WenQuanYi Micro Hei"/>
              <a:cs typeface="WenQuanYi Micro He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88" y="0"/>
            <a:ext cx="1587" cy="1588"/>
          </a:xfrm>
          <a:solidFill>
            <a:srgbClr val="FFFFFF"/>
          </a:solidFill>
          <a:ln/>
        </p:spPr>
      </p:sp>
      <p:sp>
        <p:nvSpPr>
          <p:cNvPr id="45059" name="Text Box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spcBef>
                <a:spcPts val="456"/>
              </a:spcBef>
              <a:tabLst>
                <a:tab pos="0" algn="l"/>
                <a:tab pos="456272" algn="l"/>
                <a:tab pos="914108" algn="l"/>
                <a:tab pos="1370380" algn="l"/>
                <a:tab pos="1828214" algn="l"/>
                <a:tab pos="2284486" algn="l"/>
                <a:tab pos="2742322" algn="l"/>
                <a:tab pos="3198594" algn="l"/>
                <a:tab pos="3656428" algn="l"/>
                <a:tab pos="4112701" algn="l"/>
                <a:tab pos="4570536" algn="l"/>
                <a:tab pos="5028370" algn="l"/>
                <a:tab pos="5484643" algn="l"/>
                <a:tab pos="5942478" algn="l"/>
                <a:tab pos="6398750" algn="l"/>
                <a:tab pos="6856585" algn="l"/>
                <a:tab pos="7312857" algn="l"/>
                <a:tab pos="7770692" algn="l"/>
                <a:tab pos="8226964" algn="l"/>
                <a:tab pos="8684799" algn="l"/>
                <a:tab pos="9142634" algn="l"/>
              </a:tabLst>
            </a:pPr>
            <a:r>
              <a:rPr lang="en-US" altLang="en-US">
                <a:latin typeface="Calibri" pitchFamily="34" charset="0"/>
                <a:ea typeface="WenQuanYi Micro Hei"/>
                <a:cs typeface="WenQuanYi Micro Hei"/>
              </a:rPr>
              <a:t>*Loads a file that contains two columns separated by ctrl-a into sample table. 'local' signifies that the input file is on the local file system. If 'local' is omitted then it looks for the file in HDFS. </a:t>
            </a:r>
          </a:p>
          <a:p>
            <a:pPr>
              <a:spcBef>
                <a:spcPts val="456"/>
              </a:spcBef>
              <a:tabLst>
                <a:tab pos="0" algn="l"/>
                <a:tab pos="456272" algn="l"/>
                <a:tab pos="914108" algn="l"/>
                <a:tab pos="1370380" algn="l"/>
                <a:tab pos="1828214" algn="l"/>
                <a:tab pos="2284486" algn="l"/>
                <a:tab pos="2742322" algn="l"/>
                <a:tab pos="3198594" algn="l"/>
                <a:tab pos="3656428" algn="l"/>
                <a:tab pos="4112701" algn="l"/>
                <a:tab pos="4570536" algn="l"/>
                <a:tab pos="5028370" algn="l"/>
                <a:tab pos="5484643" algn="l"/>
                <a:tab pos="5942478" algn="l"/>
                <a:tab pos="6398750" algn="l"/>
                <a:tab pos="6856585" algn="l"/>
                <a:tab pos="7312857" algn="l"/>
                <a:tab pos="7770692" algn="l"/>
                <a:tab pos="8226964" algn="l"/>
                <a:tab pos="8684799" algn="l"/>
                <a:tab pos="9142634" algn="l"/>
              </a:tabLst>
            </a:pPr>
            <a:endParaRPr lang="en-US" altLang="en-US">
              <a:latin typeface="Calibri" pitchFamily="34" charset="0"/>
              <a:ea typeface="WenQuanYi Micro Hei"/>
              <a:cs typeface="WenQuanYi Micro Hei"/>
            </a:endParaRPr>
          </a:p>
          <a:p>
            <a:pPr>
              <a:spcBef>
                <a:spcPts val="456"/>
              </a:spcBef>
              <a:tabLst>
                <a:tab pos="0" algn="l"/>
                <a:tab pos="456272" algn="l"/>
                <a:tab pos="914108" algn="l"/>
                <a:tab pos="1370380" algn="l"/>
                <a:tab pos="1828214" algn="l"/>
                <a:tab pos="2284486" algn="l"/>
                <a:tab pos="2742322" algn="l"/>
                <a:tab pos="3198594" algn="l"/>
                <a:tab pos="3656428" algn="l"/>
                <a:tab pos="4112701" algn="l"/>
                <a:tab pos="4570536" algn="l"/>
                <a:tab pos="5028370" algn="l"/>
                <a:tab pos="5484643" algn="l"/>
                <a:tab pos="5942478" algn="l"/>
                <a:tab pos="6398750" algn="l"/>
                <a:tab pos="6856585" algn="l"/>
                <a:tab pos="7312857" algn="l"/>
                <a:tab pos="7770692" algn="l"/>
                <a:tab pos="8226964" algn="l"/>
                <a:tab pos="8684799" algn="l"/>
                <a:tab pos="9142634" algn="l"/>
              </a:tabLst>
            </a:pPr>
            <a:r>
              <a:rPr lang="en-US" altLang="en-US">
                <a:latin typeface="Calibri" pitchFamily="34" charset="0"/>
                <a:ea typeface="WenQuanYi Micro Hei"/>
                <a:cs typeface="WenQuanYi Micro Hei"/>
              </a:rPr>
              <a:t>*The keyword 'overwrite' signifies that existing data in the table is deleted. If the 'overwrite' keyword is omitted, data files are appended to existing data sets.</a:t>
            </a:r>
          </a:p>
          <a:p>
            <a:pPr>
              <a:spcBef>
                <a:spcPts val="456"/>
              </a:spcBef>
              <a:tabLst>
                <a:tab pos="0" algn="l"/>
                <a:tab pos="456272" algn="l"/>
                <a:tab pos="914108" algn="l"/>
                <a:tab pos="1370380" algn="l"/>
                <a:tab pos="1828214" algn="l"/>
                <a:tab pos="2284486" algn="l"/>
                <a:tab pos="2742322" algn="l"/>
                <a:tab pos="3198594" algn="l"/>
                <a:tab pos="3656428" algn="l"/>
                <a:tab pos="4112701" algn="l"/>
                <a:tab pos="4570536" algn="l"/>
                <a:tab pos="5028370" algn="l"/>
                <a:tab pos="5484643" algn="l"/>
                <a:tab pos="5942478" algn="l"/>
                <a:tab pos="6398750" algn="l"/>
                <a:tab pos="6856585" algn="l"/>
                <a:tab pos="7312857" algn="l"/>
                <a:tab pos="7770692" algn="l"/>
                <a:tab pos="8226964" algn="l"/>
                <a:tab pos="8684799" algn="l"/>
                <a:tab pos="9142634" algn="l"/>
              </a:tabLst>
            </a:pPr>
            <a:endParaRPr lang="en-US" altLang="en-US">
              <a:latin typeface="Calibri" pitchFamily="34" charset="0"/>
              <a:ea typeface="WenQuanYi Micro Hei"/>
              <a:cs typeface="WenQuanYi Micro Hei"/>
            </a:endParaRPr>
          </a:p>
          <a:p>
            <a:pPr>
              <a:spcBef>
                <a:spcPts val="456"/>
              </a:spcBef>
              <a:tabLst>
                <a:tab pos="0" algn="l"/>
                <a:tab pos="456272" algn="l"/>
                <a:tab pos="914108" algn="l"/>
                <a:tab pos="1370380" algn="l"/>
                <a:tab pos="1828214" algn="l"/>
                <a:tab pos="2284486" algn="l"/>
                <a:tab pos="2742322" algn="l"/>
                <a:tab pos="3198594" algn="l"/>
                <a:tab pos="3656428" algn="l"/>
                <a:tab pos="4112701" algn="l"/>
                <a:tab pos="4570536" algn="l"/>
                <a:tab pos="5028370" algn="l"/>
                <a:tab pos="5484643" algn="l"/>
                <a:tab pos="5942478" algn="l"/>
                <a:tab pos="6398750" algn="l"/>
                <a:tab pos="6856585" algn="l"/>
                <a:tab pos="7312857" algn="l"/>
                <a:tab pos="7770692" algn="l"/>
                <a:tab pos="8226964" algn="l"/>
                <a:tab pos="8684799" algn="l"/>
                <a:tab pos="9142634" algn="l"/>
              </a:tabLst>
            </a:pPr>
            <a:r>
              <a:rPr lang="en-US" altLang="en-US">
                <a:latin typeface="Calibri" pitchFamily="34" charset="0"/>
                <a:ea typeface="WenQuanYi Micro Hei"/>
                <a:cs typeface="WenQuanYi Micro Hei"/>
              </a:rPr>
              <a:t>*The second command will load data from an HDFS file/directory to the table. Note that loading data from HDFS will result in moving the file/directory. As a result, the operation is almost instantaneous.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4225588" y="-11796713"/>
            <a:ext cx="16651288" cy="12490451"/>
          </a:xfrm>
          <a:solidFill>
            <a:srgbClr val="FFFFFF"/>
          </a:solidFill>
          <a:ln/>
        </p:spPr>
      </p:sp>
      <p:sp>
        <p:nvSpPr>
          <p:cNvPr id="4608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1"/>
            <a:ext cx="5483283" cy="41116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itchFamily="34" charset="0"/>
                <a:cs typeface="Arial" pitchFamily="34" charset="0"/>
              </a:rPr>
              <a:t>Check Case study chapter in “</a:t>
            </a:r>
            <a:r>
              <a:rPr lang="en-US" altLang="en-US" b="1">
                <a:latin typeface="Arial" pitchFamily="34" charset="0"/>
                <a:cs typeface="Arial" pitchFamily="34" charset="0"/>
              </a:rPr>
              <a:t>Hadoop and Hive at Facebook” </a:t>
            </a:r>
            <a:r>
              <a:rPr lang="en-US" altLang="en-US">
                <a:latin typeface="Arial" pitchFamily="34" charset="0"/>
                <a:cs typeface="Arial" pitchFamily="34" charset="0"/>
              </a:rPr>
              <a:t>in Hadoop: The definitive Guide book</a:t>
            </a:r>
          </a:p>
          <a:p>
            <a:endParaRPr lang="en-US" altLang="en-US" b="1">
              <a:latin typeface="Arial" pitchFamily="34" charset="0"/>
              <a:cs typeface="Arial" pitchFamily="34" charset="0"/>
            </a:endParaRPr>
          </a:p>
          <a:p>
            <a:endParaRPr lang="en-US" altLang="en-US">
              <a:latin typeface="Arial" pitchFamily="34" charset="0"/>
              <a:cs typeface="Arial" pitchFamily="34" charset="0"/>
            </a:endParaRPr>
          </a:p>
          <a:p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0BAAC-2614-4851-9F10-78F7E47A7A29}" type="datetimeFigureOut">
              <a:rPr lang="en-US" smtClean="0"/>
              <a:pPr/>
              <a:t>9/17/2018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44C59-4DB5-4C73-BEAE-E4C76F97224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889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81600"/>
          </a:xfrm>
        </p:spPr>
        <p:txBody>
          <a:bodyPr/>
          <a:lstStyle>
            <a:lvl1pPr marL="349250" indent="-349250">
              <a:defRPr/>
            </a:lvl1pPr>
            <a:lvl2pPr marL="631825" indent="-282575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0BAAC-2614-4851-9F10-78F7E47A7A29}" type="datetimeFigureOut">
              <a:rPr lang="en-US" smtClean="0"/>
              <a:pPr/>
              <a:t>9/17/2018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44C59-4DB5-4C73-BEAE-E4C76F97224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715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0BAAC-2614-4851-9F10-78F7E47A7A29}" type="datetimeFigureOut">
              <a:rPr lang="en-US" smtClean="0"/>
              <a:pPr/>
              <a:t>9/17/2018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44C59-4DB5-4C73-BEAE-E4C76F97224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3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0BAAC-2614-4851-9F10-78F7E47A7A29}" type="datetimeFigureOut">
              <a:rPr lang="en-US" smtClean="0"/>
              <a:pPr/>
              <a:t>9/17/2018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44C59-4DB5-4C73-BEAE-E4C76F97224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225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0BAAC-2614-4851-9F10-78F7E47A7A29}" type="datetimeFigureOut">
              <a:rPr lang="en-US" smtClean="0"/>
              <a:pPr/>
              <a:t>9/17/2018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44C59-4DB5-4C73-BEAE-E4C76F97224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1250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0BAAC-2614-4851-9F10-78F7E47A7A29}" type="datetimeFigureOut">
              <a:rPr lang="en-US" smtClean="0"/>
              <a:pPr/>
              <a:t>9/17/2018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44C59-4DB5-4C73-BEAE-E4C76F97224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558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0BAAC-2614-4851-9F10-78F7E47A7A29}" type="datetimeFigureOut">
              <a:rPr lang="en-US" smtClean="0"/>
              <a:pPr/>
              <a:t>9/17/2018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44C59-4DB5-4C73-BEAE-E4C76F97224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849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0BAAC-2614-4851-9F10-78F7E47A7A29}" type="datetimeFigureOut">
              <a:rPr lang="en-US" smtClean="0"/>
              <a:pPr/>
              <a:t>9/17/2018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44C59-4DB5-4C73-BEAE-E4C76F97224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159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0BAAC-2614-4851-9F10-78F7E47A7A29}" type="datetimeFigureOut">
              <a:rPr lang="en-US" smtClean="0"/>
              <a:pPr/>
              <a:t>9/17/2018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44C59-4DB5-4C73-BEAE-E4C76F97224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212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0BAAC-2614-4851-9F10-78F7E47A7A29}" type="datetimeFigureOut">
              <a:rPr lang="en-US" smtClean="0"/>
              <a:pPr/>
              <a:t>9/17/2018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44C59-4DB5-4C73-BEAE-E4C76F97224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71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0BAAC-2614-4851-9F10-78F7E47A7A29}" type="datetimeFigureOut">
              <a:rPr lang="en-US" smtClean="0"/>
              <a:pPr/>
              <a:t>9/17/2018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44C59-4DB5-4C73-BEAE-E4C76F97224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04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4012"/>
            <a:ext cx="8229600" cy="5235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D030BAAC-2614-4851-9F10-78F7E47A7A29}" type="datetimeFigureOut">
              <a:rPr lang="en-US" smtClean="0"/>
              <a:pPr/>
              <a:t>9/17/2018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C2144C59-4DB5-4C73-BEAE-E4C76F97224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1958" y="374838"/>
            <a:ext cx="1034113" cy="1019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9893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://avro.apache.org/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apache.org/hadoop/Hbase" TargetMode="External"/><Relationship Id="rId2" Type="http://schemas.openxmlformats.org/officeDocument/2006/relationships/hyperlink" Target="http://www.larsgeorge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iki.apache.org/hadoop/HBase/HBasePresentations" TargetMode="Externa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NO SQL Databases </a:t>
            </a:r>
            <a:r>
              <a:rPr lang="en-US" sz="4800" dirty="0"/>
              <a:t>HBase Cassandra Hive</a:t>
            </a:r>
            <a:endParaRPr lang="en-US" sz="32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Dr. Emmanuel S. Pilli</a:t>
            </a:r>
          </a:p>
          <a:p>
            <a:r>
              <a:rPr lang="en-US" sz="2000" dirty="0" err="1"/>
              <a:t>Malaviya</a:t>
            </a:r>
            <a:r>
              <a:rPr lang="en-US" sz="2000" dirty="0"/>
              <a:t> NIT Jaipur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622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en-US" altLang="en-US" dirty="0"/>
              <a:t>What is NoSQL?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en-US" b="0" dirty="0"/>
              <a:t>Stands for Not Only SQL</a:t>
            </a:r>
          </a:p>
          <a:p>
            <a:pPr eaLnBrk="1" hangingPunct="1"/>
            <a:r>
              <a:rPr lang="en-US" altLang="en-US" b="0" dirty="0"/>
              <a:t>Class of non-relational data storage systems</a:t>
            </a:r>
          </a:p>
          <a:p>
            <a:pPr eaLnBrk="1" hangingPunct="1"/>
            <a:r>
              <a:rPr lang="en-US" altLang="en-US" b="0" dirty="0"/>
              <a:t>Usually do not require a fixed table schema nor do they use the concept of joins</a:t>
            </a:r>
          </a:p>
          <a:p>
            <a:pPr eaLnBrk="1" hangingPunct="1"/>
            <a:r>
              <a:rPr lang="en-US" altLang="en-US" b="0" dirty="0"/>
              <a:t>All NoSQL offerings relax one or more of the ACID properties (next … CAP theorem)</a:t>
            </a:r>
          </a:p>
          <a:p>
            <a:pPr eaLnBrk="1" hangingPunct="1"/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3438593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en-US" altLang="en-US"/>
              <a:t>Why NoSQL?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en-US" b="0"/>
              <a:t>For data storage, an RDBMS cannot be the                  be-all / end-all</a:t>
            </a:r>
          </a:p>
          <a:p>
            <a:pPr eaLnBrk="1" hangingPunct="1"/>
            <a:r>
              <a:rPr lang="en-US" altLang="en-US" b="0"/>
              <a:t>Just as there are different programming languages, need to have other data storage tools in the toolbox</a:t>
            </a:r>
          </a:p>
          <a:p>
            <a:pPr eaLnBrk="1" hangingPunct="1"/>
            <a:r>
              <a:rPr lang="en-US" altLang="en-US" b="0"/>
              <a:t>A NoSQL solution is more acceptable to a client now than even a year ago</a:t>
            </a:r>
          </a:p>
        </p:txBody>
      </p:sp>
    </p:spTree>
    <p:extLst>
      <p:ext uri="{BB962C8B-B14F-4D97-AF65-F5344CB8AC3E}">
        <p14:creationId xmlns:p14="http://schemas.microsoft.com/office/powerpoint/2010/main" val="2081828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itchFamily="2" charset="-122"/>
              </a:rPr>
              <a:t>The CAP Theorem</a:t>
            </a:r>
          </a:p>
        </p:txBody>
      </p:sp>
      <p:graphicFrame>
        <p:nvGraphicFramePr>
          <p:cNvPr id="7172" name="Object 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609600" y="2441575"/>
          <a:ext cx="3816350" cy="191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图表" r:id="rId4" imgW="8229447" imgH="4524430" progId="MSGraph.Chart.8">
                  <p:embed followColorScheme="full"/>
                </p:oleObj>
              </mc:Choice>
              <mc:Fallback>
                <p:oleObj name="图表" r:id="rId4" imgW="8229447" imgH="4524430" progId="MSGraph.Chart.8">
                  <p:embed followColorScheme="full"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441575"/>
                        <a:ext cx="3816350" cy="191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2641600" y="1508125"/>
          <a:ext cx="3797300" cy="337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Visio" r:id="rId6" imgW="2740848" imgH="2740762" progId="">
                  <p:embed/>
                </p:oleObj>
              </mc:Choice>
              <mc:Fallback>
                <p:oleObj name="Visio" r:id="rId6" imgW="2740848" imgH="2740762" progId="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1600" y="1508125"/>
                        <a:ext cx="3797300" cy="337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Text Box 12"/>
          <p:cNvSpPr txBox="1">
            <a:spLocks noChangeArrowheads="1"/>
          </p:cNvSpPr>
          <p:nvPr/>
        </p:nvSpPr>
        <p:spPr bwMode="auto">
          <a:xfrm>
            <a:off x="2684463" y="2895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eaLnBrk="1" hangingPunct="1"/>
            <a:r>
              <a:rPr lang="en-US" altLang="zh-CN" sz="2400">
                <a:solidFill>
                  <a:srgbClr val="FF3300"/>
                </a:solidFill>
                <a:latin typeface="Calibri" pitchFamily="34" charset="0"/>
                <a:ea typeface="SimSun" pitchFamily="2" charset="-122"/>
              </a:rPr>
              <a:t>C</a:t>
            </a:r>
            <a:r>
              <a:rPr lang="en-US" altLang="zh-CN" sz="2400">
                <a:latin typeface="Calibri" pitchFamily="34" charset="0"/>
                <a:ea typeface="SimSun" pitchFamily="2" charset="-122"/>
              </a:rPr>
              <a:t>onsistency</a:t>
            </a:r>
          </a:p>
        </p:txBody>
      </p:sp>
      <p:sp>
        <p:nvSpPr>
          <p:cNvPr id="7175" name="Text Box 13"/>
          <p:cNvSpPr txBox="1">
            <a:spLocks noChangeArrowheads="1"/>
          </p:cNvSpPr>
          <p:nvPr/>
        </p:nvSpPr>
        <p:spPr bwMode="auto">
          <a:xfrm>
            <a:off x="4495800" y="3597275"/>
            <a:ext cx="1447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eaLnBrk="1" hangingPunct="1"/>
            <a:r>
              <a:rPr lang="en-US" altLang="zh-CN" sz="2400">
                <a:solidFill>
                  <a:srgbClr val="FF3300"/>
                </a:solidFill>
                <a:latin typeface="Calibri" pitchFamily="34" charset="0"/>
                <a:ea typeface="SimSun" pitchFamily="2" charset="-122"/>
              </a:rPr>
              <a:t>P</a:t>
            </a:r>
            <a:r>
              <a:rPr lang="en-US" altLang="zh-CN" sz="2400">
                <a:latin typeface="Calibri" pitchFamily="34" charset="0"/>
                <a:ea typeface="SimSun" pitchFamily="2" charset="-122"/>
              </a:rPr>
              <a:t>artition tolerance</a:t>
            </a:r>
          </a:p>
        </p:txBody>
      </p:sp>
      <p:sp>
        <p:nvSpPr>
          <p:cNvPr id="7176" name="Text Box 14"/>
          <p:cNvSpPr txBox="1">
            <a:spLocks noChangeArrowheads="1"/>
          </p:cNvSpPr>
          <p:nvPr/>
        </p:nvSpPr>
        <p:spPr bwMode="auto">
          <a:xfrm>
            <a:off x="4513263" y="2446338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eaLnBrk="1" hangingPunct="1"/>
            <a:r>
              <a:rPr lang="en-US" altLang="zh-CN" sz="2400">
                <a:solidFill>
                  <a:srgbClr val="FF3300"/>
                </a:solidFill>
                <a:latin typeface="Calibri" pitchFamily="34" charset="0"/>
                <a:ea typeface="SimSun" pitchFamily="2" charset="-122"/>
              </a:rPr>
              <a:t>A</a:t>
            </a:r>
            <a:r>
              <a:rPr lang="en-US" altLang="zh-CN" sz="2400">
                <a:latin typeface="Calibri" pitchFamily="34" charset="0"/>
                <a:ea typeface="SimSun" pitchFamily="2" charset="-122"/>
              </a:rPr>
              <a:t>vailability</a:t>
            </a:r>
          </a:p>
        </p:txBody>
      </p:sp>
    </p:spTree>
    <p:extLst>
      <p:ext uri="{BB962C8B-B14F-4D97-AF65-F5344CB8AC3E}">
        <p14:creationId xmlns:p14="http://schemas.microsoft.com/office/powerpoint/2010/main" val="1051339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SimSun" pitchFamily="2" charset="-122"/>
              </a:rPr>
              <a:t>The CAP Theorem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495800" y="1600200"/>
            <a:ext cx="4648200" cy="452596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000">
                <a:ea typeface="SimSun" pitchFamily="2" charset="-122"/>
              </a:rPr>
              <a:t>   Once a writer has written, all readers will see that write</a:t>
            </a:r>
          </a:p>
        </p:txBody>
      </p:sp>
      <p:graphicFrame>
        <p:nvGraphicFramePr>
          <p:cNvPr id="8197" name="Object 4"/>
          <p:cNvGraphicFramePr>
            <a:graphicFrameLocks noChangeAspect="1"/>
          </p:cNvGraphicFramePr>
          <p:nvPr/>
        </p:nvGraphicFramePr>
        <p:xfrm>
          <a:off x="457200" y="2752725"/>
          <a:ext cx="4038600" cy="222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" name="图表" r:id="rId3" imgW="8229447" imgH="4524430" progId="MSGraph.Chart.8">
                  <p:embed followColorScheme="full"/>
                </p:oleObj>
              </mc:Choice>
              <mc:Fallback>
                <p:oleObj name="图表" r:id="rId3" imgW="8229447" imgH="4524430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752725"/>
                        <a:ext cx="4038600" cy="222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5"/>
          <p:cNvGraphicFramePr>
            <a:graphicFrameLocks noChangeAspect="1"/>
          </p:cNvGraphicFramePr>
          <p:nvPr/>
        </p:nvGraphicFramePr>
        <p:xfrm>
          <a:off x="457200" y="1676400"/>
          <a:ext cx="5715000" cy="478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" name="Visio" r:id="rId5" imgW="3808462" imgH="3187621" progId="">
                  <p:embed/>
                </p:oleObj>
              </mc:Choice>
              <mc:Fallback>
                <p:oleObj name="Visio" r:id="rId5" imgW="3808462" imgH="3187621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676400"/>
                        <a:ext cx="5715000" cy="478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Text Box 6"/>
          <p:cNvSpPr txBox="1">
            <a:spLocks noChangeArrowheads="1"/>
          </p:cNvSpPr>
          <p:nvPr/>
        </p:nvSpPr>
        <p:spPr bwMode="auto">
          <a:xfrm>
            <a:off x="685800" y="35052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eaLnBrk="1" hangingPunct="1"/>
            <a:r>
              <a:rPr lang="en-US" altLang="zh-CN" sz="2400">
                <a:solidFill>
                  <a:srgbClr val="FF3300"/>
                </a:solidFill>
                <a:latin typeface="Calibri" pitchFamily="34" charset="0"/>
                <a:ea typeface="SimSun" pitchFamily="2" charset="-122"/>
              </a:rPr>
              <a:t>C</a:t>
            </a:r>
            <a:r>
              <a:rPr lang="en-US" altLang="zh-CN" sz="2400">
                <a:latin typeface="Calibri" pitchFamily="34" charset="0"/>
                <a:ea typeface="SimSun" pitchFamily="2" charset="-122"/>
              </a:rPr>
              <a:t>onsistency</a:t>
            </a:r>
          </a:p>
        </p:txBody>
      </p:sp>
      <p:sp>
        <p:nvSpPr>
          <p:cNvPr id="8200" name="Text Box 7"/>
          <p:cNvSpPr txBox="1">
            <a:spLocks noChangeArrowheads="1"/>
          </p:cNvSpPr>
          <p:nvPr/>
        </p:nvSpPr>
        <p:spPr bwMode="auto">
          <a:xfrm>
            <a:off x="2590800" y="4191000"/>
            <a:ext cx="1447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eaLnBrk="1" hangingPunct="1"/>
            <a:r>
              <a:rPr lang="en-US" altLang="zh-CN" sz="2400">
                <a:solidFill>
                  <a:srgbClr val="FF3300"/>
                </a:solidFill>
                <a:latin typeface="Calibri" pitchFamily="34" charset="0"/>
                <a:ea typeface="SimSun" pitchFamily="2" charset="-122"/>
              </a:rPr>
              <a:t>P</a:t>
            </a:r>
            <a:r>
              <a:rPr lang="en-US" altLang="zh-CN" sz="2400">
                <a:latin typeface="Calibri" pitchFamily="34" charset="0"/>
                <a:ea typeface="SimSun" pitchFamily="2" charset="-122"/>
              </a:rPr>
              <a:t>artition tolerance</a:t>
            </a:r>
          </a:p>
        </p:txBody>
      </p:sp>
      <p:sp>
        <p:nvSpPr>
          <p:cNvPr id="8201" name="Text Box 8"/>
          <p:cNvSpPr txBox="1">
            <a:spLocks noChangeArrowheads="1"/>
          </p:cNvSpPr>
          <p:nvPr/>
        </p:nvSpPr>
        <p:spPr bwMode="auto">
          <a:xfrm>
            <a:off x="2514600" y="25908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eaLnBrk="1" hangingPunct="1"/>
            <a:r>
              <a:rPr lang="en-US" altLang="zh-CN" sz="2400">
                <a:solidFill>
                  <a:srgbClr val="FF3300"/>
                </a:solidFill>
                <a:latin typeface="Calibri" pitchFamily="34" charset="0"/>
                <a:ea typeface="SimSun" pitchFamily="2" charset="-122"/>
              </a:rPr>
              <a:t>A</a:t>
            </a:r>
            <a:r>
              <a:rPr lang="en-US" altLang="zh-CN" sz="2400">
                <a:latin typeface="Calibri" pitchFamily="34" charset="0"/>
                <a:ea typeface="SimSun" pitchFamily="2" charset="-122"/>
              </a:rPr>
              <a:t>vailability</a:t>
            </a:r>
          </a:p>
        </p:txBody>
      </p:sp>
    </p:spTree>
    <p:extLst>
      <p:ext uri="{BB962C8B-B14F-4D97-AF65-F5344CB8AC3E}">
        <p14:creationId xmlns:p14="http://schemas.microsoft.com/office/powerpoint/2010/main" val="2004105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SimSun" pitchFamily="2" charset="-122"/>
              </a:rPr>
              <a:t>The CAP Theorem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495800" y="1600200"/>
            <a:ext cx="4648200" cy="452596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000">
                <a:ea typeface="SimSun" pitchFamily="2" charset="-122"/>
              </a:rPr>
              <a:t>   System is available during software and hardware upgrades and node failures.</a:t>
            </a:r>
          </a:p>
        </p:txBody>
      </p:sp>
      <p:graphicFrame>
        <p:nvGraphicFramePr>
          <p:cNvPr id="9221" name="Object 4"/>
          <p:cNvGraphicFramePr>
            <a:graphicFrameLocks noChangeAspect="1"/>
          </p:cNvGraphicFramePr>
          <p:nvPr/>
        </p:nvGraphicFramePr>
        <p:xfrm>
          <a:off x="457200" y="2752725"/>
          <a:ext cx="4038600" cy="222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图表" r:id="rId3" imgW="8229447" imgH="4524430" progId="MSGraph.Chart.8">
                  <p:embed followColorScheme="full"/>
                </p:oleObj>
              </mc:Choice>
              <mc:Fallback>
                <p:oleObj name="图表" r:id="rId3" imgW="8229447" imgH="4524430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752725"/>
                        <a:ext cx="4038600" cy="222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5"/>
          <p:cNvGraphicFramePr>
            <a:graphicFrameLocks noChangeAspect="1"/>
          </p:cNvGraphicFramePr>
          <p:nvPr/>
        </p:nvGraphicFramePr>
        <p:xfrm>
          <a:off x="457200" y="1676400"/>
          <a:ext cx="5715000" cy="478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Visio" r:id="rId5" imgW="3808462" imgH="3187621" progId="">
                  <p:embed/>
                </p:oleObj>
              </mc:Choice>
              <mc:Fallback>
                <p:oleObj name="Visio" r:id="rId5" imgW="3808462" imgH="3187621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676400"/>
                        <a:ext cx="5715000" cy="478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Text Box 6"/>
          <p:cNvSpPr txBox="1">
            <a:spLocks noChangeArrowheads="1"/>
          </p:cNvSpPr>
          <p:nvPr/>
        </p:nvSpPr>
        <p:spPr bwMode="auto">
          <a:xfrm>
            <a:off x="685800" y="35052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eaLnBrk="1" hangingPunct="1"/>
            <a:r>
              <a:rPr lang="en-US" altLang="zh-CN" sz="2400">
                <a:solidFill>
                  <a:srgbClr val="FF3300"/>
                </a:solidFill>
                <a:latin typeface="Calibri" pitchFamily="34" charset="0"/>
                <a:ea typeface="SimSun" pitchFamily="2" charset="-122"/>
              </a:rPr>
              <a:t>C</a:t>
            </a:r>
            <a:r>
              <a:rPr lang="en-US" altLang="zh-CN" sz="2400">
                <a:latin typeface="Calibri" pitchFamily="34" charset="0"/>
                <a:ea typeface="SimSun" pitchFamily="2" charset="-122"/>
              </a:rPr>
              <a:t>onsistency</a:t>
            </a:r>
          </a:p>
        </p:txBody>
      </p:sp>
      <p:sp>
        <p:nvSpPr>
          <p:cNvPr id="9224" name="Text Box 7"/>
          <p:cNvSpPr txBox="1">
            <a:spLocks noChangeArrowheads="1"/>
          </p:cNvSpPr>
          <p:nvPr/>
        </p:nvSpPr>
        <p:spPr bwMode="auto">
          <a:xfrm>
            <a:off x="2590800" y="4191000"/>
            <a:ext cx="1447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eaLnBrk="1" hangingPunct="1"/>
            <a:r>
              <a:rPr lang="en-US" altLang="zh-CN" sz="2400">
                <a:solidFill>
                  <a:srgbClr val="FF3300"/>
                </a:solidFill>
                <a:latin typeface="Calibri" pitchFamily="34" charset="0"/>
                <a:ea typeface="SimSun" pitchFamily="2" charset="-122"/>
              </a:rPr>
              <a:t>P</a:t>
            </a:r>
            <a:r>
              <a:rPr lang="en-US" altLang="zh-CN" sz="2400">
                <a:latin typeface="Calibri" pitchFamily="34" charset="0"/>
                <a:ea typeface="SimSun" pitchFamily="2" charset="-122"/>
              </a:rPr>
              <a:t>artition tolerance</a:t>
            </a:r>
          </a:p>
        </p:txBody>
      </p:sp>
      <p:sp>
        <p:nvSpPr>
          <p:cNvPr id="9225" name="Text Box 8"/>
          <p:cNvSpPr txBox="1">
            <a:spLocks noChangeArrowheads="1"/>
          </p:cNvSpPr>
          <p:nvPr/>
        </p:nvSpPr>
        <p:spPr bwMode="auto">
          <a:xfrm>
            <a:off x="2514600" y="25908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eaLnBrk="1" hangingPunct="1"/>
            <a:r>
              <a:rPr lang="en-US" altLang="zh-CN" sz="2400">
                <a:solidFill>
                  <a:srgbClr val="FF3300"/>
                </a:solidFill>
                <a:latin typeface="Calibri" pitchFamily="34" charset="0"/>
                <a:ea typeface="SimSun" pitchFamily="2" charset="-122"/>
              </a:rPr>
              <a:t>A</a:t>
            </a:r>
            <a:r>
              <a:rPr lang="en-US" altLang="zh-CN" sz="2400">
                <a:latin typeface="Calibri" pitchFamily="34" charset="0"/>
                <a:ea typeface="SimSun" pitchFamily="2" charset="-122"/>
              </a:rPr>
              <a:t>vailability</a:t>
            </a:r>
          </a:p>
        </p:txBody>
      </p:sp>
    </p:spTree>
    <p:extLst>
      <p:ext uri="{BB962C8B-B14F-4D97-AF65-F5344CB8AC3E}">
        <p14:creationId xmlns:p14="http://schemas.microsoft.com/office/powerpoint/2010/main" val="673467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SimSun" pitchFamily="2" charset="-122"/>
              </a:rPr>
              <a:t>The CAP Theorem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495800" y="1600200"/>
            <a:ext cx="4648200" cy="452596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000">
                <a:ea typeface="SimSun" pitchFamily="2" charset="-122"/>
              </a:rPr>
              <a:t>   A system can continue to operate in the presence of a network partition failures.</a:t>
            </a:r>
          </a:p>
        </p:txBody>
      </p:sp>
      <p:graphicFrame>
        <p:nvGraphicFramePr>
          <p:cNvPr id="10245" name="Object 4"/>
          <p:cNvGraphicFramePr>
            <a:graphicFrameLocks noChangeAspect="1"/>
          </p:cNvGraphicFramePr>
          <p:nvPr/>
        </p:nvGraphicFramePr>
        <p:xfrm>
          <a:off x="457200" y="2752725"/>
          <a:ext cx="4038600" cy="222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0" name="图表" r:id="rId3" imgW="8229447" imgH="4524430" progId="MSGraph.Chart.8">
                  <p:embed followColorScheme="full"/>
                </p:oleObj>
              </mc:Choice>
              <mc:Fallback>
                <p:oleObj name="图表" r:id="rId3" imgW="8229447" imgH="4524430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752725"/>
                        <a:ext cx="4038600" cy="222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5"/>
          <p:cNvGraphicFramePr>
            <a:graphicFrameLocks noChangeAspect="1"/>
          </p:cNvGraphicFramePr>
          <p:nvPr/>
        </p:nvGraphicFramePr>
        <p:xfrm>
          <a:off x="457200" y="1676400"/>
          <a:ext cx="5715000" cy="478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Visio" r:id="rId5" imgW="3808462" imgH="3187621" progId="">
                  <p:embed/>
                </p:oleObj>
              </mc:Choice>
              <mc:Fallback>
                <p:oleObj name="Visio" r:id="rId5" imgW="3808462" imgH="3187621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676400"/>
                        <a:ext cx="5715000" cy="478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Text Box 6"/>
          <p:cNvSpPr txBox="1">
            <a:spLocks noChangeArrowheads="1"/>
          </p:cNvSpPr>
          <p:nvPr/>
        </p:nvSpPr>
        <p:spPr bwMode="auto">
          <a:xfrm>
            <a:off x="685800" y="35052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eaLnBrk="1" hangingPunct="1"/>
            <a:r>
              <a:rPr lang="en-US" altLang="zh-CN" sz="2400">
                <a:solidFill>
                  <a:srgbClr val="FF3300"/>
                </a:solidFill>
                <a:latin typeface="Calibri" pitchFamily="34" charset="0"/>
                <a:ea typeface="SimSun" pitchFamily="2" charset="-122"/>
              </a:rPr>
              <a:t>C</a:t>
            </a:r>
            <a:r>
              <a:rPr lang="en-US" altLang="zh-CN" sz="2400">
                <a:latin typeface="Calibri" pitchFamily="34" charset="0"/>
                <a:ea typeface="SimSun" pitchFamily="2" charset="-122"/>
              </a:rPr>
              <a:t>onsistency</a:t>
            </a:r>
          </a:p>
        </p:txBody>
      </p:sp>
      <p:sp>
        <p:nvSpPr>
          <p:cNvPr id="10248" name="Text Box 7"/>
          <p:cNvSpPr txBox="1">
            <a:spLocks noChangeArrowheads="1"/>
          </p:cNvSpPr>
          <p:nvPr/>
        </p:nvSpPr>
        <p:spPr bwMode="auto">
          <a:xfrm>
            <a:off x="2590800" y="4191000"/>
            <a:ext cx="1447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eaLnBrk="1" hangingPunct="1"/>
            <a:r>
              <a:rPr lang="en-US" altLang="zh-CN" sz="2400">
                <a:solidFill>
                  <a:srgbClr val="FF3300"/>
                </a:solidFill>
                <a:latin typeface="Calibri" pitchFamily="34" charset="0"/>
                <a:ea typeface="SimSun" pitchFamily="2" charset="-122"/>
              </a:rPr>
              <a:t>P</a:t>
            </a:r>
            <a:r>
              <a:rPr lang="en-US" altLang="zh-CN" sz="2400">
                <a:latin typeface="Calibri" pitchFamily="34" charset="0"/>
                <a:ea typeface="SimSun" pitchFamily="2" charset="-122"/>
              </a:rPr>
              <a:t>artition tolerance</a:t>
            </a:r>
          </a:p>
        </p:txBody>
      </p:sp>
      <p:sp>
        <p:nvSpPr>
          <p:cNvPr id="10249" name="Text Box 8"/>
          <p:cNvSpPr txBox="1">
            <a:spLocks noChangeArrowheads="1"/>
          </p:cNvSpPr>
          <p:nvPr/>
        </p:nvSpPr>
        <p:spPr bwMode="auto">
          <a:xfrm>
            <a:off x="2514600" y="25908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eaLnBrk="1" hangingPunct="1"/>
            <a:r>
              <a:rPr lang="en-US" altLang="zh-CN" sz="2400">
                <a:solidFill>
                  <a:srgbClr val="FF3300"/>
                </a:solidFill>
                <a:latin typeface="Calibri" pitchFamily="34" charset="0"/>
                <a:ea typeface="SimSun" pitchFamily="2" charset="-122"/>
              </a:rPr>
              <a:t>A</a:t>
            </a:r>
            <a:r>
              <a:rPr lang="en-US" altLang="zh-CN" sz="2400">
                <a:latin typeface="Calibri" pitchFamily="34" charset="0"/>
                <a:ea typeface="SimSun" pitchFamily="2" charset="-122"/>
              </a:rPr>
              <a:t>vailability</a:t>
            </a:r>
          </a:p>
        </p:txBody>
      </p:sp>
      <p:pic>
        <p:nvPicPr>
          <p:cNvPr id="10250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141663"/>
            <a:ext cx="2563813" cy="323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87" name="Line 15"/>
          <p:cNvSpPr>
            <a:spLocks noChangeShapeType="1"/>
          </p:cNvSpPr>
          <p:nvPr/>
        </p:nvSpPr>
        <p:spPr bwMode="auto">
          <a:xfrm flipH="1">
            <a:off x="5715000" y="5638800"/>
            <a:ext cx="609600" cy="53340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2" name="Line 16"/>
          <p:cNvSpPr>
            <a:spLocks noChangeShapeType="1"/>
          </p:cNvSpPr>
          <p:nvPr/>
        </p:nvSpPr>
        <p:spPr bwMode="auto">
          <a:xfrm>
            <a:off x="5791200" y="5562600"/>
            <a:ext cx="457200" cy="60960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60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9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8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SimSun" pitchFamily="2" charset="-122"/>
              </a:rPr>
              <a:t>The CAP Theorem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495800" y="1600200"/>
            <a:ext cx="4648200" cy="452596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000">
                <a:ea typeface="SimSun" pitchFamily="2" charset="-122"/>
              </a:rPr>
              <a:t>   </a:t>
            </a:r>
            <a:r>
              <a:rPr lang="en-US" altLang="zh-CN">
                <a:ea typeface="SimSun" pitchFamily="2" charset="-122"/>
              </a:rPr>
              <a:t>Theorem: You can have at most </a:t>
            </a:r>
            <a:r>
              <a:rPr lang="en-US" altLang="zh-CN" b="0">
                <a:solidFill>
                  <a:srgbClr val="FF3300"/>
                </a:solidFill>
                <a:ea typeface="SimSun" pitchFamily="2" charset="-122"/>
              </a:rPr>
              <a:t>two</a:t>
            </a:r>
            <a:r>
              <a:rPr lang="en-US" altLang="zh-CN">
                <a:ea typeface="SimSun" pitchFamily="2" charset="-122"/>
              </a:rPr>
              <a:t> of these properties for any shared-data system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000">
              <a:ea typeface="SimSun" pitchFamily="2" charset="-122"/>
            </a:endParaRPr>
          </a:p>
        </p:txBody>
      </p:sp>
      <p:graphicFrame>
        <p:nvGraphicFramePr>
          <p:cNvPr id="11269" name="Object 4"/>
          <p:cNvGraphicFramePr>
            <a:graphicFrameLocks noChangeAspect="1"/>
          </p:cNvGraphicFramePr>
          <p:nvPr/>
        </p:nvGraphicFramePr>
        <p:xfrm>
          <a:off x="457200" y="2752725"/>
          <a:ext cx="4038600" cy="222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name="图表" r:id="rId3" imgW="8229447" imgH="4524430" progId="MSGraph.Chart.8">
                  <p:embed followColorScheme="full"/>
                </p:oleObj>
              </mc:Choice>
              <mc:Fallback>
                <p:oleObj name="图表" r:id="rId3" imgW="8229447" imgH="4524430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752725"/>
                        <a:ext cx="4038600" cy="222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5"/>
          <p:cNvGraphicFramePr>
            <a:graphicFrameLocks noChangeAspect="1"/>
          </p:cNvGraphicFramePr>
          <p:nvPr/>
        </p:nvGraphicFramePr>
        <p:xfrm>
          <a:off x="457200" y="1676400"/>
          <a:ext cx="5715000" cy="478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name="Visio" r:id="rId5" imgW="3808462" imgH="3187621" progId="">
                  <p:embed/>
                </p:oleObj>
              </mc:Choice>
              <mc:Fallback>
                <p:oleObj name="Visio" r:id="rId5" imgW="3808462" imgH="3187621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676400"/>
                        <a:ext cx="5715000" cy="478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Text Box 6"/>
          <p:cNvSpPr txBox="1">
            <a:spLocks noChangeArrowheads="1"/>
          </p:cNvSpPr>
          <p:nvPr/>
        </p:nvSpPr>
        <p:spPr bwMode="auto">
          <a:xfrm>
            <a:off x="685800" y="35052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eaLnBrk="1" hangingPunct="1"/>
            <a:r>
              <a:rPr lang="en-US" altLang="zh-CN" sz="2400">
                <a:solidFill>
                  <a:srgbClr val="FF3300"/>
                </a:solidFill>
                <a:latin typeface="Calibri" pitchFamily="34" charset="0"/>
                <a:ea typeface="SimSun" pitchFamily="2" charset="-122"/>
              </a:rPr>
              <a:t>C</a:t>
            </a:r>
            <a:r>
              <a:rPr lang="en-US" altLang="zh-CN" sz="2400">
                <a:latin typeface="Calibri" pitchFamily="34" charset="0"/>
                <a:ea typeface="SimSun" pitchFamily="2" charset="-122"/>
              </a:rPr>
              <a:t>onsistency</a:t>
            </a:r>
          </a:p>
        </p:txBody>
      </p:sp>
      <p:sp>
        <p:nvSpPr>
          <p:cNvPr id="11272" name="Text Box 7"/>
          <p:cNvSpPr txBox="1">
            <a:spLocks noChangeArrowheads="1"/>
          </p:cNvSpPr>
          <p:nvPr/>
        </p:nvSpPr>
        <p:spPr bwMode="auto">
          <a:xfrm>
            <a:off x="2590800" y="4191000"/>
            <a:ext cx="1447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eaLnBrk="1" hangingPunct="1"/>
            <a:r>
              <a:rPr lang="en-US" altLang="zh-CN" sz="2400">
                <a:solidFill>
                  <a:srgbClr val="FF3300"/>
                </a:solidFill>
                <a:latin typeface="Calibri" pitchFamily="34" charset="0"/>
                <a:ea typeface="SimSun" pitchFamily="2" charset="-122"/>
              </a:rPr>
              <a:t>P</a:t>
            </a:r>
            <a:r>
              <a:rPr lang="en-US" altLang="zh-CN" sz="2400">
                <a:latin typeface="Calibri" pitchFamily="34" charset="0"/>
                <a:ea typeface="SimSun" pitchFamily="2" charset="-122"/>
              </a:rPr>
              <a:t>artition tolerance</a:t>
            </a:r>
          </a:p>
        </p:txBody>
      </p:sp>
      <p:sp>
        <p:nvSpPr>
          <p:cNvPr id="11273" name="Text Box 8"/>
          <p:cNvSpPr txBox="1">
            <a:spLocks noChangeArrowheads="1"/>
          </p:cNvSpPr>
          <p:nvPr/>
        </p:nvSpPr>
        <p:spPr bwMode="auto">
          <a:xfrm>
            <a:off x="2514600" y="25908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eaLnBrk="1" hangingPunct="1"/>
            <a:r>
              <a:rPr lang="en-US" altLang="zh-CN" sz="2400">
                <a:solidFill>
                  <a:srgbClr val="FF3300"/>
                </a:solidFill>
                <a:latin typeface="Calibri" pitchFamily="34" charset="0"/>
                <a:ea typeface="SimSun" pitchFamily="2" charset="-122"/>
              </a:rPr>
              <a:t>A</a:t>
            </a:r>
            <a:r>
              <a:rPr lang="en-US" altLang="zh-CN" sz="2400">
                <a:latin typeface="Calibri" pitchFamily="34" charset="0"/>
                <a:ea typeface="SimSun" pitchFamily="2" charset="-122"/>
              </a:rPr>
              <a:t>vailability</a:t>
            </a:r>
          </a:p>
        </p:txBody>
      </p:sp>
      <p:sp>
        <p:nvSpPr>
          <p:cNvPr id="11274" name="Text Box 9"/>
          <p:cNvSpPr txBox="1">
            <a:spLocks noChangeArrowheads="1"/>
          </p:cNvSpPr>
          <p:nvPr/>
        </p:nvSpPr>
        <p:spPr bwMode="auto">
          <a:xfrm>
            <a:off x="5410200" y="4267200"/>
            <a:ext cx="18653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/>
              <a:t>ACID vs BASE</a:t>
            </a:r>
          </a:p>
        </p:txBody>
      </p:sp>
    </p:spTree>
    <p:extLst>
      <p:ext uri="{BB962C8B-B14F-4D97-AF65-F5344CB8AC3E}">
        <p14:creationId xmlns:p14="http://schemas.microsoft.com/office/powerpoint/2010/main" val="1346083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itle 1"/>
          <p:cNvSpPr txBox="1">
            <a:spLocks/>
          </p:cNvSpPr>
          <p:nvPr/>
        </p:nvSpPr>
        <p:spPr bwMode="auto">
          <a:xfrm>
            <a:off x="365125" y="685800"/>
            <a:ext cx="824547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en-US" sz="4000" b="1" dirty="0">
                <a:solidFill>
                  <a:schemeClr val="tx2"/>
                </a:solidFill>
              </a:rPr>
              <a:t>ACID</a:t>
            </a:r>
            <a:endParaRPr lang="en-ZA" altLang="en-US" sz="4000" b="1" dirty="0">
              <a:solidFill>
                <a:schemeClr val="tx2"/>
              </a:solidFill>
            </a:endParaRPr>
          </a:p>
        </p:txBody>
      </p:sp>
      <p:sp>
        <p:nvSpPr>
          <p:cNvPr id="12292" name="Content Placeholder 2"/>
          <p:cNvSpPr txBox="1">
            <a:spLocks/>
          </p:cNvSpPr>
          <p:nvPr/>
        </p:nvSpPr>
        <p:spPr bwMode="auto">
          <a:xfrm>
            <a:off x="609600" y="1447800"/>
            <a:ext cx="7775575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286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indent="-227013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buClr>
                <a:schemeClr val="tx2"/>
              </a:buClr>
              <a:buSzPct val="110000"/>
              <a:buFont typeface="Wingdings" pitchFamily="2" charset="2"/>
              <a:buChar char="§"/>
            </a:pPr>
            <a:r>
              <a:rPr lang="en-US" altLang="en-US" sz="2400" b="1" i="1"/>
              <a:t>Atomic</a:t>
            </a:r>
            <a:endParaRPr lang="en-US" altLang="en-US" sz="2400"/>
          </a:p>
          <a:p>
            <a:pPr lvl="1" algn="l" eaLnBrk="1" hangingPunct="1">
              <a:spcBef>
                <a:spcPct val="0"/>
              </a:spcBef>
              <a:buClr>
                <a:schemeClr val="tx2"/>
              </a:buClr>
              <a:buSzPct val="65000"/>
              <a:buFont typeface="Arial" pitchFamily="34" charset="0"/>
              <a:buChar char="►"/>
            </a:pPr>
            <a:r>
              <a:rPr lang="en-US" altLang="en-US" sz="2200"/>
              <a:t>All operations in a transaction succeed or every operation is rolled back.</a:t>
            </a:r>
          </a:p>
          <a:p>
            <a:pPr algn="l" eaLnBrk="1" hangingPunct="1">
              <a:spcBef>
                <a:spcPct val="0"/>
              </a:spcBef>
              <a:buClr>
                <a:schemeClr val="tx2"/>
              </a:buClr>
              <a:buSzPct val="110000"/>
              <a:buFont typeface="Wingdings" pitchFamily="2" charset="2"/>
              <a:buChar char="§"/>
            </a:pPr>
            <a:r>
              <a:rPr lang="en-US" altLang="en-US" sz="2400" b="1" i="1"/>
              <a:t>Consistent</a:t>
            </a:r>
            <a:endParaRPr lang="en-US" altLang="en-US" sz="2400"/>
          </a:p>
          <a:p>
            <a:pPr lvl="1" algn="l" eaLnBrk="1" hangingPunct="1">
              <a:spcBef>
                <a:spcPct val="0"/>
              </a:spcBef>
              <a:buClr>
                <a:schemeClr val="tx2"/>
              </a:buClr>
              <a:buSzPct val="65000"/>
              <a:buFont typeface="Arial" pitchFamily="34" charset="0"/>
              <a:buChar char="►"/>
            </a:pPr>
            <a:r>
              <a:rPr lang="en-US" altLang="en-US" sz="2200"/>
              <a:t>On the completion of a transaction, the database is structurally sound.</a:t>
            </a:r>
          </a:p>
          <a:p>
            <a:pPr algn="l" eaLnBrk="1" hangingPunct="1">
              <a:spcBef>
                <a:spcPct val="0"/>
              </a:spcBef>
              <a:buClr>
                <a:schemeClr val="tx2"/>
              </a:buClr>
              <a:buSzPct val="110000"/>
              <a:buFont typeface="Wingdings" pitchFamily="2" charset="2"/>
              <a:buChar char="§"/>
            </a:pPr>
            <a:r>
              <a:rPr lang="en-US" altLang="en-US" sz="2400" b="1" i="1"/>
              <a:t>Isolated</a:t>
            </a:r>
            <a:endParaRPr lang="en-US" altLang="en-US" sz="2400"/>
          </a:p>
          <a:p>
            <a:pPr lvl="1" algn="l" eaLnBrk="1" hangingPunct="1">
              <a:spcBef>
                <a:spcPct val="0"/>
              </a:spcBef>
              <a:buClr>
                <a:schemeClr val="tx2"/>
              </a:buClr>
              <a:buSzPct val="65000"/>
              <a:buFont typeface="Arial" pitchFamily="34" charset="0"/>
              <a:buChar char="►"/>
            </a:pPr>
            <a:r>
              <a:rPr lang="en-US" altLang="en-US" sz="2200"/>
              <a:t>Transactions do not contend with one another. Contentious access to data is moderated by the database so that transactions appear to run sequentially.</a:t>
            </a:r>
          </a:p>
          <a:p>
            <a:pPr algn="l" eaLnBrk="1" hangingPunct="1">
              <a:spcBef>
                <a:spcPct val="0"/>
              </a:spcBef>
              <a:buClr>
                <a:schemeClr val="tx2"/>
              </a:buClr>
              <a:buSzPct val="110000"/>
              <a:buFont typeface="Wingdings" pitchFamily="2" charset="2"/>
              <a:buChar char="§"/>
            </a:pPr>
            <a:r>
              <a:rPr lang="en-US" altLang="en-US" sz="2400" b="1" i="1"/>
              <a:t>Durable</a:t>
            </a:r>
            <a:endParaRPr lang="en-US" altLang="en-US" sz="2400"/>
          </a:p>
          <a:p>
            <a:pPr lvl="1" algn="l" eaLnBrk="1" hangingPunct="1">
              <a:spcBef>
                <a:spcPct val="0"/>
              </a:spcBef>
              <a:buClr>
                <a:schemeClr val="tx2"/>
              </a:buClr>
              <a:buSzPct val="65000"/>
              <a:buFont typeface="Arial" pitchFamily="34" charset="0"/>
              <a:buChar char="►"/>
            </a:pPr>
            <a:r>
              <a:rPr lang="en-US" altLang="en-US" sz="2200"/>
              <a:t>The results of applying a transaction are permanent, even in the presence of failures.</a:t>
            </a:r>
          </a:p>
          <a:p>
            <a:pPr lvl="1" algn="l" eaLnBrk="1" hangingPunct="1"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65000"/>
              <a:buFont typeface="Arial" pitchFamily="34" charset="0"/>
              <a:buChar char="►"/>
            </a:pPr>
            <a:endParaRPr lang="en-ZA" altLang="en-US" sz="2200"/>
          </a:p>
        </p:txBody>
      </p:sp>
    </p:spTree>
    <p:extLst>
      <p:ext uri="{BB962C8B-B14F-4D97-AF65-F5344CB8AC3E}">
        <p14:creationId xmlns:p14="http://schemas.microsoft.com/office/powerpoint/2010/main" val="3022601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itle 1"/>
          <p:cNvSpPr txBox="1">
            <a:spLocks/>
          </p:cNvSpPr>
          <p:nvPr/>
        </p:nvSpPr>
        <p:spPr bwMode="auto">
          <a:xfrm>
            <a:off x="365125" y="685800"/>
            <a:ext cx="824547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en-US" sz="4000" b="1" dirty="0">
                <a:solidFill>
                  <a:schemeClr val="tx2"/>
                </a:solidFill>
              </a:rPr>
              <a:t>BASE</a:t>
            </a:r>
            <a:endParaRPr lang="en-ZA" altLang="en-US" sz="4000" b="1" dirty="0">
              <a:solidFill>
                <a:schemeClr val="tx2"/>
              </a:solidFill>
            </a:endParaRPr>
          </a:p>
        </p:txBody>
      </p:sp>
      <p:sp>
        <p:nvSpPr>
          <p:cNvPr id="13316" name="Content Placeholder 2"/>
          <p:cNvSpPr txBox="1">
            <a:spLocks/>
          </p:cNvSpPr>
          <p:nvPr/>
        </p:nvSpPr>
        <p:spPr bwMode="auto">
          <a:xfrm>
            <a:off x="609600" y="1447800"/>
            <a:ext cx="7775575" cy="390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286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indent="-227013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eaLnBrk="1" hangingPunct="1">
              <a:spcBef>
                <a:spcPct val="35000"/>
              </a:spcBef>
              <a:spcAft>
                <a:spcPct val="15000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</a:pPr>
            <a:r>
              <a:rPr lang="en-US" altLang="en-US" sz="2400" b="1" i="1"/>
              <a:t>Basic Availability</a:t>
            </a:r>
            <a:endParaRPr lang="en-US" altLang="en-US" sz="2400"/>
          </a:p>
          <a:p>
            <a:pPr lvl="1" algn="l" eaLnBrk="1" hangingPunct="1"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65000"/>
              <a:buFont typeface="Arial" pitchFamily="34" charset="0"/>
              <a:buChar char="►"/>
            </a:pPr>
            <a:r>
              <a:rPr lang="en-US" altLang="en-US" sz="2200"/>
              <a:t>The database appears to work most of the time.</a:t>
            </a:r>
          </a:p>
          <a:p>
            <a:pPr algn="l" eaLnBrk="1" hangingPunct="1">
              <a:spcBef>
                <a:spcPct val="35000"/>
              </a:spcBef>
              <a:spcAft>
                <a:spcPct val="15000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</a:pPr>
            <a:r>
              <a:rPr lang="en-US" altLang="en-US" sz="2400" b="1" i="1"/>
              <a:t>Soft-state</a:t>
            </a:r>
            <a:endParaRPr lang="en-US" altLang="en-US" sz="2400"/>
          </a:p>
          <a:p>
            <a:pPr lvl="1" algn="l" eaLnBrk="1" hangingPunct="1"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65000"/>
              <a:buFont typeface="Arial" pitchFamily="34" charset="0"/>
              <a:buChar char="►"/>
            </a:pPr>
            <a:r>
              <a:rPr lang="en-US" altLang="en-US" sz="2200"/>
              <a:t>Stores don’t have to be write-consistent, nor do different replicas have to be mutually consistent all the time.</a:t>
            </a:r>
          </a:p>
          <a:p>
            <a:pPr algn="l" eaLnBrk="1" hangingPunct="1">
              <a:spcBef>
                <a:spcPct val="35000"/>
              </a:spcBef>
              <a:spcAft>
                <a:spcPct val="15000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</a:pPr>
            <a:r>
              <a:rPr lang="en-US" altLang="en-US" sz="2400" b="1" i="1"/>
              <a:t>Eventual consistency</a:t>
            </a:r>
            <a:endParaRPr lang="en-US" altLang="en-US" sz="2400"/>
          </a:p>
          <a:p>
            <a:pPr lvl="1" algn="l" eaLnBrk="1" hangingPunct="1"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65000"/>
              <a:buFont typeface="Arial" pitchFamily="34" charset="0"/>
              <a:buChar char="►"/>
            </a:pPr>
            <a:r>
              <a:rPr lang="en-US" altLang="en-US" sz="2200"/>
              <a:t>Stores exhibit consistency at some later point (e.g., lazily at read time).</a:t>
            </a:r>
          </a:p>
          <a:p>
            <a:pPr lvl="1" algn="l" eaLnBrk="1" hangingPunct="1"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65000"/>
              <a:buFont typeface="Arial" pitchFamily="34" charset="0"/>
              <a:buChar char="►"/>
            </a:pPr>
            <a:endParaRPr lang="en-ZA" altLang="en-US" sz="2200"/>
          </a:p>
        </p:txBody>
      </p:sp>
    </p:spTree>
    <p:extLst>
      <p:ext uri="{BB962C8B-B14F-4D97-AF65-F5344CB8AC3E}">
        <p14:creationId xmlns:p14="http://schemas.microsoft.com/office/powerpoint/2010/main" val="1654150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CAP theorem</a:t>
            </a:r>
          </a:p>
        </p:txBody>
      </p:sp>
      <p:pic>
        <p:nvPicPr>
          <p:cNvPr id="14340" name="Picture 4" descr="CAP-NoSQ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71600"/>
            <a:ext cx="74676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9577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1"/>
          <p:cNvSpPr>
            <a:spLocks noGrp="1"/>
          </p:cNvSpPr>
          <p:nvPr>
            <p:ph type="title" idx="4294967295"/>
          </p:nvPr>
        </p:nvSpPr>
        <p:spPr/>
        <p:txBody>
          <a:bodyPr anchor="ctr">
            <a:normAutofit fontScale="90000"/>
          </a:bodyPr>
          <a:lstStyle/>
          <a:p>
            <a:pPr eaLnBrk="1" hangingPunct="1"/>
            <a:r>
              <a:rPr lang="en-US" altLang="en-US"/>
              <a:t>NoSQL Options – Key-Value Stores</a:t>
            </a:r>
            <a:endParaRPr lang="en-ZA" altLang="en-US"/>
          </a:p>
        </p:txBody>
      </p:sp>
      <p:sp>
        <p:nvSpPr>
          <p:cNvPr id="15364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ym typeface="Symbol" pitchFamily="18" charset="2"/>
              </a:rPr>
              <a:t>Extremely simple interface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Data model: (key, value) pairs</a:t>
            </a:r>
          </a:p>
          <a:p>
            <a:pPr lvl="1" eaLnBrk="1" hangingPunct="1"/>
            <a:r>
              <a:rPr lang="en-US" altLang="en-US">
                <a:sym typeface="Symbol" pitchFamily="18" charset="2"/>
              </a:rPr>
              <a:t> Operations: Insert(key,value), Fetch(key),</a:t>
            </a:r>
          </a:p>
          <a:p>
            <a:pPr lvl="1" eaLnBrk="1" hangingPunct="1">
              <a:buFont typeface="Arial" pitchFamily="34" charset="0"/>
              <a:buNone/>
            </a:pPr>
            <a:r>
              <a:rPr lang="en-US" altLang="en-US">
                <a:sym typeface="Symbol" pitchFamily="18" charset="2"/>
              </a:rPr>
              <a:t>		              Update(key), Delete(key)</a:t>
            </a:r>
          </a:p>
          <a:p>
            <a:pPr lvl="1" eaLnBrk="1" hangingPunct="1"/>
            <a:r>
              <a:rPr lang="en-US" altLang="en-US">
                <a:sym typeface="Symbol" pitchFamily="18" charset="2"/>
              </a:rPr>
              <a:t> Some allow (non-uniform) columns within value</a:t>
            </a:r>
          </a:p>
          <a:p>
            <a:pPr lvl="1" eaLnBrk="1" hangingPunct="1"/>
            <a:r>
              <a:rPr lang="en-US" altLang="en-US">
                <a:sym typeface="Symbol" pitchFamily="18" charset="2"/>
              </a:rPr>
              <a:t> Some allow Fetch on range of keys</a:t>
            </a:r>
            <a:r>
              <a:rPr lang="en-US" altLang="en-US"/>
              <a:t> </a:t>
            </a:r>
          </a:p>
          <a:p>
            <a:pPr eaLnBrk="1" hangingPunct="1"/>
            <a:r>
              <a:rPr lang="en-US" altLang="en-US"/>
              <a:t>Examples</a:t>
            </a:r>
          </a:p>
          <a:p>
            <a:pPr lvl="1" eaLnBrk="1" hangingPunct="1"/>
            <a:r>
              <a:rPr lang="en-US" altLang="en-US"/>
              <a:t>Redis, Voldormort</a:t>
            </a:r>
          </a:p>
          <a:p>
            <a:pPr lvl="1" eaLnBrk="1" hangingPunct="1"/>
            <a:r>
              <a:rPr lang="en-US" altLang="en-US"/>
              <a:t>Memcached</a:t>
            </a:r>
          </a:p>
          <a:p>
            <a:pPr lvl="1" eaLnBrk="1" hangingPunct="1"/>
            <a:r>
              <a:rPr lang="en-US" altLang="en-US"/>
              <a:t>and 100s more</a:t>
            </a:r>
          </a:p>
          <a:p>
            <a:pPr lvl="1" eaLnBrk="1" hangingPunct="1"/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1843899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NoSQL Options – Document Stores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  <a:buSzPct val="65000"/>
              <a:buFont typeface="Arial" pitchFamily="34" charset="0"/>
              <a:buChar char="►"/>
            </a:pPr>
            <a:r>
              <a:rPr lang="en-US" altLang="en-US" sz="2200">
                <a:sym typeface="Symbol" pitchFamily="18" charset="2"/>
              </a:rPr>
              <a:t>Like Key-Value Stores except value is document</a:t>
            </a:r>
          </a:p>
          <a:p>
            <a:pPr lvl="1" eaLnBrk="1" hangingPunct="1"/>
            <a:r>
              <a:rPr lang="en-US" altLang="en-US">
                <a:sym typeface="Symbol" pitchFamily="18" charset="2"/>
              </a:rPr>
              <a:t> Data model: (key, document) pairs</a:t>
            </a:r>
          </a:p>
          <a:p>
            <a:pPr lvl="1" eaLnBrk="1" hangingPunct="1"/>
            <a:r>
              <a:rPr lang="en-US" altLang="en-US">
                <a:sym typeface="Symbol" pitchFamily="18" charset="2"/>
              </a:rPr>
              <a:t> Document: JSON, XML, other semistructured formats</a:t>
            </a:r>
          </a:p>
          <a:p>
            <a:pPr lvl="1" eaLnBrk="1" hangingPunct="1"/>
            <a:r>
              <a:rPr lang="en-US" altLang="en-US">
                <a:sym typeface="Symbol" pitchFamily="18" charset="2"/>
              </a:rPr>
              <a:t> Basic operations: Insert(key,document), Fetch(key),</a:t>
            </a:r>
          </a:p>
          <a:p>
            <a:pPr lvl="1" eaLnBrk="1" hangingPunct="1"/>
            <a:r>
              <a:rPr lang="en-US" altLang="en-US">
                <a:sym typeface="Symbol" pitchFamily="18" charset="2"/>
              </a:rPr>
              <a:t>                                    Update(key), Delete(key)</a:t>
            </a:r>
          </a:p>
          <a:p>
            <a:pPr lvl="1" eaLnBrk="1" hangingPunct="1"/>
            <a:r>
              <a:rPr lang="en-US" altLang="en-US">
                <a:sym typeface="Symbol" pitchFamily="18" charset="2"/>
              </a:rPr>
              <a:t> Also Fetch based on document contents</a:t>
            </a:r>
          </a:p>
          <a:p>
            <a:pPr eaLnBrk="1" hangingPunct="1">
              <a:spcBef>
                <a:spcPct val="25000"/>
              </a:spcBef>
              <a:buSzPct val="65000"/>
              <a:buFont typeface="Arial" pitchFamily="34" charset="0"/>
              <a:buChar char="►"/>
            </a:pPr>
            <a:r>
              <a:rPr lang="en-US" altLang="en-US" sz="2200">
                <a:sym typeface="Symbol" pitchFamily="18" charset="2"/>
              </a:rPr>
              <a:t>Example systems</a:t>
            </a:r>
          </a:p>
          <a:p>
            <a:pPr lvl="1" eaLnBrk="1" hangingPunct="1"/>
            <a:r>
              <a:rPr lang="en-US" altLang="en-US">
                <a:sym typeface="Symbol" pitchFamily="18" charset="2"/>
              </a:rPr>
              <a:t> CouchDB, MongoDB, SimpleDB, …</a:t>
            </a:r>
          </a:p>
        </p:txBody>
      </p:sp>
    </p:spTree>
    <p:extLst>
      <p:ext uri="{BB962C8B-B14F-4D97-AF65-F5344CB8AC3E}">
        <p14:creationId xmlns:p14="http://schemas.microsoft.com/office/powerpoint/2010/main" val="2856226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itle 1"/>
          <p:cNvSpPr>
            <a:spLocks noGrp="1"/>
          </p:cNvSpPr>
          <p:nvPr>
            <p:ph type="title" idx="4294967295"/>
          </p:nvPr>
        </p:nvSpPr>
        <p:spPr>
          <a:xfrm>
            <a:off x="457200" y="381000"/>
            <a:ext cx="8229600" cy="1143000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3600" dirty="0"/>
              <a:t>NoSQL Options – Column Stores</a:t>
            </a:r>
            <a:endParaRPr lang="en-ZA" altLang="en-US" sz="3600" dirty="0"/>
          </a:p>
        </p:txBody>
      </p:sp>
      <p:sp>
        <p:nvSpPr>
          <p:cNvPr id="17412" name="Content Placeholder 2"/>
          <p:cNvSpPr>
            <a:spLocks noGrp="1"/>
          </p:cNvSpPr>
          <p:nvPr>
            <p:ph idx="4294967295"/>
          </p:nvPr>
        </p:nvSpPr>
        <p:spPr>
          <a:xfrm>
            <a:off x="533400" y="14478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/>
              <a:t>Multi-dimensional map</a:t>
            </a:r>
            <a:endParaRPr lang="en-ZA" altLang="en-US"/>
          </a:p>
          <a:p>
            <a:pPr eaLnBrk="1" hangingPunct="1"/>
            <a:r>
              <a:rPr lang="en-US" altLang="en-US"/>
              <a:t>Not all entries are relevant each time</a:t>
            </a:r>
          </a:p>
          <a:p>
            <a:pPr lvl="1" eaLnBrk="1" hangingPunct="1"/>
            <a:r>
              <a:rPr lang="en-US" altLang="en-US"/>
              <a:t>Column families</a:t>
            </a:r>
          </a:p>
          <a:p>
            <a:pPr eaLnBrk="1" hangingPunct="1"/>
            <a:r>
              <a:rPr lang="en-US" altLang="en-US"/>
              <a:t>Examples</a:t>
            </a:r>
          </a:p>
          <a:p>
            <a:pPr lvl="1" eaLnBrk="1" hangingPunct="1"/>
            <a:r>
              <a:rPr lang="en-US" altLang="en-US"/>
              <a:t>Cassandra</a:t>
            </a:r>
          </a:p>
          <a:p>
            <a:pPr lvl="1" eaLnBrk="1" hangingPunct="1"/>
            <a:r>
              <a:rPr lang="en-US" altLang="en-US"/>
              <a:t>Hbase</a:t>
            </a:r>
          </a:p>
          <a:p>
            <a:pPr lvl="1" eaLnBrk="1" hangingPunct="1"/>
            <a:r>
              <a:rPr lang="en-US" altLang="en-US"/>
              <a:t>Amazon SimpleDB</a:t>
            </a:r>
          </a:p>
        </p:txBody>
      </p:sp>
    </p:spTree>
    <p:extLst>
      <p:ext uri="{BB962C8B-B14F-4D97-AF65-F5344CB8AC3E}">
        <p14:creationId xmlns:p14="http://schemas.microsoft.com/office/powerpoint/2010/main" val="3204872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itle 1"/>
          <p:cNvSpPr>
            <a:spLocks noGrp="1"/>
          </p:cNvSpPr>
          <p:nvPr>
            <p:ph type="title" idx="4294967295"/>
          </p:nvPr>
        </p:nvSpPr>
        <p:spPr/>
        <p:txBody>
          <a:bodyPr anchor="ctr">
            <a:normAutofit/>
          </a:bodyPr>
          <a:lstStyle/>
          <a:p>
            <a:pPr eaLnBrk="1" hangingPunct="1"/>
            <a:r>
              <a:rPr lang="en-US" altLang="en-US" sz="3600" dirty="0"/>
              <a:t>NoSQL Options – Graph Stores</a:t>
            </a:r>
            <a:endParaRPr lang="en-ZA" altLang="en-US" sz="3600" dirty="0"/>
          </a:p>
        </p:txBody>
      </p:sp>
      <p:sp>
        <p:nvSpPr>
          <p:cNvPr id="18436" name="Content Placeholder 2"/>
          <p:cNvSpPr>
            <a:spLocks noGrp="1"/>
          </p:cNvSpPr>
          <p:nvPr>
            <p:ph idx="4294967295"/>
          </p:nvPr>
        </p:nvSpPr>
        <p:spPr>
          <a:xfrm>
            <a:off x="468313" y="13414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US" b="0" dirty="0">
                <a:sym typeface="Symbol" pitchFamily="18" charset="2"/>
              </a:rPr>
              <a:t>Data model: nodes and edges</a:t>
            </a:r>
          </a:p>
          <a:p>
            <a:pPr eaLnBrk="1" hangingPunct="1"/>
            <a:r>
              <a:rPr lang="en-US" altLang="en-US" b="0" dirty="0">
                <a:sym typeface="Symbol" pitchFamily="18" charset="2"/>
              </a:rPr>
              <a:t> Nodes may have properties  (including ID)</a:t>
            </a:r>
          </a:p>
          <a:p>
            <a:pPr eaLnBrk="1" hangingPunct="1"/>
            <a:r>
              <a:rPr lang="en-US" altLang="en-US" b="0" dirty="0">
                <a:sym typeface="Symbol" pitchFamily="18" charset="2"/>
              </a:rPr>
              <a:t> Edges may have labels or roles</a:t>
            </a:r>
          </a:p>
          <a:p>
            <a:pPr lvl="2" eaLnBrk="1" hangingPunct="1">
              <a:spcBef>
                <a:spcPct val="35000"/>
              </a:spcBef>
              <a:spcAft>
                <a:spcPct val="15000"/>
              </a:spcAft>
              <a:buSzPct val="110000"/>
              <a:buFont typeface="Wingdings" pitchFamily="2" charset="2"/>
              <a:buChar char="§"/>
            </a:pPr>
            <a:r>
              <a:rPr lang="en-US" altLang="en-US" sz="2400" dirty="0"/>
              <a:t>Relational DBs can model graphs, but an edge requires a join which is expensive</a:t>
            </a:r>
          </a:p>
          <a:p>
            <a:pPr eaLnBrk="1" hangingPunct="1"/>
            <a:r>
              <a:rPr lang="en-US" altLang="en-US" b="0" dirty="0"/>
              <a:t>Example Neo4j </a:t>
            </a:r>
            <a:r>
              <a:rPr lang="en-US" altLang="en-US" b="0" dirty="0" err="1">
                <a:sym typeface="Symbol" pitchFamily="18" charset="2"/>
              </a:rPr>
              <a:t>FlockDB</a:t>
            </a:r>
            <a:r>
              <a:rPr lang="en-US" altLang="en-US" b="0" dirty="0">
                <a:sym typeface="Symbol" pitchFamily="18" charset="2"/>
              </a:rPr>
              <a:t>, Titan, </a:t>
            </a:r>
            <a:r>
              <a:rPr lang="en-US" altLang="en-US" b="0" dirty="0" err="1">
                <a:sym typeface="Symbol" pitchFamily="18" charset="2"/>
              </a:rPr>
              <a:t>Pregel</a:t>
            </a:r>
            <a:r>
              <a:rPr lang="en-US" altLang="en-US" b="0" dirty="0">
                <a:sym typeface="Symbol" pitchFamily="18" charset="2"/>
              </a:rPr>
              <a:t>, …</a:t>
            </a:r>
          </a:p>
          <a:p>
            <a:pPr eaLnBrk="1" hangingPunct="1"/>
            <a:r>
              <a:rPr lang="en-US" altLang="en-US" b="0" dirty="0">
                <a:sym typeface="Symbol" pitchFamily="18" charset="2"/>
              </a:rPr>
              <a:t>RDF “triple stores” can map to graph databases</a:t>
            </a:r>
            <a:endParaRPr lang="en-US" altLang="en-US" b="0" dirty="0"/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SzTx/>
              <a:buFont typeface="Wingdings" pitchFamily="2" charset="2"/>
              <a:buNone/>
            </a:pPr>
            <a:endParaRPr lang="en-US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81696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itle 1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r>
              <a:rPr lang="en-US" altLang="en-US" dirty="0"/>
              <a:t>NoSQL Database Examples</a:t>
            </a:r>
            <a:endParaRPr lang="en-ZA" altLang="en-US" dirty="0"/>
          </a:p>
        </p:txBody>
      </p:sp>
      <p:sp>
        <p:nvSpPr>
          <p:cNvPr id="18436" name="Content Placeholder 2"/>
          <p:cNvSpPr>
            <a:spLocks noGrp="1"/>
          </p:cNvSpPr>
          <p:nvPr>
            <p:ph idx="4294967295"/>
          </p:nvPr>
        </p:nvSpPr>
        <p:spPr>
          <a:xfrm>
            <a:off x="468313" y="1341438"/>
            <a:ext cx="8229600" cy="5255914"/>
          </a:xfrm>
        </p:spPr>
        <p:txBody>
          <a:bodyPr>
            <a:normAutofit fontScale="92500" lnSpcReduction="10000"/>
          </a:bodyPr>
          <a:lstStyle/>
          <a:p>
            <a:pPr marL="299085" indent="-287020">
              <a:lnSpc>
                <a:spcPct val="120000"/>
              </a:lnSpc>
              <a:spcBef>
                <a:spcPts val="0"/>
              </a:spcBef>
              <a:buClr>
                <a:srgbClr val="1286C3"/>
              </a:buClr>
              <a:buSzPct val="144117"/>
              <a:buFont typeface="Arial"/>
              <a:buChar char="•"/>
              <a:tabLst>
                <a:tab pos="299085" algn="l"/>
              </a:tabLst>
            </a:pPr>
            <a:r>
              <a:rPr lang="en-US" b="1" dirty="0">
                <a:latin typeface="Corbel"/>
                <a:cs typeface="Corbel"/>
              </a:rPr>
              <a:t>Mong</a:t>
            </a:r>
            <a:r>
              <a:rPr lang="en-US" b="1" spc="5" dirty="0">
                <a:latin typeface="Corbel"/>
                <a:cs typeface="Corbel"/>
              </a:rPr>
              <a:t>o</a:t>
            </a:r>
            <a:r>
              <a:rPr lang="en-US" b="1" dirty="0">
                <a:latin typeface="Corbel"/>
                <a:cs typeface="Corbel"/>
              </a:rPr>
              <a:t>DB </a:t>
            </a:r>
            <a:r>
              <a:rPr lang="en-US" b="1" spc="-30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Open</a:t>
            </a:r>
            <a:r>
              <a:rPr lang="en-US" spc="-5" dirty="0">
                <a:latin typeface="Corbel"/>
                <a:cs typeface="Corbel"/>
              </a:rPr>
              <a:t>-</a:t>
            </a:r>
            <a:r>
              <a:rPr lang="en-US" dirty="0">
                <a:latin typeface="Corbel"/>
                <a:cs typeface="Corbel"/>
              </a:rPr>
              <a:t>sou</a:t>
            </a:r>
            <a:r>
              <a:rPr lang="en-US" spc="5" dirty="0">
                <a:latin typeface="Corbel"/>
                <a:cs typeface="Corbel"/>
              </a:rPr>
              <a:t>r</a:t>
            </a:r>
            <a:r>
              <a:rPr lang="en-US" dirty="0">
                <a:latin typeface="Corbel"/>
                <a:cs typeface="Corbel"/>
              </a:rPr>
              <a:t>ce</a:t>
            </a:r>
            <a:r>
              <a:rPr lang="en-US" spc="-30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docum</a:t>
            </a:r>
            <a:r>
              <a:rPr lang="en-US" spc="5" dirty="0">
                <a:latin typeface="Corbel"/>
                <a:cs typeface="Corbel"/>
              </a:rPr>
              <a:t>e</a:t>
            </a:r>
            <a:r>
              <a:rPr lang="en-US" dirty="0">
                <a:latin typeface="Corbel"/>
                <a:cs typeface="Corbel"/>
              </a:rPr>
              <a:t>nt</a:t>
            </a:r>
            <a:r>
              <a:rPr lang="en-US" spc="-5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database.</a:t>
            </a:r>
          </a:p>
          <a:p>
            <a:pPr marL="299085" marR="107950" indent="-287020">
              <a:lnSpc>
                <a:spcPct val="120000"/>
              </a:lnSpc>
              <a:spcBef>
                <a:spcPts val="0"/>
              </a:spcBef>
              <a:buClr>
                <a:srgbClr val="1286C3"/>
              </a:buClr>
              <a:buSzPct val="144117"/>
              <a:buFont typeface="Arial"/>
              <a:buChar char="•"/>
              <a:tabLst>
                <a:tab pos="299085" algn="l"/>
              </a:tabLst>
            </a:pPr>
            <a:r>
              <a:rPr lang="en-US" b="1" dirty="0" err="1">
                <a:latin typeface="Corbel"/>
                <a:cs typeface="Corbel"/>
              </a:rPr>
              <a:t>CouchDB</a:t>
            </a:r>
            <a:r>
              <a:rPr lang="en-US" b="1" dirty="0">
                <a:latin typeface="Corbel"/>
                <a:cs typeface="Corbel"/>
              </a:rPr>
              <a:t> </a:t>
            </a:r>
            <a:r>
              <a:rPr lang="en-US" b="1" spc="-45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D</a:t>
            </a:r>
            <a:r>
              <a:rPr lang="en-US" spc="5" dirty="0">
                <a:latin typeface="Corbel"/>
                <a:cs typeface="Corbel"/>
              </a:rPr>
              <a:t>a</a:t>
            </a:r>
            <a:r>
              <a:rPr lang="en-US" dirty="0">
                <a:latin typeface="Corbel"/>
                <a:cs typeface="Corbel"/>
              </a:rPr>
              <a:t>t</a:t>
            </a:r>
            <a:r>
              <a:rPr lang="en-US" spc="5" dirty="0">
                <a:latin typeface="Corbel"/>
                <a:cs typeface="Corbel"/>
              </a:rPr>
              <a:t>a</a:t>
            </a:r>
            <a:r>
              <a:rPr lang="en-US" dirty="0">
                <a:latin typeface="Corbel"/>
                <a:cs typeface="Corbel"/>
              </a:rPr>
              <a:t>b</a:t>
            </a:r>
            <a:r>
              <a:rPr lang="en-US" spc="5" dirty="0">
                <a:latin typeface="Corbel"/>
                <a:cs typeface="Corbel"/>
              </a:rPr>
              <a:t>a</a:t>
            </a:r>
            <a:r>
              <a:rPr lang="en-US" dirty="0">
                <a:latin typeface="Corbel"/>
                <a:cs typeface="Corbel"/>
              </a:rPr>
              <a:t>se</a:t>
            </a:r>
            <a:r>
              <a:rPr lang="en-US" spc="-25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that</a:t>
            </a:r>
            <a:r>
              <a:rPr lang="en-US" spc="-20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uses</a:t>
            </a:r>
            <a:r>
              <a:rPr lang="en-US" spc="-50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J</a:t>
            </a:r>
            <a:r>
              <a:rPr lang="en-US" spc="-10" dirty="0">
                <a:latin typeface="Corbel"/>
                <a:cs typeface="Corbel"/>
              </a:rPr>
              <a:t>S</a:t>
            </a:r>
            <a:r>
              <a:rPr lang="en-US" dirty="0">
                <a:latin typeface="Corbel"/>
                <a:cs typeface="Corbel"/>
              </a:rPr>
              <a:t>ON</a:t>
            </a:r>
            <a:r>
              <a:rPr lang="en-US" spc="-15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for</a:t>
            </a:r>
            <a:r>
              <a:rPr lang="en-US" spc="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d</a:t>
            </a:r>
            <a:r>
              <a:rPr lang="en-US" dirty="0">
                <a:latin typeface="Corbel"/>
                <a:cs typeface="Corbel"/>
              </a:rPr>
              <a:t>ocum</a:t>
            </a:r>
            <a:r>
              <a:rPr lang="en-US" spc="5" dirty="0">
                <a:latin typeface="Corbel"/>
                <a:cs typeface="Corbel"/>
              </a:rPr>
              <a:t>e</a:t>
            </a:r>
            <a:r>
              <a:rPr lang="en-US" dirty="0">
                <a:latin typeface="Corbel"/>
                <a:cs typeface="Corbel"/>
              </a:rPr>
              <a:t>nt</a:t>
            </a:r>
            <a:r>
              <a:rPr lang="en-US" spc="-10" dirty="0">
                <a:latin typeface="Corbel"/>
                <a:cs typeface="Corbel"/>
              </a:rPr>
              <a:t>s</a:t>
            </a:r>
            <a:r>
              <a:rPr lang="en-US" dirty="0">
                <a:latin typeface="Corbel"/>
                <a:cs typeface="Corbel"/>
              </a:rPr>
              <a:t>,</a:t>
            </a:r>
            <a:r>
              <a:rPr lang="en-US" spc="-45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Ja</a:t>
            </a:r>
            <a:r>
              <a:rPr lang="en-US" spc="5" dirty="0">
                <a:latin typeface="Corbel"/>
                <a:cs typeface="Corbel"/>
              </a:rPr>
              <a:t>v</a:t>
            </a:r>
            <a:r>
              <a:rPr lang="en-US" dirty="0">
                <a:latin typeface="Corbel"/>
                <a:cs typeface="Corbel"/>
              </a:rPr>
              <a:t>aScript for</a:t>
            </a:r>
            <a:r>
              <a:rPr lang="en-US" spc="5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Map</a:t>
            </a:r>
            <a:r>
              <a:rPr lang="en-US" spc="-40" dirty="0">
                <a:latin typeface="Corbel"/>
                <a:cs typeface="Corbel"/>
              </a:rPr>
              <a:t>R</a:t>
            </a:r>
            <a:r>
              <a:rPr lang="en-US" dirty="0">
                <a:latin typeface="Corbel"/>
                <a:cs typeface="Corbel"/>
              </a:rPr>
              <a:t>ed</a:t>
            </a:r>
            <a:r>
              <a:rPr lang="en-US" spc="5" dirty="0">
                <a:latin typeface="Corbel"/>
                <a:cs typeface="Corbel"/>
              </a:rPr>
              <a:t>u</a:t>
            </a:r>
            <a:r>
              <a:rPr lang="en-US" dirty="0">
                <a:latin typeface="Corbel"/>
                <a:cs typeface="Corbel"/>
              </a:rPr>
              <a:t>ce queries,</a:t>
            </a:r>
            <a:r>
              <a:rPr lang="en-US" spc="-5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and reg</a:t>
            </a:r>
            <a:r>
              <a:rPr lang="en-US" spc="5" dirty="0">
                <a:latin typeface="Corbel"/>
                <a:cs typeface="Corbel"/>
              </a:rPr>
              <a:t>u</a:t>
            </a:r>
            <a:r>
              <a:rPr lang="en-US" dirty="0">
                <a:latin typeface="Corbel"/>
                <a:cs typeface="Corbel"/>
              </a:rPr>
              <a:t>lar</a:t>
            </a:r>
            <a:r>
              <a:rPr lang="en-US" spc="-15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HTTP for an</a:t>
            </a:r>
            <a:r>
              <a:rPr lang="en-US" spc="-75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AP</a:t>
            </a:r>
            <a:r>
              <a:rPr lang="en-US" spc="15" dirty="0">
                <a:latin typeface="Corbel"/>
                <a:cs typeface="Corbel"/>
              </a:rPr>
              <a:t>I</a:t>
            </a:r>
            <a:r>
              <a:rPr lang="en-US" dirty="0">
                <a:latin typeface="Corbel"/>
                <a:cs typeface="Corbel"/>
              </a:rPr>
              <a:t>.</a:t>
            </a:r>
          </a:p>
          <a:p>
            <a:pPr marL="299085" marR="12700" indent="-287020">
              <a:lnSpc>
                <a:spcPct val="120000"/>
              </a:lnSpc>
              <a:spcBef>
                <a:spcPts val="0"/>
              </a:spcBef>
              <a:buClr>
                <a:srgbClr val="1286C3"/>
              </a:buClr>
              <a:buSzPct val="144117"/>
              <a:buFont typeface="Arial"/>
              <a:buChar char="•"/>
              <a:tabLst>
                <a:tab pos="299085" algn="l"/>
              </a:tabLst>
            </a:pPr>
            <a:r>
              <a:rPr lang="en-US" b="1" dirty="0" err="1">
                <a:latin typeface="Corbel"/>
                <a:cs typeface="Corbel"/>
              </a:rPr>
              <a:t>GemF</a:t>
            </a:r>
            <a:r>
              <a:rPr lang="en-US" b="1" spc="-10" dirty="0" err="1">
                <a:latin typeface="Corbel"/>
                <a:cs typeface="Corbel"/>
              </a:rPr>
              <a:t>i</a:t>
            </a:r>
            <a:r>
              <a:rPr lang="en-US" b="1" dirty="0" err="1">
                <a:latin typeface="Corbel"/>
                <a:cs typeface="Corbel"/>
              </a:rPr>
              <a:t>re</a:t>
            </a:r>
            <a:r>
              <a:rPr lang="en-US" b="1" spc="-10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Distri</a:t>
            </a:r>
            <a:r>
              <a:rPr lang="en-US" spc="5" dirty="0">
                <a:latin typeface="Corbel"/>
                <a:cs typeface="Corbel"/>
              </a:rPr>
              <a:t>bu</a:t>
            </a:r>
            <a:r>
              <a:rPr lang="en-US" dirty="0">
                <a:latin typeface="Corbel"/>
                <a:cs typeface="Corbel"/>
              </a:rPr>
              <a:t>ted</a:t>
            </a:r>
            <a:r>
              <a:rPr lang="en-US" spc="5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data</a:t>
            </a:r>
            <a:r>
              <a:rPr lang="en-US" spc="-10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m</a:t>
            </a:r>
            <a:r>
              <a:rPr lang="en-US" spc="5" dirty="0">
                <a:latin typeface="Corbel"/>
                <a:cs typeface="Corbel"/>
              </a:rPr>
              <a:t>a</a:t>
            </a:r>
            <a:r>
              <a:rPr lang="en-US" dirty="0">
                <a:latin typeface="Corbel"/>
                <a:cs typeface="Corbel"/>
              </a:rPr>
              <a:t>n</a:t>
            </a:r>
            <a:r>
              <a:rPr lang="en-US" spc="10" dirty="0">
                <a:latin typeface="Corbel"/>
                <a:cs typeface="Corbel"/>
              </a:rPr>
              <a:t>a</a:t>
            </a:r>
            <a:r>
              <a:rPr lang="en-US" dirty="0">
                <a:latin typeface="Corbel"/>
                <a:cs typeface="Corbel"/>
              </a:rPr>
              <a:t>ge</a:t>
            </a:r>
            <a:r>
              <a:rPr lang="en-US" spc="5" dirty="0">
                <a:latin typeface="Corbel"/>
                <a:cs typeface="Corbel"/>
              </a:rPr>
              <a:t>m</a:t>
            </a:r>
            <a:r>
              <a:rPr lang="en-US" dirty="0">
                <a:latin typeface="Corbel"/>
                <a:cs typeface="Corbel"/>
              </a:rPr>
              <a:t>ent</a:t>
            </a:r>
            <a:r>
              <a:rPr lang="en-US" spc="-15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platfo</a:t>
            </a:r>
            <a:r>
              <a:rPr lang="en-US" spc="5" dirty="0">
                <a:latin typeface="Corbel"/>
                <a:cs typeface="Corbel"/>
              </a:rPr>
              <a:t>r</a:t>
            </a:r>
            <a:r>
              <a:rPr lang="en-US" dirty="0">
                <a:latin typeface="Corbel"/>
                <a:cs typeface="Corbel"/>
              </a:rPr>
              <a:t>m </a:t>
            </a:r>
            <a:r>
              <a:rPr lang="en-US" spc="-10" dirty="0">
                <a:latin typeface="Corbel"/>
                <a:cs typeface="Corbel"/>
              </a:rPr>
              <a:t>p</a:t>
            </a:r>
            <a:r>
              <a:rPr lang="en-US" spc="5" dirty="0">
                <a:latin typeface="Corbel"/>
                <a:cs typeface="Corbel"/>
              </a:rPr>
              <a:t>r</a:t>
            </a:r>
            <a:r>
              <a:rPr lang="en-US" dirty="0">
                <a:latin typeface="Corbel"/>
                <a:cs typeface="Corbel"/>
              </a:rPr>
              <a:t>o</a:t>
            </a:r>
            <a:r>
              <a:rPr lang="en-US" spc="5" dirty="0">
                <a:latin typeface="Corbel"/>
                <a:cs typeface="Corbel"/>
              </a:rPr>
              <a:t>v</a:t>
            </a:r>
            <a:r>
              <a:rPr lang="en-US" dirty="0">
                <a:latin typeface="Corbel"/>
                <a:cs typeface="Corbel"/>
              </a:rPr>
              <a:t>idi</a:t>
            </a:r>
            <a:r>
              <a:rPr lang="en-US" spc="5" dirty="0">
                <a:latin typeface="Corbel"/>
                <a:cs typeface="Corbel"/>
              </a:rPr>
              <a:t>n</a:t>
            </a:r>
            <a:r>
              <a:rPr lang="en-US" dirty="0">
                <a:latin typeface="Corbel"/>
                <a:cs typeface="Corbel"/>
              </a:rPr>
              <a:t>g</a:t>
            </a:r>
            <a:r>
              <a:rPr lang="en-US" spc="-10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dyn</a:t>
            </a:r>
            <a:r>
              <a:rPr lang="en-US" spc="5" dirty="0">
                <a:latin typeface="Corbel"/>
                <a:cs typeface="Corbel"/>
              </a:rPr>
              <a:t>a</a:t>
            </a:r>
            <a:r>
              <a:rPr lang="en-US" dirty="0">
                <a:latin typeface="Corbel"/>
                <a:cs typeface="Corbel"/>
              </a:rPr>
              <a:t>mic </a:t>
            </a:r>
            <a:r>
              <a:rPr lang="en-US" spc="-10" dirty="0">
                <a:latin typeface="Corbel"/>
                <a:cs typeface="Corbel"/>
              </a:rPr>
              <a:t>s</a:t>
            </a:r>
            <a:r>
              <a:rPr lang="en-US" dirty="0">
                <a:latin typeface="Corbel"/>
                <a:cs typeface="Corbel"/>
              </a:rPr>
              <a:t>cal</a:t>
            </a:r>
            <a:r>
              <a:rPr lang="en-US" spc="5" dirty="0">
                <a:latin typeface="Corbel"/>
                <a:cs typeface="Corbel"/>
              </a:rPr>
              <a:t>a</a:t>
            </a:r>
            <a:r>
              <a:rPr lang="en-US" dirty="0">
                <a:latin typeface="Corbel"/>
                <a:cs typeface="Corbel"/>
              </a:rPr>
              <a:t>bilit</a:t>
            </a:r>
            <a:r>
              <a:rPr lang="en-US" spc="-60" dirty="0">
                <a:latin typeface="Corbel"/>
                <a:cs typeface="Corbel"/>
              </a:rPr>
              <a:t>y</a:t>
            </a:r>
            <a:r>
              <a:rPr lang="en-US" dirty="0">
                <a:latin typeface="Corbel"/>
                <a:cs typeface="Corbel"/>
              </a:rPr>
              <a:t>, high</a:t>
            </a:r>
            <a:r>
              <a:rPr lang="en-US" spc="-30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perform</a:t>
            </a:r>
            <a:r>
              <a:rPr lang="en-US" spc="5" dirty="0">
                <a:latin typeface="Corbel"/>
                <a:cs typeface="Corbel"/>
              </a:rPr>
              <a:t>a</a:t>
            </a:r>
            <a:r>
              <a:rPr lang="en-US" dirty="0">
                <a:latin typeface="Corbel"/>
                <a:cs typeface="Corbel"/>
              </a:rPr>
              <a:t>nce,</a:t>
            </a:r>
            <a:r>
              <a:rPr lang="en-US" spc="-10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a</a:t>
            </a:r>
            <a:r>
              <a:rPr lang="en-US" spc="5" dirty="0">
                <a:latin typeface="Corbel"/>
                <a:cs typeface="Corbel"/>
              </a:rPr>
              <a:t>n</a:t>
            </a:r>
            <a:r>
              <a:rPr lang="en-US" dirty="0">
                <a:latin typeface="Corbel"/>
                <a:cs typeface="Corbel"/>
              </a:rPr>
              <a:t>d</a:t>
            </a:r>
            <a:r>
              <a:rPr lang="en-US" spc="-10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databas</a:t>
            </a:r>
            <a:r>
              <a:rPr lang="en-US" spc="20" dirty="0">
                <a:latin typeface="Corbel"/>
                <a:cs typeface="Corbel"/>
              </a:rPr>
              <a:t>e</a:t>
            </a:r>
            <a:r>
              <a:rPr lang="en-US" spc="-5" dirty="0">
                <a:latin typeface="Corbel"/>
                <a:cs typeface="Corbel"/>
              </a:rPr>
              <a:t>-</a:t>
            </a:r>
            <a:r>
              <a:rPr lang="en-US" dirty="0">
                <a:latin typeface="Corbel"/>
                <a:cs typeface="Corbel"/>
              </a:rPr>
              <a:t>li</a:t>
            </a:r>
            <a:r>
              <a:rPr lang="en-US" spc="-40" dirty="0">
                <a:latin typeface="Corbel"/>
                <a:cs typeface="Corbel"/>
              </a:rPr>
              <a:t>k</a:t>
            </a:r>
            <a:r>
              <a:rPr lang="en-US" dirty="0">
                <a:latin typeface="Corbel"/>
                <a:cs typeface="Corbel"/>
              </a:rPr>
              <a:t>e </a:t>
            </a:r>
            <a:r>
              <a:rPr lang="en-US" spc="-10" dirty="0">
                <a:latin typeface="Corbel"/>
                <a:cs typeface="Corbel"/>
              </a:rPr>
              <a:t>p</a:t>
            </a:r>
            <a:r>
              <a:rPr lang="en-US" dirty="0">
                <a:latin typeface="Corbel"/>
                <a:cs typeface="Corbel"/>
              </a:rPr>
              <a:t>e</a:t>
            </a:r>
            <a:r>
              <a:rPr lang="en-US" spc="5" dirty="0">
                <a:latin typeface="Corbel"/>
                <a:cs typeface="Corbel"/>
              </a:rPr>
              <a:t>r</a:t>
            </a:r>
            <a:r>
              <a:rPr lang="en-US" dirty="0">
                <a:latin typeface="Corbel"/>
                <a:cs typeface="Corbel"/>
              </a:rPr>
              <a:t>si</a:t>
            </a:r>
            <a:r>
              <a:rPr lang="en-US" spc="-10" dirty="0">
                <a:latin typeface="Corbel"/>
                <a:cs typeface="Corbel"/>
              </a:rPr>
              <a:t>s</a:t>
            </a:r>
            <a:r>
              <a:rPr lang="en-US" dirty="0">
                <a:latin typeface="Corbel"/>
                <a:cs typeface="Corbel"/>
              </a:rPr>
              <a:t>tence.</a:t>
            </a:r>
          </a:p>
          <a:p>
            <a:pPr marL="299085" indent="-287020">
              <a:lnSpc>
                <a:spcPct val="120000"/>
              </a:lnSpc>
              <a:spcBef>
                <a:spcPts val="0"/>
              </a:spcBef>
              <a:buClr>
                <a:srgbClr val="1286C3"/>
              </a:buClr>
              <a:buSzPct val="144117"/>
              <a:buFont typeface="Arial"/>
              <a:buChar char="•"/>
              <a:tabLst>
                <a:tab pos="299085" algn="l"/>
              </a:tabLst>
            </a:pPr>
            <a:r>
              <a:rPr lang="en-US" b="1" spc="-40" dirty="0" err="1">
                <a:latin typeface="Corbel"/>
                <a:cs typeface="Corbel"/>
              </a:rPr>
              <a:t>R</a:t>
            </a:r>
            <a:r>
              <a:rPr lang="en-US" b="1" dirty="0" err="1">
                <a:latin typeface="Corbel"/>
                <a:cs typeface="Corbel"/>
              </a:rPr>
              <a:t>ed</a:t>
            </a:r>
            <a:r>
              <a:rPr lang="en-US" b="1" spc="-10" dirty="0" err="1">
                <a:latin typeface="Corbel"/>
                <a:cs typeface="Corbel"/>
              </a:rPr>
              <a:t>i</a:t>
            </a:r>
            <a:r>
              <a:rPr lang="en-US" b="1" dirty="0" err="1">
                <a:latin typeface="Corbel"/>
                <a:cs typeface="Corbel"/>
              </a:rPr>
              <a:t>s</a:t>
            </a:r>
            <a:r>
              <a:rPr lang="en-US" b="1" spc="-10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Da</a:t>
            </a:r>
            <a:r>
              <a:rPr lang="en-US" spc="-5" dirty="0">
                <a:latin typeface="Corbel"/>
                <a:cs typeface="Corbel"/>
              </a:rPr>
              <a:t>t</a:t>
            </a:r>
            <a:r>
              <a:rPr lang="en-US" dirty="0">
                <a:latin typeface="Corbel"/>
                <a:cs typeface="Corbel"/>
              </a:rPr>
              <a:t>a</a:t>
            </a:r>
            <a:r>
              <a:rPr lang="en-US" spc="-10" dirty="0">
                <a:latin typeface="Corbel"/>
                <a:cs typeface="Corbel"/>
              </a:rPr>
              <a:t> s</a:t>
            </a:r>
            <a:r>
              <a:rPr lang="en-US" dirty="0">
                <a:latin typeface="Corbel"/>
                <a:cs typeface="Corbel"/>
              </a:rPr>
              <a:t>tructure</a:t>
            </a:r>
            <a:r>
              <a:rPr lang="en-US" spc="-1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s</a:t>
            </a:r>
            <a:r>
              <a:rPr lang="en-US" dirty="0">
                <a:latin typeface="Corbel"/>
                <a:cs typeface="Corbel"/>
              </a:rPr>
              <a:t>e</a:t>
            </a:r>
            <a:r>
              <a:rPr lang="en-US" spc="5" dirty="0">
                <a:latin typeface="Corbel"/>
                <a:cs typeface="Corbel"/>
              </a:rPr>
              <a:t>r</a:t>
            </a:r>
            <a:r>
              <a:rPr lang="en-US" dirty="0">
                <a:latin typeface="Corbel"/>
                <a:cs typeface="Corbel"/>
              </a:rPr>
              <a:t>ver</a:t>
            </a:r>
            <a:r>
              <a:rPr lang="en-US" spc="-15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whe</a:t>
            </a:r>
            <a:r>
              <a:rPr lang="en-US" spc="5" dirty="0">
                <a:latin typeface="Corbel"/>
                <a:cs typeface="Corbel"/>
              </a:rPr>
              <a:t>r</a:t>
            </a:r>
            <a:r>
              <a:rPr lang="en-US" dirty="0">
                <a:latin typeface="Corbel"/>
                <a:cs typeface="Corbel"/>
              </a:rPr>
              <a:t>ein</a:t>
            </a:r>
            <a:r>
              <a:rPr lang="en-US" spc="-15" dirty="0">
                <a:latin typeface="Corbel"/>
                <a:cs typeface="Corbel"/>
              </a:rPr>
              <a:t> </a:t>
            </a:r>
            <a:r>
              <a:rPr lang="en-US" spc="-40" dirty="0">
                <a:latin typeface="Corbel"/>
                <a:cs typeface="Corbel"/>
              </a:rPr>
              <a:t>k</a:t>
            </a:r>
            <a:r>
              <a:rPr lang="en-US" spc="-10" dirty="0">
                <a:latin typeface="Corbel"/>
                <a:cs typeface="Corbel"/>
              </a:rPr>
              <a:t>e</a:t>
            </a:r>
            <a:r>
              <a:rPr lang="en-US" dirty="0">
                <a:latin typeface="Corbel"/>
                <a:cs typeface="Corbel"/>
              </a:rPr>
              <a:t>ys</a:t>
            </a:r>
            <a:r>
              <a:rPr lang="en-US" spc="-5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can </a:t>
            </a:r>
            <a:r>
              <a:rPr lang="en-US" spc="-10" dirty="0">
                <a:latin typeface="Corbel"/>
                <a:cs typeface="Corbel"/>
              </a:rPr>
              <a:t>c</a:t>
            </a:r>
            <a:r>
              <a:rPr lang="en-US" dirty="0">
                <a:latin typeface="Corbel"/>
                <a:cs typeface="Corbel"/>
              </a:rPr>
              <a:t>ontain</a:t>
            </a:r>
            <a:r>
              <a:rPr lang="en-US" spc="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s</a:t>
            </a:r>
            <a:r>
              <a:rPr lang="en-US" dirty="0">
                <a:latin typeface="Corbel"/>
                <a:cs typeface="Corbel"/>
              </a:rPr>
              <a:t>tring</a:t>
            </a:r>
            <a:r>
              <a:rPr lang="en-US" spc="-15" dirty="0">
                <a:latin typeface="Corbel"/>
                <a:cs typeface="Corbel"/>
              </a:rPr>
              <a:t>s</a:t>
            </a:r>
            <a:r>
              <a:rPr lang="en-US" dirty="0">
                <a:latin typeface="Corbel"/>
                <a:cs typeface="Corbel"/>
              </a:rPr>
              <a:t>, h</a:t>
            </a:r>
            <a:r>
              <a:rPr lang="en-US" spc="5" dirty="0">
                <a:latin typeface="Corbel"/>
                <a:cs typeface="Corbel"/>
              </a:rPr>
              <a:t>a</a:t>
            </a:r>
            <a:r>
              <a:rPr lang="en-US" spc="-10" dirty="0">
                <a:latin typeface="Corbel"/>
                <a:cs typeface="Corbel"/>
              </a:rPr>
              <a:t>s</a:t>
            </a:r>
            <a:r>
              <a:rPr lang="en-US" dirty="0">
                <a:latin typeface="Corbel"/>
                <a:cs typeface="Corbel"/>
              </a:rPr>
              <a:t>h</a:t>
            </a:r>
            <a:r>
              <a:rPr lang="en-US" spc="5" dirty="0">
                <a:latin typeface="Corbel"/>
                <a:cs typeface="Corbel"/>
              </a:rPr>
              <a:t>e</a:t>
            </a:r>
            <a:r>
              <a:rPr lang="en-US" spc="-10" dirty="0">
                <a:latin typeface="Corbel"/>
                <a:cs typeface="Corbel"/>
              </a:rPr>
              <a:t>s</a:t>
            </a:r>
            <a:r>
              <a:rPr lang="en-US" dirty="0">
                <a:latin typeface="Corbel"/>
                <a:cs typeface="Corbel"/>
              </a:rPr>
              <a:t>,</a:t>
            </a:r>
            <a:r>
              <a:rPr lang="en-US" spc="-25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li</a:t>
            </a:r>
            <a:r>
              <a:rPr lang="en-US" spc="-10" dirty="0">
                <a:latin typeface="Corbel"/>
                <a:cs typeface="Corbel"/>
              </a:rPr>
              <a:t>s</a:t>
            </a:r>
            <a:r>
              <a:rPr lang="en-US" dirty="0">
                <a:latin typeface="Corbel"/>
                <a:cs typeface="Corbel"/>
              </a:rPr>
              <a:t>t</a:t>
            </a:r>
            <a:r>
              <a:rPr lang="en-US" spc="-15" dirty="0">
                <a:latin typeface="Corbel"/>
                <a:cs typeface="Corbel"/>
              </a:rPr>
              <a:t>s</a:t>
            </a:r>
            <a:r>
              <a:rPr lang="en-US" dirty="0">
                <a:latin typeface="Corbel"/>
                <a:cs typeface="Corbel"/>
              </a:rPr>
              <a:t>,</a:t>
            </a:r>
            <a:r>
              <a:rPr lang="en-US" spc="1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s</a:t>
            </a:r>
            <a:r>
              <a:rPr lang="en-US" dirty="0">
                <a:latin typeface="Corbel"/>
                <a:cs typeface="Corbel"/>
              </a:rPr>
              <a:t>et</a:t>
            </a:r>
            <a:r>
              <a:rPr lang="en-US" spc="-10" dirty="0">
                <a:latin typeface="Corbel"/>
                <a:cs typeface="Corbel"/>
              </a:rPr>
              <a:t>s</a:t>
            </a:r>
            <a:r>
              <a:rPr lang="en-US" dirty="0">
                <a:latin typeface="Corbel"/>
                <a:cs typeface="Corbel"/>
              </a:rPr>
              <a:t>, a</a:t>
            </a:r>
            <a:r>
              <a:rPr lang="en-US" spc="5" dirty="0">
                <a:latin typeface="Corbel"/>
                <a:cs typeface="Corbel"/>
              </a:rPr>
              <a:t>n</a:t>
            </a:r>
            <a:r>
              <a:rPr lang="en-US" dirty="0">
                <a:latin typeface="Corbel"/>
                <a:cs typeface="Corbel"/>
              </a:rPr>
              <a:t>d</a:t>
            </a:r>
            <a:r>
              <a:rPr lang="en-US" spc="-10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sorted </a:t>
            </a:r>
            <a:r>
              <a:rPr lang="en-US" spc="-10" dirty="0">
                <a:latin typeface="Corbel"/>
                <a:cs typeface="Corbel"/>
              </a:rPr>
              <a:t>s</a:t>
            </a:r>
            <a:r>
              <a:rPr lang="en-US" dirty="0">
                <a:latin typeface="Corbel"/>
                <a:cs typeface="Corbel"/>
              </a:rPr>
              <a:t>ets.</a:t>
            </a:r>
          </a:p>
          <a:p>
            <a:pPr marL="299085" marR="495934" indent="-287020">
              <a:lnSpc>
                <a:spcPct val="120000"/>
              </a:lnSpc>
              <a:spcBef>
                <a:spcPts val="0"/>
              </a:spcBef>
              <a:buClr>
                <a:srgbClr val="1286C3"/>
              </a:buClr>
              <a:buSzPct val="144117"/>
              <a:buFont typeface="Arial"/>
              <a:buChar char="•"/>
              <a:tabLst>
                <a:tab pos="299085" algn="l"/>
              </a:tabLst>
            </a:pPr>
            <a:r>
              <a:rPr lang="en-US" b="1" dirty="0">
                <a:latin typeface="Corbel"/>
                <a:cs typeface="Corbel"/>
              </a:rPr>
              <a:t>Cas</a:t>
            </a:r>
            <a:r>
              <a:rPr lang="en-US" b="1" spc="-5" dirty="0">
                <a:latin typeface="Corbel"/>
                <a:cs typeface="Corbel"/>
              </a:rPr>
              <a:t>s</a:t>
            </a:r>
            <a:r>
              <a:rPr lang="en-US" b="1" dirty="0">
                <a:latin typeface="Corbel"/>
                <a:cs typeface="Corbel"/>
              </a:rPr>
              <a:t>andra</a:t>
            </a:r>
            <a:r>
              <a:rPr lang="en-US" b="1" spc="-25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Datab</a:t>
            </a:r>
            <a:r>
              <a:rPr lang="en-US" spc="5" dirty="0">
                <a:latin typeface="Corbel"/>
                <a:cs typeface="Corbel"/>
              </a:rPr>
              <a:t>a</a:t>
            </a:r>
            <a:r>
              <a:rPr lang="en-US" dirty="0">
                <a:latin typeface="Corbel"/>
                <a:cs typeface="Corbel"/>
              </a:rPr>
              <a:t>se</a:t>
            </a:r>
            <a:r>
              <a:rPr lang="en-US" spc="-5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that</a:t>
            </a:r>
            <a:r>
              <a:rPr lang="en-US" spc="-20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pro</a:t>
            </a:r>
            <a:r>
              <a:rPr lang="en-US" spc="5" dirty="0">
                <a:latin typeface="Corbel"/>
                <a:cs typeface="Corbel"/>
              </a:rPr>
              <a:t>v</a:t>
            </a:r>
            <a:r>
              <a:rPr lang="en-US" dirty="0">
                <a:latin typeface="Corbel"/>
                <a:cs typeface="Corbel"/>
              </a:rPr>
              <a:t>ides</a:t>
            </a:r>
            <a:r>
              <a:rPr lang="en-US" spc="-5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s</a:t>
            </a:r>
            <a:r>
              <a:rPr lang="en-US" spc="-10" dirty="0">
                <a:latin typeface="Corbel"/>
                <a:cs typeface="Corbel"/>
              </a:rPr>
              <a:t>c</a:t>
            </a:r>
            <a:r>
              <a:rPr lang="en-US" dirty="0">
                <a:latin typeface="Corbel"/>
                <a:cs typeface="Corbel"/>
              </a:rPr>
              <a:t>alability a</a:t>
            </a:r>
            <a:r>
              <a:rPr lang="en-US" spc="5" dirty="0">
                <a:latin typeface="Corbel"/>
                <a:cs typeface="Corbel"/>
              </a:rPr>
              <a:t>n</a:t>
            </a:r>
            <a:r>
              <a:rPr lang="en-US" dirty="0">
                <a:latin typeface="Corbel"/>
                <a:cs typeface="Corbel"/>
              </a:rPr>
              <a:t>d</a:t>
            </a:r>
            <a:r>
              <a:rPr lang="en-US" spc="-10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high</a:t>
            </a:r>
            <a:r>
              <a:rPr lang="en-US" spc="-15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a</a:t>
            </a:r>
            <a:r>
              <a:rPr lang="en-US" spc="5" dirty="0">
                <a:latin typeface="Corbel"/>
                <a:cs typeface="Corbel"/>
              </a:rPr>
              <a:t>v</a:t>
            </a:r>
            <a:r>
              <a:rPr lang="en-US" dirty="0">
                <a:latin typeface="Corbel"/>
                <a:cs typeface="Corbel"/>
              </a:rPr>
              <a:t>ailability</a:t>
            </a:r>
            <a:r>
              <a:rPr lang="en-US" spc="-10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without compro</a:t>
            </a:r>
            <a:r>
              <a:rPr lang="en-US" spc="5" dirty="0">
                <a:latin typeface="Corbel"/>
                <a:cs typeface="Corbel"/>
              </a:rPr>
              <a:t>m</a:t>
            </a:r>
            <a:r>
              <a:rPr lang="en-US" dirty="0">
                <a:latin typeface="Corbel"/>
                <a:cs typeface="Corbel"/>
              </a:rPr>
              <a:t>ising perform</a:t>
            </a:r>
            <a:r>
              <a:rPr lang="en-US" spc="5" dirty="0">
                <a:latin typeface="Corbel"/>
                <a:cs typeface="Corbel"/>
              </a:rPr>
              <a:t>a</a:t>
            </a:r>
            <a:r>
              <a:rPr lang="en-US" dirty="0">
                <a:latin typeface="Corbel"/>
                <a:cs typeface="Corbel"/>
              </a:rPr>
              <a:t>nc</a:t>
            </a:r>
            <a:r>
              <a:rPr lang="en-US" spc="15" dirty="0">
                <a:latin typeface="Corbel"/>
                <a:cs typeface="Corbel"/>
              </a:rPr>
              <a:t>e</a:t>
            </a:r>
            <a:r>
              <a:rPr lang="en-US" dirty="0">
                <a:latin typeface="Corbel"/>
                <a:cs typeface="Corbe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6016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itle 1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en-US" altLang="en-US" dirty="0"/>
              <a:t>NoSQL Database Examples</a:t>
            </a:r>
            <a:endParaRPr lang="en-ZA" altLang="en-US" dirty="0"/>
          </a:p>
        </p:txBody>
      </p:sp>
      <p:sp>
        <p:nvSpPr>
          <p:cNvPr id="18436" name="Content Placeholder 2"/>
          <p:cNvSpPr>
            <a:spLocks noGrp="1"/>
          </p:cNvSpPr>
          <p:nvPr>
            <p:ph idx="4294967295"/>
          </p:nvPr>
        </p:nvSpPr>
        <p:spPr>
          <a:xfrm>
            <a:off x="468313" y="1341438"/>
            <a:ext cx="8229600" cy="5255914"/>
          </a:xfrm>
        </p:spPr>
        <p:txBody>
          <a:bodyPr>
            <a:normAutofit/>
          </a:bodyPr>
          <a:lstStyle/>
          <a:p>
            <a:pPr marL="299085" indent="-287020">
              <a:lnSpc>
                <a:spcPct val="120000"/>
              </a:lnSpc>
              <a:spcBef>
                <a:spcPts val="0"/>
              </a:spcBef>
              <a:buClr>
                <a:srgbClr val="1286C3"/>
              </a:buClr>
              <a:buSzPct val="144117"/>
              <a:buFont typeface="Arial"/>
              <a:buChar char="•"/>
              <a:tabLst>
                <a:tab pos="299085" algn="l"/>
              </a:tabLst>
            </a:pPr>
            <a:r>
              <a:rPr lang="en-US" sz="2600" b="1" dirty="0" err="1">
                <a:latin typeface="Corbel"/>
                <a:cs typeface="Corbel"/>
              </a:rPr>
              <a:t>Memca</a:t>
            </a:r>
            <a:r>
              <a:rPr lang="en-US" sz="2600" b="1" spc="5" dirty="0" err="1">
                <a:latin typeface="Corbel"/>
                <a:cs typeface="Corbel"/>
              </a:rPr>
              <a:t>c</a:t>
            </a:r>
            <a:r>
              <a:rPr lang="en-US" sz="2600" b="1" spc="-10" dirty="0" err="1">
                <a:latin typeface="Corbel"/>
                <a:cs typeface="Corbel"/>
              </a:rPr>
              <a:t>h</a:t>
            </a:r>
            <a:r>
              <a:rPr lang="en-US" sz="2600" b="1" dirty="0" err="1">
                <a:latin typeface="Corbel"/>
                <a:cs typeface="Corbel"/>
              </a:rPr>
              <a:t>ed</a:t>
            </a:r>
            <a:r>
              <a:rPr lang="en-US" sz="2600" b="1" dirty="0">
                <a:latin typeface="Corbel"/>
                <a:cs typeface="Corbel"/>
              </a:rPr>
              <a:t> </a:t>
            </a:r>
            <a:r>
              <a:rPr lang="en-US" sz="2600" b="1" spc="-110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Open</a:t>
            </a:r>
            <a:r>
              <a:rPr lang="en-US" sz="2600" spc="-15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sou</a:t>
            </a:r>
            <a:r>
              <a:rPr lang="en-US" sz="2600" spc="5" dirty="0">
                <a:latin typeface="Corbel"/>
                <a:cs typeface="Corbel"/>
              </a:rPr>
              <a:t>r</a:t>
            </a:r>
            <a:r>
              <a:rPr lang="en-US" sz="2600" dirty="0">
                <a:latin typeface="Corbel"/>
                <a:cs typeface="Corbel"/>
              </a:rPr>
              <a:t>ce high</a:t>
            </a:r>
            <a:r>
              <a:rPr lang="en-US" sz="2600" spc="-5" dirty="0">
                <a:latin typeface="Corbel"/>
                <a:cs typeface="Corbel"/>
              </a:rPr>
              <a:t>-</a:t>
            </a:r>
            <a:r>
              <a:rPr lang="en-US" sz="2600" dirty="0">
                <a:latin typeface="Corbel"/>
                <a:cs typeface="Corbel"/>
              </a:rPr>
              <a:t>perform</a:t>
            </a:r>
            <a:r>
              <a:rPr lang="en-US" sz="2600" spc="5" dirty="0">
                <a:latin typeface="Corbel"/>
                <a:cs typeface="Corbel"/>
              </a:rPr>
              <a:t>a</a:t>
            </a:r>
            <a:r>
              <a:rPr lang="en-US" sz="2600" dirty="0">
                <a:latin typeface="Corbel"/>
                <a:cs typeface="Corbel"/>
              </a:rPr>
              <a:t>nce,</a:t>
            </a:r>
            <a:r>
              <a:rPr lang="en-US" sz="2600" spc="-35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dis</a:t>
            </a:r>
            <a:r>
              <a:rPr lang="en-US" sz="2600" spc="-10" dirty="0">
                <a:latin typeface="Corbel"/>
                <a:cs typeface="Corbel"/>
              </a:rPr>
              <a:t>t</a:t>
            </a:r>
            <a:r>
              <a:rPr lang="en-US" sz="2600" dirty="0">
                <a:latin typeface="Corbel"/>
                <a:cs typeface="Corbel"/>
              </a:rPr>
              <a:t>ribute</a:t>
            </a:r>
            <a:r>
              <a:rPr lang="en-US" sz="2600" spc="15" dirty="0">
                <a:latin typeface="Corbel"/>
                <a:cs typeface="Corbel"/>
              </a:rPr>
              <a:t>d</a:t>
            </a:r>
            <a:r>
              <a:rPr lang="en-US" sz="2600" spc="-5" dirty="0">
                <a:latin typeface="Corbel"/>
                <a:cs typeface="Corbel"/>
              </a:rPr>
              <a:t>-</a:t>
            </a:r>
            <a:r>
              <a:rPr lang="en-US" sz="2600" dirty="0">
                <a:latin typeface="Corbel"/>
                <a:cs typeface="Corbel"/>
              </a:rPr>
              <a:t>m</a:t>
            </a:r>
            <a:r>
              <a:rPr lang="en-US" sz="2600" spc="5" dirty="0">
                <a:latin typeface="Corbel"/>
                <a:cs typeface="Corbel"/>
              </a:rPr>
              <a:t>e</a:t>
            </a:r>
            <a:r>
              <a:rPr lang="en-US" sz="2600" dirty="0">
                <a:latin typeface="Corbel"/>
                <a:cs typeface="Corbel"/>
              </a:rPr>
              <a:t>m</a:t>
            </a:r>
            <a:r>
              <a:rPr lang="en-US" sz="2600" spc="5" dirty="0">
                <a:latin typeface="Corbel"/>
                <a:cs typeface="Corbel"/>
              </a:rPr>
              <a:t>o</a:t>
            </a:r>
            <a:r>
              <a:rPr lang="en-US" sz="2600" dirty="0">
                <a:latin typeface="Corbel"/>
                <a:cs typeface="Corbel"/>
              </a:rPr>
              <a:t>r</a:t>
            </a:r>
            <a:r>
              <a:rPr lang="en-US" sz="2600" spc="-65" dirty="0">
                <a:latin typeface="Corbel"/>
                <a:cs typeface="Corbel"/>
              </a:rPr>
              <a:t>y</a:t>
            </a:r>
            <a:r>
              <a:rPr lang="en-US" sz="2600" dirty="0">
                <a:latin typeface="Corbel"/>
                <a:cs typeface="Corbel"/>
              </a:rPr>
              <a:t>,</a:t>
            </a:r>
            <a:r>
              <a:rPr lang="en-US" sz="2600" spc="-25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a</a:t>
            </a:r>
            <a:r>
              <a:rPr lang="en-US" sz="2600" spc="5" dirty="0">
                <a:latin typeface="Corbel"/>
                <a:cs typeface="Corbel"/>
              </a:rPr>
              <a:t>n</a:t>
            </a:r>
            <a:r>
              <a:rPr lang="en-US" sz="2600" dirty="0">
                <a:latin typeface="Corbel"/>
                <a:cs typeface="Corbel"/>
              </a:rPr>
              <a:t>d</a:t>
            </a:r>
            <a:r>
              <a:rPr lang="en-US" sz="2600" spc="-10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objec</a:t>
            </a:r>
            <a:r>
              <a:rPr lang="en-US" sz="2600" spc="5" dirty="0">
                <a:latin typeface="Corbel"/>
                <a:cs typeface="Corbel"/>
              </a:rPr>
              <a:t>t</a:t>
            </a:r>
            <a:r>
              <a:rPr lang="en-US" sz="2600" dirty="0">
                <a:latin typeface="Corbel"/>
                <a:cs typeface="Corbel"/>
              </a:rPr>
              <a:t>-caching</a:t>
            </a:r>
            <a:r>
              <a:rPr lang="en-US" sz="2600" spc="-10" dirty="0">
                <a:latin typeface="Corbel"/>
                <a:cs typeface="Corbel"/>
              </a:rPr>
              <a:t> s</a:t>
            </a:r>
            <a:r>
              <a:rPr lang="en-US" sz="2600" dirty="0">
                <a:latin typeface="Corbel"/>
                <a:cs typeface="Corbel"/>
              </a:rPr>
              <a:t>y</a:t>
            </a:r>
            <a:r>
              <a:rPr lang="en-US" sz="2600" spc="-10" dirty="0">
                <a:latin typeface="Corbel"/>
                <a:cs typeface="Corbel"/>
              </a:rPr>
              <a:t>s</a:t>
            </a:r>
            <a:r>
              <a:rPr lang="en-US" sz="2600" dirty="0">
                <a:latin typeface="Corbel"/>
                <a:cs typeface="Corbel"/>
              </a:rPr>
              <a:t>tem.</a:t>
            </a:r>
          </a:p>
          <a:p>
            <a:pPr marL="299085" indent="-287020">
              <a:lnSpc>
                <a:spcPct val="120000"/>
              </a:lnSpc>
              <a:spcBef>
                <a:spcPts val="0"/>
              </a:spcBef>
              <a:buClr>
                <a:srgbClr val="1286C3"/>
              </a:buClr>
              <a:buSzPct val="144117"/>
              <a:buFont typeface="Arial"/>
              <a:buChar char="•"/>
              <a:tabLst>
                <a:tab pos="299085" algn="l"/>
              </a:tabLst>
            </a:pPr>
            <a:r>
              <a:rPr lang="en-US" sz="2600" b="1" dirty="0" err="1">
                <a:latin typeface="Corbel"/>
                <a:cs typeface="Corbel"/>
              </a:rPr>
              <a:t>Ha</a:t>
            </a:r>
            <a:r>
              <a:rPr lang="en-US" sz="2600" b="1" spc="-10" dirty="0" err="1">
                <a:latin typeface="Corbel"/>
                <a:cs typeface="Corbel"/>
              </a:rPr>
              <a:t>z</a:t>
            </a:r>
            <a:r>
              <a:rPr lang="en-US" sz="2600" b="1" dirty="0" err="1">
                <a:latin typeface="Corbel"/>
                <a:cs typeface="Corbel"/>
              </a:rPr>
              <a:t>el</a:t>
            </a:r>
            <a:r>
              <a:rPr lang="en-US" sz="2600" b="1" spc="5" dirty="0" err="1">
                <a:latin typeface="Corbel"/>
                <a:cs typeface="Corbel"/>
              </a:rPr>
              <a:t>c</a:t>
            </a:r>
            <a:r>
              <a:rPr lang="en-US" sz="2600" b="1" dirty="0" err="1">
                <a:latin typeface="Corbel"/>
                <a:cs typeface="Corbel"/>
              </a:rPr>
              <a:t>ast</a:t>
            </a:r>
            <a:r>
              <a:rPr lang="en-US" sz="2600" b="1" spc="-90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Open</a:t>
            </a:r>
            <a:r>
              <a:rPr lang="en-US" sz="2600" spc="-5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sou</a:t>
            </a:r>
            <a:r>
              <a:rPr lang="en-US" sz="2600" spc="5" dirty="0">
                <a:latin typeface="Corbel"/>
                <a:cs typeface="Corbel"/>
              </a:rPr>
              <a:t>r</a:t>
            </a:r>
            <a:r>
              <a:rPr lang="en-US" sz="2600" dirty="0">
                <a:latin typeface="Corbel"/>
                <a:cs typeface="Corbel"/>
              </a:rPr>
              <a:t>ce</a:t>
            </a:r>
            <a:r>
              <a:rPr lang="en-US" sz="2600" spc="-15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highly</a:t>
            </a:r>
            <a:r>
              <a:rPr lang="en-US" sz="2600" spc="-20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s</a:t>
            </a:r>
            <a:r>
              <a:rPr lang="en-US" sz="2600" spc="-10" dirty="0">
                <a:latin typeface="Corbel"/>
                <a:cs typeface="Corbel"/>
              </a:rPr>
              <a:t>c</a:t>
            </a:r>
            <a:r>
              <a:rPr lang="en-US" sz="2600" dirty="0">
                <a:latin typeface="Corbel"/>
                <a:cs typeface="Corbel"/>
              </a:rPr>
              <a:t>alable</a:t>
            </a:r>
            <a:r>
              <a:rPr lang="en-US" sz="2600" spc="10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data</a:t>
            </a:r>
            <a:r>
              <a:rPr lang="en-US" sz="2600" spc="-15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dis</a:t>
            </a:r>
            <a:r>
              <a:rPr lang="en-US" sz="2600" spc="-10" dirty="0">
                <a:latin typeface="Corbel"/>
                <a:cs typeface="Corbel"/>
              </a:rPr>
              <a:t>t</a:t>
            </a:r>
            <a:r>
              <a:rPr lang="en-US" sz="2600" dirty="0">
                <a:latin typeface="Corbel"/>
                <a:cs typeface="Corbel"/>
              </a:rPr>
              <a:t>ribution</a:t>
            </a:r>
            <a:r>
              <a:rPr lang="en-US" sz="2600" spc="5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platfor</a:t>
            </a:r>
            <a:r>
              <a:rPr lang="en-US" sz="2600" spc="30" dirty="0">
                <a:latin typeface="Corbel"/>
                <a:cs typeface="Corbel"/>
              </a:rPr>
              <a:t>m</a:t>
            </a:r>
            <a:r>
              <a:rPr lang="en-US" sz="2600" dirty="0">
                <a:latin typeface="Corbel"/>
                <a:cs typeface="Corbel"/>
              </a:rPr>
              <a:t>.</a:t>
            </a:r>
          </a:p>
          <a:p>
            <a:pPr marL="299085" indent="-287020">
              <a:lnSpc>
                <a:spcPct val="120000"/>
              </a:lnSpc>
              <a:spcBef>
                <a:spcPts val="0"/>
              </a:spcBef>
              <a:buClr>
                <a:srgbClr val="1286C3"/>
              </a:buClr>
              <a:buSzPct val="144117"/>
              <a:buFont typeface="Arial"/>
              <a:buChar char="•"/>
              <a:tabLst>
                <a:tab pos="299085" algn="l"/>
              </a:tabLst>
            </a:pPr>
            <a:r>
              <a:rPr lang="en-US" sz="2600" b="1" dirty="0" err="1">
                <a:latin typeface="Corbel"/>
                <a:cs typeface="Corbel"/>
              </a:rPr>
              <a:t>H</a:t>
            </a:r>
            <a:r>
              <a:rPr lang="en-US" sz="2600" b="1" spc="-10" dirty="0" err="1">
                <a:latin typeface="Corbel"/>
                <a:cs typeface="Corbel"/>
              </a:rPr>
              <a:t>B</a:t>
            </a:r>
            <a:r>
              <a:rPr lang="en-US" sz="2600" b="1" dirty="0" err="1">
                <a:latin typeface="Corbel"/>
                <a:cs typeface="Corbel"/>
              </a:rPr>
              <a:t>ase</a:t>
            </a:r>
            <a:r>
              <a:rPr lang="en-US" sz="2600" b="1" spc="-5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H</a:t>
            </a:r>
            <a:r>
              <a:rPr lang="en-US" sz="2600" spc="5" dirty="0">
                <a:latin typeface="Corbel"/>
                <a:cs typeface="Corbel"/>
              </a:rPr>
              <a:t>a</a:t>
            </a:r>
            <a:r>
              <a:rPr lang="en-US" sz="2600" dirty="0">
                <a:latin typeface="Corbel"/>
                <a:cs typeface="Corbel"/>
              </a:rPr>
              <a:t>do</a:t>
            </a:r>
            <a:r>
              <a:rPr lang="en-US" sz="2600" spc="5" dirty="0">
                <a:latin typeface="Corbel"/>
                <a:cs typeface="Corbel"/>
              </a:rPr>
              <a:t>o</a:t>
            </a:r>
            <a:r>
              <a:rPr lang="en-US" sz="2600" dirty="0">
                <a:latin typeface="Corbel"/>
                <a:cs typeface="Corbel"/>
              </a:rPr>
              <a:t>p</a:t>
            </a:r>
            <a:r>
              <a:rPr lang="en-US" sz="2600" spc="-10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database,</a:t>
            </a:r>
            <a:r>
              <a:rPr lang="en-US" sz="2600" spc="-10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a dis</a:t>
            </a:r>
            <a:r>
              <a:rPr lang="en-US" sz="2600" spc="-10" dirty="0">
                <a:latin typeface="Corbel"/>
                <a:cs typeface="Corbel"/>
              </a:rPr>
              <a:t>t</a:t>
            </a:r>
            <a:r>
              <a:rPr lang="en-US" sz="2600" dirty="0">
                <a:latin typeface="Corbel"/>
                <a:cs typeface="Corbel"/>
              </a:rPr>
              <a:t>ributed and</a:t>
            </a:r>
            <a:r>
              <a:rPr lang="en-US" sz="2600" spc="-10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s</a:t>
            </a:r>
            <a:r>
              <a:rPr lang="en-US" sz="2600" spc="-10" dirty="0">
                <a:latin typeface="Corbel"/>
                <a:cs typeface="Corbel"/>
              </a:rPr>
              <a:t>c</a:t>
            </a:r>
            <a:r>
              <a:rPr lang="en-US" sz="2600" dirty="0">
                <a:latin typeface="Corbel"/>
                <a:cs typeface="Corbel"/>
              </a:rPr>
              <a:t>alable</a:t>
            </a:r>
            <a:r>
              <a:rPr lang="en-US" sz="2600" spc="10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big</a:t>
            </a:r>
            <a:r>
              <a:rPr lang="en-US" sz="2600" spc="-5" dirty="0">
                <a:latin typeface="Corbel"/>
                <a:cs typeface="Corbel"/>
              </a:rPr>
              <a:t> </a:t>
            </a:r>
            <a:r>
              <a:rPr lang="en-US" sz="2600" spc="-10" dirty="0">
                <a:latin typeface="Corbel"/>
                <a:cs typeface="Corbel"/>
              </a:rPr>
              <a:t>d</a:t>
            </a:r>
            <a:r>
              <a:rPr lang="en-US" sz="2600" dirty="0">
                <a:latin typeface="Corbel"/>
                <a:cs typeface="Corbel"/>
              </a:rPr>
              <a:t>ata</a:t>
            </a:r>
            <a:r>
              <a:rPr lang="en-US" sz="2600" spc="5" dirty="0">
                <a:latin typeface="Corbel"/>
                <a:cs typeface="Corbel"/>
              </a:rPr>
              <a:t> </a:t>
            </a:r>
            <a:r>
              <a:rPr lang="en-US" sz="2600" spc="-10" dirty="0">
                <a:latin typeface="Corbel"/>
                <a:cs typeface="Corbel"/>
              </a:rPr>
              <a:t>s</a:t>
            </a:r>
            <a:r>
              <a:rPr lang="en-US" sz="2600" dirty="0">
                <a:latin typeface="Corbel"/>
                <a:cs typeface="Corbel"/>
              </a:rPr>
              <a:t>tor</a:t>
            </a:r>
            <a:r>
              <a:rPr lang="en-US" sz="2600" spc="30" dirty="0">
                <a:latin typeface="Corbel"/>
                <a:cs typeface="Corbel"/>
              </a:rPr>
              <a:t>e</a:t>
            </a:r>
            <a:r>
              <a:rPr lang="en-US" sz="2600" dirty="0">
                <a:latin typeface="Corbel"/>
                <a:cs typeface="Corbel"/>
              </a:rPr>
              <a:t>.</a:t>
            </a:r>
          </a:p>
          <a:p>
            <a:pPr marL="299085" indent="-287020">
              <a:lnSpc>
                <a:spcPct val="120000"/>
              </a:lnSpc>
              <a:spcBef>
                <a:spcPts val="0"/>
              </a:spcBef>
              <a:buClr>
                <a:srgbClr val="1286C3"/>
              </a:buClr>
              <a:buSzPct val="144117"/>
              <a:buFont typeface="Arial"/>
              <a:buChar char="•"/>
              <a:tabLst>
                <a:tab pos="299085" algn="l"/>
              </a:tabLst>
            </a:pPr>
            <a:r>
              <a:rPr lang="en-US" sz="2600" b="1" dirty="0" err="1">
                <a:latin typeface="Corbel"/>
                <a:cs typeface="Corbel"/>
              </a:rPr>
              <a:t>Mnes</a:t>
            </a:r>
            <a:r>
              <a:rPr lang="en-US" sz="2600" b="1" spc="-5" dirty="0" err="1">
                <a:latin typeface="Corbel"/>
                <a:cs typeface="Corbel"/>
              </a:rPr>
              <a:t>i</a:t>
            </a:r>
            <a:r>
              <a:rPr lang="en-US" sz="2600" b="1" dirty="0" err="1">
                <a:latin typeface="Corbel"/>
                <a:cs typeface="Corbel"/>
              </a:rPr>
              <a:t>a</a:t>
            </a:r>
            <a:r>
              <a:rPr lang="en-US" sz="2600" b="1" spc="-15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Di</a:t>
            </a:r>
            <a:r>
              <a:rPr lang="en-US" sz="2600" spc="-10" dirty="0">
                <a:latin typeface="Corbel"/>
                <a:cs typeface="Corbel"/>
              </a:rPr>
              <a:t>s</a:t>
            </a:r>
            <a:r>
              <a:rPr lang="en-US" sz="2600" dirty="0">
                <a:latin typeface="Corbel"/>
                <a:cs typeface="Corbel"/>
              </a:rPr>
              <a:t>trib</a:t>
            </a:r>
            <a:r>
              <a:rPr lang="en-US" sz="2600" spc="5" dirty="0">
                <a:latin typeface="Corbel"/>
                <a:cs typeface="Corbel"/>
              </a:rPr>
              <a:t>u</a:t>
            </a:r>
            <a:r>
              <a:rPr lang="en-US" sz="2600" dirty="0">
                <a:latin typeface="Corbel"/>
                <a:cs typeface="Corbel"/>
              </a:rPr>
              <a:t>ted</a:t>
            </a:r>
            <a:r>
              <a:rPr lang="en-US" sz="2600" spc="-20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database m</a:t>
            </a:r>
            <a:r>
              <a:rPr lang="en-US" sz="2600" spc="5" dirty="0">
                <a:latin typeface="Corbel"/>
                <a:cs typeface="Corbel"/>
              </a:rPr>
              <a:t>a</a:t>
            </a:r>
            <a:r>
              <a:rPr lang="en-US" sz="2600" dirty="0">
                <a:latin typeface="Corbel"/>
                <a:cs typeface="Corbel"/>
              </a:rPr>
              <a:t>n</a:t>
            </a:r>
            <a:r>
              <a:rPr lang="en-US" sz="2600" spc="5" dirty="0">
                <a:latin typeface="Corbel"/>
                <a:cs typeface="Corbel"/>
              </a:rPr>
              <a:t>a</a:t>
            </a:r>
            <a:r>
              <a:rPr lang="en-US" sz="2600" dirty="0">
                <a:latin typeface="Corbel"/>
                <a:cs typeface="Corbel"/>
              </a:rPr>
              <a:t>gem</a:t>
            </a:r>
            <a:r>
              <a:rPr lang="en-US" sz="2600" spc="5" dirty="0">
                <a:latin typeface="Corbel"/>
                <a:cs typeface="Corbel"/>
              </a:rPr>
              <a:t>e</a:t>
            </a:r>
            <a:r>
              <a:rPr lang="en-US" sz="2600" dirty="0">
                <a:latin typeface="Corbel"/>
                <a:cs typeface="Corbel"/>
              </a:rPr>
              <a:t>nt</a:t>
            </a:r>
            <a:r>
              <a:rPr lang="en-US" sz="2600" spc="-20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s</a:t>
            </a:r>
            <a:r>
              <a:rPr lang="en-US" sz="2600" spc="-10" dirty="0">
                <a:latin typeface="Corbel"/>
                <a:cs typeface="Corbel"/>
              </a:rPr>
              <a:t>y</a:t>
            </a:r>
            <a:r>
              <a:rPr lang="en-US" sz="2600" dirty="0">
                <a:latin typeface="Corbel"/>
                <a:cs typeface="Corbel"/>
              </a:rPr>
              <a:t>s</a:t>
            </a:r>
            <a:r>
              <a:rPr lang="en-US" sz="2600" spc="-10" dirty="0">
                <a:latin typeface="Corbel"/>
                <a:cs typeface="Corbel"/>
              </a:rPr>
              <a:t>t</a:t>
            </a:r>
            <a:r>
              <a:rPr lang="en-US" sz="2600" dirty="0">
                <a:latin typeface="Corbel"/>
                <a:cs typeface="Corbel"/>
              </a:rPr>
              <a:t>em</a:t>
            </a:r>
            <a:r>
              <a:rPr lang="en-US" sz="2600" spc="-10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that</a:t>
            </a:r>
            <a:r>
              <a:rPr lang="en-US" sz="2600" spc="-20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e</a:t>
            </a:r>
            <a:r>
              <a:rPr lang="en-US" sz="2600" spc="5" dirty="0">
                <a:latin typeface="Corbel"/>
                <a:cs typeface="Corbel"/>
              </a:rPr>
              <a:t>x</a:t>
            </a:r>
            <a:r>
              <a:rPr lang="en-US" sz="2600" dirty="0">
                <a:latin typeface="Corbel"/>
                <a:cs typeface="Corbel"/>
              </a:rPr>
              <a:t>hibits</a:t>
            </a:r>
            <a:r>
              <a:rPr lang="en-US" sz="2600" spc="-10" dirty="0">
                <a:latin typeface="Corbel"/>
                <a:cs typeface="Corbel"/>
              </a:rPr>
              <a:t> s</a:t>
            </a:r>
            <a:r>
              <a:rPr lang="en-US" sz="2600" dirty="0">
                <a:latin typeface="Corbel"/>
                <a:cs typeface="Corbel"/>
              </a:rPr>
              <a:t>oft</a:t>
            </a:r>
            <a:r>
              <a:rPr lang="en-US" sz="2600" spc="-10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re</a:t>
            </a:r>
            <a:r>
              <a:rPr lang="en-US" sz="2600" spc="5" dirty="0">
                <a:latin typeface="Corbel"/>
                <a:cs typeface="Corbel"/>
              </a:rPr>
              <a:t>a</a:t>
            </a:r>
            <a:r>
              <a:rPr lang="en-US" sz="2600" spc="30" dirty="0">
                <a:latin typeface="Corbel"/>
                <a:cs typeface="Corbel"/>
              </a:rPr>
              <a:t>l</a:t>
            </a:r>
            <a:r>
              <a:rPr lang="en-US" sz="2600" spc="-5" dirty="0">
                <a:latin typeface="Corbel"/>
                <a:cs typeface="Corbel"/>
              </a:rPr>
              <a:t>-</a:t>
            </a:r>
            <a:r>
              <a:rPr lang="en-US" sz="2600" dirty="0">
                <a:latin typeface="Corbel"/>
                <a:cs typeface="Corbel"/>
              </a:rPr>
              <a:t>time </a:t>
            </a:r>
            <a:r>
              <a:rPr lang="en-US" sz="2600" spc="-10" dirty="0">
                <a:latin typeface="Corbel"/>
                <a:cs typeface="Corbel"/>
              </a:rPr>
              <a:t>p</a:t>
            </a:r>
            <a:r>
              <a:rPr lang="en-US" sz="2600" dirty="0">
                <a:latin typeface="Corbel"/>
                <a:cs typeface="Corbel"/>
              </a:rPr>
              <a:t>ro</a:t>
            </a:r>
            <a:r>
              <a:rPr lang="en-US" sz="2600" spc="-10" dirty="0">
                <a:latin typeface="Corbel"/>
                <a:cs typeface="Corbel"/>
              </a:rPr>
              <a:t>p</a:t>
            </a:r>
            <a:r>
              <a:rPr lang="en-US" sz="2600" dirty="0">
                <a:latin typeface="Corbel"/>
                <a:cs typeface="Corbel"/>
              </a:rPr>
              <a:t>e</a:t>
            </a:r>
            <a:r>
              <a:rPr lang="en-US" sz="2600" spc="5" dirty="0">
                <a:latin typeface="Corbel"/>
                <a:cs typeface="Corbel"/>
              </a:rPr>
              <a:t>r</a:t>
            </a:r>
            <a:r>
              <a:rPr lang="en-US" sz="2600" dirty="0">
                <a:latin typeface="Corbel"/>
                <a:cs typeface="Corbel"/>
              </a:rPr>
              <a:t>tie</a:t>
            </a:r>
            <a:r>
              <a:rPr lang="en-US" sz="2600" spc="-5" dirty="0">
                <a:latin typeface="Corbel"/>
                <a:cs typeface="Corbel"/>
              </a:rPr>
              <a:t>s</a:t>
            </a:r>
            <a:r>
              <a:rPr lang="en-US" sz="2600" dirty="0">
                <a:latin typeface="Corbel"/>
                <a:cs typeface="Corbel"/>
              </a:rPr>
              <a:t>.</a:t>
            </a:r>
          </a:p>
          <a:p>
            <a:pPr marL="299085" indent="-287020">
              <a:lnSpc>
                <a:spcPct val="120000"/>
              </a:lnSpc>
              <a:spcBef>
                <a:spcPts val="0"/>
              </a:spcBef>
              <a:buClr>
                <a:srgbClr val="1286C3"/>
              </a:buClr>
              <a:buSzPct val="144117"/>
              <a:buFont typeface="Arial"/>
              <a:buChar char="•"/>
              <a:tabLst>
                <a:tab pos="299085" algn="l"/>
              </a:tabLst>
            </a:pPr>
            <a:r>
              <a:rPr lang="en-US" sz="2600" b="1" dirty="0">
                <a:latin typeface="Corbel"/>
                <a:cs typeface="Corbel"/>
              </a:rPr>
              <a:t>Neo4j </a:t>
            </a:r>
            <a:r>
              <a:rPr lang="en-US" sz="2600" b="1" spc="-105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Open</a:t>
            </a:r>
            <a:r>
              <a:rPr lang="en-US" sz="2600" spc="-15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sou</a:t>
            </a:r>
            <a:r>
              <a:rPr lang="en-US" sz="2600" spc="5" dirty="0">
                <a:latin typeface="Corbel"/>
                <a:cs typeface="Corbel"/>
              </a:rPr>
              <a:t>r</a:t>
            </a:r>
            <a:r>
              <a:rPr lang="en-US" sz="2600" dirty="0">
                <a:latin typeface="Corbel"/>
                <a:cs typeface="Corbel"/>
              </a:rPr>
              <a:t>ce hig</a:t>
            </a:r>
            <a:r>
              <a:rPr lang="en-US" sz="2600" spc="5" dirty="0">
                <a:latin typeface="Corbel"/>
                <a:cs typeface="Corbel"/>
              </a:rPr>
              <a:t>h</a:t>
            </a:r>
            <a:r>
              <a:rPr lang="en-US" sz="2600" spc="-5" dirty="0">
                <a:latin typeface="Corbel"/>
                <a:cs typeface="Corbel"/>
              </a:rPr>
              <a:t>-</a:t>
            </a:r>
            <a:r>
              <a:rPr lang="en-US" sz="2600" dirty="0">
                <a:latin typeface="Corbel"/>
                <a:cs typeface="Corbel"/>
              </a:rPr>
              <a:t>perform</a:t>
            </a:r>
            <a:r>
              <a:rPr lang="en-US" sz="2600" spc="5" dirty="0">
                <a:latin typeface="Corbel"/>
                <a:cs typeface="Corbel"/>
              </a:rPr>
              <a:t>a</a:t>
            </a:r>
            <a:r>
              <a:rPr lang="en-US" sz="2600" dirty="0">
                <a:latin typeface="Corbel"/>
                <a:cs typeface="Corbel"/>
              </a:rPr>
              <a:t>nce,</a:t>
            </a:r>
            <a:r>
              <a:rPr lang="en-US" sz="2600" spc="-35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enterpris</a:t>
            </a:r>
            <a:r>
              <a:rPr lang="en-US" sz="2600" spc="10" dirty="0">
                <a:latin typeface="Corbel"/>
                <a:cs typeface="Corbel"/>
              </a:rPr>
              <a:t>e</a:t>
            </a:r>
            <a:r>
              <a:rPr lang="en-US" sz="2600" spc="-5" dirty="0">
                <a:latin typeface="Corbel"/>
                <a:cs typeface="Corbel"/>
              </a:rPr>
              <a:t>-</a:t>
            </a:r>
            <a:r>
              <a:rPr lang="en-US" sz="2600" dirty="0">
                <a:latin typeface="Corbel"/>
                <a:cs typeface="Corbel"/>
              </a:rPr>
              <a:t>grade </a:t>
            </a:r>
            <a:r>
              <a:rPr lang="en-US" sz="2600" spc="-10" dirty="0">
                <a:latin typeface="Corbel"/>
                <a:cs typeface="Corbel"/>
              </a:rPr>
              <a:t>g</a:t>
            </a:r>
            <a:r>
              <a:rPr lang="en-US" sz="2600" dirty="0">
                <a:latin typeface="Corbel"/>
                <a:cs typeface="Corbel"/>
              </a:rPr>
              <a:t>raph</a:t>
            </a:r>
            <a:r>
              <a:rPr lang="en-US" sz="2600" spc="-15" dirty="0">
                <a:latin typeface="Corbel"/>
                <a:cs typeface="Corbel"/>
              </a:rPr>
              <a:t> </a:t>
            </a:r>
            <a:r>
              <a:rPr lang="en-US" sz="2600" dirty="0">
                <a:latin typeface="Corbel"/>
                <a:cs typeface="Corbel"/>
              </a:rPr>
              <a:t>database.</a:t>
            </a:r>
          </a:p>
        </p:txBody>
      </p:sp>
    </p:spTree>
    <p:extLst>
      <p:ext uri="{BB962C8B-B14F-4D97-AF65-F5344CB8AC3E}">
        <p14:creationId xmlns:p14="http://schemas.microsoft.com/office/powerpoint/2010/main" val="3906486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2" descr="http://blogs.the451group.com/information_management/files/2011/04/Figures-Aslett_web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18" r="15472"/>
          <a:stretch/>
        </p:blipFill>
        <p:spPr bwMode="auto">
          <a:xfrm>
            <a:off x="107504" y="389979"/>
            <a:ext cx="7945590" cy="6425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9360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err="1"/>
              <a:t>HBase</a:t>
            </a:r>
            <a:endParaRPr lang="en-US" sz="4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Dr. Emmanuel S. Pilli</a:t>
            </a:r>
          </a:p>
          <a:p>
            <a:r>
              <a:rPr lang="en-US" sz="2000" dirty="0" err="1"/>
              <a:t>Malaviya</a:t>
            </a:r>
            <a:r>
              <a:rPr lang="en-US" sz="2000" dirty="0"/>
              <a:t> NIT Jaipur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311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It all started when ..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Google published its paper on BigTable.</a:t>
            </a:r>
          </a:p>
          <a:p>
            <a:pPr eaLnBrk="1" hangingPunct="1"/>
            <a:r>
              <a:rPr lang="en-US" altLang="en-US"/>
              <a:t>The paper put forward a new way of storing and retrieving data</a:t>
            </a:r>
          </a:p>
          <a:p>
            <a:pPr eaLnBrk="1" hangingPunct="1"/>
            <a:r>
              <a:rPr lang="en-US" altLang="en-US"/>
              <a:t>A proven architecture as Google has been using it for many of their successful applications</a:t>
            </a:r>
          </a:p>
          <a:p>
            <a:pPr lvl="1" eaLnBrk="1" hangingPunct="1"/>
            <a:r>
              <a:rPr lang="en-US" altLang="en-US"/>
              <a:t>Primarily geared for web scale data storage and lookups</a:t>
            </a:r>
          </a:p>
        </p:txBody>
      </p:sp>
    </p:spTree>
    <p:extLst>
      <p:ext uri="{BB962C8B-B14F-4D97-AF65-F5344CB8AC3E}">
        <p14:creationId xmlns:p14="http://schemas.microsoft.com/office/powerpoint/2010/main" val="3561548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sz="2800" dirty="0"/>
              <a:t>Why not an RDBMs for such web scale data?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RDBMs tend to scale less better at large data sizes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 ~500GB (both read and write)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Some RDBMs support </a:t>
            </a:r>
            <a:r>
              <a:rPr lang="en-US" altLang="en-US" sz="2400" dirty="0" err="1"/>
              <a:t>sharding</a:t>
            </a:r>
            <a:r>
              <a:rPr lang="en-US" altLang="en-US" sz="2400" dirty="0"/>
              <a:t> but …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Data rearrangement (</a:t>
            </a:r>
            <a:r>
              <a:rPr lang="en-US" altLang="en-US" dirty="0" err="1"/>
              <a:t>Resharding</a:t>
            </a:r>
            <a:r>
              <a:rPr lang="en-US" altLang="en-US" dirty="0"/>
              <a:t>) becomes a problem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If the size of shards gets imbalanced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Requires a hashing function to push data into shards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Code for access becomes complex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First find the appropriate shard to locate your data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Pretty much rigid schemas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Why do we need dynamic schemas </a:t>
            </a:r>
          </a:p>
          <a:p>
            <a:pPr lvl="3" eaLnBrk="1" hangingPunct="1">
              <a:lnSpc>
                <a:spcPct val="80000"/>
              </a:lnSpc>
            </a:pPr>
            <a:r>
              <a:rPr lang="en-US" altLang="en-US" dirty="0"/>
              <a:t>Sparse nature of web scale data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2000" dirty="0"/>
          </a:p>
          <a:p>
            <a:pPr lvl="1">
              <a:lnSpc>
                <a:spcPct val="110000"/>
              </a:lnSpc>
            </a:pPr>
            <a:r>
              <a:rPr lang="en-US" sz="2000" b="1" dirty="0" err="1"/>
              <a:t>Sharding</a:t>
            </a:r>
            <a:r>
              <a:rPr lang="en-US" sz="2000" dirty="0"/>
              <a:t> is a type of database partitioning that separates very large databases the into smaller, faster, more easily managed parts called data shards. The word </a:t>
            </a:r>
            <a:r>
              <a:rPr lang="en-US" sz="2000" b="1" dirty="0"/>
              <a:t>shard</a:t>
            </a:r>
            <a:r>
              <a:rPr lang="en-US" sz="2000" dirty="0"/>
              <a:t> means a small part of a whole.</a:t>
            </a:r>
            <a:endParaRPr lang="en-US" altLang="en-US" sz="2000" dirty="0"/>
          </a:p>
          <a:p>
            <a:pPr eaLnBrk="1" hangingPunct="1">
              <a:lnSpc>
                <a:spcPct val="80000"/>
              </a:lnSpc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82800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HBase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6588" y="1447800"/>
            <a:ext cx="7748587" cy="5149552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Column-Oriented data store, known as “Hadoop Database”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Distributed – designed to serve large tables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Billions of rows and millions of columns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Supports random real-time CRUD operations (unlike HDFS) - </a:t>
            </a:r>
            <a:r>
              <a:rPr lang="en-US" sz="2400" dirty="0"/>
              <a:t>create, read, update, and delete</a:t>
            </a:r>
            <a:endParaRPr lang="en-US" altLang="en-US" sz="24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400" b="0" dirty="0"/>
              <a:t> </a:t>
            </a:r>
            <a:r>
              <a:rPr lang="en-US" altLang="en-US" sz="2400" dirty="0"/>
              <a:t>Runs on a cluster of commodity hardware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Server hardware, not laptop/desktops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Open-source, written in Java, Part of the Apache Hadoop ecosystem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Type of “NoSQL” DB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Does not provide a SQL based access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Does not adhere to Relational Model for storage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Simple data model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Dynamic control over data layout and format</a:t>
            </a:r>
          </a:p>
        </p:txBody>
      </p:sp>
    </p:spTree>
    <p:extLst>
      <p:ext uri="{BB962C8B-B14F-4D97-AF65-F5344CB8AC3E}">
        <p14:creationId xmlns:p14="http://schemas.microsoft.com/office/powerpoint/2010/main" val="2667002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RDBMS and </a:t>
            </a:r>
            <a:r>
              <a:rPr lang="en-US" dirty="0" err="1"/>
              <a:t>HBase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7" y="1844824"/>
            <a:ext cx="8488023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9250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HBase Data Model</a:t>
            </a:r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294688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1582738" y="6019800"/>
            <a:ext cx="75612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65000"/>
              <a:buFont typeface="Arial" pitchFamily="34" charset="0"/>
              <a:buChar char="►"/>
            </a:pPr>
            <a:r>
              <a:rPr lang="en-US" altLang="en-US"/>
              <a:t>Map&lt;byte[], Map&lt;byte[], Map&lt;byte[], Map&lt;Long, byte[]&gt;&gt;&gt;&gt;</a:t>
            </a:r>
          </a:p>
        </p:txBody>
      </p:sp>
    </p:spTree>
    <p:extLst>
      <p:ext uri="{BB962C8B-B14F-4D97-AF65-F5344CB8AC3E}">
        <p14:creationId xmlns:p14="http://schemas.microsoft.com/office/powerpoint/2010/main" val="22445844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HBase Data Model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Data is stored in Tables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Tables contain rows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Rows are referenced by a unique key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Key is an array of bytes – good news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Anything can be a key: string, long and your own serialized data structures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Rows made of columns which are grouped in column families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Data is stored in cells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Identified by row x column-family x column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Cell's content is also an array of bytes</a:t>
            </a:r>
          </a:p>
        </p:txBody>
      </p:sp>
    </p:spTree>
    <p:extLst>
      <p:ext uri="{BB962C8B-B14F-4D97-AF65-F5344CB8AC3E}">
        <p14:creationId xmlns:p14="http://schemas.microsoft.com/office/powerpoint/2010/main" val="1511099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HBase Data Model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Rows are grouped into families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Labeled as “</a:t>
            </a:r>
            <a:r>
              <a:rPr lang="en-US" altLang="en-US" dirty="0" err="1"/>
              <a:t>family:column</a:t>
            </a:r>
            <a:r>
              <a:rPr lang="en-US" altLang="en-US" dirty="0"/>
              <a:t>”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Example “</a:t>
            </a:r>
            <a:r>
              <a:rPr lang="en-US" altLang="en-US" dirty="0" err="1"/>
              <a:t>user:first_name</a:t>
            </a:r>
            <a:r>
              <a:rPr lang="en-US" altLang="en-US" dirty="0"/>
              <a:t>”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A way to organize your data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Various features are applied to families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Compression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In-memory option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Stored together - in a file called </a:t>
            </a:r>
            <a:r>
              <a:rPr lang="en-US" altLang="en-US" dirty="0" err="1"/>
              <a:t>HFile</a:t>
            </a:r>
            <a:r>
              <a:rPr lang="en-US" altLang="en-US" dirty="0"/>
              <a:t>/</a:t>
            </a:r>
            <a:r>
              <a:rPr lang="en-US" altLang="en-US" dirty="0" err="1"/>
              <a:t>StoreFile</a:t>
            </a:r>
            <a:endParaRPr lang="en-US" altLang="en-US" dirty="0"/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Family definitions are static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Created with table, should be rarely added and changed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Limited to small number of families</a:t>
            </a:r>
          </a:p>
        </p:txBody>
      </p:sp>
    </p:spTree>
    <p:extLst>
      <p:ext uri="{BB962C8B-B14F-4D97-AF65-F5344CB8AC3E}">
        <p14:creationId xmlns:p14="http://schemas.microsoft.com/office/powerpoint/2010/main" val="38546024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HBase Families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Family name must be composed of printable characters</a:t>
            </a:r>
          </a:p>
          <a:p>
            <a:pPr lvl="1" eaLnBrk="1" hangingPunct="1"/>
            <a:r>
              <a:rPr lang="en-US" altLang="en-US"/>
              <a:t>Not bytes, unlike keys and values</a:t>
            </a:r>
          </a:p>
          <a:p>
            <a:pPr lvl="1" eaLnBrk="1" hangingPunct="1"/>
            <a:r>
              <a:rPr lang="en-US" altLang="en-US"/>
              <a:t>Think of family:column as a tag for a cell value and NOT as a spreadsheet</a:t>
            </a:r>
          </a:p>
          <a:p>
            <a:pPr eaLnBrk="1" hangingPunct="1"/>
            <a:r>
              <a:rPr lang="en-US" altLang="en-US"/>
              <a:t>Columns on the other hand are NOT static</a:t>
            </a:r>
          </a:p>
          <a:p>
            <a:pPr lvl="1" eaLnBrk="1" hangingPunct="1"/>
            <a:r>
              <a:rPr lang="en-US" altLang="en-US"/>
              <a:t>Create new columns at run-time</a:t>
            </a:r>
          </a:p>
          <a:p>
            <a:pPr lvl="1" eaLnBrk="1" hangingPunct="1"/>
            <a:r>
              <a:rPr lang="en-US" altLang="en-US"/>
              <a:t>Can scale to millions for a family</a:t>
            </a:r>
          </a:p>
        </p:txBody>
      </p:sp>
    </p:spTree>
    <p:extLst>
      <p:ext uri="{BB962C8B-B14F-4D97-AF65-F5344CB8AC3E}">
        <p14:creationId xmlns:p14="http://schemas.microsoft.com/office/powerpoint/2010/main" val="11970953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HBase timestamps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Cells' values are versioned</a:t>
            </a:r>
          </a:p>
          <a:p>
            <a:pPr lvl="1" eaLnBrk="1" hangingPunct="1"/>
            <a:r>
              <a:rPr lang="en-US" altLang="en-US" dirty="0"/>
              <a:t>For each cell multiple versions are kept</a:t>
            </a:r>
          </a:p>
          <a:p>
            <a:pPr lvl="1" eaLnBrk="1" hangingPunct="1"/>
            <a:r>
              <a:rPr lang="en-US" altLang="en-US" dirty="0"/>
              <a:t>3 by default</a:t>
            </a:r>
          </a:p>
          <a:p>
            <a:pPr lvl="1" eaLnBrk="1" hangingPunct="1"/>
            <a:r>
              <a:rPr lang="en-US" altLang="en-US" dirty="0"/>
              <a:t>Another dimension to identify your data</a:t>
            </a:r>
          </a:p>
          <a:p>
            <a:pPr lvl="1" eaLnBrk="1" hangingPunct="1"/>
            <a:r>
              <a:rPr lang="en-US" altLang="en-US" dirty="0"/>
              <a:t>Either explicitly timestamped by region server or provided by the client</a:t>
            </a:r>
          </a:p>
          <a:p>
            <a:pPr lvl="1" eaLnBrk="1" hangingPunct="1"/>
            <a:r>
              <a:rPr lang="en-US" altLang="en-US" dirty="0"/>
              <a:t>Versions are stored in decreasing timestamp order</a:t>
            </a:r>
          </a:p>
          <a:p>
            <a:pPr lvl="1" eaLnBrk="1" hangingPunct="1"/>
            <a:r>
              <a:rPr lang="en-US" altLang="en-US" dirty="0"/>
              <a:t>Read the latest first – optimization to read the current value</a:t>
            </a:r>
          </a:p>
          <a:p>
            <a:pPr eaLnBrk="1" hangingPunct="1"/>
            <a:r>
              <a:rPr lang="en-US" altLang="en-US" sz="2400" dirty="0"/>
              <a:t>You can specify how many versions are kept</a:t>
            </a:r>
          </a:p>
        </p:txBody>
      </p:sp>
    </p:spTree>
    <p:extLst>
      <p:ext uri="{BB962C8B-B14F-4D97-AF65-F5344CB8AC3E}">
        <p14:creationId xmlns:p14="http://schemas.microsoft.com/office/powerpoint/2010/main" val="25766111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HBase Row Keys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Rows are sorted lexicographically by key</a:t>
            </a:r>
          </a:p>
          <a:p>
            <a:pPr lvl="1" eaLnBrk="1" hangingPunct="1"/>
            <a:r>
              <a:rPr lang="en-US" altLang="en-US"/>
              <a:t>Compared on a binary level from left to right</a:t>
            </a:r>
          </a:p>
          <a:p>
            <a:pPr lvl="1" eaLnBrk="1" hangingPunct="1"/>
            <a:r>
              <a:rPr lang="en-US" altLang="en-US"/>
              <a:t>For example keys 1,2,3,10,15 will get sorted as</a:t>
            </a:r>
          </a:p>
          <a:p>
            <a:pPr lvl="1" eaLnBrk="1" hangingPunct="1"/>
            <a:r>
              <a:rPr lang="en-US" altLang="en-US"/>
              <a:t>1, 10, 15, 2, 3</a:t>
            </a:r>
          </a:p>
          <a:p>
            <a:pPr eaLnBrk="1" hangingPunct="1"/>
            <a:r>
              <a:rPr lang="en-US" altLang="en-US"/>
              <a:t>Somewhat similar to Relational DB primary index</a:t>
            </a:r>
          </a:p>
          <a:p>
            <a:pPr lvl="1" eaLnBrk="1" hangingPunct="1"/>
            <a:r>
              <a:rPr lang="en-US" altLang="en-US"/>
              <a:t>Always unique</a:t>
            </a:r>
          </a:p>
          <a:p>
            <a:pPr lvl="1" eaLnBrk="1" hangingPunct="1"/>
            <a:r>
              <a:rPr lang="en-US" altLang="en-US"/>
              <a:t>Some but minimal secondary indexes support</a:t>
            </a:r>
          </a:p>
        </p:txBody>
      </p:sp>
    </p:spTree>
    <p:extLst>
      <p:ext uri="{BB962C8B-B14F-4D97-AF65-F5344CB8AC3E}">
        <p14:creationId xmlns:p14="http://schemas.microsoft.com/office/powerpoint/2010/main" val="23913394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HBase Architecture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A </a:t>
            </a:r>
            <a:r>
              <a:rPr lang="en-US" altLang="en-US" sz="2400" dirty="0" err="1"/>
              <a:t>HBase</a:t>
            </a:r>
            <a:r>
              <a:rPr lang="en-US" altLang="en-US" sz="2400" dirty="0"/>
              <a:t> table is made up of regions</a:t>
            </a:r>
          </a:p>
          <a:p>
            <a:pPr eaLnBrk="1" hangingPunct="1"/>
            <a:r>
              <a:rPr lang="en-US" altLang="en-US" sz="2400" dirty="0"/>
              <a:t>Each region is made up of start row key and end row key. </a:t>
            </a:r>
          </a:p>
          <a:p>
            <a:pPr lvl="1" eaLnBrk="1" hangingPunct="1"/>
            <a:r>
              <a:rPr lang="en-US" altLang="en-US" dirty="0"/>
              <a:t>Table = SUM of regions</a:t>
            </a:r>
          </a:p>
          <a:p>
            <a:pPr lvl="1" eaLnBrk="1" hangingPunct="1"/>
            <a:r>
              <a:rPr lang="en-US" altLang="en-US" dirty="0"/>
              <a:t>Region = (</a:t>
            </a:r>
            <a:r>
              <a:rPr lang="en-US" altLang="en-US" dirty="0" err="1"/>
              <a:t>tablename</a:t>
            </a:r>
            <a:r>
              <a:rPr lang="en-US" altLang="en-US" dirty="0"/>
              <a:t>, </a:t>
            </a:r>
            <a:r>
              <a:rPr lang="en-US" altLang="en-US" dirty="0" err="1"/>
              <a:t>startkey</a:t>
            </a:r>
            <a:r>
              <a:rPr lang="en-US" altLang="en-US" dirty="0"/>
              <a:t>, </a:t>
            </a:r>
            <a:r>
              <a:rPr lang="en-US" altLang="en-US" dirty="0" err="1"/>
              <a:t>endkey</a:t>
            </a:r>
            <a:r>
              <a:rPr lang="en-US" altLang="en-US" dirty="0"/>
              <a:t>) </a:t>
            </a:r>
          </a:p>
          <a:p>
            <a:pPr eaLnBrk="1" hangingPunct="1"/>
            <a:r>
              <a:rPr lang="en-US" altLang="en-US" sz="2400" dirty="0"/>
              <a:t>Each region may live on a different node</a:t>
            </a:r>
          </a:p>
          <a:p>
            <a:pPr eaLnBrk="1" hangingPunct="1"/>
            <a:r>
              <a:rPr lang="en-US" altLang="en-US" sz="2400" dirty="0"/>
              <a:t>Each region is made up of HDFS blocks and files</a:t>
            </a:r>
          </a:p>
          <a:p>
            <a:pPr lvl="1" eaLnBrk="1" hangingPunct="1"/>
            <a:r>
              <a:rPr lang="en-US" altLang="en-US" dirty="0"/>
              <a:t>Point where </a:t>
            </a:r>
            <a:r>
              <a:rPr lang="en-US" altLang="en-US" dirty="0" err="1"/>
              <a:t>HBase</a:t>
            </a:r>
            <a:r>
              <a:rPr lang="en-US" altLang="en-US" dirty="0"/>
              <a:t> falls back on Hadoop</a:t>
            </a:r>
          </a:p>
          <a:p>
            <a:pPr lvl="1" eaLnBrk="1" hangingPunct="1"/>
            <a:r>
              <a:rPr lang="en-US" altLang="en-US" dirty="0"/>
              <a:t>These building blocks of storage are replicated by Hadoop infrastructure (replication settings configurable)  </a:t>
            </a:r>
          </a:p>
          <a:p>
            <a:pPr eaLnBrk="1" hangingPunct="1"/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26224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Rows distribution in region servers</a:t>
            </a:r>
          </a:p>
        </p:txBody>
      </p:sp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37295"/>
            <a:ext cx="8456613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55576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HBase Architecture – Contd ..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 err="1"/>
              <a:t>HBase</a:t>
            </a:r>
            <a:r>
              <a:rPr lang="en-US" altLang="en-US" sz="2400" dirty="0"/>
              <a:t> Nodes are of two types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b="1" dirty="0" err="1"/>
              <a:t>RegionServer</a:t>
            </a:r>
            <a:endParaRPr lang="en-US" altLang="en-US" sz="2000" b="1" dirty="0"/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The actual node where the data is stored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A Region server can hold more than one table.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b="1" dirty="0"/>
              <a:t>Master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Manage Region Servers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Load balancing of the Regions</a:t>
            </a:r>
          </a:p>
          <a:p>
            <a:pPr lvl="3" eaLnBrk="1" hangingPunct="1">
              <a:lnSpc>
                <a:spcPct val="80000"/>
              </a:lnSpc>
            </a:pPr>
            <a:r>
              <a:rPr lang="en-US" altLang="en-US" dirty="0"/>
              <a:t>Move the row keys as data is getting inserted so that Regions are almost equally balanced. </a:t>
            </a:r>
          </a:p>
          <a:p>
            <a:pPr lvl="3" eaLnBrk="1" hangingPunct="1">
              <a:lnSpc>
                <a:spcPct val="80000"/>
              </a:lnSpc>
            </a:pPr>
            <a:r>
              <a:rPr lang="en-US" altLang="en-US" dirty="0"/>
              <a:t>This aspect is what gives </a:t>
            </a:r>
            <a:r>
              <a:rPr lang="en-US" altLang="en-US" dirty="0" err="1"/>
              <a:t>HBase</a:t>
            </a:r>
            <a:r>
              <a:rPr lang="en-US" altLang="en-US" dirty="0"/>
              <a:t> advantage over RDBMs </a:t>
            </a:r>
            <a:r>
              <a:rPr lang="en-US" altLang="en-US" dirty="0" err="1"/>
              <a:t>sharding</a:t>
            </a:r>
            <a:r>
              <a:rPr lang="en-US" altLang="en-US" dirty="0"/>
              <a:t> approaches.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Special tables exist inside </a:t>
            </a:r>
            <a:r>
              <a:rPr lang="en-US" altLang="en-US" sz="2400" dirty="0" err="1"/>
              <a:t>HBase</a:t>
            </a:r>
            <a:endParaRPr lang="en-US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-ROOT-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Stores the schema information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.META.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Stores the Region Servers information</a:t>
            </a:r>
          </a:p>
          <a:p>
            <a:pPr eaLnBrk="1" hangingPunct="1">
              <a:lnSpc>
                <a:spcPct val="80000"/>
              </a:lnSpc>
            </a:pP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771518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HBase Architecture Implementation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 err="1"/>
              <a:t>HBase</a:t>
            </a:r>
            <a:r>
              <a:rPr lang="en-US" altLang="en-US" sz="2400" dirty="0"/>
              <a:t> Master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Administration of </a:t>
            </a:r>
            <a:r>
              <a:rPr lang="en-US" altLang="en-US" dirty="0" err="1"/>
              <a:t>RegionServers</a:t>
            </a:r>
            <a:endParaRPr lang="en-US" altLang="en-US" dirty="0"/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err="1"/>
              <a:t>HRegionServer</a:t>
            </a:r>
            <a:endParaRPr lang="en-US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Write Requests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Read Requests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Cache Flushes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Compactions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Region Splits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err="1"/>
              <a:t>HBase</a:t>
            </a:r>
            <a:r>
              <a:rPr lang="en-US" altLang="en-US" sz="2400" dirty="0"/>
              <a:t> Client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Caching for region lookups</a:t>
            </a:r>
          </a:p>
        </p:txBody>
      </p:sp>
    </p:spTree>
    <p:extLst>
      <p:ext uri="{BB962C8B-B14F-4D97-AF65-F5344CB8AC3E}">
        <p14:creationId xmlns:p14="http://schemas.microsoft.com/office/powerpoint/2010/main" val="18763584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Data Storage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8534400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Data is stored in files called </a:t>
            </a:r>
            <a:r>
              <a:rPr lang="en-US" altLang="en-US" sz="2400" dirty="0" err="1"/>
              <a:t>HFiles</a:t>
            </a:r>
            <a:r>
              <a:rPr lang="en-US" altLang="en-US" sz="2400" dirty="0"/>
              <a:t>/</a:t>
            </a:r>
            <a:r>
              <a:rPr lang="en-US" altLang="en-US" sz="2400" dirty="0" err="1"/>
              <a:t>StoreFiles</a:t>
            </a:r>
            <a:endParaRPr lang="en-US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b="1" dirty="0"/>
              <a:t> </a:t>
            </a:r>
            <a:r>
              <a:rPr lang="en-US" altLang="en-US" sz="2000" dirty="0"/>
              <a:t>Usually saved in HDFS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b="1" dirty="0"/>
              <a:t> </a:t>
            </a:r>
            <a:r>
              <a:rPr lang="en-US" altLang="en-US" sz="2000" dirty="0" err="1"/>
              <a:t>HFile</a:t>
            </a:r>
            <a:r>
              <a:rPr lang="en-US" altLang="en-US" sz="2000" dirty="0"/>
              <a:t> is basically a key-value map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b="1" dirty="0"/>
              <a:t> </a:t>
            </a:r>
            <a:r>
              <a:rPr lang="en-US" altLang="en-US" sz="2000" dirty="0"/>
              <a:t>Keys are sorted lexicographically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b="0" dirty="0"/>
              <a:t> </a:t>
            </a:r>
            <a:r>
              <a:rPr lang="en-US" altLang="en-US" sz="2400" dirty="0"/>
              <a:t>When data is added it's written to a log called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dirty="0"/>
              <a:t>    Write Ahead Log (WAL) and is also stored in memory (</a:t>
            </a:r>
            <a:r>
              <a:rPr lang="en-US" altLang="en-US" sz="2400" dirty="0" err="1"/>
              <a:t>memstore</a:t>
            </a:r>
            <a:r>
              <a:rPr lang="en-US" altLang="en-US" sz="2400" dirty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Flush: when in-memory data exceeds maximum value it is flushed to an </a:t>
            </a:r>
            <a:r>
              <a:rPr lang="en-US" altLang="en-US" sz="2400" dirty="0" err="1"/>
              <a:t>HFile</a:t>
            </a:r>
            <a:endParaRPr lang="en-US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Data persisted to </a:t>
            </a:r>
            <a:r>
              <a:rPr lang="en-US" altLang="en-US" sz="2000" dirty="0" err="1"/>
              <a:t>HFile</a:t>
            </a:r>
            <a:r>
              <a:rPr lang="en-US" altLang="en-US" sz="2000" dirty="0"/>
              <a:t> can then be removed from WAL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Region Server continues serving read-writes during the flush operations, writing values</a:t>
            </a:r>
            <a:r>
              <a:rPr lang="en-US" altLang="en-US" sz="2000" b="1" dirty="0"/>
              <a:t> to the WAL and </a:t>
            </a:r>
            <a:r>
              <a:rPr lang="en-US" altLang="en-US" sz="2000" b="1" dirty="0" err="1"/>
              <a:t>memstore</a:t>
            </a:r>
            <a:endParaRPr lang="en-US" altLang="en-US" sz="2000" b="1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260186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Data Storage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05800" cy="4648200"/>
          </a:xfrm>
        </p:spPr>
        <p:txBody>
          <a:bodyPr/>
          <a:lstStyle/>
          <a:p>
            <a:pPr eaLnBrk="1" hangingPunct="1"/>
            <a:r>
              <a:rPr lang="en-US" altLang="en-US"/>
              <a:t>HDFS doesn't support updates to an existing file therefore HFiles are immutable</a:t>
            </a:r>
            <a:r>
              <a:rPr lang="en-US" altLang="en-US" b="0"/>
              <a:t> </a:t>
            </a:r>
          </a:p>
          <a:p>
            <a:pPr lvl="1" eaLnBrk="1" hangingPunct="1"/>
            <a:r>
              <a:rPr lang="en-US" altLang="en-US"/>
              <a:t>Cannot remove key-values out of HFile(s)</a:t>
            </a:r>
          </a:p>
          <a:p>
            <a:pPr lvl="1" eaLnBrk="1" hangingPunct="1"/>
            <a:r>
              <a:rPr lang="en-US" altLang="en-US"/>
              <a:t>Over time more and more HFiles are created</a:t>
            </a:r>
          </a:p>
          <a:p>
            <a:pPr eaLnBrk="1" hangingPunct="1"/>
            <a:r>
              <a:rPr lang="en-US" altLang="en-US" b="0"/>
              <a:t> </a:t>
            </a:r>
            <a:r>
              <a:rPr lang="en-US" altLang="en-US"/>
              <a:t>Delete marker is saved to indicate that a record was removed</a:t>
            </a:r>
          </a:p>
          <a:p>
            <a:pPr lvl="1" eaLnBrk="1" hangingPunct="1"/>
            <a:r>
              <a:rPr lang="en-US" altLang="en-US"/>
              <a:t>These markers are used to filter the data - to “hide” the deleted records</a:t>
            </a:r>
          </a:p>
          <a:p>
            <a:pPr lvl="1" eaLnBrk="1" hangingPunct="1"/>
            <a:r>
              <a:rPr lang="en-US" altLang="en-US"/>
              <a:t>At runtime, data is merged between the content of the HFile and WAL</a:t>
            </a:r>
          </a:p>
          <a:p>
            <a:pPr eaLnBrk="1" hangingPunct="1"/>
            <a:endParaRPr lang="en-US" altLang="en-US" b="0"/>
          </a:p>
        </p:txBody>
      </p:sp>
    </p:spTree>
    <p:extLst>
      <p:ext uri="{BB962C8B-B14F-4D97-AF65-F5344CB8AC3E}">
        <p14:creationId xmlns:p14="http://schemas.microsoft.com/office/powerpoint/2010/main" val="2628707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Data Storage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153400" cy="4724400"/>
          </a:xfrm>
        </p:spPr>
        <p:txBody>
          <a:bodyPr/>
          <a:lstStyle/>
          <a:p>
            <a:pPr eaLnBrk="1" hangingPunct="1"/>
            <a:r>
              <a:rPr lang="en-US" altLang="en-US"/>
              <a:t>To control the number of HFiles and to keep cluster well balanced HBase periodically performs data compactions</a:t>
            </a:r>
          </a:p>
          <a:p>
            <a:pPr lvl="1" eaLnBrk="1" hangingPunct="1"/>
            <a:r>
              <a:rPr lang="en-US" altLang="en-US"/>
              <a:t>Minor Compaction: Smaller HFiles are merged into larger HFiles (n-way merge)</a:t>
            </a:r>
          </a:p>
          <a:p>
            <a:pPr lvl="2" eaLnBrk="1" hangingPunct="1"/>
            <a:r>
              <a:rPr lang="en-US" altLang="en-US"/>
              <a:t>Fast - Data is already sorted within files</a:t>
            </a:r>
          </a:p>
          <a:p>
            <a:pPr lvl="2" eaLnBrk="1" hangingPunct="1"/>
            <a:r>
              <a:rPr lang="en-US" altLang="en-US"/>
              <a:t>Delete markers are not applied 	</a:t>
            </a:r>
          </a:p>
          <a:p>
            <a:pPr lvl="1" eaLnBrk="1" hangingPunct="1"/>
            <a:r>
              <a:rPr lang="en-US" altLang="en-US"/>
              <a:t>Major Compaction:</a:t>
            </a:r>
          </a:p>
          <a:p>
            <a:pPr lvl="2" eaLnBrk="1" hangingPunct="1"/>
            <a:r>
              <a:rPr lang="en-US" altLang="en-US"/>
              <a:t>For each region merges all the files within a column-family into a single file</a:t>
            </a:r>
          </a:p>
          <a:p>
            <a:pPr lvl="2" eaLnBrk="1" hangingPunct="1"/>
            <a:r>
              <a:rPr lang="en-US" altLang="en-US"/>
              <a:t>Scan all the entries and apply all the deletes as necessary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b="0"/>
          </a:p>
        </p:txBody>
      </p:sp>
    </p:spTree>
    <p:extLst>
      <p:ext uri="{BB962C8B-B14F-4D97-AF65-F5344CB8AC3E}">
        <p14:creationId xmlns:p14="http://schemas.microsoft.com/office/powerpoint/2010/main" val="8723079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HBase – Data Access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 dirty="0" err="1"/>
              <a:t>HBase</a:t>
            </a:r>
            <a:r>
              <a:rPr lang="en-US" altLang="en-US" sz="2000" dirty="0"/>
              <a:t> Shell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list, </a:t>
            </a:r>
            <a:r>
              <a:rPr lang="en-US" altLang="en-US" sz="2000" dirty="0" err="1"/>
              <a:t>get,put</a:t>
            </a:r>
            <a:r>
              <a:rPr lang="en-US" altLang="en-US" sz="2000" dirty="0"/>
              <a:t>, disable, </a:t>
            </a:r>
            <a:r>
              <a:rPr lang="en-US" altLang="en-US" sz="2000" dirty="0" err="1"/>
              <a:t>drop,alter,count,describe,scan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etc</a:t>
            </a:r>
            <a:endParaRPr lang="en-US" altLang="en-US" sz="20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Java Client API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Table API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Client API for data access, MapReduce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Thrift Server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Thrift compiler, Thrift Server and Thrift client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REST API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err="1"/>
              <a:t>Stargate</a:t>
            </a:r>
            <a:r>
              <a:rPr lang="en-US" altLang="en-US" sz="2000" dirty="0"/>
              <a:t> Servlet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b="0" dirty="0"/>
              <a:t> </a:t>
            </a:r>
            <a:r>
              <a:rPr lang="en-US" altLang="en-US" sz="2400" dirty="0"/>
              <a:t>Avro Server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b="1" dirty="0"/>
              <a:t> </a:t>
            </a:r>
            <a:r>
              <a:rPr lang="en-US" altLang="en-US" sz="2000" dirty="0"/>
              <a:t>Apache Avro is also a cross-language schema compiler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 </a:t>
            </a:r>
            <a:r>
              <a:rPr lang="en-US" altLang="en-US" sz="2000" dirty="0">
                <a:hlinkClick r:id="rId2"/>
              </a:rPr>
              <a:t>http://avro.apache.org</a:t>
            </a:r>
            <a:endParaRPr lang="en-US" altLang="en-US" sz="20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 Requires running Avro Server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err="1"/>
              <a:t>HBql</a:t>
            </a:r>
            <a:endParaRPr lang="en-US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b="1" dirty="0"/>
              <a:t> </a:t>
            </a:r>
            <a:r>
              <a:rPr lang="en-US" altLang="en-US" sz="2000" dirty="0"/>
              <a:t>SQL like syntax for </a:t>
            </a:r>
            <a:r>
              <a:rPr lang="en-US" altLang="en-US" sz="2000" dirty="0" err="1"/>
              <a:t>HBase</a:t>
            </a:r>
            <a:endParaRPr lang="en-US" altLang="en-US" sz="20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 http://www.hbql.com</a:t>
            </a:r>
          </a:p>
          <a:p>
            <a:pPr eaLnBrk="1" hangingPunct="1">
              <a:lnSpc>
                <a:spcPct val="80000"/>
              </a:lnSpc>
            </a:pPr>
            <a:endParaRPr lang="en-US" altLang="en-US" sz="1300" dirty="0"/>
          </a:p>
        </p:txBody>
      </p:sp>
    </p:spTree>
    <p:extLst>
      <p:ext uri="{BB962C8B-B14F-4D97-AF65-F5344CB8AC3E}">
        <p14:creationId xmlns:p14="http://schemas.microsoft.com/office/powerpoint/2010/main" val="7708289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 err="1"/>
              <a:t>HBase</a:t>
            </a:r>
            <a:r>
              <a:rPr lang="en-US" altLang="en-US" dirty="0"/>
              <a:t> Map Reduce constructs</a:t>
            </a:r>
          </a:p>
        </p:txBody>
      </p:sp>
      <p:pic>
        <p:nvPicPr>
          <p:cNvPr id="39940" name="Picture 3" descr="HBase MapReduce Reduc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76" y="4359424"/>
            <a:ext cx="6503988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Picture 4" descr="HBase outputForma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5384329"/>
            <a:ext cx="7494588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2" name="Picture 5" descr="HBase Mapper Map Redu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976" y="3118520"/>
            <a:ext cx="612457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3" name="Picture 6" descr="HBase MapRed input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976" y="1844824"/>
            <a:ext cx="762000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7884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</a:t>
            </a:r>
            <a:r>
              <a:rPr lang="en-US" dirty="0" err="1"/>
              <a:t>HBase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03835" indent="-191135">
              <a:lnSpc>
                <a:spcPct val="100000"/>
              </a:lnSpc>
              <a:buClr>
                <a:srgbClr val="006AAE"/>
              </a:buClr>
              <a:buFont typeface="Wingdings"/>
              <a:buChar char=""/>
              <a:tabLst>
                <a:tab pos="204470" algn="l"/>
              </a:tabLst>
            </a:pPr>
            <a:r>
              <a:rPr lang="en-US" sz="2400" b="1" spc="5" dirty="0">
                <a:solidFill>
                  <a:srgbClr val="010000"/>
                </a:solidFill>
                <a:cs typeface="Arial"/>
              </a:rPr>
              <a:t>Us</a:t>
            </a:r>
            <a:r>
              <a:rPr lang="en-US" sz="2400" b="1" spc="10" dirty="0">
                <a:solidFill>
                  <a:srgbClr val="010000"/>
                </a:solidFill>
                <a:cs typeface="Arial"/>
              </a:rPr>
              <a:t>e</a:t>
            </a:r>
            <a:r>
              <a:rPr lang="en-US" sz="2400" b="1" spc="5" dirty="0">
                <a:solidFill>
                  <a:srgbClr val="010000"/>
                </a:solidFill>
                <a:cs typeface="Arial"/>
              </a:rPr>
              <a:t> </a:t>
            </a:r>
            <a:r>
              <a:rPr lang="en-US" sz="2400" b="1" spc="5" dirty="0" err="1">
                <a:solidFill>
                  <a:srgbClr val="010000"/>
                </a:solidFill>
                <a:cs typeface="Arial"/>
              </a:rPr>
              <a:t>HBas</a:t>
            </a:r>
            <a:r>
              <a:rPr lang="en-US" sz="2400" b="1" spc="10" dirty="0" err="1">
                <a:solidFill>
                  <a:srgbClr val="010000"/>
                </a:solidFill>
                <a:cs typeface="Arial"/>
              </a:rPr>
              <a:t>e</a:t>
            </a:r>
            <a:r>
              <a:rPr lang="en-US" sz="2400" b="1" spc="5" dirty="0">
                <a:solidFill>
                  <a:srgbClr val="010000"/>
                </a:solidFill>
                <a:cs typeface="Arial"/>
              </a:rPr>
              <a:t> </a:t>
            </a:r>
            <a:r>
              <a:rPr lang="en-US" sz="2400" b="1" spc="10" dirty="0">
                <a:solidFill>
                  <a:srgbClr val="010000"/>
                </a:solidFill>
                <a:cs typeface="Arial"/>
              </a:rPr>
              <a:t>if…</a:t>
            </a:r>
            <a:endParaRPr lang="en-US" sz="2400" dirty="0">
              <a:cs typeface="Arial"/>
            </a:endParaRPr>
          </a:p>
          <a:p>
            <a:pPr marL="753745" lvl="1" indent="-288925">
              <a:lnSpc>
                <a:spcPct val="100000"/>
              </a:lnSpc>
              <a:spcBef>
                <a:spcPts val="330"/>
              </a:spcBef>
              <a:buClr>
                <a:srgbClr val="006AAE"/>
              </a:buClr>
              <a:buFont typeface="Lucida Sans"/>
              <a:buChar char="–"/>
              <a:tabLst>
                <a:tab pos="709930" algn="l"/>
              </a:tabLst>
            </a:pPr>
            <a:r>
              <a:rPr lang="en-US" spc="-175" dirty="0">
                <a:solidFill>
                  <a:srgbClr val="010000"/>
                </a:solidFill>
                <a:cs typeface="Arial"/>
              </a:rPr>
              <a:t>Y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o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u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 nee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d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 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random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 </a:t>
            </a:r>
            <a:r>
              <a:rPr lang="en-US" dirty="0">
                <a:solidFill>
                  <a:srgbClr val="010000"/>
                </a:solidFill>
                <a:cs typeface="Arial"/>
              </a:rPr>
              <a:t>write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,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 random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 read, or </a:t>
            </a:r>
            <a:r>
              <a:rPr lang="en-US" dirty="0">
                <a:solidFill>
                  <a:srgbClr val="010000"/>
                </a:solidFill>
                <a:cs typeface="Arial"/>
              </a:rPr>
              <a:t>bot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h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 (but not </a:t>
            </a:r>
            <a:r>
              <a:rPr lang="en-US" dirty="0">
                <a:solidFill>
                  <a:srgbClr val="010000"/>
                </a:solidFill>
                <a:cs typeface="Arial"/>
              </a:rPr>
              <a:t>neith</a:t>
            </a:r>
            <a:r>
              <a:rPr lang="en-US" spc="15" dirty="0">
                <a:solidFill>
                  <a:srgbClr val="010000"/>
                </a:solidFill>
                <a:cs typeface="Arial"/>
              </a:rPr>
              <a:t>e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r)</a:t>
            </a:r>
            <a:endParaRPr lang="en-US" dirty="0">
              <a:cs typeface="Arial"/>
            </a:endParaRPr>
          </a:p>
          <a:p>
            <a:pPr marL="753745" marR="130810" lvl="1" indent="-288925">
              <a:lnSpc>
                <a:spcPct val="101400"/>
              </a:lnSpc>
              <a:spcBef>
                <a:spcPts val="295"/>
              </a:spcBef>
              <a:buClr>
                <a:srgbClr val="006AAE"/>
              </a:buClr>
              <a:buFont typeface="Lucida Sans"/>
              <a:buChar char="–"/>
              <a:tabLst>
                <a:tab pos="709930" algn="l"/>
              </a:tabLst>
            </a:pPr>
            <a:r>
              <a:rPr lang="en-US" spc="-175" dirty="0">
                <a:solidFill>
                  <a:srgbClr val="010000"/>
                </a:solidFill>
                <a:cs typeface="Arial"/>
              </a:rPr>
              <a:t>Y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o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u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 nee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d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 to d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o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 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many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 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thousands</a:t>
            </a:r>
            <a:r>
              <a:rPr lang="en-US" dirty="0">
                <a:solidFill>
                  <a:srgbClr val="010000"/>
                </a:solidFill>
                <a:cs typeface="Arial"/>
              </a:rPr>
              <a:t> 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of </a:t>
            </a:r>
            <a:r>
              <a:rPr lang="en-US" dirty="0">
                <a:solidFill>
                  <a:srgbClr val="010000"/>
                </a:solidFill>
                <a:cs typeface="Arial"/>
              </a:rPr>
              <a:t>operation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s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 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per 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second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 on</a:t>
            </a:r>
            <a:r>
              <a:rPr lang="en-US" dirty="0">
                <a:solidFill>
                  <a:srgbClr val="010000"/>
                </a:solidFill>
                <a:cs typeface="Arial"/>
              </a:rPr>
              <a:t> 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multiple</a:t>
            </a:r>
            <a:r>
              <a:rPr lang="en-US" spc="-30" dirty="0">
                <a:solidFill>
                  <a:srgbClr val="010000"/>
                </a:solidFill>
                <a:cs typeface="Arial"/>
              </a:rPr>
              <a:t> 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TB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 of </a:t>
            </a:r>
            <a:r>
              <a:rPr lang="en-US" dirty="0">
                <a:solidFill>
                  <a:srgbClr val="010000"/>
                </a:solidFill>
                <a:cs typeface="Arial"/>
              </a:rPr>
              <a:t>data</a:t>
            </a:r>
            <a:endParaRPr lang="en-US" dirty="0">
              <a:cs typeface="Arial"/>
            </a:endParaRPr>
          </a:p>
          <a:p>
            <a:pPr marL="709295" lvl="1" indent="-244475">
              <a:lnSpc>
                <a:spcPct val="100000"/>
              </a:lnSpc>
              <a:spcBef>
                <a:spcPts val="330"/>
              </a:spcBef>
              <a:buClr>
                <a:srgbClr val="006AAE"/>
              </a:buClr>
              <a:buFont typeface="Lucida Sans"/>
              <a:buChar char="–"/>
              <a:tabLst>
                <a:tab pos="709930" algn="l"/>
              </a:tabLst>
            </a:pPr>
            <a:r>
              <a:rPr lang="en-US" spc="-175" dirty="0">
                <a:solidFill>
                  <a:srgbClr val="010000"/>
                </a:solidFill>
                <a:cs typeface="Arial"/>
              </a:rPr>
              <a:t>Y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our access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 </a:t>
            </a:r>
            <a:r>
              <a:rPr lang="en-US" dirty="0">
                <a:solidFill>
                  <a:srgbClr val="010000"/>
                </a:solidFill>
                <a:cs typeface="Arial"/>
              </a:rPr>
              <a:t>pattern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s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 </a:t>
            </a:r>
            <a:r>
              <a:rPr lang="en-US" dirty="0">
                <a:solidFill>
                  <a:srgbClr val="010000"/>
                </a:solidFill>
                <a:cs typeface="Arial"/>
              </a:rPr>
              <a:t>ar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e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 </a:t>
            </a:r>
            <a:r>
              <a:rPr lang="en-US" dirty="0">
                <a:solidFill>
                  <a:srgbClr val="010000"/>
                </a:solidFill>
                <a:cs typeface="Arial"/>
              </a:rPr>
              <a:t>well-know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n 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an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d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 simple</a:t>
            </a:r>
            <a:endParaRPr lang="en-US" dirty="0">
              <a:cs typeface="Arial"/>
            </a:endParaRPr>
          </a:p>
          <a:p>
            <a:pPr marL="203835" indent="-191135">
              <a:lnSpc>
                <a:spcPct val="100000"/>
              </a:lnSpc>
              <a:spcBef>
                <a:spcPts val="1415"/>
              </a:spcBef>
              <a:buClr>
                <a:srgbClr val="006AAE"/>
              </a:buClr>
              <a:buFont typeface="Wingdings"/>
              <a:buChar char=""/>
              <a:tabLst>
                <a:tab pos="204470" algn="l"/>
              </a:tabLst>
            </a:pPr>
            <a:r>
              <a:rPr lang="en-US" sz="2400" b="1" spc="10" dirty="0">
                <a:solidFill>
                  <a:srgbClr val="010000"/>
                </a:solidFill>
                <a:cs typeface="Arial"/>
              </a:rPr>
              <a:t>Don’t</a:t>
            </a:r>
            <a:r>
              <a:rPr lang="en-US" sz="2400" b="1" spc="5" dirty="0">
                <a:solidFill>
                  <a:srgbClr val="010000"/>
                </a:solidFill>
                <a:cs typeface="Arial"/>
              </a:rPr>
              <a:t> </a:t>
            </a:r>
            <a:r>
              <a:rPr lang="en-US" sz="2400" b="1" spc="10" dirty="0">
                <a:solidFill>
                  <a:srgbClr val="010000"/>
                </a:solidFill>
                <a:cs typeface="Arial"/>
              </a:rPr>
              <a:t>use</a:t>
            </a:r>
            <a:r>
              <a:rPr lang="en-US" sz="2400" b="1" spc="5" dirty="0">
                <a:solidFill>
                  <a:srgbClr val="010000"/>
                </a:solidFill>
                <a:cs typeface="Arial"/>
              </a:rPr>
              <a:t> </a:t>
            </a:r>
            <a:r>
              <a:rPr lang="en-US" sz="2400" b="1" spc="5" dirty="0" err="1">
                <a:solidFill>
                  <a:srgbClr val="010000"/>
                </a:solidFill>
                <a:cs typeface="Arial"/>
              </a:rPr>
              <a:t>HBas</a:t>
            </a:r>
            <a:r>
              <a:rPr lang="en-US" sz="2400" b="1" spc="10" dirty="0" err="1">
                <a:solidFill>
                  <a:srgbClr val="010000"/>
                </a:solidFill>
                <a:cs typeface="Arial"/>
              </a:rPr>
              <a:t>e</a:t>
            </a:r>
            <a:r>
              <a:rPr lang="en-US" sz="2400" b="1" spc="5" dirty="0">
                <a:solidFill>
                  <a:srgbClr val="010000"/>
                </a:solidFill>
                <a:cs typeface="Arial"/>
              </a:rPr>
              <a:t> </a:t>
            </a:r>
            <a:r>
              <a:rPr lang="en-US" sz="2400" b="1" spc="10" dirty="0">
                <a:solidFill>
                  <a:srgbClr val="010000"/>
                </a:solidFill>
                <a:cs typeface="Arial"/>
              </a:rPr>
              <a:t>if…</a:t>
            </a:r>
            <a:endParaRPr lang="en-US" sz="2400" dirty="0">
              <a:cs typeface="Arial"/>
            </a:endParaRPr>
          </a:p>
          <a:p>
            <a:pPr marL="753745" marR="200025" lvl="1" indent="-288925">
              <a:lnSpc>
                <a:spcPct val="101400"/>
              </a:lnSpc>
              <a:spcBef>
                <a:spcPts val="295"/>
              </a:spcBef>
              <a:buClr>
                <a:srgbClr val="006AAE"/>
              </a:buClr>
              <a:buFont typeface="Lucida Sans"/>
              <a:buChar char="–"/>
              <a:tabLst>
                <a:tab pos="709930" algn="l"/>
              </a:tabLst>
            </a:pPr>
            <a:r>
              <a:rPr lang="en-US" spc="-175" dirty="0">
                <a:solidFill>
                  <a:srgbClr val="010000"/>
                </a:solidFill>
                <a:cs typeface="Arial"/>
              </a:rPr>
              <a:t>Y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o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u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 </a:t>
            </a:r>
            <a:r>
              <a:rPr lang="en-US" dirty="0">
                <a:solidFill>
                  <a:srgbClr val="010000"/>
                </a:solidFill>
                <a:cs typeface="Arial"/>
              </a:rPr>
              <a:t>onl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y appen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d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 to your </a:t>
            </a:r>
            <a:r>
              <a:rPr lang="en-US" dirty="0">
                <a:solidFill>
                  <a:srgbClr val="010000"/>
                </a:solidFill>
                <a:cs typeface="Arial"/>
              </a:rPr>
              <a:t>dataset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,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 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an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d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 tend to read the whole</a:t>
            </a:r>
            <a:r>
              <a:rPr lang="en-US" dirty="0">
                <a:solidFill>
                  <a:srgbClr val="010000"/>
                </a:solidFill>
                <a:cs typeface="Arial"/>
              </a:rPr>
              <a:t> 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thing</a:t>
            </a:r>
            <a:endParaRPr lang="en-US" dirty="0">
              <a:cs typeface="Arial"/>
            </a:endParaRPr>
          </a:p>
          <a:p>
            <a:pPr marL="709295" lvl="1" indent="-244475">
              <a:lnSpc>
                <a:spcPct val="100000"/>
              </a:lnSpc>
              <a:spcBef>
                <a:spcPts val="330"/>
              </a:spcBef>
              <a:buClr>
                <a:srgbClr val="006AAE"/>
              </a:buClr>
              <a:buFont typeface="Lucida Sans"/>
              <a:buChar char="–"/>
              <a:tabLst>
                <a:tab pos="709930" algn="l"/>
              </a:tabLst>
            </a:pPr>
            <a:r>
              <a:rPr lang="en-US" spc="-175" dirty="0">
                <a:solidFill>
                  <a:srgbClr val="010000"/>
                </a:solidFill>
                <a:cs typeface="Arial"/>
              </a:rPr>
              <a:t>Y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o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u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 </a:t>
            </a:r>
            <a:r>
              <a:rPr lang="en-US" dirty="0">
                <a:solidFill>
                  <a:srgbClr val="010000"/>
                </a:solidFill>
                <a:cs typeface="Arial"/>
              </a:rPr>
              <a:t>primaril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y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 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d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o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 ad-hoc </a:t>
            </a:r>
            <a:r>
              <a:rPr lang="en-US" dirty="0">
                <a:solidFill>
                  <a:srgbClr val="010000"/>
                </a:solidFill>
                <a:cs typeface="Arial"/>
              </a:rPr>
              <a:t>analytic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s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 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(ill-defined access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 </a:t>
            </a:r>
            <a:r>
              <a:rPr lang="en-US" dirty="0">
                <a:solidFill>
                  <a:srgbClr val="010000"/>
                </a:solidFill>
                <a:cs typeface="Arial"/>
              </a:rPr>
              <a:t>patter</a:t>
            </a:r>
            <a:r>
              <a:rPr lang="en-US" spc="20" dirty="0">
                <a:solidFill>
                  <a:srgbClr val="010000"/>
                </a:solidFill>
                <a:cs typeface="Arial"/>
              </a:rPr>
              <a:t>n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s)</a:t>
            </a:r>
            <a:endParaRPr lang="en-US" dirty="0">
              <a:cs typeface="Arial"/>
            </a:endParaRPr>
          </a:p>
          <a:p>
            <a:pPr marL="709295" lvl="1" indent="-244475">
              <a:lnSpc>
                <a:spcPct val="100000"/>
              </a:lnSpc>
              <a:spcBef>
                <a:spcPts val="330"/>
              </a:spcBef>
              <a:buClr>
                <a:srgbClr val="006AAE"/>
              </a:buClr>
              <a:buFont typeface="Lucida Sans"/>
              <a:buChar char="–"/>
              <a:tabLst>
                <a:tab pos="709930" algn="l"/>
              </a:tabLst>
            </a:pPr>
            <a:r>
              <a:rPr lang="en-US" spc="-175" dirty="0">
                <a:solidFill>
                  <a:srgbClr val="010000"/>
                </a:solidFill>
                <a:cs typeface="Arial"/>
              </a:rPr>
              <a:t>Y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our </a:t>
            </a:r>
            <a:r>
              <a:rPr lang="en-US" dirty="0">
                <a:solidFill>
                  <a:srgbClr val="010000"/>
                </a:solidFill>
                <a:cs typeface="Arial"/>
              </a:rPr>
              <a:t>dat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a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 </a:t>
            </a:r>
            <a:r>
              <a:rPr lang="en-US" dirty="0">
                <a:solidFill>
                  <a:srgbClr val="010000"/>
                </a:solidFill>
                <a:cs typeface="Arial"/>
              </a:rPr>
              <a:t>easil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y fits o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n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 on</a:t>
            </a:r>
            <a:r>
              <a:rPr lang="en-US" spc="10" dirty="0">
                <a:solidFill>
                  <a:srgbClr val="010000"/>
                </a:solidFill>
                <a:cs typeface="Arial"/>
              </a:rPr>
              <a:t>e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 </a:t>
            </a:r>
            <a:r>
              <a:rPr lang="en-US" dirty="0">
                <a:solidFill>
                  <a:srgbClr val="010000"/>
                </a:solidFill>
                <a:cs typeface="Arial"/>
              </a:rPr>
              <a:t>beef</a:t>
            </a:r>
            <a:r>
              <a:rPr lang="en-US" spc="5" dirty="0">
                <a:solidFill>
                  <a:srgbClr val="010000"/>
                </a:solidFill>
                <a:cs typeface="Arial"/>
              </a:rPr>
              <a:t>y node</a:t>
            </a:r>
            <a:endParaRPr lang="en-US" dirty="0"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7505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References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An Excellent blog on </a:t>
            </a:r>
            <a:r>
              <a:rPr lang="en-US" altLang="en-US" dirty="0" err="1"/>
              <a:t>HBase</a:t>
            </a:r>
            <a:r>
              <a:rPr lang="en-US" altLang="en-US" dirty="0"/>
              <a:t> Architecture</a:t>
            </a:r>
          </a:p>
          <a:p>
            <a:pPr lvl="1"/>
            <a:r>
              <a:rPr lang="en-US" altLang="en-US" dirty="0">
                <a:hlinkClick r:id="rId2"/>
              </a:rPr>
              <a:t>http://www.larsgeorge.com</a:t>
            </a:r>
            <a:endParaRPr lang="en-US" altLang="en-US" dirty="0"/>
          </a:p>
          <a:p>
            <a:r>
              <a:rPr lang="en-US" altLang="en-US" dirty="0" err="1"/>
              <a:t>HBase</a:t>
            </a:r>
            <a:r>
              <a:rPr lang="en-US" altLang="en-US" dirty="0"/>
              <a:t> Wiki</a:t>
            </a:r>
          </a:p>
          <a:p>
            <a:pPr lvl="1"/>
            <a:r>
              <a:rPr lang="en-US" altLang="en-US" dirty="0">
                <a:hlinkClick r:id="rId3"/>
              </a:rPr>
              <a:t>http://wiki.apache.org/hadoop/Hbase</a:t>
            </a:r>
            <a:endParaRPr lang="en-US" altLang="en-US" dirty="0"/>
          </a:p>
          <a:p>
            <a:r>
              <a:rPr lang="en-US" altLang="en-US" dirty="0"/>
              <a:t>Some presentations made on </a:t>
            </a:r>
            <a:r>
              <a:rPr lang="en-US" altLang="en-US" dirty="0" err="1"/>
              <a:t>HBase</a:t>
            </a:r>
            <a:endParaRPr lang="en-US" altLang="en-US" dirty="0"/>
          </a:p>
          <a:p>
            <a:pPr lvl="1"/>
            <a:r>
              <a:rPr lang="en-US" altLang="en-US" dirty="0">
                <a:hlinkClick r:id="rId4"/>
              </a:rPr>
              <a:t>http://wiki.apache.org/hadoop/HBase/HBasePresentations</a:t>
            </a:r>
            <a:endParaRPr lang="en-US" altLang="en-US" dirty="0"/>
          </a:p>
          <a:p>
            <a:pPr lvl="2" eaLnBrk="1" hangingPunct="1">
              <a:buFontTx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841263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Cassandra</a:t>
            </a:r>
            <a:endParaRPr lang="en-US" sz="4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Dr. Emmanuel S. Pilli</a:t>
            </a:r>
          </a:p>
          <a:p>
            <a:r>
              <a:rPr lang="en-US" sz="2000" dirty="0" err="1"/>
              <a:t>Malaviya</a:t>
            </a:r>
            <a:r>
              <a:rPr lang="en-US" sz="2000" dirty="0"/>
              <a:t> NIT Jaipur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7165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History of Cassandra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7B5642-26C7-43F5-8E70-45ED8BFF2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32" y="1700808"/>
            <a:ext cx="7139136" cy="448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8130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Cassandra?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DE9F44-A095-4867-AFBA-AE454D48E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0"/>
            <a:ext cx="9144000" cy="450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0211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066800"/>
          </a:xfrm>
        </p:spPr>
        <p:txBody>
          <a:bodyPr>
            <a:normAutofit/>
          </a:bodyPr>
          <a:lstStyle/>
          <a:p>
            <a:r>
              <a:rPr lang="en-US" dirty="0"/>
              <a:t>Cassandra Characteristics…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7055BEC-C2CF-4B80-9C01-1EFF86E98B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177" t="17354" r="14314"/>
          <a:stretch/>
        </p:blipFill>
        <p:spPr>
          <a:xfrm>
            <a:off x="226130" y="1607546"/>
            <a:ext cx="8738358" cy="520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6592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 Oriented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433795-CAF7-40AC-9590-D0D2C421A2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667000"/>
            <a:ext cx="4483443" cy="2667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037E55-52EB-44DD-B743-69A5037063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" y="1714302"/>
            <a:ext cx="8923793" cy="457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399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 Free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BFAA89-D256-4F2D-9BC3-E9BF862ECB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" y="1406735"/>
            <a:ext cx="7931224" cy="533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814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Cassandra Use Case - Summary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6DE7E9-B43F-44B5-A1F8-D9853A6D5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59" y="1412776"/>
            <a:ext cx="8039797" cy="529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4082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Apache Cassandra?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447800"/>
            <a:ext cx="7339162" cy="169316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2400" dirty="0"/>
              <a:t>Apache Cassandra is an open source, distributed, decentralized, elastically scalable, highly available, fault-tolerant, </a:t>
            </a:r>
            <a:r>
              <a:rPr lang="en-US" sz="2400" dirty="0" err="1"/>
              <a:t>Tuneably</a:t>
            </a:r>
            <a:r>
              <a:rPr lang="en-US" sz="2400" dirty="0"/>
              <a:t> consistent, column-oriented database.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92F2AC-245C-40A4-96D9-8057E3AD7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026" y="2708920"/>
            <a:ext cx="6979122" cy="40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442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and Decentralized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55BA1C-6D52-431C-85D8-3FB7A3984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1" y="1371600"/>
            <a:ext cx="9144000" cy="534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7695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and Decentralized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94A860-B962-452F-97E7-BE507E5AE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200"/>
            <a:ext cx="9144000" cy="485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3260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Elastic Scalability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338218-D4A6-4BAB-A611-BEEE4B5C6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0"/>
            <a:ext cx="9144000" cy="525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5672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High </a:t>
            </a:r>
            <a:r>
              <a:rPr lang="en-US" dirty="0" err="1"/>
              <a:t>Avalability</a:t>
            </a:r>
            <a:r>
              <a:rPr lang="en-US" dirty="0"/>
              <a:t> and Fault Tolerance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EF8CFA-676D-4FD6-B18F-1BCBD28AE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650352"/>
            <a:ext cx="7000875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5971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Tunable Consistency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B0BBF4-6024-425E-91C5-0A165D86AA63}"/>
              </a:ext>
            </a:extLst>
          </p:cNvPr>
          <p:cNvSpPr txBox="1"/>
          <p:nvPr/>
        </p:nvSpPr>
        <p:spPr>
          <a:xfrm>
            <a:off x="304800" y="1752600"/>
            <a:ext cx="82296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Cassandra enables us to tune the Consistency based on Application Requirement.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EC9D6B-2E99-45CD-AB37-1F90AEFD7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780928"/>
            <a:ext cx="5943600" cy="387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2207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Cassandra was designed specifically from the ground up to take full advantage of </a:t>
            </a:r>
            <a:r>
              <a:rPr lang="en-US" sz="2400" dirty="0">
                <a:solidFill>
                  <a:srgbClr val="0070C0"/>
                </a:solidFill>
              </a:rPr>
              <a:t>multiprocessor / multicore machines </a:t>
            </a:r>
            <a:r>
              <a:rPr lang="en-US" sz="2400" dirty="0"/>
              <a:t>and to run across many dozens of these machines housed in multiple data </a:t>
            </a:r>
            <a:r>
              <a:rPr lang="en-US" sz="2400" dirty="0" err="1"/>
              <a:t>centres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It scales </a:t>
            </a:r>
            <a:r>
              <a:rPr lang="en-US" sz="2400" dirty="0">
                <a:solidFill>
                  <a:srgbClr val="0070C0"/>
                </a:solidFill>
              </a:rPr>
              <a:t>consistently and </a:t>
            </a:r>
            <a:r>
              <a:rPr lang="en-US" sz="2400" dirty="0" err="1">
                <a:solidFill>
                  <a:srgbClr val="0070C0"/>
                </a:solidFill>
              </a:rPr>
              <a:t>semlessly</a:t>
            </a:r>
            <a:r>
              <a:rPr lang="en-US" sz="2400" dirty="0"/>
              <a:t> to hundreds of terabytes.</a:t>
            </a:r>
          </a:p>
          <a:p>
            <a:pPr marL="0" indent="0">
              <a:buNone/>
            </a:pPr>
            <a:r>
              <a:rPr lang="en-US" sz="2400" dirty="0"/>
              <a:t>Shows </a:t>
            </a:r>
            <a:r>
              <a:rPr lang="en-US" sz="2400" dirty="0">
                <a:solidFill>
                  <a:srgbClr val="0070C0"/>
                </a:solidFill>
              </a:rPr>
              <a:t>exceptional performance</a:t>
            </a:r>
            <a:r>
              <a:rPr lang="en-US" sz="2400" dirty="0"/>
              <a:t> under heavy loads.</a:t>
            </a:r>
          </a:p>
          <a:p>
            <a:pPr marL="0" indent="0">
              <a:buNone/>
            </a:pPr>
            <a:r>
              <a:rPr lang="en-US" sz="2400" dirty="0"/>
              <a:t>Consistently shows </a:t>
            </a:r>
            <a:r>
              <a:rPr lang="en-US" sz="2400" dirty="0">
                <a:solidFill>
                  <a:srgbClr val="0070C0"/>
                </a:solidFill>
              </a:rPr>
              <a:t>very fast throughput</a:t>
            </a:r>
            <a:r>
              <a:rPr lang="en-US" sz="2400" dirty="0"/>
              <a:t> for writes per seconds on a basic commodity workstation.</a:t>
            </a:r>
          </a:p>
        </p:txBody>
      </p:sp>
    </p:spTree>
    <p:extLst>
      <p:ext uri="{BB962C8B-B14F-4D97-AF65-F5344CB8AC3E}">
        <p14:creationId xmlns:p14="http://schemas.microsoft.com/office/powerpoint/2010/main" val="26172785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Use Cassandra?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Use if your application has: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Big Data (Billions of Records Rows &amp; Columns)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Very High Velocity Random Reads &amp; Writes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No Multiple Secondary Index Needs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Low Latency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Use Cases: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eCommerce Inventory Cache Use Cases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Time Series / Events Use Cases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Feed Based Activity / Use Cases</a:t>
            </a:r>
          </a:p>
        </p:txBody>
      </p:sp>
    </p:spTree>
    <p:extLst>
      <p:ext uri="{BB962C8B-B14F-4D97-AF65-F5344CB8AC3E}">
        <p14:creationId xmlns:p14="http://schemas.microsoft.com/office/powerpoint/2010/main" val="35025023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NOT to Use Cassandra?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>
                <a:solidFill>
                  <a:srgbClr val="0070C0"/>
                </a:solidFill>
              </a:rPr>
              <a:t>Don’t Use if your application has: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/>
              <a:t>Secondary Indexes.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/>
              <a:t>Relational Data.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/>
              <a:t>Transactional (Rollback, Commit)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/>
              <a:t>Primary &amp; Financial Records.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/>
              <a:t>Stringent Security &amp; Authorization Needs On Data.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/>
              <a:t>Dynamic Queries on Columns.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/>
              <a:t>Searching Column Data.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/>
              <a:t>Low Latency.</a:t>
            </a:r>
          </a:p>
        </p:txBody>
      </p:sp>
    </p:spTree>
    <p:extLst>
      <p:ext uri="{BB962C8B-B14F-4D97-AF65-F5344CB8AC3E}">
        <p14:creationId xmlns:p14="http://schemas.microsoft.com/office/powerpoint/2010/main" val="41160180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HIVE</a:t>
            </a:r>
            <a:endParaRPr lang="en-US" sz="4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buClr>
                <a:srgbClr val="93A299"/>
              </a:buClr>
            </a:pPr>
            <a:r>
              <a:rPr lang="en-US" sz="2800" b="1" dirty="0">
                <a:solidFill>
                  <a:srgbClr val="292934">
                    <a:lumMod val="75000"/>
                    <a:lumOff val="25000"/>
                  </a:srgbClr>
                </a:solidFill>
              </a:rPr>
              <a:t>Dr. Emmanuel  S. Pilli</a:t>
            </a:r>
          </a:p>
          <a:p>
            <a:pPr lvl="0">
              <a:buClr>
                <a:srgbClr val="93A299"/>
              </a:buClr>
            </a:pPr>
            <a:r>
              <a:rPr lang="en-US" sz="1800" dirty="0">
                <a:solidFill>
                  <a:srgbClr val="292934">
                    <a:lumMod val="75000"/>
                    <a:lumOff val="25000"/>
                  </a:srgbClr>
                </a:solidFill>
              </a:rPr>
              <a:t>Asst. Professor, CSE, MNIT Jaipur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9480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Why Another Data  Warehousing System?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8305800" cy="5257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>
                <a:ea typeface="MS PGothic" pitchFamily="34" charset="-128"/>
              </a:rPr>
              <a:t>Problem : Data, data and more data</a:t>
            </a:r>
          </a:p>
          <a:p>
            <a:pPr lvl="1" eaLnBrk="1" hangingPunct="1"/>
            <a:r>
              <a:rPr lang="en-US" altLang="en-US" sz="2800" dirty="0">
                <a:ea typeface="MS PGothic" pitchFamily="34" charset="-128"/>
              </a:rPr>
              <a:t>Several TBs of data everyday</a:t>
            </a:r>
          </a:p>
          <a:p>
            <a:pPr eaLnBrk="1" hangingPunct="1"/>
            <a:r>
              <a:rPr lang="en-US" altLang="en-US" dirty="0">
                <a:ea typeface="MS PGothic" pitchFamily="34" charset="-128"/>
              </a:rPr>
              <a:t>The Hadoop Experiment:</a:t>
            </a:r>
          </a:p>
          <a:p>
            <a:pPr lvl="1" eaLnBrk="1" hangingPunct="1"/>
            <a:r>
              <a:rPr lang="en-US" altLang="en-US" sz="2800" dirty="0">
                <a:ea typeface="MS PGothic" pitchFamily="34" charset="-128"/>
              </a:rPr>
              <a:t>Uses Hadoop File System (HDFS)</a:t>
            </a:r>
          </a:p>
          <a:p>
            <a:pPr lvl="1" eaLnBrk="1" hangingPunct="1"/>
            <a:r>
              <a:rPr lang="en-US" altLang="en-US" sz="2800" dirty="0">
                <a:ea typeface="MS PGothic" pitchFamily="34" charset="-128"/>
              </a:rPr>
              <a:t>Scalable/Available</a:t>
            </a:r>
          </a:p>
          <a:p>
            <a:pPr eaLnBrk="1" hangingPunct="1"/>
            <a:r>
              <a:rPr lang="en-US" altLang="en-US" dirty="0">
                <a:ea typeface="MS PGothic" pitchFamily="34" charset="-128"/>
              </a:rPr>
              <a:t>Problem</a:t>
            </a:r>
          </a:p>
          <a:p>
            <a:pPr lvl="1" eaLnBrk="1" hangingPunct="1"/>
            <a:r>
              <a:rPr lang="en-US" altLang="en-US" sz="2800" dirty="0">
                <a:ea typeface="MS PGothic" pitchFamily="34" charset="-128"/>
              </a:rPr>
              <a:t>Lacked Expressiveness</a:t>
            </a:r>
          </a:p>
          <a:p>
            <a:pPr lvl="1" eaLnBrk="1" hangingPunct="1"/>
            <a:r>
              <a:rPr lang="en-US" altLang="en-US" sz="2800" dirty="0">
                <a:ea typeface="MS PGothic" pitchFamily="34" charset="-128"/>
              </a:rPr>
              <a:t>Map-Reduce hard to program</a:t>
            </a:r>
          </a:p>
          <a:p>
            <a:pPr eaLnBrk="1" hangingPunct="1"/>
            <a:r>
              <a:rPr lang="en-US" altLang="en-US" dirty="0">
                <a:ea typeface="MS PGothic" pitchFamily="34" charset="-128"/>
              </a:rPr>
              <a:t>Solution : HIVE</a:t>
            </a:r>
            <a:endParaRPr lang="en-US" altLang="en-US" dirty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5000"/>
              </a:spcBef>
              <a:spcAft>
                <a:spcPct val="15000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algn="l" eaLnBrk="0" hangingPunct="0"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65000"/>
              <a:buFont typeface="Arial" pitchFamily="34" charset="0"/>
              <a:buChar char="►"/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12000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fld id="{B47508C5-311B-41B7-B8E9-321EBFA7D2FE}" type="slidenum">
              <a:rPr lang="en-US" altLang="en-US" sz="1000" b="0" smtClean="0">
                <a:solidFill>
                  <a:srgbClr val="FFFFFF"/>
                </a:solidFill>
              </a:rPr>
              <a:pPr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58</a:t>
            </a:fld>
            <a:endParaRPr lang="en-US" altLang="en-US" sz="1000" b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2073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304800" y="685800"/>
            <a:ext cx="8245475" cy="4984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What is Hive?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8153400" cy="4953000"/>
          </a:xfrm>
        </p:spPr>
        <p:txBody>
          <a:bodyPr/>
          <a:lstStyle/>
          <a:p>
            <a:pPr eaLnBrk="1" hangingPunct="1"/>
            <a:r>
              <a:rPr lang="en-US" altLang="en-US">
                <a:ea typeface="MS PGothic" pitchFamily="34" charset="-128"/>
              </a:rPr>
              <a:t>A system for managing and querying unstructured data as if it were structured</a:t>
            </a:r>
          </a:p>
          <a:p>
            <a:pPr lvl="1" eaLnBrk="1" hangingPunct="1"/>
            <a:r>
              <a:rPr lang="en-US" altLang="en-US" sz="2000">
                <a:ea typeface="MS PGothic" pitchFamily="34" charset="-128"/>
              </a:rPr>
              <a:t>Uses Map-Reduce for execution</a:t>
            </a:r>
          </a:p>
          <a:p>
            <a:pPr lvl="1" eaLnBrk="1" hangingPunct="1"/>
            <a:r>
              <a:rPr lang="en-US" altLang="en-US" sz="2000">
                <a:ea typeface="MS PGothic" pitchFamily="34" charset="-128"/>
              </a:rPr>
              <a:t>HDFS for Storage</a:t>
            </a:r>
          </a:p>
          <a:p>
            <a:pPr eaLnBrk="1" hangingPunct="1"/>
            <a:r>
              <a:rPr lang="en-US" altLang="en-US">
                <a:ea typeface="MS PGothic" pitchFamily="34" charset="-128"/>
              </a:rPr>
              <a:t>Key Building Principles</a:t>
            </a:r>
          </a:p>
          <a:p>
            <a:pPr lvl="1" eaLnBrk="1" hangingPunct="1"/>
            <a:r>
              <a:rPr lang="en-US" altLang="en-US" sz="2000">
                <a:ea typeface="MS PGothic" pitchFamily="34" charset="-128"/>
              </a:rPr>
              <a:t>SQL as a familiar data warehousing tool</a:t>
            </a:r>
          </a:p>
          <a:p>
            <a:pPr lvl="1" eaLnBrk="1" hangingPunct="1"/>
            <a:r>
              <a:rPr lang="en-US" altLang="en-US" sz="2000">
                <a:ea typeface="MS PGothic" pitchFamily="34" charset="-128"/>
              </a:rPr>
              <a:t>Extensibility (Pluggable map/reduce scripts in the language of your choice, Rich and User Defined Data Types, User Defined Functions)</a:t>
            </a:r>
          </a:p>
          <a:p>
            <a:pPr lvl="1" eaLnBrk="1" hangingPunct="1"/>
            <a:r>
              <a:rPr lang="en-US" altLang="en-US" sz="2000">
                <a:ea typeface="MS PGothic" pitchFamily="34" charset="-128"/>
              </a:rPr>
              <a:t>Interoperability (Extensible Framework to support different file and data formats)</a:t>
            </a:r>
          </a:p>
          <a:p>
            <a:pPr lvl="1" eaLnBrk="1" hangingPunct="1"/>
            <a:r>
              <a:rPr lang="en-US" altLang="en-US" sz="2000">
                <a:ea typeface="MS PGothic" pitchFamily="34" charset="-128"/>
              </a:rPr>
              <a:t>Performance</a:t>
            </a:r>
          </a:p>
          <a:p>
            <a:pPr lvl="1" eaLnBrk="1" hangingPunct="1"/>
            <a:endParaRPr lang="en-US" altLang="en-US" sz="2000">
              <a:ea typeface="MS PGothic" pitchFamily="34" charset="-128"/>
            </a:endParaRPr>
          </a:p>
          <a:p>
            <a:pPr eaLnBrk="1" hangingPunct="1"/>
            <a:endParaRPr lang="en-US" altLang="en-US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5000"/>
              </a:spcBef>
              <a:spcAft>
                <a:spcPct val="15000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algn="l" eaLnBrk="0" hangingPunct="0"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65000"/>
              <a:buFont typeface="Arial" pitchFamily="34" charset="0"/>
              <a:buChar char="►"/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12000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fld id="{9978811C-C17C-4B47-8FAB-E6D2DF943A28}" type="slidenum">
              <a:rPr lang="en-US" altLang="en-US" sz="1000" b="0" smtClean="0">
                <a:solidFill>
                  <a:srgbClr val="FFFFFF"/>
                </a:solidFill>
              </a:rPr>
              <a:pPr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59</a:t>
            </a:fld>
            <a:endParaRPr lang="en-US" altLang="en-US" sz="1000" b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0885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 SQL vs HiveQL</a:t>
            </a:r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5000"/>
              </a:spcBef>
              <a:spcAft>
                <a:spcPct val="15000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algn="l" eaLnBrk="0" hangingPunct="0"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65000"/>
              <a:buFont typeface="Arial" pitchFamily="34" charset="0"/>
              <a:buChar char="►"/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12000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fld id="{0E5F5EF1-DB62-4324-9072-88698C9C88E9}" type="slidenum">
              <a:rPr lang="en-US" altLang="en-US" sz="1000" b="0" smtClean="0">
                <a:solidFill>
                  <a:srgbClr val="FFFFFF"/>
                </a:solidFill>
              </a:rPr>
              <a:pPr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60</a:t>
            </a:fld>
            <a:endParaRPr lang="en-US" altLang="en-US" sz="1000" b="0">
              <a:solidFill>
                <a:srgbClr val="FFFFFF"/>
              </a:solidFill>
            </a:endParaRPr>
          </a:p>
        </p:txBody>
      </p:sp>
      <p:pic>
        <p:nvPicPr>
          <p:cNvPr id="225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219200"/>
            <a:ext cx="5936704" cy="5539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04009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SQL vs HiveQL</a:t>
            </a:r>
          </a:p>
        </p:txBody>
      </p:sp>
      <p:sp>
        <p:nvSpPr>
          <p:cNvPr id="2355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5000"/>
              </a:spcBef>
              <a:spcAft>
                <a:spcPct val="15000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algn="l" eaLnBrk="0" hangingPunct="0"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65000"/>
              <a:buFont typeface="Arial" pitchFamily="34" charset="0"/>
              <a:buChar char="►"/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12000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fld id="{E1C49A97-1E92-4820-BF45-90AE424B82C7}" type="slidenum">
              <a:rPr lang="en-US" altLang="en-US" sz="1000" b="0" smtClean="0">
                <a:solidFill>
                  <a:srgbClr val="FFFFFF"/>
                </a:solidFill>
              </a:rPr>
              <a:pPr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61</a:t>
            </a:fld>
            <a:endParaRPr lang="en-US" altLang="en-US" sz="1000" b="0">
              <a:solidFill>
                <a:srgbClr val="FFFFFF"/>
              </a:solidFill>
            </a:endParaRPr>
          </a:p>
        </p:txBody>
      </p:sp>
      <p:pic>
        <p:nvPicPr>
          <p:cNvPr id="2355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91816"/>
            <a:ext cx="7187854" cy="4429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44556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8074025" cy="762000"/>
          </a:xfrm>
        </p:spPr>
        <p:txBody>
          <a:bodyPr lIns="82287" tIns="41143" bIns="41143"/>
          <a:lstStyle/>
          <a:p>
            <a:pPr eaLnBrk="1" hangingPunct="1">
              <a:tabLst>
                <a:tab pos="0" algn="l"/>
                <a:tab pos="411163" algn="l"/>
                <a:tab pos="822325" algn="l"/>
                <a:tab pos="1233488" algn="l"/>
                <a:tab pos="1644650" algn="l"/>
                <a:tab pos="2057400" algn="l"/>
                <a:tab pos="2468563" algn="l"/>
                <a:tab pos="2879725" algn="l"/>
                <a:tab pos="3290888" algn="l"/>
                <a:tab pos="3702050" algn="l"/>
                <a:tab pos="4114800" algn="l"/>
                <a:tab pos="4525963" algn="l"/>
                <a:tab pos="4937125" algn="l"/>
                <a:tab pos="5348288" algn="l"/>
                <a:tab pos="5759450" algn="l"/>
                <a:tab pos="6172200" algn="l"/>
                <a:tab pos="6583363" algn="l"/>
                <a:tab pos="6994525" algn="l"/>
                <a:tab pos="7405688" algn="l"/>
                <a:tab pos="7816850" algn="l"/>
                <a:tab pos="8229600" algn="l"/>
              </a:tabLst>
            </a:pPr>
            <a:r>
              <a:rPr lang="en-US" altLang="en-US"/>
              <a:t>HiveQL: Type System</a:t>
            </a:r>
          </a:p>
        </p:txBody>
      </p:sp>
      <p:sp>
        <p:nvSpPr>
          <p:cNvPr id="16387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6425" cy="5225752"/>
          </a:xfrm>
        </p:spPr>
        <p:txBody>
          <a:bodyPr lIns="82287" tIns="41143" rIns="82287" bIns="41143">
            <a:normAutofit/>
          </a:bodyPr>
          <a:lstStyle/>
          <a:p>
            <a:pPr marL="303213" indent="-303213" eaLnBrk="1" hangingPunct="1">
              <a:buSzPct val="93000"/>
              <a:tabLst>
                <a:tab pos="303213" algn="l"/>
                <a:tab pos="404813" algn="l"/>
                <a:tab pos="815975" algn="l"/>
                <a:tab pos="1228725" algn="l"/>
                <a:tab pos="1639888" algn="l"/>
                <a:tab pos="2051050" algn="l"/>
                <a:tab pos="2462213" algn="l"/>
                <a:tab pos="2873375" algn="l"/>
                <a:tab pos="3286125" algn="l"/>
                <a:tab pos="3697288" algn="l"/>
                <a:tab pos="4108450" algn="l"/>
                <a:tab pos="4519613" algn="l"/>
                <a:tab pos="4930775" algn="l"/>
                <a:tab pos="5343525" algn="l"/>
                <a:tab pos="5754688" algn="l"/>
                <a:tab pos="6165850" algn="l"/>
                <a:tab pos="6577013" algn="l"/>
                <a:tab pos="6988175" algn="l"/>
                <a:tab pos="7400925" algn="l"/>
                <a:tab pos="7812088" algn="l"/>
                <a:tab pos="8223250" algn="l"/>
              </a:tabLst>
              <a:defRPr/>
            </a:pPr>
            <a:r>
              <a:rPr lang="en-US" sz="2400" dirty="0"/>
              <a:t>Primitive types</a:t>
            </a:r>
          </a:p>
          <a:p>
            <a:pPr marL="1330325" lvl="1" indent="-508000" eaLnBrk="1" hangingPunct="1">
              <a:buFont typeface="Times New Roman" pitchFamily="18" charset="0"/>
              <a:buChar char="–"/>
              <a:tabLst>
                <a:tab pos="303213" algn="l"/>
                <a:tab pos="404813" algn="l"/>
                <a:tab pos="815975" algn="l"/>
                <a:tab pos="1228725" algn="l"/>
                <a:tab pos="1639888" algn="l"/>
                <a:tab pos="2051050" algn="l"/>
                <a:tab pos="2462213" algn="l"/>
                <a:tab pos="2873375" algn="l"/>
                <a:tab pos="3286125" algn="l"/>
                <a:tab pos="3697288" algn="l"/>
                <a:tab pos="4108450" algn="l"/>
                <a:tab pos="4519613" algn="l"/>
                <a:tab pos="4930775" algn="l"/>
                <a:tab pos="5343525" algn="l"/>
                <a:tab pos="5754688" algn="l"/>
                <a:tab pos="6165850" algn="l"/>
                <a:tab pos="6577013" algn="l"/>
                <a:tab pos="6988175" algn="l"/>
                <a:tab pos="7400925" algn="l"/>
                <a:tab pos="7812088" algn="l"/>
                <a:tab pos="8223250" algn="l"/>
              </a:tabLst>
              <a:defRPr/>
            </a:pPr>
            <a:r>
              <a:rPr lang="en-US" dirty="0"/>
              <a:t>Integers:TINYINT, SMALLINT, INT, BIGINT.</a:t>
            </a:r>
          </a:p>
          <a:p>
            <a:pPr marL="1330325" lvl="1" indent="-508000" eaLnBrk="1" hangingPunct="1">
              <a:buFont typeface="Times New Roman" pitchFamily="18" charset="0"/>
              <a:buChar char="–"/>
              <a:tabLst>
                <a:tab pos="303213" algn="l"/>
                <a:tab pos="404813" algn="l"/>
                <a:tab pos="815975" algn="l"/>
                <a:tab pos="1228725" algn="l"/>
                <a:tab pos="1639888" algn="l"/>
                <a:tab pos="2051050" algn="l"/>
                <a:tab pos="2462213" algn="l"/>
                <a:tab pos="2873375" algn="l"/>
                <a:tab pos="3286125" algn="l"/>
                <a:tab pos="3697288" algn="l"/>
                <a:tab pos="4108450" algn="l"/>
                <a:tab pos="4519613" algn="l"/>
                <a:tab pos="4930775" algn="l"/>
                <a:tab pos="5343525" algn="l"/>
                <a:tab pos="5754688" algn="l"/>
                <a:tab pos="6165850" algn="l"/>
                <a:tab pos="6577013" algn="l"/>
                <a:tab pos="6988175" algn="l"/>
                <a:tab pos="7400925" algn="l"/>
                <a:tab pos="7812088" algn="l"/>
                <a:tab pos="8223250" algn="l"/>
              </a:tabLst>
              <a:defRPr/>
            </a:pPr>
            <a:r>
              <a:rPr lang="en-US" dirty="0"/>
              <a:t>Boolean: BOOLEAN.</a:t>
            </a:r>
          </a:p>
          <a:p>
            <a:pPr marL="1330325" lvl="1" indent="-508000" eaLnBrk="1" hangingPunct="1">
              <a:buFont typeface="Times New Roman" pitchFamily="18" charset="0"/>
              <a:buChar char="–"/>
              <a:tabLst>
                <a:tab pos="303213" algn="l"/>
                <a:tab pos="404813" algn="l"/>
                <a:tab pos="815975" algn="l"/>
                <a:tab pos="1228725" algn="l"/>
                <a:tab pos="1639888" algn="l"/>
                <a:tab pos="2051050" algn="l"/>
                <a:tab pos="2462213" algn="l"/>
                <a:tab pos="2873375" algn="l"/>
                <a:tab pos="3286125" algn="l"/>
                <a:tab pos="3697288" algn="l"/>
                <a:tab pos="4108450" algn="l"/>
                <a:tab pos="4519613" algn="l"/>
                <a:tab pos="4930775" algn="l"/>
                <a:tab pos="5343525" algn="l"/>
                <a:tab pos="5754688" algn="l"/>
                <a:tab pos="6165850" algn="l"/>
                <a:tab pos="6577013" algn="l"/>
                <a:tab pos="6988175" algn="l"/>
                <a:tab pos="7400925" algn="l"/>
                <a:tab pos="7812088" algn="l"/>
                <a:tab pos="8223250" algn="l"/>
              </a:tabLst>
              <a:defRPr/>
            </a:pPr>
            <a:r>
              <a:rPr lang="en-US" dirty="0"/>
              <a:t>Floating point numbers: FLOAT, DOUBLE .</a:t>
            </a:r>
          </a:p>
          <a:p>
            <a:pPr marL="1330325" lvl="1" indent="-508000" eaLnBrk="1" hangingPunct="1">
              <a:buFont typeface="Times New Roman" pitchFamily="18" charset="0"/>
              <a:buChar char="–"/>
              <a:tabLst>
                <a:tab pos="303213" algn="l"/>
                <a:tab pos="404813" algn="l"/>
                <a:tab pos="815975" algn="l"/>
                <a:tab pos="1228725" algn="l"/>
                <a:tab pos="1639888" algn="l"/>
                <a:tab pos="2051050" algn="l"/>
                <a:tab pos="2462213" algn="l"/>
                <a:tab pos="2873375" algn="l"/>
                <a:tab pos="3286125" algn="l"/>
                <a:tab pos="3697288" algn="l"/>
                <a:tab pos="4108450" algn="l"/>
                <a:tab pos="4519613" algn="l"/>
                <a:tab pos="4930775" algn="l"/>
                <a:tab pos="5343525" algn="l"/>
                <a:tab pos="5754688" algn="l"/>
                <a:tab pos="6165850" algn="l"/>
                <a:tab pos="6577013" algn="l"/>
                <a:tab pos="6988175" algn="l"/>
                <a:tab pos="7400925" algn="l"/>
                <a:tab pos="7812088" algn="l"/>
                <a:tab pos="8223250" algn="l"/>
              </a:tabLst>
              <a:defRPr/>
            </a:pPr>
            <a:r>
              <a:rPr lang="en-US" dirty="0"/>
              <a:t>String: STRING.</a:t>
            </a:r>
          </a:p>
          <a:p>
            <a:pPr marL="303213" indent="-303213" eaLnBrk="1" hangingPunct="1">
              <a:buSzPct val="93000"/>
              <a:tabLst>
                <a:tab pos="303213" algn="l"/>
                <a:tab pos="404813" algn="l"/>
                <a:tab pos="815975" algn="l"/>
                <a:tab pos="1228725" algn="l"/>
                <a:tab pos="1639888" algn="l"/>
                <a:tab pos="2051050" algn="l"/>
                <a:tab pos="2462213" algn="l"/>
                <a:tab pos="2873375" algn="l"/>
                <a:tab pos="3286125" algn="l"/>
                <a:tab pos="3697288" algn="l"/>
                <a:tab pos="4108450" algn="l"/>
                <a:tab pos="4519613" algn="l"/>
                <a:tab pos="4930775" algn="l"/>
                <a:tab pos="5343525" algn="l"/>
                <a:tab pos="5754688" algn="l"/>
                <a:tab pos="6165850" algn="l"/>
                <a:tab pos="6577013" algn="l"/>
                <a:tab pos="6988175" algn="l"/>
                <a:tab pos="7400925" algn="l"/>
                <a:tab pos="7812088" algn="l"/>
                <a:tab pos="8223250" algn="l"/>
              </a:tabLst>
              <a:defRPr/>
            </a:pPr>
            <a:r>
              <a:rPr lang="en-US" sz="2400" dirty="0"/>
              <a:t>Complex types</a:t>
            </a:r>
          </a:p>
          <a:p>
            <a:pPr marL="1330325" lvl="1" indent="-508000" eaLnBrk="1" hangingPunct="1">
              <a:buFont typeface="Times New Roman" pitchFamily="18" charset="0"/>
              <a:buChar char="–"/>
              <a:tabLst>
                <a:tab pos="303213" algn="l"/>
                <a:tab pos="404813" algn="l"/>
                <a:tab pos="815975" algn="l"/>
                <a:tab pos="1228725" algn="l"/>
                <a:tab pos="1639888" algn="l"/>
                <a:tab pos="2051050" algn="l"/>
                <a:tab pos="2462213" algn="l"/>
                <a:tab pos="2873375" algn="l"/>
                <a:tab pos="3286125" algn="l"/>
                <a:tab pos="3697288" algn="l"/>
                <a:tab pos="4108450" algn="l"/>
                <a:tab pos="4519613" algn="l"/>
                <a:tab pos="4930775" algn="l"/>
                <a:tab pos="5343525" algn="l"/>
                <a:tab pos="5754688" algn="l"/>
                <a:tab pos="6165850" algn="l"/>
                <a:tab pos="6577013" algn="l"/>
                <a:tab pos="6988175" algn="l"/>
                <a:tab pos="7400925" algn="l"/>
                <a:tab pos="7812088" algn="l"/>
                <a:tab pos="8223250" algn="l"/>
              </a:tabLst>
              <a:defRPr/>
            </a:pPr>
            <a:r>
              <a:rPr lang="en-US" dirty="0"/>
              <a:t>Structs: {a INT; b INT}.</a:t>
            </a:r>
          </a:p>
          <a:p>
            <a:pPr marL="1330325" lvl="1" indent="-508000" eaLnBrk="1" hangingPunct="1">
              <a:buFont typeface="Times New Roman" pitchFamily="18" charset="0"/>
              <a:buChar char="–"/>
              <a:tabLst>
                <a:tab pos="303213" algn="l"/>
                <a:tab pos="404813" algn="l"/>
                <a:tab pos="815975" algn="l"/>
                <a:tab pos="1228725" algn="l"/>
                <a:tab pos="1639888" algn="l"/>
                <a:tab pos="2051050" algn="l"/>
                <a:tab pos="2462213" algn="l"/>
                <a:tab pos="2873375" algn="l"/>
                <a:tab pos="3286125" algn="l"/>
                <a:tab pos="3697288" algn="l"/>
                <a:tab pos="4108450" algn="l"/>
                <a:tab pos="4519613" algn="l"/>
                <a:tab pos="4930775" algn="l"/>
                <a:tab pos="5343525" algn="l"/>
                <a:tab pos="5754688" algn="l"/>
                <a:tab pos="6165850" algn="l"/>
                <a:tab pos="6577013" algn="l"/>
                <a:tab pos="6988175" algn="l"/>
                <a:tab pos="7400925" algn="l"/>
                <a:tab pos="7812088" algn="l"/>
                <a:tab pos="8223250" algn="l"/>
              </a:tabLst>
              <a:defRPr/>
            </a:pPr>
            <a:r>
              <a:rPr lang="en-US" dirty="0"/>
              <a:t>Maps:  M['group'].</a:t>
            </a:r>
          </a:p>
          <a:p>
            <a:pPr marL="1330325" lvl="1" indent="-508000" eaLnBrk="1" hangingPunct="1">
              <a:buFont typeface="Times New Roman" pitchFamily="18" charset="0"/>
              <a:buChar char="–"/>
              <a:tabLst>
                <a:tab pos="303213" algn="l"/>
                <a:tab pos="404813" algn="l"/>
                <a:tab pos="815975" algn="l"/>
                <a:tab pos="1228725" algn="l"/>
                <a:tab pos="1639888" algn="l"/>
                <a:tab pos="2051050" algn="l"/>
                <a:tab pos="2462213" algn="l"/>
                <a:tab pos="2873375" algn="l"/>
                <a:tab pos="3286125" algn="l"/>
                <a:tab pos="3697288" algn="l"/>
                <a:tab pos="4108450" algn="l"/>
                <a:tab pos="4519613" algn="l"/>
                <a:tab pos="4930775" algn="l"/>
                <a:tab pos="5343525" algn="l"/>
                <a:tab pos="5754688" algn="l"/>
                <a:tab pos="6165850" algn="l"/>
                <a:tab pos="6577013" algn="l"/>
                <a:tab pos="6988175" algn="l"/>
                <a:tab pos="7400925" algn="l"/>
                <a:tab pos="7812088" algn="l"/>
                <a:tab pos="8223250" algn="l"/>
              </a:tabLst>
              <a:defRPr/>
            </a:pPr>
            <a:r>
              <a:rPr lang="en-US" dirty="0"/>
              <a:t>Arrays:  ['a', 'b', 'c'], A[1] returns 'b‘  </a:t>
            </a:r>
          </a:p>
          <a:p>
            <a:pPr marL="303213" indent="-303213" eaLnBrk="1" hangingPunct="1">
              <a:buSzPct val="93000"/>
              <a:tabLst>
                <a:tab pos="303213" algn="l"/>
                <a:tab pos="404813" algn="l"/>
                <a:tab pos="815975" algn="l"/>
                <a:tab pos="1228725" algn="l"/>
                <a:tab pos="1639888" algn="l"/>
                <a:tab pos="2051050" algn="l"/>
                <a:tab pos="2462213" algn="l"/>
                <a:tab pos="2873375" algn="l"/>
                <a:tab pos="3286125" algn="l"/>
                <a:tab pos="3697288" algn="l"/>
                <a:tab pos="4108450" algn="l"/>
                <a:tab pos="4519613" algn="l"/>
                <a:tab pos="4930775" algn="l"/>
                <a:tab pos="5343525" algn="l"/>
                <a:tab pos="5754688" algn="l"/>
                <a:tab pos="6165850" algn="l"/>
                <a:tab pos="6577013" algn="l"/>
                <a:tab pos="6988175" algn="l"/>
                <a:tab pos="7400925" algn="l"/>
                <a:tab pos="7812088" algn="l"/>
                <a:tab pos="8223250" algn="l"/>
              </a:tabLst>
              <a:defRPr/>
            </a:pPr>
            <a:r>
              <a:rPr lang="en-US" sz="2400" dirty="0"/>
              <a:t>Functions</a:t>
            </a:r>
          </a:p>
          <a:p>
            <a:pPr marL="531813" lvl="1" indent="-303213" eaLnBrk="1" hangingPunct="1">
              <a:buSzPct val="93000"/>
              <a:buFont typeface="Arial" charset="0"/>
              <a:buChar char="►"/>
              <a:tabLst>
                <a:tab pos="303213" algn="l"/>
                <a:tab pos="404813" algn="l"/>
                <a:tab pos="815975" algn="l"/>
                <a:tab pos="1228725" algn="l"/>
                <a:tab pos="1639888" algn="l"/>
                <a:tab pos="2051050" algn="l"/>
                <a:tab pos="2462213" algn="l"/>
                <a:tab pos="2873375" algn="l"/>
                <a:tab pos="3286125" algn="l"/>
                <a:tab pos="3697288" algn="l"/>
                <a:tab pos="4108450" algn="l"/>
                <a:tab pos="4519613" algn="l"/>
                <a:tab pos="4930775" algn="l"/>
                <a:tab pos="5343525" algn="l"/>
                <a:tab pos="5754688" algn="l"/>
                <a:tab pos="6165850" algn="l"/>
                <a:tab pos="6577013" algn="l"/>
                <a:tab pos="6988175" algn="l"/>
                <a:tab pos="7400925" algn="l"/>
                <a:tab pos="7812088" algn="l"/>
                <a:tab pos="8223250" algn="l"/>
              </a:tabLst>
              <a:defRPr/>
            </a:pPr>
            <a:r>
              <a:rPr lang="en-US" sz="2000" dirty="0"/>
              <a:t>SHOW functions</a:t>
            </a:r>
          </a:p>
          <a:p>
            <a:pPr marL="531813" lvl="1" indent="-303213" eaLnBrk="1" hangingPunct="1">
              <a:buSzPct val="93000"/>
              <a:buFont typeface="Arial" charset="0"/>
              <a:buChar char="►"/>
              <a:tabLst>
                <a:tab pos="303213" algn="l"/>
                <a:tab pos="404813" algn="l"/>
                <a:tab pos="815975" algn="l"/>
                <a:tab pos="1228725" algn="l"/>
                <a:tab pos="1639888" algn="l"/>
                <a:tab pos="2051050" algn="l"/>
                <a:tab pos="2462213" algn="l"/>
                <a:tab pos="2873375" algn="l"/>
                <a:tab pos="3286125" algn="l"/>
                <a:tab pos="3697288" algn="l"/>
                <a:tab pos="4108450" algn="l"/>
                <a:tab pos="4519613" algn="l"/>
                <a:tab pos="4930775" algn="l"/>
                <a:tab pos="5343525" algn="l"/>
                <a:tab pos="5754688" algn="l"/>
                <a:tab pos="6165850" algn="l"/>
                <a:tab pos="6577013" algn="l"/>
                <a:tab pos="6988175" algn="l"/>
                <a:tab pos="7400925" algn="l"/>
                <a:tab pos="7812088" algn="l"/>
                <a:tab pos="8223250" algn="l"/>
              </a:tabLst>
              <a:defRPr/>
            </a:pPr>
            <a:r>
              <a:rPr lang="en-US" sz="2000" dirty="0"/>
              <a:t>DESCRIBE FUNCTION funname</a:t>
            </a:r>
          </a:p>
        </p:txBody>
      </p:sp>
    </p:spTree>
    <p:extLst>
      <p:ext uri="{BB962C8B-B14F-4D97-AF65-F5344CB8AC3E}">
        <p14:creationId xmlns:p14="http://schemas.microsoft.com/office/powerpoint/2010/main" val="34452753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Hive Data Model: Tables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7775575" cy="4724400"/>
          </a:xfrm>
        </p:spPr>
        <p:txBody>
          <a:bodyPr/>
          <a:lstStyle/>
          <a:p>
            <a:pPr eaLnBrk="1" hangingPunct="1"/>
            <a:r>
              <a:rPr lang="en-US" altLang="en-US"/>
              <a:t>Managed Tables:</a:t>
            </a:r>
          </a:p>
          <a:p>
            <a:pPr lvl="1" eaLnBrk="1" hangingPunct="1">
              <a:buFont typeface="Arial" pitchFamily="34" charset="0"/>
              <a:buNone/>
            </a:pPr>
            <a:r>
              <a:rPr lang="en-US" altLang="en-US" i="1"/>
              <a:t>CREATE TABLE managed_table (dummy STRING);</a:t>
            </a:r>
          </a:p>
          <a:p>
            <a:pPr lvl="1" eaLnBrk="1" hangingPunct="1"/>
            <a:r>
              <a:rPr lang="en-US" altLang="en-US"/>
              <a:t>Hive manages the data</a:t>
            </a:r>
          </a:p>
          <a:p>
            <a:pPr lvl="1" eaLnBrk="1" hangingPunct="1"/>
            <a:r>
              <a:rPr lang="en-US" altLang="en-US"/>
              <a:t>Moves files to warehouse directory [During LOAD operation]</a:t>
            </a:r>
          </a:p>
          <a:p>
            <a:pPr eaLnBrk="1" hangingPunct="1"/>
            <a:r>
              <a:rPr lang="en-US" altLang="en-US"/>
              <a:t>External Tables</a:t>
            </a:r>
          </a:p>
          <a:p>
            <a:pPr lvl="1" eaLnBrk="1" hangingPunct="1">
              <a:buFont typeface="Arial" pitchFamily="34" charset="0"/>
              <a:buNone/>
            </a:pPr>
            <a:r>
              <a:rPr lang="en-US" altLang="en-US" i="1"/>
              <a:t>CREATE EXTERNAL TABLE external_table (dummy STRING);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5000"/>
              </a:spcBef>
              <a:spcAft>
                <a:spcPct val="15000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algn="l" eaLnBrk="0" hangingPunct="0"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65000"/>
              <a:buFont typeface="Arial" pitchFamily="34" charset="0"/>
              <a:buChar char="►"/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12000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fld id="{201CA0CA-9273-47E2-A45B-AA49E9C30837}" type="slidenum">
              <a:rPr lang="en-US" altLang="en-US" sz="1000" b="0" smtClean="0">
                <a:solidFill>
                  <a:srgbClr val="FFFFFF"/>
                </a:solidFill>
              </a:rPr>
              <a:pPr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63</a:t>
            </a:fld>
            <a:endParaRPr lang="en-US" altLang="en-US" sz="1000" b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8084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Hive Data Model: Partitions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7775575" cy="5105400"/>
          </a:xfrm>
        </p:spPr>
        <p:txBody>
          <a:bodyPr/>
          <a:lstStyle/>
          <a:p>
            <a:pPr eaLnBrk="1" hangingPunct="1"/>
            <a:r>
              <a:rPr lang="en-US" altLang="en-US" dirty="0"/>
              <a:t>Give extra structure to the data </a:t>
            </a:r>
          </a:p>
          <a:p>
            <a:pPr eaLnBrk="1" hangingPunct="1"/>
            <a:r>
              <a:rPr lang="en-US" altLang="en-US" dirty="0"/>
              <a:t>Useful for more efficient queries.</a:t>
            </a:r>
          </a:p>
          <a:p>
            <a:pPr lvl="1" eaLnBrk="1" hangingPunct="1">
              <a:buFont typeface="Arial" pitchFamily="34" charset="0"/>
              <a:buNone/>
            </a:pPr>
            <a:r>
              <a:rPr lang="en-US" altLang="en-US" sz="1600" i="1" dirty="0"/>
              <a:t>CREATE TABLE logs (</a:t>
            </a:r>
            <a:r>
              <a:rPr lang="en-US" altLang="en-US" sz="1600" i="1" dirty="0" err="1"/>
              <a:t>ts</a:t>
            </a:r>
            <a:r>
              <a:rPr lang="en-US" altLang="en-US" sz="1600" i="1" dirty="0"/>
              <a:t> BIGINT, line STRING)</a:t>
            </a:r>
          </a:p>
          <a:p>
            <a:pPr lvl="1" eaLnBrk="1" hangingPunct="1">
              <a:buFont typeface="Arial" pitchFamily="34" charset="0"/>
              <a:buNone/>
            </a:pPr>
            <a:r>
              <a:rPr lang="en-US" altLang="en-US" sz="1600" i="1" dirty="0"/>
              <a:t>PARTITIONED BY (</a:t>
            </a:r>
            <a:r>
              <a:rPr lang="en-US" altLang="en-US" sz="1600" i="1" dirty="0" err="1"/>
              <a:t>dt</a:t>
            </a:r>
            <a:r>
              <a:rPr lang="en-US" altLang="en-US" sz="1600" i="1" dirty="0"/>
              <a:t> STRING, country STRING);</a:t>
            </a:r>
          </a:p>
          <a:p>
            <a:pPr lvl="1" eaLnBrk="1" hangingPunct="1">
              <a:buFont typeface="Arial" pitchFamily="34" charset="0"/>
              <a:buNone/>
            </a:pPr>
            <a:endParaRPr lang="en-US" altLang="en-US" sz="1600" i="1" dirty="0"/>
          </a:p>
          <a:p>
            <a:pPr lvl="1" eaLnBrk="1" hangingPunct="1">
              <a:buFont typeface="Arial" pitchFamily="34" charset="0"/>
              <a:buNone/>
            </a:pPr>
            <a:r>
              <a:rPr lang="en-US" altLang="en-US" sz="1600" i="1" dirty="0"/>
              <a:t>LOAD DATA LOCAL INPATH 'input/hive/partitions/file1'</a:t>
            </a:r>
          </a:p>
          <a:p>
            <a:pPr lvl="1" eaLnBrk="1" hangingPunct="1">
              <a:buFont typeface="Arial" pitchFamily="34" charset="0"/>
              <a:buNone/>
            </a:pPr>
            <a:r>
              <a:rPr lang="en-US" altLang="en-US" sz="1600" i="1" dirty="0"/>
              <a:t>INTO TABLE logs</a:t>
            </a:r>
          </a:p>
          <a:p>
            <a:pPr lvl="1" eaLnBrk="1" hangingPunct="1">
              <a:buFont typeface="Arial" pitchFamily="34" charset="0"/>
              <a:buNone/>
            </a:pPr>
            <a:r>
              <a:rPr lang="en-US" altLang="en-US" sz="1600" i="1" dirty="0"/>
              <a:t>PARTITION (</a:t>
            </a:r>
            <a:r>
              <a:rPr lang="en-US" altLang="en-US" sz="1600" i="1" dirty="0" err="1"/>
              <a:t>dt</a:t>
            </a:r>
            <a:r>
              <a:rPr lang="en-US" altLang="en-US" sz="1600" i="1" dirty="0"/>
              <a:t>='2001-01-01', country='GB');</a:t>
            </a:r>
          </a:p>
          <a:p>
            <a:pPr lvl="1" eaLnBrk="1" hangingPunct="1">
              <a:buFont typeface="Arial" pitchFamily="34" charset="0"/>
              <a:buNone/>
            </a:pPr>
            <a:endParaRPr lang="en-US" altLang="en-US" sz="1600" i="1" dirty="0"/>
          </a:p>
          <a:p>
            <a:pPr lvl="1" eaLnBrk="1" hangingPunct="1">
              <a:buFont typeface="Arial" pitchFamily="34" charset="0"/>
              <a:buNone/>
            </a:pPr>
            <a:r>
              <a:rPr lang="en-US" altLang="en-US" sz="1600" dirty="0"/>
              <a:t>/user/hive/warehouse/logs/</a:t>
            </a:r>
            <a:r>
              <a:rPr lang="en-US" altLang="en-US" sz="1600" dirty="0" err="1"/>
              <a:t>dt</a:t>
            </a:r>
            <a:r>
              <a:rPr lang="en-US" altLang="en-US" sz="1600" dirty="0"/>
              <a:t>=2010-01-01/country=GB/file1</a:t>
            </a:r>
          </a:p>
          <a:p>
            <a:pPr lvl="1" eaLnBrk="1" hangingPunct="1">
              <a:buFont typeface="Arial" pitchFamily="34" charset="0"/>
              <a:buNone/>
            </a:pPr>
            <a:r>
              <a:rPr lang="en-US" altLang="en-US" sz="1600" dirty="0"/>
              <a:t>/file2</a:t>
            </a:r>
          </a:p>
          <a:p>
            <a:pPr lvl="1" eaLnBrk="1" hangingPunct="1">
              <a:buFont typeface="Arial" pitchFamily="34" charset="0"/>
              <a:buNone/>
            </a:pPr>
            <a:r>
              <a:rPr lang="en-US" altLang="en-US" sz="1600" dirty="0"/>
              <a:t>/country=US/file3</a:t>
            </a:r>
          </a:p>
          <a:p>
            <a:pPr lvl="1" eaLnBrk="1" hangingPunct="1">
              <a:buFont typeface="Arial" pitchFamily="34" charset="0"/>
              <a:buNone/>
            </a:pPr>
            <a:r>
              <a:rPr lang="en-US" altLang="en-US" sz="1600" dirty="0"/>
              <a:t>/</a:t>
            </a:r>
            <a:r>
              <a:rPr lang="en-US" altLang="en-US" sz="1600" dirty="0" err="1"/>
              <a:t>dt</a:t>
            </a:r>
            <a:r>
              <a:rPr lang="en-US" altLang="en-US" sz="1600" dirty="0"/>
              <a:t>=2010-01-02/country=GB/file4</a:t>
            </a:r>
          </a:p>
          <a:p>
            <a:pPr lvl="1" eaLnBrk="1" hangingPunct="1">
              <a:buFont typeface="Arial" pitchFamily="34" charset="0"/>
              <a:buNone/>
            </a:pPr>
            <a:r>
              <a:rPr lang="en-US" altLang="en-US" sz="1600" dirty="0"/>
              <a:t>/country=US/file5</a:t>
            </a:r>
          </a:p>
          <a:p>
            <a:pPr lvl="1" eaLnBrk="1" hangingPunct="1">
              <a:buFont typeface="Arial" pitchFamily="34" charset="0"/>
              <a:buNone/>
            </a:pPr>
            <a:r>
              <a:rPr lang="en-US" altLang="en-US" sz="1600" dirty="0"/>
              <a:t>/file6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5000"/>
              </a:spcBef>
              <a:spcAft>
                <a:spcPct val="15000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algn="l" eaLnBrk="0" hangingPunct="0"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65000"/>
              <a:buFont typeface="Arial" pitchFamily="34" charset="0"/>
              <a:buChar char="►"/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12000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fld id="{755C3242-3EAF-4EFA-8146-84481784AA8A}" type="slidenum">
              <a:rPr lang="en-US" altLang="en-US" sz="1000" b="0" smtClean="0">
                <a:solidFill>
                  <a:srgbClr val="FFFFFF"/>
                </a:solidFill>
              </a:rPr>
              <a:pPr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64</a:t>
            </a:fld>
            <a:endParaRPr lang="en-US" altLang="en-US" sz="1000" b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79948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Hive Data Model: Buckets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To enable more efficient queries</a:t>
            </a:r>
          </a:p>
          <a:p>
            <a:pPr lvl="1"/>
            <a:r>
              <a:rPr lang="en-US" altLang="en-US"/>
              <a:t>JOIN queries </a:t>
            </a:r>
          </a:p>
          <a:p>
            <a:r>
              <a:rPr lang="en-US" altLang="en-US"/>
              <a:t>To make sampling more efficient</a:t>
            </a:r>
            <a:endParaRPr lang="en-US" altLang="en-US" b="0"/>
          </a:p>
          <a:p>
            <a:pPr>
              <a:buFont typeface="Wingdings" pitchFamily="2" charset="2"/>
              <a:buNone/>
            </a:pPr>
            <a:r>
              <a:rPr lang="en-US" altLang="en-US" sz="2000" b="0"/>
              <a:t>	</a:t>
            </a:r>
            <a:r>
              <a:rPr lang="en-US" altLang="en-US" sz="2000" b="0" i="1"/>
              <a:t>CREATE TABLE bucketed users (id INT, name STRING)</a:t>
            </a:r>
          </a:p>
          <a:p>
            <a:pPr>
              <a:buFont typeface="Wingdings" pitchFamily="2" charset="2"/>
              <a:buNone/>
            </a:pPr>
            <a:r>
              <a:rPr lang="en-US" altLang="en-US" sz="2000" b="0"/>
              <a:t>	</a:t>
            </a:r>
            <a:r>
              <a:rPr lang="en-US" altLang="en-US" sz="2000" b="0" i="1"/>
              <a:t>CLUSTERED BY (id) INTO 4 BUCKETS;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5000"/>
              </a:spcBef>
              <a:spcAft>
                <a:spcPct val="15000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algn="l" eaLnBrk="0" hangingPunct="0"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65000"/>
              <a:buFont typeface="Arial" pitchFamily="34" charset="0"/>
              <a:buChar char="►"/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12000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fld id="{969C161D-710B-407E-B912-04B176D043CF}" type="slidenum">
              <a:rPr lang="en-US" altLang="en-US" sz="1000" b="0" smtClean="0">
                <a:solidFill>
                  <a:srgbClr val="FFFFFF"/>
                </a:solidFill>
              </a:rPr>
              <a:pPr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65</a:t>
            </a:fld>
            <a:endParaRPr lang="en-US" altLang="en-US" sz="1000" b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58543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231188" cy="609600"/>
          </a:xfrm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411163" algn="l"/>
                <a:tab pos="822325" algn="l"/>
                <a:tab pos="1233488" algn="l"/>
                <a:tab pos="1644650" algn="l"/>
                <a:tab pos="2057400" algn="l"/>
                <a:tab pos="2468563" algn="l"/>
                <a:tab pos="2879725" algn="l"/>
                <a:tab pos="3290888" algn="l"/>
                <a:tab pos="3702050" algn="l"/>
                <a:tab pos="4114800" algn="l"/>
                <a:tab pos="4525963" algn="l"/>
                <a:tab pos="4937125" algn="l"/>
                <a:tab pos="5348288" algn="l"/>
                <a:tab pos="5759450" algn="l"/>
                <a:tab pos="6172200" algn="l"/>
                <a:tab pos="6583363" algn="l"/>
                <a:tab pos="6994525" algn="l"/>
                <a:tab pos="7405688" algn="l"/>
                <a:tab pos="7816850" algn="l"/>
                <a:tab pos="8229600" algn="l"/>
              </a:tabLst>
            </a:pPr>
            <a:r>
              <a:rPr lang="en-US" altLang="en-US"/>
              <a:t>Examples – DDL Operations</a:t>
            </a: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501775"/>
            <a:ext cx="8686800" cy="5356225"/>
          </a:xfrm>
        </p:spPr>
        <p:txBody>
          <a:bodyPr/>
          <a:lstStyle/>
          <a:p>
            <a:pPr marL="330200" indent="-330200">
              <a:buSzPct val="93000"/>
              <a:buFont typeface="Wingdings" pitchFamily="2" charset="2"/>
              <a:buBlip>
                <a:blip r:embed="rId3"/>
              </a:buBlip>
              <a:tabLst>
                <a:tab pos="330200" algn="l"/>
                <a:tab pos="431800" algn="l"/>
                <a:tab pos="842963" algn="l"/>
                <a:tab pos="1255713" algn="l"/>
                <a:tab pos="1666875" algn="l"/>
                <a:tab pos="2078038" algn="l"/>
                <a:tab pos="2489200" algn="l"/>
                <a:tab pos="2900363" algn="l"/>
                <a:tab pos="3313113" algn="l"/>
                <a:tab pos="3724275" algn="l"/>
                <a:tab pos="4135438" algn="l"/>
                <a:tab pos="4546600" algn="l"/>
                <a:tab pos="4957763" algn="l"/>
                <a:tab pos="5370513" algn="l"/>
                <a:tab pos="5781675" algn="l"/>
                <a:tab pos="6192838" algn="l"/>
                <a:tab pos="6604000" algn="l"/>
                <a:tab pos="7015163" algn="l"/>
                <a:tab pos="7427913" algn="l"/>
                <a:tab pos="7839075" algn="l"/>
                <a:tab pos="8250238" algn="l"/>
              </a:tabLst>
            </a:pPr>
            <a:r>
              <a:rPr lang="en-US" altLang="en-US"/>
              <a:t>CREATE TABLE </a:t>
            </a:r>
            <a:r>
              <a:rPr lang="en-US" altLang="en-US" b="0"/>
              <a:t>sample (foo INT, bar STRING) </a:t>
            </a:r>
            <a:r>
              <a:rPr lang="en-US" altLang="en-US"/>
              <a:t>PARTITIONED BY </a:t>
            </a:r>
            <a:r>
              <a:rPr lang="en-US" altLang="en-US" b="0"/>
              <a:t>(ds STRING); </a:t>
            </a:r>
          </a:p>
          <a:p>
            <a:pPr marL="330200" indent="-330200">
              <a:buSzPct val="93000"/>
              <a:buFont typeface="Wingdings" pitchFamily="2" charset="2"/>
              <a:buBlip>
                <a:blip r:embed="rId3"/>
              </a:buBlip>
              <a:tabLst>
                <a:tab pos="330200" algn="l"/>
                <a:tab pos="431800" algn="l"/>
                <a:tab pos="842963" algn="l"/>
                <a:tab pos="1255713" algn="l"/>
                <a:tab pos="1666875" algn="l"/>
                <a:tab pos="2078038" algn="l"/>
                <a:tab pos="2489200" algn="l"/>
                <a:tab pos="2900363" algn="l"/>
                <a:tab pos="3313113" algn="l"/>
                <a:tab pos="3724275" algn="l"/>
                <a:tab pos="4135438" algn="l"/>
                <a:tab pos="4546600" algn="l"/>
                <a:tab pos="4957763" algn="l"/>
                <a:tab pos="5370513" algn="l"/>
                <a:tab pos="5781675" algn="l"/>
                <a:tab pos="6192838" algn="l"/>
                <a:tab pos="6604000" algn="l"/>
                <a:tab pos="7015163" algn="l"/>
                <a:tab pos="7427913" algn="l"/>
                <a:tab pos="7839075" algn="l"/>
                <a:tab pos="8250238" algn="l"/>
              </a:tabLst>
            </a:pPr>
            <a:r>
              <a:rPr lang="en-US" altLang="en-US"/>
              <a:t>SHOW TABLES </a:t>
            </a:r>
            <a:r>
              <a:rPr lang="en-US" altLang="en-US" b="0"/>
              <a:t>'.*s';</a:t>
            </a:r>
          </a:p>
          <a:p>
            <a:pPr marL="330200" indent="-330200">
              <a:buSzPct val="93000"/>
              <a:buFont typeface="Wingdings" pitchFamily="2" charset="2"/>
              <a:buBlip>
                <a:blip r:embed="rId3"/>
              </a:buBlip>
              <a:tabLst>
                <a:tab pos="330200" algn="l"/>
                <a:tab pos="431800" algn="l"/>
                <a:tab pos="842963" algn="l"/>
                <a:tab pos="1255713" algn="l"/>
                <a:tab pos="1666875" algn="l"/>
                <a:tab pos="2078038" algn="l"/>
                <a:tab pos="2489200" algn="l"/>
                <a:tab pos="2900363" algn="l"/>
                <a:tab pos="3313113" algn="l"/>
                <a:tab pos="3724275" algn="l"/>
                <a:tab pos="4135438" algn="l"/>
                <a:tab pos="4546600" algn="l"/>
                <a:tab pos="4957763" algn="l"/>
                <a:tab pos="5370513" algn="l"/>
                <a:tab pos="5781675" algn="l"/>
                <a:tab pos="6192838" algn="l"/>
                <a:tab pos="6604000" algn="l"/>
                <a:tab pos="7015163" algn="l"/>
                <a:tab pos="7427913" algn="l"/>
                <a:tab pos="7839075" algn="l"/>
                <a:tab pos="8250238" algn="l"/>
              </a:tabLst>
            </a:pPr>
            <a:r>
              <a:rPr lang="en-US" altLang="en-US"/>
              <a:t>DESCRIBE </a:t>
            </a:r>
            <a:r>
              <a:rPr lang="en-US" altLang="en-US" b="0"/>
              <a:t>sample;</a:t>
            </a:r>
          </a:p>
          <a:p>
            <a:pPr marL="330200" indent="-330200">
              <a:buSzPct val="93000"/>
              <a:buFont typeface="Wingdings" pitchFamily="2" charset="2"/>
              <a:buBlip>
                <a:blip r:embed="rId3"/>
              </a:buBlip>
              <a:tabLst>
                <a:tab pos="330200" algn="l"/>
                <a:tab pos="431800" algn="l"/>
                <a:tab pos="842963" algn="l"/>
                <a:tab pos="1255713" algn="l"/>
                <a:tab pos="1666875" algn="l"/>
                <a:tab pos="2078038" algn="l"/>
                <a:tab pos="2489200" algn="l"/>
                <a:tab pos="2900363" algn="l"/>
                <a:tab pos="3313113" algn="l"/>
                <a:tab pos="3724275" algn="l"/>
                <a:tab pos="4135438" algn="l"/>
                <a:tab pos="4546600" algn="l"/>
                <a:tab pos="4957763" algn="l"/>
                <a:tab pos="5370513" algn="l"/>
                <a:tab pos="5781675" algn="l"/>
                <a:tab pos="6192838" algn="l"/>
                <a:tab pos="6604000" algn="l"/>
                <a:tab pos="7015163" algn="l"/>
                <a:tab pos="7427913" algn="l"/>
                <a:tab pos="7839075" algn="l"/>
                <a:tab pos="8250238" algn="l"/>
              </a:tabLst>
            </a:pPr>
            <a:r>
              <a:rPr lang="en-US" altLang="en-US"/>
              <a:t>ALTER TABLE</a:t>
            </a:r>
            <a:r>
              <a:rPr lang="en-US" altLang="en-US" b="0"/>
              <a:t> sample </a:t>
            </a:r>
            <a:r>
              <a:rPr lang="en-US" altLang="en-US"/>
              <a:t>ADD COLUMNS </a:t>
            </a:r>
            <a:r>
              <a:rPr lang="en-US" altLang="en-US" b="0"/>
              <a:t>(new_col INT);</a:t>
            </a:r>
          </a:p>
          <a:p>
            <a:pPr marL="330200" indent="-330200">
              <a:buSzPct val="93000"/>
              <a:buFont typeface="Wingdings" pitchFamily="2" charset="2"/>
              <a:buBlip>
                <a:blip r:embed="rId3"/>
              </a:buBlip>
              <a:tabLst>
                <a:tab pos="330200" algn="l"/>
                <a:tab pos="431800" algn="l"/>
                <a:tab pos="842963" algn="l"/>
                <a:tab pos="1255713" algn="l"/>
                <a:tab pos="1666875" algn="l"/>
                <a:tab pos="2078038" algn="l"/>
                <a:tab pos="2489200" algn="l"/>
                <a:tab pos="2900363" algn="l"/>
                <a:tab pos="3313113" algn="l"/>
                <a:tab pos="3724275" algn="l"/>
                <a:tab pos="4135438" algn="l"/>
                <a:tab pos="4546600" algn="l"/>
                <a:tab pos="4957763" algn="l"/>
                <a:tab pos="5370513" algn="l"/>
                <a:tab pos="5781675" algn="l"/>
                <a:tab pos="6192838" algn="l"/>
                <a:tab pos="6604000" algn="l"/>
                <a:tab pos="7015163" algn="l"/>
                <a:tab pos="7427913" algn="l"/>
                <a:tab pos="7839075" algn="l"/>
                <a:tab pos="8250238" algn="l"/>
              </a:tabLst>
            </a:pPr>
            <a:r>
              <a:rPr lang="en-US" altLang="en-US"/>
              <a:t>DROP TABLE </a:t>
            </a:r>
            <a:r>
              <a:rPr lang="en-US" altLang="en-US" b="0"/>
              <a:t>sample;</a:t>
            </a:r>
          </a:p>
        </p:txBody>
      </p:sp>
    </p:spTree>
    <p:extLst>
      <p:ext uri="{BB962C8B-B14F-4D97-AF65-F5344CB8AC3E}">
        <p14:creationId xmlns:p14="http://schemas.microsoft.com/office/powerpoint/2010/main" val="29726781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231188" cy="879376"/>
          </a:xfrm>
        </p:spPr>
        <p:txBody>
          <a:bodyPr/>
          <a:lstStyle/>
          <a:p>
            <a:pPr>
              <a:tabLst>
                <a:tab pos="0" algn="l"/>
                <a:tab pos="411163" algn="l"/>
                <a:tab pos="822325" algn="l"/>
                <a:tab pos="1233488" algn="l"/>
                <a:tab pos="1644650" algn="l"/>
                <a:tab pos="2057400" algn="l"/>
                <a:tab pos="2468563" algn="l"/>
                <a:tab pos="2879725" algn="l"/>
                <a:tab pos="3290888" algn="l"/>
                <a:tab pos="3702050" algn="l"/>
                <a:tab pos="4114800" algn="l"/>
                <a:tab pos="4525963" algn="l"/>
                <a:tab pos="4937125" algn="l"/>
                <a:tab pos="5348288" algn="l"/>
                <a:tab pos="5759450" algn="l"/>
                <a:tab pos="6172200" algn="l"/>
                <a:tab pos="6583363" algn="l"/>
                <a:tab pos="6994525" algn="l"/>
                <a:tab pos="7405688" algn="l"/>
                <a:tab pos="7816850" algn="l"/>
                <a:tab pos="8229600" algn="l"/>
              </a:tabLst>
            </a:pPr>
            <a:r>
              <a:rPr lang="en-US" altLang="en-US" dirty="0"/>
              <a:t>Examples – DML Operations</a:t>
            </a: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31188" cy="5356225"/>
          </a:xfrm>
        </p:spPr>
        <p:txBody>
          <a:bodyPr/>
          <a:lstStyle/>
          <a:p>
            <a:pPr marL="330200" indent="-330200">
              <a:buSzPct val="104000"/>
              <a:buFont typeface="Wingdings" pitchFamily="2" charset="2"/>
              <a:buBlip>
                <a:blip r:embed="rId3"/>
              </a:buBlip>
              <a:tabLst>
                <a:tab pos="330200" algn="l"/>
                <a:tab pos="431800" algn="l"/>
                <a:tab pos="842963" algn="l"/>
                <a:tab pos="1255713" algn="l"/>
                <a:tab pos="1666875" algn="l"/>
                <a:tab pos="2078038" algn="l"/>
                <a:tab pos="2489200" algn="l"/>
                <a:tab pos="2900363" algn="l"/>
                <a:tab pos="3313113" algn="l"/>
                <a:tab pos="3724275" algn="l"/>
                <a:tab pos="4135438" algn="l"/>
                <a:tab pos="4546600" algn="l"/>
                <a:tab pos="4957763" algn="l"/>
                <a:tab pos="5370513" algn="l"/>
                <a:tab pos="5781675" algn="l"/>
                <a:tab pos="6192838" algn="l"/>
                <a:tab pos="6604000" algn="l"/>
                <a:tab pos="7015163" algn="l"/>
                <a:tab pos="7427913" algn="l"/>
                <a:tab pos="7839075" algn="l"/>
                <a:tab pos="8250238" algn="l"/>
              </a:tabLst>
            </a:pPr>
            <a:r>
              <a:rPr lang="en-US" altLang="en-US" sz="2000"/>
              <a:t>LOAD DATA LOCAL INPATH './sample.txt' </a:t>
            </a:r>
          </a:p>
          <a:p>
            <a:pPr marL="330200" indent="-330200">
              <a:buSzPct val="104000"/>
              <a:buFont typeface="Wingdings" pitchFamily="2" charset="2"/>
              <a:buNone/>
              <a:tabLst>
                <a:tab pos="330200" algn="l"/>
                <a:tab pos="431800" algn="l"/>
                <a:tab pos="842963" algn="l"/>
                <a:tab pos="1255713" algn="l"/>
                <a:tab pos="1666875" algn="l"/>
                <a:tab pos="2078038" algn="l"/>
                <a:tab pos="2489200" algn="l"/>
                <a:tab pos="2900363" algn="l"/>
                <a:tab pos="3313113" algn="l"/>
                <a:tab pos="3724275" algn="l"/>
                <a:tab pos="4135438" algn="l"/>
                <a:tab pos="4546600" algn="l"/>
                <a:tab pos="4957763" algn="l"/>
                <a:tab pos="5370513" algn="l"/>
                <a:tab pos="5781675" algn="l"/>
                <a:tab pos="6192838" algn="l"/>
                <a:tab pos="6604000" algn="l"/>
                <a:tab pos="7015163" algn="l"/>
                <a:tab pos="7427913" algn="l"/>
                <a:tab pos="7839075" algn="l"/>
                <a:tab pos="8250238" algn="l"/>
              </a:tabLst>
            </a:pPr>
            <a:r>
              <a:rPr lang="en-US" altLang="en-US" sz="2000"/>
              <a:t>    OVERWRITE INTO TABLE sample PARTITION (ds='2012-02-24');</a:t>
            </a:r>
            <a:br>
              <a:rPr lang="en-US" altLang="en-US" sz="2000" i="1"/>
            </a:br>
            <a:endParaRPr lang="en-US" altLang="en-US" sz="2000" i="1"/>
          </a:p>
          <a:p>
            <a:pPr marL="330200" indent="-330200">
              <a:buSzPct val="104000"/>
              <a:buFont typeface="Wingdings" pitchFamily="2" charset="2"/>
              <a:buBlip>
                <a:blip r:embed="rId3"/>
              </a:buBlip>
              <a:tabLst>
                <a:tab pos="330200" algn="l"/>
                <a:tab pos="431800" algn="l"/>
                <a:tab pos="842963" algn="l"/>
                <a:tab pos="1255713" algn="l"/>
                <a:tab pos="1666875" algn="l"/>
                <a:tab pos="2078038" algn="l"/>
                <a:tab pos="2489200" algn="l"/>
                <a:tab pos="2900363" algn="l"/>
                <a:tab pos="3313113" algn="l"/>
                <a:tab pos="3724275" algn="l"/>
                <a:tab pos="4135438" algn="l"/>
                <a:tab pos="4546600" algn="l"/>
                <a:tab pos="4957763" algn="l"/>
                <a:tab pos="5370513" algn="l"/>
                <a:tab pos="5781675" algn="l"/>
                <a:tab pos="6192838" algn="l"/>
                <a:tab pos="6604000" algn="l"/>
                <a:tab pos="7015163" algn="l"/>
                <a:tab pos="7427913" algn="l"/>
                <a:tab pos="7839075" algn="l"/>
                <a:tab pos="8250238" algn="l"/>
              </a:tabLst>
            </a:pPr>
            <a:r>
              <a:rPr lang="en-US" altLang="en-US" sz="2000"/>
              <a:t>LOAD DATA INPATH '/user/falvariz/hive/sample.txt' OVERWRITE INTO TABLE sample PARTITION (ds='2012-02-24');</a:t>
            </a:r>
          </a:p>
        </p:txBody>
      </p:sp>
    </p:spTree>
    <p:extLst>
      <p:ext uri="{BB962C8B-B14F-4D97-AF65-F5344CB8AC3E}">
        <p14:creationId xmlns:p14="http://schemas.microsoft.com/office/powerpoint/2010/main" val="31047679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Importing data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7775575" cy="5598368"/>
          </a:xfrm>
        </p:spPr>
        <p:txBody>
          <a:bodyPr>
            <a:normAutofit lnSpcReduction="10000"/>
          </a:bodyPr>
          <a:lstStyle/>
          <a:p>
            <a:r>
              <a:rPr lang="en-US" altLang="en-US" sz="2400" dirty="0"/>
              <a:t>INSERT OVERWRITE TABLE</a:t>
            </a:r>
          </a:p>
          <a:p>
            <a:pPr lvl="1">
              <a:buFont typeface="Arial" pitchFamily="34" charset="0"/>
              <a:buNone/>
            </a:pPr>
            <a:r>
              <a:rPr lang="en-US" altLang="en-US" sz="1600" i="1" dirty="0"/>
              <a:t>INSERT OVERWRITE TABLE target</a:t>
            </a:r>
          </a:p>
          <a:p>
            <a:pPr lvl="1">
              <a:buFont typeface="Arial" pitchFamily="34" charset="0"/>
              <a:buNone/>
            </a:pPr>
            <a:r>
              <a:rPr lang="en-US" altLang="en-US" sz="1600" i="1" dirty="0"/>
              <a:t>SELECT col1, col2</a:t>
            </a:r>
          </a:p>
          <a:p>
            <a:pPr lvl="1">
              <a:buFont typeface="Arial" pitchFamily="34" charset="0"/>
              <a:buNone/>
            </a:pPr>
            <a:r>
              <a:rPr lang="en-US" altLang="en-US" sz="1600" i="1" dirty="0"/>
              <a:t>FROM source;</a:t>
            </a:r>
          </a:p>
          <a:p>
            <a:pPr lvl="1">
              <a:buFont typeface="Arial" pitchFamily="34" charset="0"/>
              <a:buNone/>
            </a:pPr>
            <a:endParaRPr lang="en-US" altLang="en-US" sz="1600" i="1" dirty="0"/>
          </a:p>
          <a:p>
            <a:r>
              <a:rPr lang="en-US" altLang="en-US" sz="2400" dirty="0" err="1"/>
              <a:t>Multitable</a:t>
            </a:r>
            <a:r>
              <a:rPr lang="en-US" altLang="en-US" sz="2400" dirty="0"/>
              <a:t> Insert</a:t>
            </a:r>
          </a:p>
          <a:p>
            <a:pPr lvl="1">
              <a:buFont typeface="Arial" pitchFamily="34" charset="0"/>
              <a:buNone/>
            </a:pPr>
            <a:r>
              <a:rPr lang="en-US" altLang="en-US" sz="1600" i="1" dirty="0"/>
              <a:t>FROM records2</a:t>
            </a:r>
          </a:p>
          <a:p>
            <a:pPr lvl="1">
              <a:buFont typeface="Arial" pitchFamily="34" charset="0"/>
              <a:buNone/>
            </a:pPr>
            <a:r>
              <a:rPr lang="en-US" altLang="en-US" sz="1600" i="1" dirty="0"/>
              <a:t>INSERT OVERWRITE TABLE </a:t>
            </a:r>
            <a:r>
              <a:rPr lang="en-US" altLang="en-US" sz="1600" i="1" dirty="0" err="1"/>
              <a:t>stations_by_year</a:t>
            </a:r>
            <a:endParaRPr lang="en-US" altLang="en-US" sz="1600" i="1" dirty="0"/>
          </a:p>
          <a:p>
            <a:pPr lvl="1">
              <a:buFont typeface="Arial" pitchFamily="34" charset="0"/>
              <a:buNone/>
            </a:pPr>
            <a:r>
              <a:rPr lang="en-US" altLang="en-US" sz="1600" i="1" dirty="0"/>
              <a:t>SELECT year, COUNT(DISTINCT station)</a:t>
            </a:r>
          </a:p>
          <a:p>
            <a:pPr lvl="1">
              <a:buFont typeface="Arial" pitchFamily="34" charset="0"/>
              <a:buNone/>
            </a:pPr>
            <a:r>
              <a:rPr lang="en-US" altLang="en-US" sz="1600" i="1" dirty="0"/>
              <a:t>GROUP BY year</a:t>
            </a:r>
          </a:p>
          <a:p>
            <a:pPr lvl="1">
              <a:buFont typeface="Arial" pitchFamily="34" charset="0"/>
              <a:buNone/>
            </a:pPr>
            <a:r>
              <a:rPr lang="en-US" altLang="en-US" sz="1600" i="1" dirty="0"/>
              <a:t>INSERT OVERWRITE TABLE </a:t>
            </a:r>
            <a:r>
              <a:rPr lang="en-US" altLang="en-US" sz="1600" i="1" dirty="0" err="1"/>
              <a:t>records_by_year</a:t>
            </a:r>
            <a:endParaRPr lang="en-US" altLang="en-US" sz="1600" i="1" dirty="0"/>
          </a:p>
          <a:p>
            <a:pPr lvl="1">
              <a:buFont typeface="Arial" pitchFamily="34" charset="0"/>
              <a:buNone/>
            </a:pPr>
            <a:r>
              <a:rPr lang="en-US" altLang="en-US" sz="1600" i="1" dirty="0"/>
              <a:t>SELECT year, COUNT(1)</a:t>
            </a:r>
          </a:p>
          <a:p>
            <a:pPr lvl="1">
              <a:buFont typeface="Arial" pitchFamily="34" charset="0"/>
              <a:buNone/>
            </a:pPr>
            <a:r>
              <a:rPr lang="en-US" altLang="en-US" sz="1600" i="1" dirty="0"/>
              <a:t>GROUP BY year</a:t>
            </a:r>
          </a:p>
          <a:p>
            <a:pPr lvl="1">
              <a:buFont typeface="Arial" pitchFamily="34" charset="0"/>
              <a:buNone/>
            </a:pPr>
            <a:endParaRPr lang="en-US" altLang="en-US" sz="1600" i="1" dirty="0"/>
          </a:p>
          <a:p>
            <a:r>
              <a:rPr lang="en-US" altLang="en-US" sz="2400" dirty="0"/>
              <a:t>Create Table as Select</a:t>
            </a:r>
          </a:p>
          <a:p>
            <a:pPr lvl="1">
              <a:buFont typeface="Arial" pitchFamily="34" charset="0"/>
              <a:buNone/>
            </a:pPr>
            <a:r>
              <a:rPr lang="en-US" altLang="en-US" sz="1600" i="1" dirty="0"/>
              <a:t>CREATE TABLE target</a:t>
            </a:r>
          </a:p>
          <a:p>
            <a:pPr lvl="1">
              <a:buFont typeface="Arial" pitchFamily="34" charset="0"/>
              <a:buNone/>
            </a:pPr>
            <a:r>
              <a:rPr lang="en-US" altLang="en-US" sz="1600" i="1" dirty="0"/>
              <a:t>AS </a:t>
            </a:r>
          </a:p>
          <a:p>
            <a:pPr lvl="1">
              <a:buFont typeface="Arial" pitchFamily="34" charset="0"/>
              <a:buNone/>
            </a:pPr>
            <a:r>
              <a:rPr lang="en-US" altLang="en-US" sz="1600" i="1" dirty="0"/>
              <a:t>SELECT col1, col2</a:t>
            </a:r>
          </a:p>
          <a:p>
            <a:pPr lvl="1">
              <a:buFont typeface="Arial" pitchFamily="34" charset="0"/>
              <a:buNone/>
            </a:pPr>
            <a:r>
              <a:rPr lang="en-US" altLang="en-US" sz="1600" i="1" dirty="0"/>
              <a:t>FROM source;</a:t>
            </a: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5000"/>
              </a:spcBef>
              <a:spcAft>
                <a:spcPct val="15000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algn="l" eaLnBrk="0" hangingPunct="0"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65000"/>
              <a:buFont typeface="Arial" pitchFamily="34" charset="0"/>
              <a:buChar char="►"/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12000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fld id="{67E90775-E439-47A2-8A5C-42E47C8FCA3B}" type="slidenum">
              <a:rPr lang="en-US" altLang="en-US" sz="1000" b="0" smtClean="0">
                <a:solidFill>
                  <a:srgbClr val="FFFFFF"/>
                </a:solidFill>
              </a:rPr>
              <a:pPr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68</a:t>
            </a:fld>
            <a:endParaRPr lang="en-US" altLang="en-US" sz="1000" b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24823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Querying data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7775575" cy="5029200"/>
          </a:xfrm>
        </p:spPr>
        <p:txBody>
          <a:bodyPr/>
          <a:lstStyle/>
          <a:p>
            <a:r>
              <a:rPr lang="en-US" altLang="en-US"/>
              <a:t>SELECT</a:t>
            </a:r>
          </a:p>
          <a:p>
            <a:pPr lvl="1">
              <a:buFont typeface="Arial" pitchFamily="34" charset="0"/>
              <a:buNone/>
            </a:pPr>
            <a:r>
              <a:rPr lang="en-US" altLang="en-US" sz="1600" i="1"/>
              <a:t>SELECT foo FROM sample  WHERE ds='2012-02-24‘;</a:t>
            </a:r>
            <a:endParaRPr lang="en-US" altLang="en-US"/>
          </a:p>
          <a:p>
            <a:r>
              <a:rPr lang="en-US" altLang="en-US"/>
              <a:t>Sorting and Aggregating</a:t>
            </a:r>
          </a:p>
          <a:p>
            <a:pPr lvl="1">
              <a:buFont typeface="Arial" pitchFamily="34" charset="0"/>
              <a:buNone/>
            </a:pPr>
            <a:r>
              <a:rPr lang="en-US" altLang="en-US" sz="1600" i="1"/>
              <a:t>FROM records2</a:t>
            </a:r>
          </a:p>
          <a:p>
            <a:pPr lvl="1">
              <a:buFont typeface="Arial" pitchFamily="34" charset="0"/>
              <a:buNone/>
            </a:pPr>
            <a:r>
              <a:rPr lang="en-US" altLang="en-US" sz="1600" i="1"/>
              <a:t>SELECT year, temperature</a:t>
            </a:r>
          </a:p>
          <a:p>
            <a:pPr lvl="1">
              <a:buFont typeface="Arial" pitchFamily="34" charset="0"/>
              <a:buNone/>
            </a:pPr>
            <a:r>
              <a:rPr lang="en-US" altLang="en-US" sz="1600" i="1"/>
              <a:t> DISTRIBUTE BY year</a:t>
            </a:r>
          </a:p>
          <a:p>
            <a:pPr lvl="1">
              <a:buFont typeface="Arial" pitchFamily="34" charset="0"/>
              <a:buNone/>
            </a:pPr>
            <a:r>
              <a:rPr lang="en-US" altLang="en-US" sz="1600" i="1"/>
              <a:t> SORT BY year ASC, temperature DESC;</a:t>
            </a:r>
          </a:p>
          <a:p>
            <a:r>
              <a:rPr lang="en-US" altLang="en-US" sz="1800"/>
              <a:t>JOINS:</a:t>
            </a:r>
          </a:p>
          <a:p>
            <a:pPr lvl="1"/>
            <a:r>
              <a:rPr lang="en-US" altLang="en-US" sz="2000" b="1"/>
              <a:t>Inner Joins</a:t>
            </a:r>
            <a:r>
              <a:rPr lang="en-US" altLang="en-US" sz="2000"/>
              <a:t> </a:t>
            </a:r>
          </a:p>
          <a:p>
            <a:pPr lvl="1">
              <a:buFont typeface="Arial" pitchFamily="34" charset="0"/>
              <a:buNone/>
            </a:pPr>
            <a:r>
              <a:rPr lang="en-US" altLang="en-US" sz="2000" i="1"/>
              <a:t>SELECT sales.*, things.*</a:t>
            </a:r>
          </a:p>
          <a:p>
            <a:pPr lvl="1">
              <a:buFont typeface="Arial" pitchFamily="34" charset="0"/>
              <a:buNone/>
            </a:pPr>
            <a:r>
              <a:rPr lang="en-US" altLang="en-US" sz="2000" i="1"/>
              <a:t>FROM sales JOIN things ON (sales.id = things.id);</a:t>
            </a:r>
          </a:p>
          <a:p>
            <a:pPr lvl="1"/>
            <a:r>
              <a:rPr lang="en-US" altLang="en-US" sz="2000" b="1"/>
              <a:t> Outer Join</a:t>
            </a:r>
          </a:p>
          <a:p>
            <a:pPr lvl="2"/>
            <a:endParaRPr lang="en-US" altLang="en-US" sz="1800"/>
          </a:p>
          <a:p>
            <a:pPr lvl="1">
              <a:buFont typeface="Arial" pitchFamily="34" charset="0"/>
              <a:buNone/>
            </a:pPr>
            <a:r>
              <a:rPr lang="en-US" altLang="en-US" sz="2000"/>
              <a:t>	</a:t>
            </a:r>
          </a:p>
          <a:p>
            <a:pPr lvl="1">
              <a:buFont typeface="Arial" pitchFamily="34" charset="0"/>
              <a:buNone/>
            </a:pPr>
            <a:endParaRPr lang="en-US" altLang="en-US" sz="1200"/>
          </a:p>
          <a:p>
            <a:pPr lvl="1">
              <a:buFont typeface="Arial" pitchFamily="34" charset="0"/>
              <a:buNone/>
            </a:pPr>
            <a:endParaRPr lang="en-US" altLang="en-US" sz="1200"/>
          </a:p>
          <a:p>
            <a:pPr>
              <a:buFont typeface="Wingdings" pitchFamily="2" charset="2"/>
              <a:buNone/>
            </a:pPr>
            <a:endParaRPr lang="en-US" altLang="en-US" sz="1800"/>
          </a:p>
          <a:p>
            <a:pPr>
              <a:buFont typeface="Wingdings" pitchFamily="2" charset="2"/>
              <a:buNone/>
            </a:pPr>
            <a:endParaRPr lang="en-US" altLang="en-US" sz="180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5000"/>
              </a:spcBef>
              <a:spcAft>
                <a:spcPct val="15000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algn="l" eaLnBrk="0" hangingPunct="0"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65000"/>
              <a:buFont typeface="Arial" pitchFamily="34" charset="0"/>
              <a:buChar char="►"/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12000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fld id="{6BE8A0D7-2F9C-4C27-AC4A-D47C07593D6C}" type="slidenum">
              <a:rPr lang="en-US" altLang="en-US" sz="1000" b="0" smtClean="0">
                <a:solidFill>
                  <a:srgbClr val="FFFFFF"/>
                </a:solidFill>
              </a:rPr>
              <a:pPr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69</a:t>
            </a:fld>
            <a:endParaRPr lang="en-US" altLang="en-US" sz="1000" b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827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Joins…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7775575" cy="5410200"/>
          </a:xfrm>
        </p:spPr>
        <p:txBody>
          <a:bodyPr/>
          <a:lstStyle/>
          <a:p>
            <a:pPr lvl="1"/>
            <a:r>
              <a:rPr lang="en-US" altLang="en-US"/>
              <a:t>Semi joins</a:t>
            </a:r>
          </a:p>
          <a:p>
            <a:pPr>
              <a:buFont typeface="Wingdings" pitchFamily="2" charset="2"/>
              <a:buNone/>
            </a:pPr>
            <a:r>
              <a:rPr lang="en-US" altLang="en-US" sz="1600" b="0" i="1"/>
              <a:t>SELECT *</a:t>
            </a:r>
          </a:p>
          <a:p>
            <a:pPr>
              <a:buFont typeface="Wingdings" pitchFamily="2" charset="2"/>
              <a:buNone/>
            </a:pPr>
            <a:r>
              <a:rPr lang="en-US" altLang="en-US" sz="1600" b="0" i="1"/>
              <a:t>FROM things</a:t>
            </a:r>
          </a:p>
          <a:p>
            <a:pPr>
              <a:buFont typeface="Wingdings" pitchFamily="2" charset="2"/>
              <a:buNone/>
            </a:pPr>
            <a:r>
              <a:rPr lang="en-US" altLang="en-US" sz="1600" b="0" i="1"/>
              <a:t>WHERE things.id IN (SELECT id from sales);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 b="0" i="1"/>
              <a:t>We can rewrite it as follows:</a:t>
            </a:r>
          </a:p>
          <a:p>
            <a:pPr>
              <a:buFont typeface="Wingdings" pitchFamily="2" charset="2"/>
              <a:buNone/>
            </a:pPr>
            <a:r>
              <a:rPr lang="en-US" altLang="en-US" sz="1600" b="0"/>
              <a:t>Can be written as…</a:t>
            </a:r>
          </a:p>
          <a:p>
            <a:pPr>
              <a:buFont typeface="Wingdings" pitchFamily="2" charset="2"/>
              <a:buNone/>
            </a:pPr>
            <a:r>
              <a:rPr lang="en-US" altLang="en-US" sz="1600" b="0" i="1"/>
              <a:t>SELECT *</a:t>
            </a:r>
          </a:p>
          <a:p>
            <a:pPr>
              <a:buFont typeface="Wingdings" pitchFamily="2" charset="2"/>
              <a:buNone/>
            </a:pPr>
            <a:r>
              <a:rPr lang="en-US" altLang="en-US" sz="1600" b="0" i="1"/>
              <a:t>FROM things LEFT SEMI JOIN sales ON (sales.id = things.id);</a:t>
            </a:r>
          </a:p>
          <a:p>
            <a:pPr lvl="1"/>
            <a:r>
              <a:rPr lang="en-US" altLang="en-US"/>
              <a:t>Map joins</a:t>
            </a:r>
          </a:p>
          <a:p>
            <a:pPr lvl="2"/>
            <a:r>
              <a:rPr lang="en-US" altLang="en-US"/>
              <a:t>If one table is small enough to fit in memory</a:t>
            </a:r>
          </a:p>
          <a:p>
            <a:pPr>
              <a:buFont typeface="Wingdings" pitchFamily="2" charset="2"/>
              <a:buNone/>
            </a:pPr>
            <a:r>
              <a:rPr lang="en-US" altLang="en-US" sz="1600" b="0" i="1"/>
              <a:t>SELECT /*+ MAPJOIN(things) */ sales.*, things.*</a:t>
            </a:r>
          </a:p>
          <a:p>
            <a:pPr>
              <a:buFont typeface="Wingdings" pitchFamily="2" charset="2"/>
              <a:buNone/>
            </a:pPr>
            <a:r>
              <a:rPr lang="en-US" altLang="en-US" sz="1600" b="0" i="1"/>
              <a:t>FROM sales JOIN things ON (sales.id = things.id);</a:t>
            </a: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5000"/>
              </a:spcBef>
              <a:spcAft>
                <a:spcPct val="15000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algn="l" eaLnBrk="0" hangingPunct="0"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65000"/>
              <a:buFont typeface="Arial" pitchFamily="34" charset="0"/>
              <a:buChar char="►"/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12000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fld id="{DDA9EE2D-5DC6-4DE0-803F-1B15DD8289B2}" type="slidenum">
              <a:rPr lang="en-US" altLang="en-US" sz="1000" b="0" smtClean="0">
                <a:solidFill>
                  <a:srgbClr val="FFFFFF"/>
                </a:solidFill>
              </a:rPr>
              <a:pPr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70</a:t>
            </a:fld>
            <a:endParaRPr lang="en-US" altLang="en-US" sz="1000" b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1399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8013" cy="1433513"/>
          </a:xfrm>
        </p:spPr>
        <p:txBody>
          <a:bodyPr/>
          <a:lstStyle/>
          <a:p>
            <a:pPr>
              <a:tabLst>
                <a:tab pos="0" algn="l"/>
                <a:tab pos="411163" algn="l"/>
                <a:tab pos="822325" algn="l"/>
                <a:tab pos="1233488" algn="l"/>
                <a:tab pos="1644650" algn="l"/>
                <a:tab pos="2057400" algn="l"/>
                <a:tab pos="2468563" algn="l"/>
                <a:tab pos="2879725" algn="l"/>
                <a:tab pos="3290888" algn="l"/>
                <a:tab pos="3702050" algn="l"/>
                <a:tab pos="4114800" algn="l"/>
                <a:tab pos="4525963" algn="l"/>
                <a:tab pos="4937125" algn="l"/>
                <a:tab pos="5348288" algn="l"/>
                <a:tab pos="5759450" algn="l"/>
                <a:tab pos="6172200" algn="l"/>
                <a:tab pos="6583363" algn="l"/>
                <a:tab pos="6994525" algn="l"/>
                <a:tab pos="7405688" algn="l"/>
                <a:tab pos="7816850" algn="l"/>
                <a:tab pos="8229600" algn="l"/>
              </a:tabLst>
            </a:pPr>
            <a:r>
              <a:rPr lang="en-US" altLang="en-US"/>
              <a:t>Performance -Result</a:t>
            </a:r>
          </a:p>
        </p:txBody>
      </p:sp>
      <p:sp>
        <p:nvSpPr>
          <p:cNvPr id="33796" name="Rectangle 3"/>
          <p:cNvSpPr>
            <a:spLocks noChangeArrowheads="1"/>
          </p:cNvSpPr>
          <p:nvPr/>
        </p:nvSpPr>
        <p:spPr bwMode="auto">
          <a:xfrm>
            <a:off x="250031" y="2380847"/>
            <a:ext cx="8642350" cy="4017962"/>
          </a:xfrm>
          <a:prstGeom prst="rect">
            <a:avLst/>
          </a:prstGeom>
          <a:blipFill dpi="0" rotWithShape="0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82287" tIns="41143" rIns="82287" bIns="41143" anchor="ctr"/>
          <a:lstStyle>
            <a:lvl1pPr algn="l" eaLnBrk="0" hangingPunct="0">
              <a:spcBef>
                <a:spcPct val="35000"/>
              </a:spcBef>
              <a:spcAft>
                <a:spcPct val="15000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algn="l" eaLnBrk="0" hangingPunct="0"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65000"/>
              <a:buFont typeface="Arial" pitchFamily="34" charset="0"/>
              <a:buChar char="►"/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12000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&gt;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 b="0"/>
          </a:p>
        </p:txBody>
      </p:sp>
    </p:spTree>
    <p:extLst>
      <p:ext uri="{BB962C8B-B14F-4D97-AF65-F5344CB8AC3E}">
        <p14:creationId xmlns:p14="http://schemas.microsoft.com/office/powerpoint/2010/main" val="21112689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534400" cy="609600"/>
          </a:xfrm>
        </p:spPr>
        <p:txBody>
          <a:bodyPr/>
          <a:lstStyle/>
          <a:p>
            <a:r>
              <a:rPr lang="en-US" altLang="en-US" sz="3200">
                <a:solidFill>
                  <a:schemeClr val="tx1"/>
                </a:solidFill>
                <a:ea typeface="MS PGothic" pitchFamily="34" charset="-128"/>
              </a:rPr>
              <a:t>System Architecture and Components</a:t>
            </a:r>
          </a:p>
        </p:txBody>
      </p:sp>
      <p:pic>
        <p:nvPicPr>
          <p:cNvPr id="34819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1101725"/>
            <a:ext cx="5791200" cy="5222875"/>
          </a:xfrm>
          <a:noFill/>
        </p:spPr>
      </p:pic>
    </p:spTree>
    <p:extLst>
      <p:ext uri="{BB962C8B-B14F-4D97-AF65-F5344CB8AC3E}">
        <p14:creationId xmlns:p14="http://schemas.microsoft.com/office/powerpoint/2010/main" val="191662871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References: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Hadoop: The Definitive Guide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3200" b="0" dirty="0"/>
              <a:t>   </a:t>
            </a:r>
            <a:r>
              <a:rPr lang="en-US" altLang="en-US" sz="2400" b="0" dirty="0"/>
              <a:t>Tom White (Author)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 b="0" dirty="0"/>
              <a:t>	O'Reilly Media; 3rd Edition (May6, 2012)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Programming Hive</a:t>
            </a:r>
          </a:p>
          <a:p>
            <a:pPr lvl="1" eaLnBrk="1" hangingPunct="1">
              <a:lnSpc>
                <a:spcPct val="80000"/>
              </a:lnSpc>
              <a:buFont typeface="Arial" pitchFamily="34" charset="0"/>
              <a:buNone/>
            </a:pPr>
            <a:r>
              <a:rPr lang="en-US" altLang="en-US" dirty="0"/>
              <a:t>Edward </a:t>
            </a:r>
            <a:r>
              <a:rPr lang="en-US" altLang="en-US" dirty="0" err="1"/>
              <a:t>Capriolo</a:t>
            </a:r>
            <a:r>
              <a:rPr lang="en-US" altLang="en-US" dirty="0"/>
              <a:t>, Dean </a:t>
            </a:r>
            <a:r>
              <a:rPr lang="en-US" altLang="en-US" dirty="0" err="1"/>
              <a:t>Wampler</a:t>
            </a:r>
            <a:r>
              <a:rPr lang="en-US" altLang="en-US" dirty="0"/>
              <a:t>,</a:t>
            </a:r>
          </a:p>
          <a:p>
            <a:pPr lvl="1" eaLnBrk="1" hangingPunct="1">
              <a:lnSpc>
                <a:spcPct val="80000"/>
              </a:lnSpc>
              <a:buFont typeface="Arial" pitchFamily="34" charset="0"/>
              <a:buNone/>
            </a:pPr>
            <a:r>
              <a:rPr lang="en-US" altLang="en-US" dirty="0"/>
              <a:t>Jason Rutherglen (Authors)</a:t>
            </a:r>
          </a:p>
          <a:p>
            <a:pPr lvl="1" eaLnBrk="1" hangingPunct="1">
              <a:lnSpc>
                <a:spcPct val="80000"/>
              </a:lnSpc>
              <a:buFont typeface="Arial" pitchFamily="34" charset="0"/>
              <a:buNone/>
            </a:pPr>
            <a:r>
              <a:rPr lang="en-US" altLang="en-US" dirty="0"/>
              <a:t>O'Reilly Media; 1 edition (October, 2012)</a:t>
            </a:r>
          </a:p>
          <a:p>
            <a:pPr lvl="1" eaLnBrk="1" hangingPunct="1">
              <a:lnSpc>
                <a:spcPct val="80000"/>
              </a:lnSpc>
              <a:buFont typeface="Arial" pitchFamily="34" charset="0"/>
              <a:buNone/>
            </a:pPr>
            <a:endParaRPr lang="en-US" altLang="en-US" sz="1500" dirty="0"/>
          </a:p>
          <a:p>
            <a:pPr lvl="1" eaLnBrk="1" hangingPunct="1">
              <a:lnSpc>
                <a:spcPct val="80000"/>
              </a:lnSpc>
              <a:buFont typeface="Arial" pitchFamily="34" charset="0"/>
              <a:buNone/>
            </a:pPr>
            <a:endParaRPr lang="en-US" altLang="en-US" sz="12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en-US" sz="1200" b="0" dirty="0"/>
          </a:p>
          <a:p>
            <a:pPr lvl="1" eaLnBrk="1" hangingPunct="1">
              <a:lnSpc>
                <a:spcPct val="80000"/>
              </a:lnSpc>
              <a:buFont typeface="Arial" pitchFamily="34" charset="0"/>
              <a:buNone/>
            </a:pPr>
            <a:endParaRPr lang="en-US" altLang="en-US" sz="1200" dirty="0"/>
          </a:p>
          <a:p>
            <a:pPr>
              <a:lnSpc>
                <a:spcPct val="80000"/>
              </a:lnSpc>
            </a:pP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502333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35814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Any Questions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30" name="Picture 6" descr="C:\Users\EmmShub\AppData\Local\Microsoft\Windows\INetCache\IE\K17V5NXQ\giveThanks300[1]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362200"/>
            <a:ext cx="33528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5334000" y="489156"/>
            <a:ext cx="2895600" cy="10896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and Thanks </a:t>
            </a:r>
          </a:p>
        </p:txBody>
      </p:sp>
      <p:pic>
        <p:nvPicPr>
          <p:cNvPr id="1031" name="Picture 7" descr="C:\Users\EmmShub\AppData\Local\Microsoft\Windows\INetCache\IE\QMO5TF2E\Twitter_question_mark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783537"/>
            <a:ext cx="2895600" cy="3993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7213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</TotalTime>
  <Words>3341</Words>
  <Application>Microsoft Office PowerPoint</Application>
  <PresentationFormat>On-screen Show (4:3)</PresentationFormat>
  <Paragraphs>533</Paragraphs>
  <Slides>74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74</vt:i4>
      </vt:variant>
    </vt:vector>
  </HeadingPairs>
  <TitlesOfParts>
    <vt:vector size="88" baseType="lpstr">
      <vt:lpstr>MS PGothic</vt:lpstr>
      <vt:lpstr>宋体</vt:lpstr>
      <vt:lpstr>宋体</vt:lpstr>
      <vt:lpstr>Arial</vt:lpstr>
      <vt:lpstr>Calibri</vt:lpstr>
      <vt:lpstr>Corbel</vt:lpstr>
      <vt:lpstr>Lucida Sans</vt:lpstr>
      <vt:lpstr>Symbol</vt:lpstr>
      <vt:lpstr>Times New Roman</vt:lpstr>
      <vt:lpstr>WenQuanYi Micro Hei</vt:lpstr>
      <vt:lpstr>Wingdings</vt:lpstr>
      <vt:lpstr>Clarity</vt:lpstr>
      <vt:lpstr>图表</vt:lpstr>
      <vt:lpstr>Visio</vt:lpstr>
      <vt:lpstr>NO SQL Databases HBase Cassandra Hive</vt:lpstr>
      <vt:lpstr>What is NoSQL?</vt:lpstr>
      <vt:lpstr>Why NoSQL?</vt:lpstr>
      <vt:lpstr>The CAP Theorem</vt:lpstr>
      <vt:lpstr>The CAP Theorem</vt:lpstr>
      <vt:lpstr>The CAP Theorem</vt:lpstr>
      <vt:lpstr>The CAP Theorem</vt:lpstr>
      <vt:lpstr>The CAP Theorem</vt:lpstr>
      <vt:lpstr>PowerPoint Presentation</vt:lpstr>
      <vt:lpstr>PowerPoint Presentation</vt:lpstr>
      <vt:lpstr>CAP theorem</vt:lpstr>
      <vt:lpstr>NoSQL Options – Key-Value Stores</vt:lpstr>
      <vt:lpstr>NoSQL Options – Document Stores</vt:lpstr>
      <vt:lpstr>NoSQL Options – Column Stores</vt:lpstr>
      <vt:lpstr>NoSQL Options – Graph Stores</vt:lpstr>
      <vt:lpstr>NoSQL Database Examples</vt:lpstr>
      <vt:lpstr>NoSQL Database Examples</vt:lpstr>
      <vt:lpstr>PowerPoint Presentation</vt:lpstr>
      <vt:lpstr>HBase</vt:lpstr>
      <vt:lpstr>It all started when ..</vt:lpstr>
      <vt:lpstr>Why not an RDBMs for such web scale data?</vt:lpstr>
      <vt:lpstr>HBase</vt:lpstr>
      <vt:lpstr>Traditional RDBMS and HBase</vt:lpstr>
      <vt:lpstr>HBase Data Model</vt:lpstr>
      <vt:lpstr>HBase Data Model</vt:lpstr>
      <vt:lpstr>HBase Data Model</vt:lpstr>
      <vt:lpstr>HBase Families</vt:lpstr>
      <vt:lpstr>HBase timestamps</vt:lpstr>
      <vt:lpstr>HBase Row Keys</vt:lpstr>
      <vt:lpstr>HBase Architecture</vt:lpstr>
      <vt:lpstr>Rows distribution in region servers</vt:lpstr>
      <vt:lpstr>HBase Architecture – Contd ..</vt:lpstr>
      <vt:lpstr>HBase Architecture Implementation</vt:lpstr>
      <vt:lpstr>Data Storage</vt:lpstr>
      <vt:lpstr>Data Storage</vt:lpstr>
      <vt:lpstr>Data Storage</vt:lpstr>
      <vt:lpstr>HBase – Data Access</vt:lpstr>
      <vt:lpstr>HBase Map Reduce constructs</vt:lpstr>
      <vt:lpstr>When to use HBase</vt:lpstr>
      <vt:lpstr>References</vt:lpstr>
      <vt:lpstr>Cassandra</vt:lpstr>
      <vt:lpstr>The History of Cassandra</vt:lpstr>
      <vt:lpstr>Why Use Cassandra?</vt:lpstr>
      <vt:lpstr>Cassandra Characteristics…</vt:lpstr>
      <vt:lpstr>Column Oriented</vt:lpstr>
      <vt:lpstr>Schema Free</vt:lpstr>
      <vt:lpstr>Cassandra Use Case - Summary</vt:lpstr>
      <vt:lpstr>What is Apache Cassandra?</vt:lpstr>
      <vt:lpstr>Distributed and Decentralized</vt:lpstr>
      <vt:lpstr>Distributed and Decentralized</vt:lpstr>
      <vt:lpstr>Elastic Scalability</vt:lpstr>
      <vt:lpstr>High Avalability and Fault Tolerance</vt:lpstr>
      <vt:lpstr>Tunable Consistency</vt:lpstr>
      <vt:lpstr>High Performance</vt:lpstr>
      <vt:lpstr>Where to Use Cassandra?</vt:lpstr>
      <vt:lpstr>Where NOT to Use Cassandra?</vt:lpstr>
      <vt:lpstr>HIVE</vt:lpstr>
      <vt:lpstr>Why Another Data  Warehousing System?</vt:lpstr>
      <vt:lpstr>What is Hive?</vt:lpstr>
      <vt:lpstr> SQL vs HiveQL</vt:lpstr>
      <vt:lpstr>SQL vs HiveQL</vt:lpstr>
      <vt:lpstr>HiveQL: Type System</vt:lpstr>
      <vt:lpstr>Hive Data Model: Tables</vt:lpstr>
      <vt:lpstr>Hive Data Model: Partitions</vt:lpstr>
      <vt:lpstr>Hive Data Model: Buckets</vt:lpstr>
      <vt:lpstr>Examples – DDL Operations</vt:lpstr>
      <vt:lpstr>Examples – DML Operations</vt:lpstr>
      <vt:lpstr>Importing data</vt:lpstr>
      <vt:lpstr>Querying data</vt:lpstr>
      <vt:lpstr>Joins…</vt:lpstr>
      <vt:lpstr>Performance -Result</vt:lpstr>
      <vt:lpstr>System Architecture and Components</vt:lpstr>
      <vt:lpstr>References:</vt:lpstr>
      <vt:lpstr>Any Questions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spark – fast engine for large data</dc:title>
  <dc:creator>Nanak</dc:creator>
  <cp:lastModifiedBy>Emmanuel Pilli</cp:lastModifiedBy>
  <cp:revision>34</cp:revision>
  <dcterms:created xsi:type="dcterms:W3CDTF">2016-06-12T14:46:16Z</dcterms:created>
  <dcterms:modified xsi:type="dcterms:W3CDTF">2018-09-17T06:37:52Z</dcterms:modified>
</cp:coreProperties>
</file>